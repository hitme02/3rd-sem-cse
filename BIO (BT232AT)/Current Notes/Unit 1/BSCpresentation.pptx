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982" r:id="rId2"/>
    <p:sldId id="257" r:id="rId3"/>
    <p:sldId id="258" r:id="rId4"/>
    <p:sldId id="98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980" r:id="rId15"/>
    <p:sldId id="985" r:id="rId16"/>
    <p:sldId id="986" r:id="rId17"/>
    <p:sldId id="987" r:id="rId18"/>
    <p:sldId id="988" r:id="rId19"/>
    <p:sldId id="960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500" y="5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4"/>
            <a:ext cx="9387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2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5840" y="3124624"/>
            <a:ext cx="11399520" cy="276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1680" y="5699760"/>
            <a:ext cx="938784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705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41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11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823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52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23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940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364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85B22-056A-D8D4-A59C-CC11894F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62EFC-23D2-4A33-8642-14E4E6C55946}" type="datetime2">
              <a:rPr lang="en-US"/>
              <a:pPr>
                <a:defRPr/>
              </a:pPr>
              <a:t>Friday, May 24,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E3C8-BEAC-2ACE-FE55-C68A69E7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Chonlaphat Sukasem, Ph. 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2BF89-3523-D8D4-62EB-52DC9BA8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491435" y="9561959"/>
            <a:ext cx="445944" cy="31867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66C44-28DE-439D-BE41-525E966CF0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50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60" y="402336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560" y="2313432"/>
            <a:ext cx="12070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2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2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491435" y="9561959"/>
            <a:ext cx="445944" cy="300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71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65742">
              <a:lnSpc>
                <a:spcPts val="2459"/>
              </a:lnSpc>
            </a:pPr>
            <a:fld id="{81D60167-4931-47E6-BA6A-407CBD079E47}" type="slidenum">
              <a:rPr lang="en-IN" spc="-43" smtClean="0"/>
              <a:pPr marL="65742">
                <a:lnSpc>
                  <a:spcPts val="2459"/>
                </a:lnSpc>
              </a:pPr>
              <a:t>‹#›</a:t>
            </a:fld>
            <a:endParaRPr lang="en-IN" spc="-43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99">
        <a:defRPr>
          <a:latin typeface="+mn-lt"/>
          <a:ea typeface="+mn-ea"/>
          <a:cs typeface="+mn-cs"/>
        </a:defRPr>
      </a:lvl2pPr>
      <a:lvl3pPr marL="1577797">
        <a:defRPr>
          <a:latin typeface="+mn-lt"/>
          <a:ea typeface="+mn-ea"/>
          <a:cs typeface="+mn-cs"/>
        </a:defRPr>
      </a:lvl3pPr>
      <a:lvl4pPr marL="2366696">
        <a:defRPr>
          <a:latin typeface="+mn-lt"/>
          <a:ea typeface="+mn-ea"/>
          <a:cs typeface="+mn-cs"/>
        </a:defRPr>
      </a:lvl4pPr>
      <a:lvl5pPr marL="3155594">
        <a:defRPr>
          <a:latin typeface="+mn-lt"/>
          <a:ea typeface="+mn-ea"/>
          <a:cs typeface="+mn-cs"/>
        </a:defRPr>
      </a:lvl5pPr>
      <a:lvl6pPr marL="3944493">
        <a:defRPr>
          <a:latin typeface="+mn-lt"/>
          <a:ea typeface="+mn-ea"/>
          <a:cs typeface="+mn-cs"/>
        </a:defRPr>
      </a:lvl6pPr>
      <a:lvl7pPr marL="4733392">
        <a:defRPr>
          <a:latin typeface="+mn-lt"/>
          <a:ea typeface="+mn-ea"/>
          <a:cs typeface="+mn-cs"/>
        </a:defRPr>
      </a:lvl7pPr>
      <a:lvl8pPr marL="5522290">
        <a:defRPr>
          <a:latin typeface="+mn-lt"/>
          <a:ea typeface="+mn-ea"/>
          <a:cs typeface="+mn-cs"/>
        </a:defRPr>
      </a:lvl8pPr>
      <a:lvl9pPr marL="631118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CEE99565-6000-8A4D-FE00-CD1BD93CE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120" y="1653366"/>
            <a:ext cx="10220960" cy="1218795"/>
          </a:xfrm>
        </p:spPr>
        <p:txBody>
          <a:bodyPr/>
          <a:lstStyle/>
          <a:p>
            <a:pPr eaLnBrk="1" hangingPunct="1"/>
            <a:r>
              <a:rPr lang="en-US" altLang="th-TH" sz="7920" b="1" dirty="0">
                <a:ea typeface="Angsana New" panose="020B0502040204020203" pitchFamily="18" charset="-34"/>
              </a:rPr>
              <a:t>Biosafety Cabinet (BSC)</a:t>
            </a:r>
            <a:endParaRPr lang="en-US" altLang="th-TH" sz="7920" b="1" dirty="0">
              <a:solidFill>
                <a:srgbClr val="C00000"/>
              </a:solidFill>
              <a:ea typeface="Angsana New" panose="020B0502040204020203" pitchFamily="18" charset="-34"/>
            </a:endParaRP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7CB88030-3B2C-A155-C98F-64025646A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821" y="5791200"/>
            <a:ext cx="4470400" cy="4058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2" name="Picture 5">
            <a:extLst>
              <a:ext uri="{FF2B5EF4-FFF2-40B4-BE49-F238E27FC236}">
                <a16:creationId xmlns:a16="http://schemas.microsoft.com/office/drawing/2014/main" id="{3750D2A9-66F2-2CD6-45FD-ECB29DE31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1" y="3429000"/>
            <a:ext cx="4358640" cy="4011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173" name="Picture 4">
            <a:extLst>
              <a:ext uri="{FF2B5EF4-FFF2-40B4-BE49-F238E27FC236}">
                <a16:creationId xmlns:a16="http://schemas.microsoft.com/office/drawing/2014/main" id="{C2298A30-EF7B-26BC-31D5-AFDA59A6D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221" y="3429000"/>
            <a:ext cx="4060613" cy="5152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393" y="195525"/>
            <a:ext cx="12674414" cy="9080499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</a:t>
            </a:fld>
            <a:endParaRPr spc="-4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7620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</a:t>
            </a:fld>
            <a:endParaRPr spc="-4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AD38C3E2-66FD-812F-E305-C32EC633B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245"/>
          <a:stretch>
            <a:fillRect/>
          </a:stretch>
        </p:blipFill>
        <p:spPr bwMode="auto">
          <a:xfrm>
            <a:off x="782321" y="277073"/>
            <a:ext cx="2919730" cy="2859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>
            <a:extLst>
              <a:ext uri="{FF2B5EF4-FFF2-40B4-BE49-F238E27FC236}">
                <a16:creationId xmlns:a16="http://schemas.microsoft.com/office/drawing/2014/main" id="{655BC15D-145A-A5C1-7412-825FB44B4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470" y="146687"/>
            <a:ext cx="5494867" cy="28708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25BE1437-C6A6-53B8-569B-1D4FFB1B5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920" y="6691631"/>
            <a:ext cx="5601970" cy="32550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5" name="Picture 5">
            <a:extLst>
              <a:ext uri="{FF2B5EF4-FFF2-40B4-BE49-F238E27FC236}">
                <a16:creationId xmlns:a16="http://schemas.microsoft.com/office/drawing/2014/main" id="{E85670C8-D4A9-DA2C-58E3-D930E541E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470" y="3296920"/>
            <a:ext cx="5494867" cy="31851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DA8ED3C1-3DBA-321B-FB92-C9003CBAB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1" y="3464560"/>
            <a:ext cx="3273637" cy="2309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7" name="Picture 7">
            <a:extLst>
              <a:ext uri="{FF2B5EF4-FFF2-40B4-BE49-F238E27FC236}">
                <a16:creationId xmlns:a16="http://schemas.microsoft.com/office/drawing/2014/main" id="{F8C1873B-960E-B6BF-1BF6-F1251A7A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6370321"/>
            <a:ext cx="2272453" cy="35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8" name="Text Box 8">
            <a:extLst>
              <a:ext uri="{FF2B5EF4-FFF2-40B4-BE49-F238E27FC236}">
                <a16:creationId xmlns:a16="http://schemas.microsoft.com/office/drawing/2014/main" id="{FCB3843C-B0F8-DCD6-C78F-E8A59229C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2794001"/>
            <a:ext cx="2278188" cy="543675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h-TH" sz="2933" b="1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Fume hood</a:t>
            </a:r>
            <a:endParaRPr lang="th-TH" altLang="th-TH" sz="2933" b="1">
              <a:solidFill>
                <a:srgbClr val="FFFF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369" name="Text Box 9">
            <a:extLst>
              <a:ext uri="{FF2B5EF4-FFF2-40B4-BE49-F238E27FC236}">
                <a16:creationId xmlns:a16="http://schemas.microsoft.com/office/drawing/2014/main" id="{E4F09B52-672F-5944-B1DD-5498835F9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5699761"/>
            <a:ext cx="2741456" cy="543675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h-TH" sz="2933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Laminar airflow</a:t>
            </a:r>
            <a:endParaRPr lang="th-TH" altLang="th-TH" sz="2933">
              <a:solidFill>
                <a:srgbClr val="FFFF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370" name="Text Box 10">
            <a:extLst>
              <a:ext uri="{FF2B5EF4-FFF2-40B4-BE49-F238E27FC236}">
                <a16:creationId xmlns:a16="http://schemas.microsoft.com/office/drawing/2014/main" id="{558FE453-646C-0041-DAA1-9DA640554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2163" y="9196917"/>
            <a:ext cx="1075936" cy="543675"/>
          </a:xfrm>
          <a:prstGeom prst="rect">
            <a:avLst/>
          </a:prstGeom>
          <a:solidFill>
            <a:srgbClr val="00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h-TH" sz="2933">
                <a:solidFill>
                  <a:srgbClr val="FFFFFF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BSC </a:t>
            </a:r>
            <a:endParaRPr lang="th-TH" altLang="th-TH" sz="2933">
              <a:solidFill>
                <a:srgbClr val="FFFFFF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5371" name="Picture 14">
            <a:extLst>
              <a:ext uri="{FF2B5EF4-FFF2-40B4-BE49-F238E27FC236}">
                <a16:creationId xmlns:a16="http://schemas.microsoft.com/office/drawing/2014/main" id="{BDF9CA84-752F-48BB-201F-E65AAAFBE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9" r="4222" b="26291"/>
          <a:stretch>
            <a:fillRect/>
          </a:stretch>
        </p:blipFill>
        <p:spPr bwMode="auto">
          <a:xfrm>
            <a:off x="4093210" y="3562351"/>
            <a:ext cx="3140922" cy="280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2" name="Picture 15">
            <a:extLst>
              <a:ext uri="{FF2B5EF4-FFF2-40B4-BE49-F238E27FC236}">
                <a16:creationId xmlns:a16="http://schemas.microsoft.com/office/drawing/2014/main" id="{7F4E0EF1-508D-CBB2-749F-9E24915E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4" r="4222" b="19223"/>
          <a:stretch>
            <a:fillRect/>
          </a:stretch>
        </p:blipFill>
        <p:spPr bwMode="auto">
          <a:xfrm>
            <a:off x="4044317" y="260773"/>
            <a:ext cx="3429634" cy="3157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73" name="Picture 16">
            <a:extLst>
              <a:ext uri="{FF2B5EF4-FFF2-40B4-BE49-F238E27FC236}">
                <a16:creationId xmlns:a16="http://schemas.microsoft.com/office/drawing/2014/main" id="{C63812E3-529D-CF8E-37BE-00D08FCD9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6731" y="6258561"/>
            <a:ext cx="2835910" cy="3729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0AA640-9D82-3F1C-3159-D3E877BDFD00}"/>
              </a:ext>
            </a:extLst>
          </p:cNvPr>
          <p:cNvSpPr/>
          <p:nvPr/>
        </p:nvSpPr>
        <p:spPr>
          <a:xfrm>
            <a:off x="9834880" y="6691631"/>
            <a:ext cx="670560" cy="3492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h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9C88C-022F-8651-5D6B-1DD0E6E783F3}"/>
              </a:ext>
            </a:extLst>
          </p:cNvPr>
          <p:cNvSpPr/>
          <p:nvPr/>
        </p:nvSpPr>
        <p:spPr>
          <a:xfrm>
            <a:off x="9723120" y="6691631"/>
            <a:ext cx="78232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h-T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46624" y="-23037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559997" y="7924800"/>
            <a:ext cx="10712524" cy="1941595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21914" marR="181885" algn="just">
              <a:lnSpc>
                <a:spcPct val="100699"/>
              </a:lnSpc>
              <a:spcBef>
                <a:spcPts val="155"/>
              </a:spcBef>
            </a:pPr>
            <a:r>
              <a:rPr sz="2071" spc="-17" dirty="0">
                <a:latin typeface="Times New Roman"/>
                <a:cs typeface="Times New Roman"/>
              </a:rPr>
              <a:t>Microbiologists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very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concerned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about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maintaining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contamination-</a:t>
            </a:r>
            <a:r>
              <a:rPr sz="2071" dirty="0">
                <a:latin typeface="Times New Roman"/>
                <a:cs typeface="Times New Roman"/>
              </a:rPr>
              <a:t>free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work </a:t>
            </a:r>
            <a:r>
              <a:rPr sz="2071" dirty="0">
                <a:latin typeface="Times New Roman"/>
                <a:cs typeface="Times New Roman"/>
              </a:rPr>
              <a:t>area.</a:t>
            </a:r>
            <a:r>
              <a:rPr sz="2071" spc="388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Therefore,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you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will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notice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that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generally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cleaned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daily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kept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free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excessive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equipment.</a:t>
            </a:r>
            <a:endParaRPr sz="2071" dirty="0">
              <a:latin typeface="Times New Roman"/>
              <a:cs typeface="Times New Roman"/>
            </a:endParaRPr>
          </a:p>
          <a:p>
            <a:pPr marL="21914" marR="8766">
              <a:lnSpc>
                <a:spcPct val="99600"/>
              </a:lnSpc>
            </a:pPr>
            <a:r>
              <a:rPr sz="2071" dirty="0">
                <a:latin typeface="Times New Roman"/>
                <a:cs typeface="Times New Roman"/>
              </a:rPr>
              <a:t>Chemical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fume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hoods,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other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hand,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often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house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on-</a:t>
            </a:r>
            <a:r>
              <a:rPr sz="2071" dirty="0">
                <a:latin typeface="Times New Roman"/>
                <a:cs typeface="Times New Roman"/>
              </a:rPr>
              <a:t>going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experiments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for </a:t>
            </a:r>
            <a:r>
              <a:rPr sz="2071" dirty="0">
                <a:latin typeface="Times New Roman"/>
                <a:cs typeface="Times New Roman"/>
              </a:rPr>
              <a:t>months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time.</a:t>
            </a:r>
            <a:r>
              <a:rPr sz="2071" spc="42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Since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there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usually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not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contamination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concern,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little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priority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placed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on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removing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excess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equipment.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5</a:t>
            </a:fld>
            <a:endParaRPr spc="-4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-7871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8600" y="8260924"/>
            <a:ext cx="13182600" cy="1301035"/>
          </a:xfrm>
          <a:prstGeom prst="rect">
            <a:avLst/>
          </a:prstGeom>
        </p:spPr>
        <p:txBody>
          <a:bodyPr vert="horz" wrap="square" lIns="0" tIns="19722" rIns="0" bIns="0" rtlCol="0">
            <a:spAutoFit/>
          </a:bodyPr>
          <a:lstStyle/>
          <a:p>
            <a:pPr marL="21914" marR="497444">
              <a:lnSpc>
                <a:spcPct val="100699"/>
              </a:lnSpc>
              <a:spcBef>
                <a:spcPts val="155"/>
              </a:spcBef>
            </a:pP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general,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microbiologists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work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seated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position.</a:t>
            </a:r>
            <a:r>
              <a:rPr sz="2071" spc="345" dirty="0">
                <a:latin typeface="Times New Roman"/>
                <a:cs typeface="Times New Roman"/>
              </a:rPr>
              <a:t> </a:t>
            </a:r>
            <a:r>
              <a:rPr sz="2071" spc="-86" dirty="0">
                <a:latin typeface="Times New Roman"/>
                <a:cs typeface="Times New Roman"/>
              </a:rPr>
              <a:t>A </a:t>
            </a:r>
            <a:r>
              <a:rPr sz="2071" dirty="0">
                <a:latin typeface="Times New Roman"/>
                <a:cs typeface="Times New Roman"/>
              </a:rPr>
              <a:t>procedure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often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take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several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hours.</a:t>
            </a:r>
            <a:r>
              <a:rPr sz="2071" spc="40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Therefore,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emphasis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on </a:t>
            </a:r>
            <a:r>
              <a:rPr sz="2071" spc="-17" dirty="0">
                <a:latin typeface="Times New Roman"/>
                <a:cs typeface="Times New Roman"/>
              </a:rPr>
              <a:t>ergonomic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designs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cabinets.</a:t>
            </a:r>
            <a:endParaRPr sz="2071" dirty="0">
              <a:latin typeface="Times New Roman"/>
              <a:cs typeface="Times New Roman"/>
            </a:endParaRPr>
          </a:p>
          <a:p>
            <a:pPr marL="21914" marR="8766">
              <a:lnSpc>
                <a:spcPct val="99600"/>
              </a:lnSpc>
            </a:pPr>
            <a:r>
              <a:rPr sz="2071" dirty="0">
                <a:latin typeface="Times New Roman"/>
                <a:cs typeface="Times New Roman"/>
              </a:rPr>
              <a:t>Chemical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fume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hoods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often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have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cabinetry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located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below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them,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making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difficult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work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while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sitting.</a:t>
            </a:r>
            <a:r>
              <a:rPr sz="2071" spc="44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reason,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chemists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often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observed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standing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at </a:t>
            </a:r>
            <a:r>
              <a:rPr sz="2071" dirty="0">
                <a:latin typeface="Times New Roman"/>
                <a:cs typeface="Times New Roman"/>
              </a:rPr>
              <a:t>fume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hoods.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6</a:t>
            </a:fld>
            <a:endParaRPr spc="-4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914400"/>
            <a:ext cx="10883516" cy="8305800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7</a:t>
            </a:fld>
            <a:endParaRPr spc="-4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533401"/>
            <a:ext cx="11810999" cy="9028558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8</a:t>
            </a:fld>
            <a:endParaRPr spc="-4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685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9</a:t>
            </a:fld>
            <a:endParaRPr spc="-4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10</a:t>
            </a:fld>
            <a:endParaRPr spc="-4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11</a:t>
            </a:fld>
            <a:endParaRPr spc="-4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12</a:t>
            </a:fld>
            <a:endParaRPr spc="-4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8382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13</a:t>
            </a:fld>
            <a:endParaRPr spc="-4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99D48-3A0A-2898-77F2-D376413D1D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C61B2EE6-3AF7-4FEF-A8C0-13751CA7DE9D}" type="datetime2">
              <a:rPr lang="en-US" smtClean="0"/>
              <a:pPr>
                <a:defRPr/>
              </a:pPr>
              <a:t>Friday, May 24,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E233-6F5A-461F-D03B-4CD81195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/>
              <a:t>Chonlaphat Sukasem, Ph. D.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C1160A8E-582D-011A-0243-B66E7A0A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1" y="111760"/>
            <a:ext cx="12486852" cy="916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FF563-7D08-9D35-A482-EA263B6D9BD1}"/>
              </a:ext>
            </a:extLst>
          </p:cNvPr>
          <p:cNvSpPr/>
          <p:nvPr/>
        </p:nvSpPr>
        <p:spPr>
          <a:xfrm>
            <a:off x="10840721" y="335280"/>
            <a:ext cx="2204932" cy="894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th-TH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6B6F9F-374C-9910-AD44-A7F67349276E}"/>
              </a:ext>
            </a:extLst>
          </p:cNvPr>
          <p:cNvSpPr txBox="1"/>
          <p:nvPr/>
        </p:nvSpPr>
        <p:spPr>
          <a:xfrm>
            <a:off x="419100" y="1782157"/>
            <a:ext cx="12573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What Is a HEPA Filter and How Does a HEPA Filter Work?</a:t>
            </a:r>
          </a:p>
          <a:p>
            <a:endParaRPr lang="en-US" sz="3200" b="1" dirty="0">
              <a:effectLst/>
            </a:endParaRPr>
          </a:p>
          <a:p>
            <a:pPr algn="just"/>
            <a:r>
              <a:rPr lang="en-US" sz="3200" dirty="0">
                <a:effectLst/>
              </a:rPr>
              <a:t>A high-efficiency particulate air (HEPA) filter can remove 99.97% - 99.99% of airborne particles that are equal to, smaller or larger than 0.3 microns in size. </a:t>
            </a:r>
          </a:p>
          <a:p>
            <a:r>
              <a:rPr lang="en-US" sz="3200" dirty="0">
                <a:effectLst/>
              </a:rPr>
              <a:t> </a:t>
            </a:r>
          </a:p>
          <a:p>
            <a:pPr algn="just"/>
            <a:r>
              <a:rPr lang="en-US" sz="3200" dirty="0">
                <a:effectLst/>
              </a:rPr>
              <a:t>HEPA filters are tested using air particles that are 0.3 micron size as those are the most difficult size for a HEPA filter to catch.</a:t>
            </a:r>
          </a:p>
          <a:p>
            <a:pPr algn="just"/>
            <a:r>
              <a:rPr lang="en-US" sz="3200" dirty="0">
                <a:effectLst/>
              </a:rPr>
              <a:t>HEPA filters are actually more efficient at capturing smaller-sized particles, like those the size of viruses (Average are 0.1 microns). </a:t>
            </a:r>
          </a:p>
          <a:p>
            <a:pPr algn="just"/>
            <a:r>
              <a:rPr lang="en-US" sz="3200" dirty="0">
                <a:effectLst/>
              </a:rPr>
              <a:t>This is based on MERV (Minimum Efficiency Reporting Values) ratings as determined by the American Society of Heating</a:t>
            </a:r>
          </a:p>
        </p:txBody>
      </p:sp>
    </p:spTree>
    <p:extLst>
      <p:ext uri="{BB962C8B-B14F-4D97-AF65-F5344CB8AC3E}">
        <p14:creationId xmlns:p14="http://schemas.microsoft.com/office/powerpoint/2010/main" val="3742807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able showing MERV ratings, % chance of a certain-sized particle will be caught, and filter type examples. A MERV 17 is where you first reach a HEPA level of filtration.">
            <a:extLst>
              <a:ext uri="{FF2B5EF4-FFF2-40B4-BE49-F238E27FC236}">
                <a16:creationId xmlns:a16="http://schemas.microsoft.com/office/drawing/2014/main" id="{6B5802D1-0E42-F4DF-B07B-1C97DADC4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43861"/>
            <a:ext cx="10572330" cy="817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996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D76CAD-8A80-F495-FE18-0144A6B31696}"/>
              </a:ext>
            </a:extLst>
          </p:cNvPr>
          <p:cNvSpPr txBox="1"/>
          <p:nvPr/>
        </p:nvSpPr>
        <p:spPr>
          <a:xfrm>
            <a:off x="533400" y="2028378"/>
            <a:ext cx="117348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random, dense arrangement of fibers in the HEPA filter help to catch a range of particle sizes. As air particles pass through the air filter, they are caught by three mechanisms: diffusion, interception, and impaction.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in a HEPA filter when the gas molecules that are smaller than 0.1 microns in size collide with each other and are delayed in passing through the filter.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delay will make it more likely for the next two mechanisms to occur for those smaller particles. 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Interception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when particles moving along the air stick to a fiber.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third mechanism, is when the larger air particles embed directly into the fibers themselves.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674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http://upload.wikimedia.org/wikipedia/commons/thumb/b/b1/HEPA_Filter_diagram_en.svg/2000px-HEPA_Filter_diagram_en.svg.png">
            <a:extLst>
              <a:ext uri="{FF2B5EF4-FFF2-40B4-BE49-F238E27FC236}">
                <a16:creationId xmlns:a16="http://schemas.microsoft.com/office/drawing/2014/main" id="{2F02B13D-8005-1708-E823-A58FBEC43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0338"/>
            <a:ext cx="11353800" cy="1018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4576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5BB1460-D3F4-24CA-19A6-700783A6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1066800"/>
            <a:ext cx="12070080" cy="923330"/>
          </a:xfrm>
        </p:spPr>
        <p:txBody>
          <a:bodyPr/>
          <a:lstStyle/>
          <a:p>
            <a:pPr algn="ctr"/>
            <a:r>
              <a:rPr lang="en-US" altLang="th-TH" sz="6000" dirty="0">
                <a:ea typeface="Angsana New" panose="020B0502040204020203" pitchFamily="18" charset="-34"/>
              </a:rPr>
              <a:t>Certification companies for BSC</a:t>
            </a:r>
            <a:endParaRPr lang="th-TH" altLang="th-TH" dirty="0">
              <a:ea typeface="Angsana New" panose="020B0502040204020203" pitchFamily="18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E82C0-8C04-EB79-07C3-1B06A1671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2458720"/>
            <a:ext cx="12070080" cy="4469300"/>
          </a:xfrm>
        </p:spPr>
        <p:txBody>
          <a:bodyPr/>
          <a:lstStyle/>
          <a:p>
            <a:pPr>
              <a:defRPr/>
            </a:pPr>
            <a:r>
              <a:rPr lang="en-US" sz="4000" dirty="0"/>
              <a:t>NSF Standard 49: USA </a:t>
            </a:r>
            <a:r>
              <a:rPr lang="en-US" sz="4107" dirty="0">
                <a:solidFill>
                  <a:schemeClr val="tx2"/>
                </a:solidFill>
              </a:rPr>
              <a:t>(BSC Class II)</a:t>
            </a:r>
          </a:p>
          <a:p>
            <a:pPr>
              <a:defRPr/>
            </a:pPr>
            <a:endParaRPr lang="en-US" sz="4107" dirty="0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sz="4400" dirty="0"/>
              <a:t>EN12469 : 2000 : EU </a:t>
            </a:r>
            <a:r>
              <a:rPr lang="en-US" sz="4107" dirty="0">
                <a:solidFill>
                  <a:schemeClr val="tx2"/>
                </a:solidFill>
              </a:rPr>
              <a:t>(BSC Class I, Class II,</a:t>
            </a:r>
            <a:r>
              <a:rPr lang="th-TH" sz="4107" dirty="0">
                <a:solidFill>
                  <a:schemeClr val="tx2"/>
                </a:solidFill>
              </a:rPr>
              <a:t> </a:t>
            </a:r>
            <a:r>
              <a:rPr lang="en-US" sz="4107" dirty="0">
                <a:solidFill>
                  <a:schemeClr val="tx2"/>
                </a:solidFill>
              </a:rPr>
              <a:t>Class III)</a:t>
            </a:r>
          </a:p>
          <a:p>
            <a:pPr>
              <a:defRPr/>
            </a:pPr>
            <a:endParaRPr lang="en-US" sz="4107" dirty="0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sz="3600" dirty="0"/>
              <a:t>AS 2252 : Australia, Blower</a:t>
            </a:r>
            <a:r>
              <a:rPr lang="th-TH" sz="3600" dirty="0"/>
              <a:t> 2 </a:t>
            </a:r>
            <a:r>
              <a:rPr lang="en-US" sz="3600" dirty="0"/>
              <a:t>set </a:t>
            </a:r>
            <a:r>
              <a:rPr lang="en-US" sz="4107" dirty="0">
                <a:solidFill>
                  <a:schemeClr val="tx2"/>
                </a:solidFill>
              </a:rPr>
              <a:t>(BSC Class I, Class II)</a:t>
            </a:r>
          </a:p>
          <a:p>
            <a:pPr>
              <a:defRPr/>
            </a:pPr>
            <a:endParaRPr lang="en-US" sz="4107" dirty="0">
              <a:solidFill>
                <a:schemeClr val="tx2"/>
              </a:solidFill>
            </a:endParaRPr>
          </a:p>
          <a:p>
            <a:pPr>
              <a:defRPr/>
            </a:pPr>
            <a:r>
              <a:rPr lang="en-US" sz="3600" dirty="0"/>
              <a:t>US Federal Standard 209E </a:t>
            </a:r>
            <a:r>
              <a:rPr lang="en-US" sz="4107" dirty="0">
                <a:solidFill>
                  <a:schemeClr val="tx2"/>
                </a:solidFill>
              </a:rPr>
              <a:t>Clean Air Classification)</a:t>
            </a:r>
            <a:endParaRPr lang="th-TH" sz="4107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57400" y="990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20</a:t>
            </a:fld>
            <a:endParaRPr spc="-4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21</a:t>
            </a:fld>
            <a:endParaRPr spc="-4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304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57917" y="8029605"/>
            <a:ext cx="8695366" cy="1270936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1914" marR="8766">
              <a:lnSpc>
                <a:spcPts val="2416"/>
              </a:lnSpc>
              <a:spcBef>
                <a:spcPts val="311"/>
              </a:spcBef>
            </a:pPr>
            <a:r>
              <a:rPr sz="2071" spc="-17" dirty="0">
                <a:latin typeface="Times New Roman"/>
                <a:cs typeface="Times New Roman"/>
              </a:rPr>
              <a:t>Technically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speaking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Class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II,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III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all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forms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cabinets,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but</a:t>
            </a:r>
            <a:r>
              <a:rPr sz="2071" spc="-43" dirty="0">
                <a:latin typeface="Times New Roman"/>
                <a:cs typeface="Times New Roman"/>
              </a:rPr>
              <a:t> the </a:t>
            </a:r>
            <a:r>
              <a:rPr sz="2071" dirty="0">
                <a:latin typeface="Times New Roman"/>
                <a:cs typeface="Times New Roman"/>
              </a:rPr>
              <a:t>Class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II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most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common.</a:t>
            </a:r>
            <a:endParaRPr sz="2071" dirty="0">
              <a:latin typeface="Times New Roman"/>
              <a:cs typeface="Times New Roman"/>
            </a:endParaRPr>
          </a:p>
          <a:p>
            <a:pPr marL="21914" marR="402119">
              <a:lnSpc>
                <a:spcPts val="2364"/>
              </a:lnSpc>
            </a:pP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terms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biological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safety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generally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used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to </a:t>
            </a:r>
            <a:r>
              <a:rPr sz="2071" dirty="0">
                <a:latin typeface="Times New Roman"/>
                <a:cs typeface="Times New Roman"/>
              </a:rPr>
              <a:t>describe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Class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II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cabinet.</a:t>
            </a:r>
            <a:r>
              <a:rPr sz="2071" spc="39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equipment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topic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presentation.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22</a:t>
            </a:fld>
            <a:endParaRPr spc="-4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3600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23</a:t>
            </a:fld>
            <a:endParaRPr spc="-4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7620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24</a:t>
            </a:fld>
            <a:endParaRPr spc="-4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447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25</a:t>
            </a:fld>
            <a:endParaRPr spc="-4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26</a:t>
            </a:fld>
            <a:endParaRPr spc="-4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27</a:t>
            </a:fld>
            <a:endParaRPr spc="-4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1371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28</a:t>
            </a:fld>
            <a:endParaRPr spc="-4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304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86000" y="8991600"/>
            <a:ext cx="7602967" cy="3408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2071" dirty="0">
                <a:latin typeface="Times New Roman"/>
                <a:cs typeface="Times New Roman"/>
              </a:rPr>
              <a:t>Let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address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when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Type </a:t>
            </a:r>
            <a:r>
              <a:rPr sz="2071" dirty="0">
                <a:latin typeface="Times New Roman"/>
                <a:cs typeface="Times New Roman"/>
              </a:rPr>
              <a:t>B2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versus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spc="-52" dirty="0">
                <a:latin typeface="Times New Roman"/>
                <a:cs typeface="Times New Roman"/>
              </a:rPr>
              <a:t>Type</a:t>
            </a:r>
            <a:r>
              <a:rPr sz="2071" spc="-11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A2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cabinet.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29</a:t>
            </a:fld>
            <a:endParaRPr spc="-4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228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0600" y="8062248"/>
            <a:ext cx="11500835" cy="1908290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1914" marR="281593">
              <a:lnSpc>
                <a:spcPts val="2416"/>
              </a:lnSpc>
              <a:spcBef>
                <a:spcPts val="311"/>
              </a:spcBef>
            </a:pP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routine</a:t>
            </a:r>
            <a:r>
              <a:rPr sz="2071" spc="-17" dirty="0">
                <a:latin typeface="Times New Roman"/>
                <a:cs typeface="Times New Roman"/>
              </a:rPr>
              <a:t> microbiological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work,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spc="-52" dirty="0">
                <a:latin typeface="Times New Roman"/>
                <a:cs typeface="Times New Roman"/>
              </a:rPr>
              <a:t>Type</a:t>
            </a:r>
            <a:r>
              <a:rPr sz="2071" spc="-11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A2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sufficient.</a:t>
            </a:r>
            <a:r>
              <a:rPr sz="2071" spc="47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scenario,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it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is </a:t>
            </a:r>
            <a:r>
              <a:rPr sz="2071" dirty="0">
                <a:latin typeface="Times New Roman"/>
                <a:cs typeface="Times New Roman"/>
              </a:rPr>
              <a:t>preferable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exhaust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back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into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lab.</a:t>
            </a:r>
            <a:endParaRPr sz="2071" dirty="0">
              <a:latin typeface="Times New Roman"/>
              <a:cs typeface="Times New Roman"/>
            </a:endParaRPr>
          </a:p>
          <a:p>
            <a:pPr marL="21914" marR="229000">
              <a:lnSpc>
                <a:spcPts val="2364"/>
              </a:lnSpc>
            </a:pPr>
            <a:r>
              <a:rPr sz="2071" dirty="0">
                <a:latin typeface="Times New Roman"/>
                <a:cs typeface="Times New Roman"/>
              </a:rPr>
              <a:t>When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volatile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toxic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chemicals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radionuclides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conjunction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with </a:t>
            </a:r>
            <a:r>
              <a:rPr sz="2071" spc="-17" dirty="0">
                <a:latin typeface="Times New Roman"/>
                <a:cs typeface="Times New Roman"/>
              </a:rPr>
              <a:t>microbiological </a:t>
            </a:r>
            <a:r>
              <a:rPr sz="2071" dirty="0">
                <a:latin typeface="Times New Roman"/>
                <a:cs typeface="Times New Roman"/>
              </a:rPr>
              <a:t>work,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should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ducted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1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remote</a:t>
            </a:r>
            <a:r>
              <a:rPr sz="2071" spc="-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exhaust</a:t>
            </a:r>
            <a:r>
              <a:rPr sz="2071" spc="-17" dirty="0">
                <a:latin typeface="Times New Roman"/>
                <a:cs typeface="Times New Roman"/>
              </a:rPr>
              <a:t> system.</a:t>
            </a:r>
            <a:endParaRPr sz="2071" dirty="0">
              <a:latin typeface="Times New Roman"/>
              <a:cs typeface="Times New Roman"/>
            </a:endParaRPr>
          </a:p>
          <a:p>
            <a:pPr marL="21914" marR="8766">
              <a:lnSpc>
                <a:spcPct val="99600"/>
              </a:lnSpc>
            </a:pPr>
            <a:r>
              <a:rPr sz="2071" dirty="0">
                <a:latin typeface="Times New Roman"/>
                <a:cs typeface="Times New Roman"/>
              </a:rPr>
              <a:t>If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nuisance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odors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generated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by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work,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carbon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post-filter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or</a:t>
            </a:r>
            <a:r>
              <a:rPr sz="2071" spc="-35" dirty="0">
                <a:latin typeface="Times New Roman"/>
                <a:cs typeface="Times New Roman"/>
              </a:rPr>
              <a:t> duct </a:t>
            </a:r>
            <a:r>
              <a:rPr sz="2071" dirty="0">
                <a:latin typeface="Times New Roman"/>
                <a:cs typeface="Times New Roman"/>
              </a:rPr>
              <a:t>connection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used.</a:t>
            </a:r>
            <a:r>
              <a:rPr sz="2071" spc="414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carbon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post-filter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will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allow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the</a:t>
            </a:r>
            <a:r>
              <a:rPr sz="2071" spc="-11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A2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exhaust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the </a:t>
            </a:r>
            <a:r>
              <a:rPr sz="2071" dirty="0">
                <a:latin typeface="Times New Roman"/>
                <a:cs typeface="Times New Roman"/>
              </a:rPr>
              <a:t>room,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removing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odor.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30</a:t>
            </a:fld>
            <a:endParaRPr spc="-4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2600" y="21679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253279" y="8344520"/>
            <a:ext cx="8957235" cy="1482913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/>
          <a:p>
            <a:pPr marL="21914">
              <a:spcBef>
                <a:spcPts val="173"/>
              </a:spcBef>
            </a:pP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know</a:t>
            </a:r>
            <a:r>
              <a:rPr sz="207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that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duct,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then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we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answer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above</a:t>
            </a:r>
            <a:r>
              <a:rPr sz="2071" u="sng" spc="-26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71" u="sng" spc="-1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question.</a:t>
            </a:r>
            <a:endParaRPr sz="2071" dirty="0">
              <a:latin typeface="Times New Roman"/>
              <a:cs typeface="Times New Roman"/>
            </a:endParaRPr>
          </a:p>
          <a:p>
            <a:pPr>
              <a:spcBef>
                <a:spcPts val="1518"/>
              </a:spcBef>
            </a:pPr>
            <a:endParaRPr sz="2071" dirty="0">
              <a:latin typeface="Times New Roman"/>
              <a:cs typeface="Times New Roman"/>
            </a:endParaRPr>
          </a:p>
          <a:p>
            <a:pPr marL="21914" marR="8766">
              <a:lnSpc>
                <a:spcPct val="101899"/>
              </a:lnSpc>
              <a:spcBef>
                <a:spcPts val="9"/>
              </a:spcBef>
            </a:pP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point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where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often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mistakenly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assumed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that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must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straight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the B2.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31</a:t>
            </a:fld>
            <a:endParaRPr spc="-4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57400" y="685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0600" y="8563090"/>
            <a:ext cx="10936592" cy="974060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1914" marR="8766">
              <a:lnSpc>
                <a:spcPts val="2416"/>
              </a:lnSpc>
              <a:spcBef>
                <a:spcPts val="311"/>
              </a:spcBef>
            </a:pP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above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chart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outlines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some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very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good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reasons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NOT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B2…if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be </a:t>
            </a:r>
            <a:r>
              <a:rPr sz="2071" dirty="0">
                <a:latin typeface="Times New Roman"/>
                <a:cs typeface="Times New Roman"/>
              </a:rPr>
              <a:t>avoided.</a:t>
            </a:r>
            <a:r>
              <a:rPr sz="2071" spc="457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B2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cabinets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expensive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far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less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efficient!</a:t>
            </a:r>
            <a:endParaRPr sz="2071" dirty="0">
              <a:latin typeface="Times New Roman"/>
              <a:cs typeface="Times New Roman"/>
            </a:endParaRPr>
          </a:p>
          <a:p>
            <a:pPr marL="21914"/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course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if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B2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right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application,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what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should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used.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32</a:t>
            </a:fld>
            <a:endParaRPr spc="-43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990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33</a:t>
            </a:fld>
            <a:endParaRPr spc="-4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990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34</a:t>
            </a:fld>
            <a:endParaRPr spc="-4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4478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35</a:t>
            </a:fld>
            <a:endParaRPr spc="-4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1200" y="990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36</a:t>
            </a:fld>
            <a:endParaRPr spc="-4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13716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37</a:t>
            </a:fld>
            <a:endParaRPr spc="-43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914400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38</a:t>
            </a:fld>
            <a:endParaRPr spc="-4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24809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9396" y="7659005"/>
            <a:ext cx="12496800" cy="2239150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1914" marR="8766">
              <a:lnSpc>
                <a:spcPts val="2416"/>
              </a:lnSpc>
              <a:spcBef>
                <a:spcPts val="311"/>
              </a:spcBef>
            </a:pP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PSC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motor,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magnetic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field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must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induced.</a:t>
            </a:r>
            <a:r>
              <a:rPr sz="2071" spc="40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generates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large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amount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waste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heat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significantly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reduces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motor’s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efficiency.</a:t>
            </a:r>
            <a:endParaRPr sz="2071" dirty="0">
              <a:latin typeface="Times New Roman"/>
              <a:cs typeface="Times New Roman"/>
            </a:endParaRPr>
          </a:p>
          <a:p>
            <a:pPr marL="21914" marR="162162">
              <a:lnSpc>
                <a:spcPct val="99600"/>
              </a:lnSpc>
            </a:pPr>
            <a:r>
              <a:rPr sz="2071" dirty="0">
                <a:latin typeface="Times New Roman"/>
                <a:cs typeface="Times New Roman"/>
              </a:rPr>
              <a:t>New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motor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technologies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run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much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more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efficiently.</a:t>
            </a:r>
            <a:r>
              <a:rPr sz="2071" spc="40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reality,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these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“new”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motor </a:t>
            </a:r>
            <a:r>
              <a:rPr sz="2071" dirty="0">
                <a:latin typeface="Times New Roman"/>
                <a:cs typeface="Times New Roman"/>
              </a:rPr>
              <a:t>designs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not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new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all.</a:t>
            </a:r>
            <a:r>
              <a:rPr sz="2071" spc="362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Yet,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only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recently,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did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industry </a:t>
            </a:r>
            <a:r>
              <a:rPr sz="2071" dirty="0">
                <a:latin typeface="Times New Roman"/>
                <a:cs typeface="Times New Roman"/>
              </a:rPr>
              <a:t>begin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taking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advantage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motor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technology.</a:t>
            </a:r>
            <a:endParaRPr sz="2071" dirty="0">
              <a:latin typeface="Times New Roman"/>
              <a:cs typeface="Times New Roman"/>
            </a:endParaRPr>
          </a:p>
          <a:p>
            <a:pPr marL="21914" marR="146823">
              <a:lnSpc>
                <a:spcPct val="98800"/>
              </a:lnSpc>
            </a:pP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Brushless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DC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motor,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example,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has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been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well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over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decade</a:t>
            </a:r>
            <a:r>
              <a:rPr sz="2071" spc="-43" dirty="0">
                <a:latin typeface="Times New Roman"/>
                <a:cs typeface="Times New Roman"/>
              </a:rPr>
              <a:t> for </a:t>
            </a:r>
            <a:r>
              <a:rPr sz="2071" spc="-17" dirty="0">
                <a:latin typeface="Times New Roman"/>
                <a:cs typeface="Times New Roman"/>
              </a:rPr>
              <a:t>high-</a:t>
            </a:r>
            <a:r>
              <a:rPr sz="2071" dirty="0">
                <a:latin typeface="Times New Roman"/>
                <a:cs typeface="Times New Roman"/>
              </a:rPr>
              <a:t>end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commercial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residential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52" dirty="0">
                <a:latin typeface="Times New Roman"/>
                <a:cs typeface="Times New Roman"/>
              </a:rPr>
              <a:t>HVAC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blowers.</a:t>
            </a:r>
            <a:r>
              <a:rPr sz="2071" spc="44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also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same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motor </a:t>
            </a:r>
            <a:r>
              <a:rPr sz="2071" dirty="0">
                <a:latin typeface="Times New Roman"/>
                <a:cs typeface="Times New Roman"/>
              </a:rPr>
              <a:t>design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your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computer’s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hard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drive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disk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drive,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well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fan</a:t>
            </a:r>
            <a:r>
              <a:rPr sz="2071" spc="-26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cooling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the </a:t>
            </a:r>
            <a:r>
              <a:rPr sz="2071" spc="-17" dirty="0">
                <a:latin typeface="Times New Roman"/>
                <a:cs typeface="Times New Roman"/>
              </a:rPr>
              <a:t>processor.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39</a:t>
            </a:fld>
            <a:endParaRPr spc="-43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2854" y="189504"/>
            <a:ext cx="9288680" cy="683213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68505" y="7172094"/>
            <a:ext cx="12937379" cy="2540323"/>
          </a:xfrm>
          <a:prstGeom prst="rect">
            <a:avLst/>
          </a:prstGeom>
        </p:spPr>
        <p:txBody>
          <a:bodyPr vert="horz" wrap="square" lIns="0" tIns="39445" rIns="0" bIns="0" rtlCol="0">
            <a:spAutoFit/>
          </a:bodyPr>
          <a:lstStyle/>
          <a:p>
            <a:pPr marL="21914" marR="315559">
              <a:lnSpc>
                <a:spcPts val="2416"/>
              </a:lnSpc>
              <a:spcBef>
                <a:spcPts val="311"/>
              </a:spcBef>
            </a:pP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manufacturers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are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introducing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better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technology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display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how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performing.</a:t>
            </a:r>
            <a:endParaRPr sz="2071" dirty="0">
              <a:latin typeface="Times New Roman"/>
              <a:cs typeface="Times New Roman"/>
            </a:endParaRPr>
          </a:p>
          <a:p>
            <a:pPr marL="21914" marR="8766">
              <a:lnSpc>
                <a:spcPct val="98400"/>
              </a:lnSpc>
            </a:pPr>
            <a:r>
              <a:rPr sz="2071" dirty="0">
                <a:latin typeface="Times New Roman"/>
                <a:cs typeface="Times New Roman"/>
              </a:rPr>
              <a:t>Old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technology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utilized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magnahelic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gauge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measure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differential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pressure</a:t>
            </a:r>
            <a:r>
              <a:rPr sz="2071" spc="86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between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pressurized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non-</a:t>
            </a:r>
            <a:r>
              <a:rPr sz="2071" dirty="0">
                <a:latin typeface="Times New Roman"/>
                <a:cs typeface="Times New Roman"/>
              </a:rPr>
              <a:t>pressurized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sides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filters.</a:t>
            </a:r>
            <a:r>
              <a:rPr sz="2071" spc="371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method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did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not </a:t>
            </a:r>
            <a:r>
              <a:rPr sz="2071" dirty="0">
                <a:latin typeface="Times New Roman"/>
                <a:cs typeface="Times New Roman"/>
              </a:rPr>
              <a:t>provide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with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clear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understanding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whether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or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not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43" dirty="0">
                <a:latin typeface="Times New Roman"/>
                <a:cs typeface="Times New Roman"/>
              </a:rPr>
              <a:t> was </a:t>
            </a:r>
            <a:r>
              <a:rPr sz="2071" dirty="0">
                <a:latin typeface="Times New Roman"/>
                <a:cs typeface="Times New Roman"/>
              </a:rPr>
              <a:t>operating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safe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manner.</a:t>
            </a:r>
            <a:r>
              <a:rPr sz="2071" spc="431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fact,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most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users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only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knew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if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there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is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problem</a:t>
            </a:r>
            <a:r>
              <a:rPr sz="2071" spc="-35" dirty="0">
                <a:latin typeface="Times New Roman"/>
                <a:cs typeface="Times New Roman"/>
              </a:rPr>
              <a:t> when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needle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gauge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moved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one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extreme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other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(positive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negative).</a:t>
            </a:r>
            <a:endParaRPr sz="2071" dirty="0">
              <a:latin typeface="Times New Roman"/>
              <a:cs typeface="Times New Roman"/>
            </a:endParaRPr>
          </a:p>
          <a:p>
            <a:pPr marL="21914" marR="69029">
              <a:lnSpc>
                <a:spcPct val="99600"/>
              </a:lnSpc>
            </a:pPr>
            <a:r>
              <a:rPr sz="2071" dirty="0">
                <a:latin typeface="Times New Roman"/>
                <a:cs typeface="Times New Roman"/>
              </a:rPr>
              <a:t>New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technology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allows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users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monitor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filter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life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69" dirty="0">
                <a:latin typeface="Times New Roman"/>
                <a:cs typeface="Times New Roman"/>
              </a:rPr>
              <a:t>HEPA</a:t>
            </a:r>
            <a:r>
              <a:rPr sz="2071" spc="-121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filters,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as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well</a:t>
            </a:r>
            <a:r>
              <a:rPr sz="2071" spc="-35" dirty="0">
                <a:latin typeface="Times New Roman"/>
                <a:cs typeface="Times New Roman"/>
              </a:rPr>
              <a:t> </a:t>
            </a:r>
            <a:r>
              <a:rPr sz="2071" spc="-43" dirty="0">
                <a:latin typeface="Times New Roman"/>
                <a:cs typeface="Times New Roman"/>
              </a:rPr>
              <a:t>as </a:t>
            </a:r>
            <a:r>
              <a:rPr sz="2071" dirty="0">
                <a:latin typeface="Times New Roman"/>
                <a:cs typeface="Times New Roman"/>
              </a:rPr>
              <a:t>the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air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flow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volume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velocity.</a:t>
            </a:r>
            <a:r>
              <a:rPr sz="2071" spc="388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New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designs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incorporate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real- </a:t>
            </a:r>
            <a:r>
              <a:rPr sz="2071" dirty="0">
                <a:latin typeface="Times New Roman"/>
                <a:cs typeface="Times New Roman"/>
              </a:rPr>
              <a:t>time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automatic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adjustment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of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motor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speed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to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maintain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proper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air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flow.</a:t>
            </a:r>
            <a:endParaRPr sz="2071" dirty="0">
              <a:latin typeface="Times New Roman"/>
              <a:cs typeface="Times New Roman"/>
            </a:endParaRPr>
          </a:p>
          <a:p>
            <a:pPr marL="21914" marR="397735">
              <a:lnSpc>
                <a:spcPct val="101899"/>
              </a:lnSpc>
            </a:pPr>
            <a:r>
              <a:rPr sz="2071" dirty="0">
                <a:latin typeface="Times New Roman"/>
                <a:cs typeface="Times New Roman"/>
              </a:rPr>
              <a:t>Market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research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indicates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that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biosafety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cabinet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users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find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this</a:t>
            </a:r>
            <a:r>
              <a:rPr sz="2071" spc="-69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information</a:t>
            </a:r>
            <a:r>
              <a:rPr sz="2071" spc="-60" dirty="0">
                <a:latin typeface="Times New Roman"/>
                <a:cs typeface="Times New Roman"/>
              </a:rPr>
              <a:t> </a:t>
            </a:r>
            <a:r>
              <a:rPr sz="2071" spc="-35" dirty="0">
                <a:latin typeface="Times New Roman"/>
                <a:cs typeface="Times New Roman"/>
              </a:rPr>
              <a:t>much </a:t>
            </a:r>
            <a:r>
              <a:rPr sz="2071" dirty="0">
                <a:latin typeface="Times New Roman"/>
                <a:cs typeface="Times New Roman"/>
              </a:rPr>
              <a:t>more</a:t>
            </a:r>
            <a:r>
              <a:rPr sz="2071" spc="-52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helpful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dirty="0">
                <a:latin typeface="Times New Roman"/>
                <a:cs typeface="Times New Roman"/>
              </a:rPr>
              <a:t>and</a:t>
            </a:r>
            <a:r>
              <a:rPr sz="2071" spc="-43" dirty="0">
                <a:latin typeface="Times New Roman"/>
                <a:cs typeface="Times New Roman"/>
              </a:rPr>
              <a:t> </a:t>
            </a:r>
            <a:r>
              <a:rPr sz="2071" spc="-17" dirty="0">
                <a:latin typeface="Times New Roman"/>
                <a:cs typeface="Times New Roman"/>
              </a:rPr>
              <a:t>intuitive.</a:t>
            </a:r>
            <a:endParaRPr sz="207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40</a:t>
            </a:fld>
            <a:endParaRPr spc="-43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07919" y="1207994"/>
            <a:ext cx="10195361" cy="7642412"/>
            <a:chOff x="950912" y="909637"/>
            <a:chExt cx="5908675" cy="4429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914400"/>
              <a:ext cx="5907024" cy="4419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5675" y="914400"/>
              <a:ext cx="5891530" cy="4419600"/>
            </a:xfrm>
            <a:custGeom>
              <a:avLst/>
              <a:gdLst/>
              <a:ahLst/>
              <a:cxnLst/>
              <a:rect l="l" t="t" r="r" b="b"/>
              <a:pathLst>
                <a:path w="5891530" h="4419600">
                  <a:moveTo>
                    <a:pt x="0" y="0"/>
                  </a:moveTo>
                  <a:lnTo>
                    <a:pt x="5891199" y="0"/>
                  </a:lnTo>
                  <a:lnTo>
                    <a:pt x="5891199" y="4419587"/>
                  </a:lnTo>
                  <a:lnTo>
                    <a:pt x="0" y="44195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459"/>
              </a:lnSpc>
            </a:pPr>
            <a:fld id="{81D60167-4931-47E6-BA6A-407CBD079E47}" type="slidenum">
              <a:rPr spc="-43" dirty="0"/>
              <a:pPr marL="65742">
                <a:lnSpc>
                  <a:spcPts val="2459"/>
                </a:lnSpc>
              </a:pPr>
              <a:t>41</a:t>
            </a:fld>
            <a:endParaRPr spc="-4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989</Words>
  <Application>Microsoft Office PowerPoint</Application>
  <PresentationFormat>Custom</PresentationFormat>
  <Paragraphs>80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Angsana New</vt:lpstr>
      <vt:lpstr>Arial MT</vt:lpstr>
      <vt:lpstr>Calibri</vt:lpstr>
      <vt:lpstr>Tahoma</vt:lpstr>
      <vt:lpstr>Times New Roman</vt:lpstr>
      <vt:lpstr>Office Theme</vt:lpstr>
      <vt:lpstr>Biosafety Cabinet (BSC)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companies for BSC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Biological Safety Cabinets presentation</dc:title>
  <dc:subject>Types of Biological Safety Cabinets</dc:subject>
  <dc:creator>Mark Meinders, Labconco Product Specialist</dc:creator>
  <cp:keywords>biosafety cabinets, biological safety cabinets, NSF 49, airflow, particulate protection, personnel protection, Class I, class II, Class III, contamination</cp:keywords>
  <cp:lastModifiedBy>Admin</cp:lastModifiedBy>
  <cp:revision>2</cp:revision>
  <dcterms:created xsi:type="dcterms:W3CDTF">2024-05-24T04:21:51Z</dcterms:created>
  <dcterms:modified xsi:type="dcterms:W3CDTF">2024-05-24T06:30:25Z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2009-05-22T00:00:00Z</vt:filetime>
  </property>
  <property fmtid="{D5CDD505-2E9C-101B-9397-08002B2CF9AE}" pid="3" name="LastSaved">
    <vt:filetime>2024-05-24T00:00:00Z</vt:filetime>
  </property>
  <property fmtid="{D5CDD505-2E9C-101B-9397-08002B2CF9AE}" pid="4" name="Producer">
    <vt:lpwstr>Acrobat Distiller 9.0.0 (Macintosh)</vt:lpwstr>
  </property>
</Properties>
</file>