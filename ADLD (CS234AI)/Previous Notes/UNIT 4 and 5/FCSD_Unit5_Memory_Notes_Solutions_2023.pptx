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6"/>
  </p:notesMasterIdLst>
  <p:handoutMasterIdLst>
    <p:handoutMasterId r:id="rId47"/>
  </p:handoutMasterIdLst>
  <p:sldIdLst>
    <p:sldId id="259" r:id="rId3"/>
    <p:sldId id="405" r:id="rId4"/>
    <p:sldId id="406" r:id="rId5"/>
    <p:sldId id="407" r:id="rId6"/>
    <p:sldId id="408" r:id="rId7"/>
    <p:sldId id="413" r:id="rId8"/>
    <p:sldId id="411" r:id="rId9"/>
    <p:sldId id="412" r:id="rId10"/>
    <p:sldId id="414" r:id="rId11"/>
    <p:sldId id="416" r:id="rId12"/>
    <p:sldId id="415" r:id="rId13"/>
    <p:sldId id="417" r:id="rId14"/>
    <p:sldId id="420" r:id="rId15"/>
    <p:sldId id="419" r:id="rId16"/>
    <p:sldId id="418" r:id="rId17"/>
    <p:sldId id="421" r:id="rId18"/>
    <p:sldId id="422" r:id="rId19"/>
    <p:sldId id="423" r:id="rId20"/>
    <p:sldId id="424" r:id="rId21"/>
    <p:sldId id="425" r:id="rId22"/>
    <p:sldId id="426" r:id="rId23"/>
    <p:sldId id="295" r:id="rId24"/>
    <p:sldId id="297" r:id="rId25"/>
    <p:sldId id="299" r:id="rId26"/>
    <p:sldId id="300" r:id="rId27"/>
    <p:sldId id="301" r:id="rId28"/>
    <p:sldId id="302" r:id="rId29"/>
    <p:sldId id="303" r:id="rId30"/>
    <p:sldId id="394" r:id="rId31"/>
    <p:sldId id="404" r:id="rId32"/>
    <p:sldId id="403" r:id="rId33"/>
    <p:sldId id="396" r:id="rId34"/>
    <p:sldId id="398" r:id="rId35"/>
    <p:sldId id="399" r:id="rId36"/>
    <p:sldId id="309" r:id="rId37"/>
    <p:sldId id="310" r:id="rId38"/>
    <p:sldId id="311" r:id="rId39"/>
    <p:sldId id="400" r:id="rId40"/>
    <p:sldId id="402" r:id="rId41"/>
    <p:sldId id="392" r:id="rId42"/>
    <p:sldId id="401" r:id="rId43"/>
    <p:sldId id="390" r:id="rId44"/>
    <p:sldId id="39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D7EB6C-CD57-327E-F308-5BA3F1866F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8E595A-EE88-C69E-1C04-8A5F8D1A2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3ACF14-5467-46C6-A044-E1B6C3B6B19E}" type="datetimeFigureOut">
              <a:rPr lang="en-IN" smtClean="0"/>
              <a:t>11-02-2025</a:t>
            </a:fld>
            <a:endParaRPr lang="en-IN"/>
          </a:p>
        </p:txBody>
      </p:sp>
      <p:sp>
        <p:nvSpPr>
          <p:cNvPr id="4" name="Footer Placeholder 3">
            <a:extLst>
              <a:ext uri="{FF2B5EF4-FFF2-40B4-BE49-F238E27FC236}">
                <a16:creationId xmlns:a16="http://schemas.microsoft.com/office/drawing/2014/main" id="{26F214D5-50F8-F3A9-324A-679C0A34C6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60B1A79-6584-9A72-D4A2-AD46A289D1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F67C31-74E8-4863-9227-4B7BCA2EAB74}" type="slidenum">
              <a:rPr lang="en-IN" smtClean="0"/>
              <a:t>‹#›</a:t>
            </a:fld>
            <a:endParaRPr lang="en-IN"/>
          </a:p>
        </p:txBody>
      </p:sp>
    </p:spTree>
    <p:extLst>
      <p:ext uri="{BB962C8B-B14F-4D97-AF65-F5344CB8AC3E}">
        <p14:creationId xmlns:p14="http://schemas.microsoft.com/office/powerpoint/2010/main" val="326653432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11-02-2025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p4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4" name="Google Shape;1244;p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p4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9" name="Google Shape;1419;p4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p4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5" name="Google Shape;1455;p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
        <p:cNvGrpSpPr/>
        <p:nvPr/>
      </p:nvGrpSpPr>
      <p:grpSpPr>
        <a:xfrm>
          <a:off x="0" y="0"/>
          <a:ext cx="0" cy="0"/>
          <a:chOff x="0" y="0"/>
          <a:chExt cx="0" cy="0"/>
        </a:xfrm>
      </p:grpSpPr>
      <p:sp>
        <p:nvSpPr>
          <p:cNvPr id="1459" name="Google Shape;1459;p4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0" name="Google Shape;1460;p4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p4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8" name="Google Shape;1468;p4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4"/>
        <p:cNvGrpSpPr/>
        <p:nvPr/>
      </p:nvGrpSpPr>
      <p:grpSpPr>
        <a:xfrm>
          <a:off x="0" y="0"/>
          <a:ext cx="0" cy="0"/>
          <a:chOff x="0" y="0"/>
          <a:chExt cx="0" cy="0"/>
        </a:xfrm>
      </p:grpSpPr>
      <p:sp>
        <p:nvSpPr>
          <p:cNvPr id="1495" name="Google Shape;1495;p4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6" name="Google Shape;1496;p4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4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4" name="Google Shape;1504;p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p5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1" name="Google Shape;1541;p5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p5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0" name="Google Shape;1560;p5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703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p5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8" name="Google Shape;1568;p5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119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4"/>
        <p:cNvGrpSpPr/>
        <p:nvPr/>
      </p:nvGrpSpPr>
      <p:grpSpPr>
        <a:xfrm>
          <a:off x="0" y="0"/>
          <a:ext cx="0" cy="0"/>
          <a:chOff x="0" y="0"/>
          <a:chExt cx="0" cy="0"/>
        </a:xfrm>
      </p:grpSpPr>
      <p:sp>
        <p:nvSpPr>
          <p:cNvPr id="1575" name="Google Shape;1575;p5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6" name="Google Shape;1576;p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1950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2D02CD68-F602-442D-9F57-4B4B4FE1B210}" type="datetime1">
              <a:rPr lang="en-IN" smtClean="0"/>
              <a:t>11-02-2025</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53A4625C-5208-4050-98B8-EA5F8E41F629}" type="datetime1">
              <a:rPr lang="en-IN" smtClean="0"/>
              <a:t>11-02-2025</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622F23FE-7AD8-42CD-9011-E53A0E7478CE}" type="datetime1">
              <a:rPr lang="en-IN" smtClean="0"/>
              <a:t>11-02-2025</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C7B93129-7358-4E87-9BD3-8B90B1C761C2}" type="datetime1">
              <a:rPr lang="en-IN" smtClean="0"/>
              <a:t>11-02-2025</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067F01AC-D578-439A-809F-A1895794A34E}" type="datetime1">
              <a:rPr lang="en-IN" smtClean="0"/>
              <a:t>11-02-2025</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2D699B71-F42C-4B2E-9A60-C13BEB95DC03}" type="datetime1">
              <a:rPr lang="en-IN" smtClean="0"/>
              <a:t>11-02-2025</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84763768-C680-471C-990A-D5C5808EAE3B}" type="datetime1">
              <a:rPr lang="en-IN" smtClean="0"/>
              <a:t>11-02-2025</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F10447E5-04E7-4E2A-AB7B-D8999E7234F5}" type="datetime1">
              <a:rPr lang="en-IN" smtClean="0"/>
              <a:t>11-02-2025</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02210BAA-E652-4C0E-9D5C-D2C7BD090680}" type="datetime1">
              <a:rPr lang="en-IN" smtClean="0"/>
              <a:t>11-02-2025</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76485D97-93A5-41E2-B2DE-28316B336285}" type="datetime1">
              <a:rPr lang="en-IN" smtClean="0"/>
              <a:t>11-02-2025</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3A6713A0-70A8-4749-A08E-CE900212C2DA}" type="datetime1">
              <a:rPr lang="en-IN" smtClean="0"/>
              <a:t>11-02-2025</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619300" y="589229"/>
            <a:ext cx="8953397"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FF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1067512" y="1367791"/>
            <a:ext cx="10056977"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800" b="0" i="0">
                <a:solidFill>
                  <a:srgbClr val="252525"/>
                </a:solidFill>
                <a:latin typeface="Comic Sans MS"/>
                <a:ea typeface="Comic Sans MS"/>
                <a:cs typeface="Comic Sans MS"/>
                <a:sym typeface="Comic Sans MS"/>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4145280" y="6377940"/>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609600" y="6377940"/>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711010" y="6407734"/>
            <a:ext cx="497839" cy="254237"/>
          </a:xfrm>
          <a:prstGeom prst="rect">
            <a:avLst/>
          </a:prstGeom>
          <a:noFill/>
          <a:ln>
            <a:noFill/>
          </a:ln>
        </p:spPr>
        <p:txBody>
          <a:bodyPr spcFirstLastPara="1" wrap="square" lIns="0" tIns="0" rIns="0" bIns="0" anchor="t" anchorCtr="0">
            <a:spAutoFit/>
          </a:bodyPr>
          <a:lstStyle>
            <a:lvl1pPr marL="137160" marR="0" lvl="0" indent="0" algn="l">
              <a:lnSpc>
                <a:spcPct val="117857"/>
              </a:lnSpc>
              <a:spcBef>
                <a:spcPts val="0"/>
              </a:spcBef>
              <a:buNone/>
              <a:defRPr sz="1400" b="0" i="0">
                <a:solidFill>
                  <a:schemeClr val="dk1"/>
                </a:solidFill>
                <a:latin typeface="Helvetica Neue"/>
                <a:ea typeface="Helvetica Neue"/>
                <a:cs typeface="Helvetica Neue"/>
                <a:sym typeface="Helvetica Neue"/>
              </a:defRPr>
            </a:lvl1pPr>
            <a:lvl2pPr marL="137160" marR="0" lvl="1" indent="0" algn="l">
              <a:lnSpc>
                <a:spcPct val="117857"/>
              </a:lnSpc>
              <a:spcBef>
                <a:spcPts val="0"/>
              </a:spcBef>
              <a:buNone/>
              <a:defRPr sz="1400" b="0" i="0">
                <a:solidFill>
                  <a:schemeClr val="dk1"/>
                </a:solidFill>
                <a:latin typeface="Helvetica Neue"/>
                <a:ea typeface="Helvetica Neue"/>
                <a:cs typeface="Helvetica Neue"/>
                <a:sym typeface="Helvetica Neue"/>
              </a:defRPr>
            </a:lvl2pPr>
            <a:lvl3pPr marL="137160" marR="0" lvl="2" indent="0" algn="l">
              <a:lnSpc>
                <a:spcPct val="117857"/>
              </a:lnSpc>
              <a:spcBef>
                <a:spcPts val="0"/>
              </a:spcBef>
              <a:buNone/>
              <a:defRPr sz="1400" b="0" i="0">
                <a:solidFill>
                  <a:schemeClr val="dk1"/>
                </a:solidFill>
                <a:latin typeface="Helvetica Neue"/>
                <a:ea typeface="Helvetica Neue"/>
                <a:cs typeface="Helvetica Neue"/>
                <a:sym typeface="Helvetica Neue"/>
              </a:defRPr>
            </a:lvl3pPr>
            <a:lvl4pPr marL="137160" marR="0" lvl="3" indent="0" algn="l">
              <a:lnSpc>
                <a:spcPct val="117857"/>
              </a:lnSpc>
              <a:spcBef>
                <a:spcPts val="0"/>
              </a:spcBef>
              <a:buNone/>
              <a:defRPr sz="1400" b="0" i="0">
                <a:solidFill>
                  <a:schemeClr val="dk1"/>
                </a:solidFill>
                <a:latin typeface="Helvetica Neue"/>
                <a:ea typeface="Helvetica Neue"/>
                <a:cs typeface="Helvetica Neue"/>
                <a:sym typeface="Helvetica Neue"/>
              </a:defRPr>
            </a:lvl4pPr>
            <a:lvl5pPr marL="137160" marR="0" lvl="4" indent="0" algn="l">
              <a:lnSpc>
                <a:spcPct val="117857"/>
              </a:lnSpc>
              <a:spcBef>
                <a:spcPts val="0"/>
              </a:spcBef>
              <a:buNone/>
              <a:defRPr sz="1400" b="0" i="0">
                <a:solidFill>
                  <a:schemeClr val="dk1"/>
                </a:solidFill>
                <a:latin typeface="Helvetica Neue"/>
                <a:ea typeface="Helvetica Neue"/>
                <a:cs typeface="Helvetica Neue"/>
                <a:sym typeface="Helvetica Neue"/>
              </a:defRPr>
            </a:lvl5pPr>
            <a:lvl6pPr marL="137160" marR="0" lvl="5" indent="0" algn="l">
              <a:lnSpc>
                <a:spcPct val="117857"/>
              </a:lnSpc>
              <a:spcBef>
                <a:spcPts val="0"/>
              </a:spcBef>
              <a:buNone/>
              <a:defRPr sz="1400" b="0" i="0">
                <a:solidFill>
                  <a:schemeClr val="dk1"/>
                </a:solidFill>
                <a:latin typeface="Helvetica Neue"/>
                <a:ea typeface="Helvetica Neue"/>
                <a:cs typeface="Helvetica Neue"/>
                <a:sym typeface="Helvetica Neue"/>
              </a:defRPr>
            </a:lvl6pPr>
            <a:lvl7pPr marL="137160" marR="0" lvl="6" indent="0" algn="l">
              <a:lnSpc>
                <a:spcPct val="117857"/>
              </a:lnSpc>
              <a:spcBef>
                <a:spcPts val="0"/>
              </a:spcBef>
              <a:buNone/>
              <a:defRPr sz="1400" b="0" i="0">
                <a:solidFill>
                  <a:schemeClr val="dk1"/>
                </a:solidFill>
                <a:latin typeface="Helvetica Neue"/>
                <a:ea typeface="Helvetica Neue"/>
                <a:cs typeface="Helvetica Neue"/>
                <a:sym typeface="Helvetica Neue"/>
              </a:defRPr>
            </a:lvl7pPr>
            <a:lvl8pPr marL="137160" marR="0" lvl="7" indent="0" algn="l">
              <a:lnSpc>
                <a:spcPct val="117857"/>
              </a:lnSpc>
              <a:spcBef>
                <a:spcPts val="0"/>
              </a:spcBef>
              <a:buNone/>
              <a:defRPr sz="1400" b="0" i="0">
                <a:solidFill>
                  <a:schemeClr val="dk1"/>
                </a:solidFill>
                <a:latin typeface="Helvetica Neue"/>
                <a:ea typeface="Helvetica Neue"/>
                <a:cs typeface="Helvetica Neue"/>
                <a:sym typeface="Helvetica Neue"/>
              </a:defRPr>
            </a:lvl8pPr>
            <a:lvl9pPr marL="137160" marR="0" lvl="8" indent="0" algn="l">
              <a:lnSpc>
                <a:spcPct val="117857"/>
              </a:lnSpc>
              <a:spcBef>
                <a:spcPts val="0"/>
              </a:spcBef>
              <a:buNone/>
              <a:defRPr sz="1400" b="0" i="0">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170996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619300" y="589229"/>
            <a:ext cx="8953397"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FF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45280" y="6377940"/>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609600" y="6377940"/>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711010" y="6407734"/>
            <a:ext cx="497839" cy="254237"/>
          </a:xfrm>
          <a:prstGeom prst="rect">
            <a:avLst/>
          </a:prstGeom>
          <a:noFill/>
          <a:ln>
            <a:noFill/>
          </a:ln>
        </p:spPr>
        <p:txBody>
          <a:bodyPr spcFirstLastPara="1" wrap="square" lIns="0" tIns="0" rIns="0" bIns="0" anchor="t" anchorCtr="0">
            <a:spAutoFit/>
          </a:bodyPr>
          <a:lstStyle>
            <a:lvl1pPr marL="137160" marR="0" lvl="0" indent="0" algn="l">
              <a:lnSpc>
                <a:spcPct val="117857"/>
              </a:lnSpc>
              <a:spcBef>
                <a:spcPts val="0"/>
              </a:spcBef>
              <a:buNone/>
              <a:defRPr sz="1400" b="0" i="0">
                <a:solidFill>
                  <a:schemeClr val="dk1"/>
                </a:solidFill>
                <a:latin typeface="Helvetica Neue"/>
                <a:ea typeface="Helvetica Neue"/>
                <a:cs typeface="Helvetica Neue"/>
                <a:sym typeface="Helvetica Neue"/>
              </a:defRPr>
            </a:lvl1pPr>
            <a:lvl2pPr marL="137160" marR="0" lvl="1" indent="0" algn="l">
              <a:lnSpc>
                <a:spcPct val="117857"/>
              </a:lnSpc>
              <a:spcBef>
                <a:spcPts val="0"/>
              </a:spcBef>
              <a:buNone/>
              <a:defRPr sz="1400" b="0" i="0">
                <a:solidFill>
                  <a:schemeClr val="dk1"/>
                </a:solidFill>
                <a:latin typeface="Helvetica Neue"/>
                <a:ea typeface="Helvetica Neue"/>
                <a:cs typeface="Helvetica Neue"/>
                <a:sym typeface="Helvetica Neue"/>
              </a:defRPr>
            </a:lvl2pPr>
            <a:lvl3pPr marL="137160" marR="0" lvl="2" indent="0" algn="l">
              <a:lnSpc>
                <a:spcPct val="117857"/>
              </a:lnSpc>
              <a:spcBef>
                <a:spcPts val="0"/>
              </a:spcBef>
              <a:buNone/>
              <a:defRPr sz="1400" b="0" i="0">
                <a:solidFill>
                  <a:schemeClr val="dk1"/>
                </a:solidFill>
                <a:latin typeface="Helvetica Neue"/>
                <a:ea typeface="Helvetica Neue"/>
                <a:cs typeface="Helvetica Neue"/>
                <a:sym typeface="Helvetica Neue"/>
              </a:defRPr>
            </a:lvl3pPr>
            <a:lvl4pPr marL="137160" marR="0" lvl="3" indent="0" algn="l">
              <a:lnSpc>
                <a:spcPct val="117857"/>
              </a:lnSpc>
              <a:spcBef>
                <a:spcPts val="0"/>
              </a:spcBef>
              <a:buNone/>
              <a:defRPr sz="1400" b="0" i="0">
                <a:solidFill>
                  <a:schemeClr val="dk1"/>
                </a:solidFill>
                <a:latin typeface="Helvetica Neue"/>
                <a:ea typeface="Helvetica Neue"/>
                <a:cs typeface="Helvetica Neue"/>
                <a:sym typeface="Helvetica Neue"/>
              </a:defRPr>
            </a:lvl4pPr>
            <a:lvl5pPr marL="137160" marR="0" lvl="4" indent="0" algn="l">
              <a:lnSpc>
                <a:spcPct val="117857"/>
              </a:lnSpc>
              <a:spcBef>
                <a:spcPts val="0"/>
              </a:spcBef>
              <a:buNone/>
              <a:defRPr sz="1400" b="0" i="0">
                <a:solidFill>
                  <a:schemeClr val="dk1"/>
                </a:solidFill>
                <a:latin typeface="Helvetica Neue"/>
                <a:ea typeface="Helvetica Neue"/>
                <a:cs typeface="Helvetica Neue"/>
                <a:sym typeface="Helvetica Neue"/>
              </a:defRPr>
            </a:lvl5pPr>
            <a:lvl6pPr marL="137160" marR="0" lvl="5" indent="0" algn="l">
              <a:lnSpc>
                <a:spcPct val="117857"/>
              </a:lnSpc>
              <a:spcBef>
                <a:spcPts val="0"/>
              </a:spcBef>
              <a:buNone/>
              <a:defRPr sz="1400" b="0" i="0">
                <a:solidFill>
                  <a:schemeClr val="dk1"/>
                </a:solidFill>
                <a:latin typeface="Helvetica Neue"/>
                <a:ea typeface="Helvetica Neue"/>
                <a:cs typeface="Helvetica Neue"/>
                <a:sym typeface="Helvetica Neue"/>
              </a:defRPr>
            </a:lvl6pPr>
            <a:lvl7pPr marL="137160" marR="0" lvl="6" indent="0" algn="l">
              <a:lnSpc>
                <a:spcPct val="117857"/>
              </a:lnSpc>
              <a:spcBef>
                <a:spcPts val="0"/>
              </a:spcBef>
              <a:buNone/>
              <a:defRPr sz="1400" b="0" i="0">
                <a:solidFill>
                  <a:schemeClr val="dk1"/>
                </a:solidFill>
                <a:latin typeface="Helvetica Neue"/>
                <a:ea typeface="Helvetica Neue"/>
                <a:cs typeface="Helvetica Neue"/>
                <a:sym typeface="Helvetica Neue"/>
              </a:defRPr>
            </a:lvl7pPr>
            <a:lvl8pPr marL="137160" marR="0" lvl="7" indent="0" algn="l">
              <a:lnSpc>
                <a:spcPct val="117857"/>
              </a:lnSpc>
              <a:spcBef>
                <a:spcPts val="0"/>
              </a:spcBef>
              <a:buNone/>
              <a:defRPr sz="1400" b="0" i="0">
                <a:solidFill>
                  <a:schemeClr val="dk1"/>
                </a:solidFill>
                <a:latin typeface="Helvetica Neue"/>
                <a:ea typeface="Helvetica Neue"/>
                <a:cs typeface="Helvetica Neue"/>
                <a:sym typeface="Helvetica Neue"/>
              </a:defRPr>
            </a:lvl8pPr>
            <a:lvl9pPr marL="137160" marR="0" lvl="8" indent="0" algn="l">
              <a:lnSpc>
                <a:spcPct val="117857"/>
              </a:lnSpc>
              <a:spcBef>
                <a:spcPts val="0"/>
              </a:spcBef>
              <a:buNone/>
              <a:defRPr sz="1400" b="0" i="0">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41640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914400" y="2125980"/>
            <a:ext cx="10363200"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ubTitle" idx="1"/>
          </p:nvPr>
        </p:nvSpPr>
        <p:spPr>
          <a:xfrm>
            <a:off x="1828800" y="3840480"/>
            <a:ext cx="853440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145280" y="6377940"/>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dt" idx="10"/>
          </p:nvPr>
        </p:nvSpPr>
        <p:spPr>
          <a:xfrm>
            <a:off x="609600" y="6377940"/>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10711010" y="6407734"/>
            <a:ext cx="497839" cy="254237"/>
          </a:xfrm>
          <a:prstGeom prst="rect">
            <a:avLst/>
          </a:prstGeom>
          <a:noFill/>
          <a:ln>
            <a:noFill/>
          </a:ln>
        </p:spPr>
        <p:txBody>
          <a:bodyPr spcFirstLastPara="1" wrap="square" lIns="0" tIns="0" rIns="0" bIns="0" anchor="t" anchorCtr="0">
            <a:spAutoFit/>
          </a:bodyPr>
          <a:lstStyle>
            <a:lvl1pPr marL="137160" marR="0" lvl="0" indent="0" algn="l">
              <a:lnSpc>
                <a:spcPct val="117857"/>
              </a:lnSpc>
              <a:spcBef>
                <a:spcPts val="0"/>
              </a:spcBef>
              <a:buNone/>
              <a:defRPr sz="1400" b="0" i="0">
                <a:solidFill>
                  <a:schemeClr val="dk1"/>
                </a:solidFill>
                <a:latin typeface="Helvetica Neue"/>
                <a:ea typeface="Helvetica Neue"/>
                <a:cs typeface="Helvetica Neue"/>
                <a:sym typeface="Helvetica Neue"/>
              </a:defRPr>
            </a:lvl1pPr>
            <a:lvl2pPr marL="137160" marR="0" lvl="1" indent="0" algn="l">
              <a:lnSpc>
                <a:spcPct val="117857"/>
              </a:lnSpc>
              <a:spcBef>
                <a:spcPts val="0"/>
              </a:spcBef>
              <a:buNone/>
              <a:defRPr sz="1400" b="0" i="0">
                <a:solidFill>
                  <a:schemeClr val="dk1"/>
                </a:solidFill>
                <a:latin typeface="Helvetica Neue"/>
                <a:ea typeface="Helvetica Neue"/>
                <a:cs typeface="Helvetica Neue"/>
                <a:sym typeface="Helvetica Neue"/>
              </a:defRPr>
            </a:lvl2pPr>
            <a:lvl3pPr marL="137160" marR="0" lvl="2" indent="0" algn="l">
              <a:lnSpc>
                <a:spcPct val="117857"/>
              </a:lnSpc>
              <a:spcBef>
                <a:spcPts val="0"/>
              </a:spcBef>
              <a:buNone/>
              <a:defRPr sz="1400" b="0" i="0">
                <a:solidFill>
                  <a:schemeClr val="dk1"/>
                </a:solidFill>
                <a:latin typeface="Helvetica Neue"/>
                <a:ea typeface="Helvetica Neue"/>
                <a:cs typeface="Helvetica Neue"/>
                <a:sym typeface="Helvetica Neue"/>
              </a:defRPr>
            </a:lvl3pPr>
            <a:lvl4pPr marL="137160" marR="0" lvl="3" indent="0" algn="l">
              <a:lnSpc>
                <a:spcPct val="117857"/>
              </a:lnSpc>
              <a:spcBef>
                <a:spcPts val="0"/>
              </a:spcBef>
              <a:buNone/>
              <a:defRPr sz="1400" b="0" i="0">
                <a:solidFill>
                  <a:schemeClr val="dk1"/>
                </a:solidFill>
                <a:latin typeface="Helvetica Neue"/>
                <a:ea typeface="Helvetica Neue"/>
                <a:cs typeface="Helvetica Neue"/>
                <a:sym typeface="Helvetica Neue"/>
              </a:defRPr>
            </a:lvl4pPr>
            <a:lvl5pPr marL="137160" marR="0" lvl="4" indent="0" algn="l">
              <a:lnSpc>
                <a:spcPct val="117857"/>
              </a:lnSpc>
              <a:spcBef>
                <a:spcPts val="0"/>
              </a:spcBef>
              <a:buNone/>
              <a:defRPr sz="1400" b="0" i="0">
                <a:solidFill>
                  <a:schemeClr val="dk1"/>
                </a:solidFill>
                <a:latin typeface="Helvetica Neue"/>
                <a:ea typeface="Helvetica Neue"/>
                <a:cs typeface="Helvetica Neue"/>
                <a:sym typeface="Helvetica Neue"/>
              </a:defRPr>
            </a:lvl5pPr>
            <a:lvl6pPr marL="137160" marR="0" lvl="5" indent="0" algn="l">
              <a:lnSpc>
                <a:spcPct val="117857"/>
              </a:lnSpc>
              <a:spcBef>
                <a:spcPts val="0"/>
              </a:spcBef>
              <a:buNone/>
              <a:defRPr sz="1400" b="0" i="0">
                <a:solidFill>
                  <a:schemeClr val="dk1"/>
                </a:solidFill>
                <a:latin typeface="Helvetica Neue"/>
                <a:ea typeface="Helvetica Neue"/>
                <a:cs typeface="Helvetica Neue"/>
                <a:sym typeface="Helvetica Neue"/>
              </a:defRPr>
            </a:lvl6pPr>
            <a:lvl7pPr marL="137160" marR="0" lvl="6" indent="0" algn="l">
              <a:lnSpc>
                <a:spcPct val="117857"/>
              </a:lnSpc>
              <a:spcBef>
                <a:spcPts val="0"/>
              </a:spcBef>
              <a:buNone/>
              <a:defRPr sz="1400" b="0" i="0">
                <a:solidFill>
                  <a:schemeClr val="dk1"/>
                </a:solidFill>
                <a:latin typeface="Helvetica Neue"/>
                <a:ea typeface="Helvetica Neue"/>
                <a:cs typeface="Helvetica Neue"/>
                <a:sym typeface="Helvetica Neue"/>
              </a:defRPr>
            </a:lvl7pPr>
            <a:lvl8pPr marL="137160" marR="0" lvl="7" indent="0" algn="l">
              <a:lnSpc>
                <a:spcPct val="117857"/>
              </a:lnSpc>
              <a:spcBef>
                <a:spcPts val="0"/>
              </a:spcBef>
              <a:buNone/>
              <a:defRPr sz="1400" b="0" i="0">
                <a:solidFill>
                  <a:schemeClr val="dk1"/>
                </a:solidFill>
                <a:latin typeface="Helvetica Neue"/>
                <a:ea typeface="Helvetica Neue"/>
                <a:cs typeface="Helvetica Neue"/>
                <a:sym typeface="Helvetica Neue"/>
              </a:defRPr>
            </a:lvl8pPr>
            <a:lvl9pPr marL="137160" marR="0" lvl="8" indent="0" algn="l">
              <a:lnSpc>
                <a:spcPct val="117857"/>
              </a:lnSpc>
              <a:spcBef>
                <a:spcPts val="0"/>
              </a:spcBef>
              <a:buNone/>
              <a:defRPr sz="1400" b="0" i="0">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7154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1619300" y="589229"/>
            <a:ext cx="8953397"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FF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77340"/>
            <a:ext cx="5303520"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6"/>
          <p:cNvSpPr txBox="1">
            <a:spLocks noGrp="1"/>
          </p:cNvSpPr>
          <p:nvPr>
            <p:ph type="body" idx="2"/>
          </p:nvPr>
        </p:nvSpPr>
        <p:spPr>
          <a:xfrm>
            <a:off x="6278880" y="1577340"/>
            <a:ext cx="5303520"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145280" y="6377940"/>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609600" y="6377940"/>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10711010" y="6407734"/>
            <a:ext cx="497839" cy="254237"/>
          </a:xfrm>
          <a:prstGeom prst="rect">
            <a:avLst/>
          </a:prstGeom>
          <a:noFill/>
          <a:ln>
            <a:noFill/>
          </a:ln>
        </p:spPr>
        <p:txBody>
          <a:bodyPr spcFirstLastPara="1" wrap="square" lIns="0" tIns="0" rIns="0" bIns="0" anchor="t" anchorCtr="0">
            <a:spAutoFit/>
          </a:bodyPr>
          <a:lstStyle>
            <a:lvl1pPr marL="137160" marR="0" lvl="0" indent="0" algn="l">
              <a:lnSpc>
                <a:spcPct val="117857"/>
              </a:lnSpc>
              <a:spcBef>
                <a:spcPts val="0"/>
              </a:spcBef>
              <a:buNone/>
              <a:defRPr sz="1400" b="0" i="0">
                <a:solidFill>
                  <a:schemeClr val="dk1"/>
                </a:solidFill>
                <a:latin typeface="Helvetica Neue"/>
                <a:ea typeface="Helvetica Neue"/>
                <a:cs typeface="Helvetica Neue"/>
                <a:sym typeface="Helvetica Neue"/>
              </a:defRPr>
            </a:lvl1pPr>
            <a:lvl2pPr marL="137160" marR="0" lvl="1" indent="0" algn="l">
              <a:lnSpc>
                <a:spcPct val="117857"/>
              </a:lnSpc>
              <a:spcBef>
                <a:spcPts val="0"/>
              </a:spcBef>
              <a:buNone/>
              <a:defRPr sz="1400" b="0" i="0">
                <a:solidFill>
                  <a:schemeClr val="dk1"/>
                </a:solidFill>
                <a:latin typeface="Helvetica Neue"/>
                <a:ea typeface="Helvetica Neue"/>
                <a:cs typeface="Helvetica Neue"/>
                <a:sym typeface="Helvetica Neue"/>
              </a:defRPr>
            </a:lvl2pPr>
            <a:lvl3pPr marL="137160" marR="0" lvl="2" indent="0" algn="l">
              <a:lnSpc>
                <a:spcPct val="117857"/>
              </a:lnSpc>
              <a:spcBef>
                <a:spcPts val="0"/>
              </a:spcBef>
              <a:buNone/>
              <a:defRPr sz="1400" b="0" i="0">
                <a:solidFill>
                  <a:schemeClr val="dk1"/>
                </a:solidFill>
                <a:latin typeface="Helvetica Neue"/>
                <a:ea typeface="Helvetica Neue"/>
                <a:cs typeface="Helvetica Neue"/>
                <a:sym typeface="Helvetica Neue"/>
              </a:defRPr>
            </a:lvl3pPr>
            <a:lvl4pPr marL="137160" marR="0" lvl="3" indent="0" algn="l">
              <a:lnSpc>
                <a:spcPct val="117857"/>
              </a:lnSpc>
              <a:spcBef>
                <a:spcPts val="0"/>
              </a:spcBef>
              <a:buNone/>
              <a:defRPr sz="1400" b="0" i="0">
                <a:solidFill>
                  <a:schemeClr val="dk1"/>
                </a:solidFill>
                <a:latin typeface="Helvetica Neue"/>
                <a:ea typeface="Helvetica Neue"/>
                <a:cs typeface="Helvetica Neue"/>
                <a:sym typeface="Helvetica Neue"/>
              </a:defRPr>
            </a:lvl4pPr>
            <a:lvl5pPr marL="137160" marR="0" lvl="4" indent="0" algn="l">
              <a:lnSpc>
                <a:spcPct val="117857"/>
              </a:lnSpc>
              <a:spcBef>
                <a:spcPts val="0"/>
              </a:spcBef>
              <a:buNone/>
              <a:defRPr sz="1400" b="0" i="0">
                <a:solidFill>
                  <a:schemeClr val="dk1"/>
                </a:solidFill>
                <a:latin typeface="Helvetica Neue"/>
                <a:ea typeface="Helvetica Neue"/>
                <a:cs typeface="Helvetica Neue"/>
                <a:sym typeface="Helvetica Neue"/>
              </a:defRPr>
            </a:lvl5pPr>
            <a:lvl6pPr marL="137160" marR="0" lvl="5" indent="0" algn="l">
              <a:lnSpc>
                <a:spcPct val="117857"/>
              </a:lnSpc>
              <a:spcBef>
                <a:spcPts val="0"/>
              </a:spcBef>
              <a:buNone/>
              <a:defRPr sz="1400" b="0" i="0">
                <a:solidFill>
                  <a:schemeClr val="dk1"/>
                </a:solidFill>
                <a:latin typeface="Helvetica Neue"/>
                <a:ea typeface="Helvetica Neue"/>
                <a:cs typeface="Helvetica Neue"/>
                <a:sym typeface="Helvetica Neue"/>
              </a:defRPr>
            </a:lvl6pPr>
            <a:lvl7pPr marL="137160" marR="0" lvl="6" indent="0" algn="l">
              <a:lnSpc>
                <a:spcPct val="117857"/>
              </a:lnSpc>
              <a:spcBef>
                <a:spcPts val="0"/>
              </a:spcBef>
              <a:buNone/>
              <a:defRPr sz="1400" b="0" i="0">
                <a:solidFill>
                  <a:schemeClr val="dk1"/>
                </a:solidFill>
                <a:latin typeface="Helvetica Neue"/>
                <a:ea typeface="Helvetica Neue"/>
                <a:cs typeface="Helvetica Neue"/>
                <a:sym typeface="Helvetica Neue"/>
              </a:defRPr>
            </a:lvl7pPr>
            <a:lvl8pPr marL="137160" marR="0" lvl="7" indent="0" algn="l">
              <a:lnSpc>
                <a:spcPct val="117857"/>
              </a:lnSpc>
              <a:spcBef>
                <a:spcPts val="0"/>
              </a:spcBef>
              <a:buNone/>
              <a:defRPr sz="1400" b="0" i="0">
                <a:solidFill>
                  <a:schemeClr val="dk1"/>
                </a:solidFill>
                <a:latin typeface="Helvetica Neue"/>
                <a:ea typeface="Helvetica Neue"/>
                <a:cs typeface="Helvetica Neue"/>
                <a:sym typeface="Helvetica Neue"/>
              </a:defRPr>
            </a:lvl8pPr>
            <a:lvl9pPr marL="137160" marR="0" lvl="8" indent="0" algn="l">
              <a:lnSpc>
                <a:spcPct val="117857"/>
              </a:lnSpc>
              <a:spcBef>
                <a:spcPts val="0"/>
              </a:spcBef>
              <a:buNone/>
              <a:defRPr sz="1400" b="0" i="0">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680882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0DDBED-AD0B-496A-A7DE-8793DE7893D3}" type="datetime1">
              <a:rPr lang="en-IN" smtClean="0"/>
              <a:t>11-02-2025</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6">
            <a:alphaModFix/>
          </a:blip>
          <a:srcRect/>
          <a:stretch/>
        </p:blipFill>
        <p:spPr>
          <a:xfrm>
            <a:off x="1041400" y="450851"/>
            <a:ext cx="474133" cy="574675"/>
          </a:xfrm>
          <a:prstGeom prst="rect">
            <a:avLst/>
          </a:prstGeom>
          <a:noFill/>
          <a:ln>
            <a:noFill/>
          </a:ln>
        </p:spPr>
      </p:pic>
      <p:sp>
        <p:nvSpPr>
          <p:cNvPr id="7" name="Google Shape;7;p1"/>
          <p:cNvSpPr/>
          <p:nvPr/>
        </p:nvSpPr>
        <p:spPr>
          <a:xfrm>
            <a:off x="1041400" y="450851"/>
            <a:ext cx="474133" cy="574675"/>
          </a:xfrm>
          <a:custGeom>
            <a:avLst/>
            <a:gdLst/>
            <a:ahLst/>
            <a:cxnLst/>
            <a:rect l="l" t="t" r="r" b="b"/>
            <a:pathLst>
              <a:path w="355600" h="574675" extrusionOk="0">
                <a:moveTo>
                  <a:pt x="0" y="287400"/>
                </a:moveTo>
                <a:lnTo>
                  <a:pt x="177800" y="0"/>
                </a:lnTo>
                <a:lnTo>
                  <a:pt x="355600" y="287400"/>
                </a:lnTo>
                <a:lnTo>
                  <a:pt x="177800" y="574675"/>
                </a:lnTo>
                <a:lnTo>
                  <a:pt x="0" y="287400"/>
                </a:lnTo>
                <a:close/>
              </a:path>
            </a:pathLst>
          </a:custGeom>
          <a:noFill/>
          <a:ln w="12700"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 name="Google Shape;8;p1"/>
          <p:cNvSpPr/>
          <p:nvPr/>
        </p:nvSpPr>
        <p:spPr>
          <a:xfrm>
            <a:off x="914400" y="1143000"/>
            <a:ext cx="10363200" cy="0"/>
          </a:xfrm>
          <a:custGeom>
            <a:avLst/>
            <a:gdLst/>
            <a:ahLst/>
            <a:cxnLst/>
            <a:rect l="l" t="t" r="r" b="b"/>
            <a:pathLst>
              <a:path w="7772400" h="120000" extrusionOk="0">
                <a:moveTo>
                  <a:pt x="0" y="0"/>
                </a:moveTo>
                <a:lnTo>
                  <a:pt x="7772400" y="0"/>
                </a:lnTo>
              </a:path>
            </a:pathLst>
          </a:custGeom>
          <a:noFill/>
          <a:ln w="50800" cap="flat" cmpd="sng">
            <a:solidFill>
              <a:srgbClr val="CC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9;p1"/>
          <p:cNvSpPr/>
          <p:nvPr/>
        </p:nvSpPr>
        <p:spPr>
          <a:xfrm>
            <a:off x="914400" y="6324600"/>
            <a:ext cx="10363200" cy="0"/>
          </a:xfrm>
          <a:custGeom>
            <a:avLst/>
            <a:gdLst/>
            <a:ahLst/>
            <a:cxnLst/>
            <a:rect l="l" t="t" r="r" b="b"/>
            <a:pathLst>
              <a:path w="7772400" h="120000" extrusionOk="0">
                <a:moveTo>
                  <a:pt x="0" y="0"/>
                </a:moveTo>
                <a:lnTo>
                  <a:pt x="777240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 name="Google Shape;10;p1"/>
          <p:cNvSpPr txBox="1">
            <a:spLocks noGrp="1"/>
          </p:cNvSpPr>
          <p:nvPr>
            <p:ph type="title"/>
          </p:nvPr>
        </p:nvSpPr>
        <p:spPr>
          <a:xfrm>
            <a:off x="1619300" y="589229"/>
            <a:ext cx="8953397" cy="3693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0" i="0" u="none" strike="noStrike" cap="none">
                <a:solidFill>
                  <a:srgbClr val="FF0000"/>
                </a:solidFill>
                <a:latin typeface="Comic Sans MS"/>
                <a:ea typeface="Comic Sans MS"/>
                <a:cs typeface="Comic Sans MS"/>
                <a:sym typeface="Comic Sans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67512" y="1367791"/>
            <a:ext cx="10056977" cy="276999"/>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rgbClr val="252525"/>
                </a:solidFill>
                <a:latin typeface="Comic Sans MS"/>
                <a:ea typeface="Comic Sans MS"/>
                <a:cs typeface="Comic Sans MS"/>
                <a:sym typeface="Comic Sans MS"/>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4145280" y="6377940"/>
            <a:ext cx="3901440" cy="276999"/>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609600" y="6377940"/>
            <a:ext cx="2804160" cy="27699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0711010" y="6407734"/>
            <a:ext cx="497839" cy="254237"/>
          </a:xfrm>
          <a:prstGeom prst="rect">
            <a:avLst/>
          </a:prstGeom>
          <a:noFill/>
          <a:ln>
            <a:noFill/>
          </a:ln>
        </p:spPr>
        <p:txBody>
          <a:bodyPr spcFirstLastPara="1" wrap="square" lIns="0" tIns="0" rIns="0" bIns="0" anchor="t" anchorCtr="0">
            <a:spAutoFit/>
          </a:bodyPr>
          <a:lstStyle>
            <a:lvl1pPr marL="137160" marR="0" lvl="0"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1pPr>
            <a:lvl2pPr marL="137160" marR="0" lvl="1"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2pPr>
            <a:lvl3pPr marL="137160" marR="0" lvl="2"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3pPr>
            <a:lvl4pPr marL="137160" marR="0" lvl="3"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4pPr>
            <a:lvl5pPr marL="137160" marR="0" lvl="4"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5pPr>
            <a:lvl6pPr marL="137160" marR="0" lvl="5"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6pPr>
            <a:lvl7pPr marL="137160" marR="0" lvl="6"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7pPr>
            <a:lvl8pPr marL="137160" marR="0" lvl="7"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8pPr>
            <a:lvl9pPr marL="137160" marR="0" lvl="8" indent="0" algn="l" rtl="0">
              <a:lnSpc>
                <a:spcPct val="117857"/>
              </a:lnSpc>
              <a:spcBef>
                <a:spcPts val="0"/>
              </a:spcBef>
              <a:buNone/>
              <a:defRPr sz="1400" b="0" i="0" u="none">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5694647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378039" y="1273247"/>
            <a:ext cx="10341736" cy="4801314"/>
          </a:xfrm>
          <a:prstGeom prst="rect">
            <a:avLst/>
          </a:prstGeom>
          <a:noFill/>
        </p:spPr>
        <p:txBody>
          <a:bodyPr wrap="square" rtlCol="0">
            <a:spAutoFit/>
          </a:bodyPr>
          <a:lstStyle/>
          <a:p>
            <a:pPr algn="just"/>
            <a:r>
              <a:rPr lang="en-IN" sz="2400" b="1" i="0" dirty="0">
                <a:solidFill>
                  <a:srgbClr val="FF0000"/>
                </a:solidFill>
                <a:effectLst/>
                <a:latin typeface="Myriad Pro"/>
              </a:rPr>
              <a:t>Unit 5 : </a:t>
            </a:r>
            <a:r>
              <a:rPr lang="en-US" sz="2400" b="1" u="sng" dirty="0">
                <a:effectLst/>
                <a:latin typeface="Calibri" panose="020F0502020204030204" pitchFamily="34" charset="0"/>
                <a:ea typeface="Times New Roman" panose="02020603050405020304" pitchFamily="18" charset="0"/>
                <a:cs typeface="Calibri" panose="020F0502020204030204" pitchFamily="34" charset="0"/>
              </a:rPr>
              <a:t>Memory System</a:t>
            </a:r>
            <a:endParaRPr lang="en-IN" sz="2400" u="sng"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sz="2400" b="1" dirty="0">
                <a:effectLst/>
                <a:latin typeface="Calibri" panose="020F0502020204030204" pitchFamily="34" charset="0"/>
                <a:ea typeface="Times New Roman" panose="02020603050405020304" pitchFamily="18" charset="0"/>
                <a:cs typeface="Calibri" panose="020F0502020204030204" pitchFamily="34" charset="0"/>
              </a:rPr>
              <a:t>The Memory System: Basic Concepts, Semiconductor RAM Memories, Cache Memories- Mapping Functions, Examples of Mapping Techniques, Performance Considerations.</a:t>
            </a:r>
          </a:p>
          <a:p>
            <a:endParaRPr lang="en-IN" sz="2400" dirty="0">
              <a:solidFill>
                <a:srgbClr val="FF0000"/>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sz="2400" u="sng" dirty="0">
                <a:solidFill>
                  <a:srgbClr val="FF0000"/>
                </a:solidFill>
              </a:rPr>
              <a:t>CIE/SEE Question solutions are included</a:t>
            </a:r>
          </a:p>
          <a:p>
            <a:pPr algn="just"/>
            <a:endParaRPr lang="en-IN" sz="2400" dirty="0">
              <a:solidFill>
                <a:srgbClr val="FF0000"/>
              </a:solidFill>
            </a:endParaRPr>
          </a:p>
          <a:p>
            <a:pPr marL="342900" indent="-342900" algn="just">
              <a:buFont typeface="Arial" panose="020B0604020202020204" pitchFamily="34" charset="0"/>
              <a:buChar char="•"/>
            </a:pPr>
            <a:r>
              <a:rPr lang="en-IN" sz="2400" dirty="0">
                <a:solidFill>
                  <a:srgbClr val="FF0000"/>
                </a:solidFill>
              </a:rPr>
              <a:t>Reference: Chapter – The Memory System           </a:t>
            </a:r>
          </a:p>
          <a:p>
            <a:pPr algn="just"/>
            <a:r>
              <a:rPr lang="en-IN" sz="2400" dirty="0">
                <a:solidFill>
                  <a:srgbClr val="FF0000"/>
                </a:solidFill>
              </a:rPr>
              <a:t>          (</a:t>
            </a:r>
            <a:r>
              <a:rPr lang="en-IN" sz="2400" dirty="0" err="1">
                <a:solidFill>
                  <a:srgbClr val="FF0000"/>
                </a:solidFill>
              </a:rPr>
              <a:t>Book:”Computer</a:t>
            </a:r>
            <a:r>
              <a:rPr lang="en-IN" sz="2400" dirty="0">
                <a:solidFill>
                  <a:srgbClr val="FF0000"/>
                </a:solidFill>
              </a:rPr>
              <a:t> Organization and Embedded Systems” by  Carl </a:t>
            </a:r>
            <a:r>
              <a:rPr lang="en-IN" sz="2400" dirty="0" err="1">
                <a:solidFill>
                  <a:srgbClr val="FF0000"/>
                </a:solidFill>
              </a:rPr>
              <a:t>Hamacher</a:t>
            </a:r>
            <a:r>
              <a:rPr lang="en-IN" sz="2400" dirty="0">
                <a:solidFill>
                  <a:srgbClr val="FF0000"/>
                </a:solidFill>
              </a:rPr>
              <a:t> )</a:t>
            </a:r>
          </a:p>
          <a:p>
            <a:pPr algn="just"/>
            <a:endParaRPr lang="en-IN" sz="2400" dirty="0">
              <a:solidFill>
                <a:srgbClr val="FF0000"/>
              </a:solidFill>
            </a:endParaRPr>
          </a:p>
          <a:p>
            <a:pPr algn="just"/>
            <a:r>
              <a:rPr lang="en-IN" sz="2400" dirty="0">
                <a:solidFill>
                  <a:srgbClr val="FF0000"/>
                </a:solidFill>
              </a:rPr>
              <a:t>       *https://www.youtube.com/@drkbadarinath4636</a:t>
            </a:r>
          </a:p>
          <a:p>
            <a:pPr algn="just"/>
            <a:r>
              <a:rPr lang="en-IN" sz="2400" dirty="0">
                <a:solidFill>
                  <a:srgbClr val="FF0000"/>
                </a:solidFill>
              </a:rPr>
              <a:t>                                    (for lecture videos)</a:t>
            </a:r>
          </a:p>
          <a:p>
            <a:pPr algn="just"/>
            <a:endParaRPr lang="en-IN" dirty="0"/>
          </a:p>
        </p:txBody>
      </p:sp>
      <p:sp>
        <p:nvSpPr>
          <p:cNvPr id="2" name="Footer Placeholder 1">
            <a:extLst>
              <a:ext uri="{FF2B5EF4-FFF2-40B4-BE49-F238E27FC236}">
                <a16:creationId xmlns:a16="http://schemas.microsoft.com/office/drawing/2014/main" id="{583FB778-E064-C1D2-073B-43B2A1352C5B}"/>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084989F-402C-7069-D035-48101F8BC372}"/>
              </a:ext>
            </a:extLst>
          </p:cNvPr>
          <p:cNvSpPr>
            <a:spLocks noGrp="1"/>
          </p:cNvSpPr>
          <p:nvPr>
            <p:ph type="sldNum" sz="quarter" idx="12"/>
          </p:nvPr>
        </p:nvSpPr>
        <p:spPr/>
        <p:txBody>
          <a:bodyPr/>
          <a:lstStyle/>
          <a:p>
            <a:fld id="{E01A1374-4C1F-4D42-8836-504BF6B6184D}" type="slidenum">
              <a:rPr lang="en-IN" smtClean="0"/>
              <a:t>1</a:t>
            </a:fld>
            <a:endParaRPr lang="en-IN"/>
          </a:p>
        </p:txBody>
      </p:sp>
      <p:sp>
        <p:nvSpPr>
          <p:cNvPr id="5" name="TextBox 4">
            <a:extLst>
              <a:ext uri="{FF2B5EF4-FFF2-40B4-BE49-F238E27FC236}">
                <a16:creationId xmlns:a16="http://schemas.microsoft.com/office/drawing/2014/main" id="{2398A3F2-2802-DC75-3B20-1B1B3747A731}"/>
              </a:ext>
            </a:extLst>
          </p:cNvPr>
          <p:cNvSpPr txBox="1"/>
          <p:nvPr/>
        </p:nvSpPr>
        <p:spPr>
          <a:xfrm>
            <a:off x="1730062" y="0"/>
            <a:ext cx="8731876" cy="646331"/>
          </a:xfrm>
          <a:prstGeom prst="rect">
            <a:avLst/>
          </a:prstGeom>
          <a:noFill/>
        </p:spPr>
        <p:txBody>
          <a:bodyPr wrap="square" rtlCol="0">
            <a:spAutoFit/>
          </a:bodyPr>
          <a:lstStyle/>
          <a:p>
            <a:pPr algn="ctr"/>
            <a:r>
              <a:rPr lang="en-IN" dirty="0">
                <a:solidFill>
                  <a:srgbClr val="0070C0"/>
                </a:solidFill>
              </a:rPr>
              <a:t>Prepared by Dr K </a:t>
            </a:r>
            <a:r>
              <a:rPr lang="en-IN" dirty="0" err="1">
                <a:solidFill>
                  <a:srgbClr val="0070C0"/>
                </a:solidFill>
              </a:rPr>
              <a:t>Badari</a:t>
            </a:r>
            <a:r>
              <a:rPr lang="en-IN" dirty="0">
                <a:solidFill>
                  <a:srgbClr val="0070C0"/>
                </a:solidFill>
              </a:rPr>
              <a:t> Nath, Associate Professor,</a:t>
            </a:r>
          </a:p>
          <a:p>
            <a:pPr algn="ctr"/>
            <a:r>
              <a:rPr lang="en-IN" dirty="0">
                <a:solidFill>
                  <a:srgbClr val="0070C0"/>
                </a:solidFill>
              </a:rPr>
              <a:t>Computer Science &amp; Engineering, RV College Of Engineering</a:t>
            </a:r>
          </a:p>
        </p:txBody>
      </p:sp>
      <p:sp>
        <p:nvSpPr>
          <p:cNvPr id="6" name="TextBox 5">
            <a:extLst>
              <a:ext uri="{FF2B5EF4-FFF2-40B4-BE49-F238E27FC236}">
                <a16:creationId xmlns:a16="http://schemas.microsoft.com/office/drawing/2014/main" id="{34CC07A0-B222-D269-ED68-E83819E9922E}"/>
              </a:ext>
            </a:extLst>
          </p:cNvPr>
          <p:cNvSpPr txBox="1"/>
          <p:nvPr/>
        </p:nvSpPr>
        <p:spPr>
          <a:xfrm>
            <a:off x="1513268" y="688472"/>
            <a:ext cx="10071278" cy="584775"/>
          </a:xfrm>
          <a:prstGeom prst="rect">
            <a:avLst/>
          </a:prstGeom>
          <a:noFill/>
        </p:spPr>
        <p:txBody>
          <a:bodyPr wrap="square" rtlCol="0">
            <a:spAutoFit/>
          </a:bodyPr>
          <a:lstStyle/>
          <a:p>
            <a:r>
              <a:rPr lang="en-IN" sz="3200" b="1" dirty="0">
                <a:solidFill>
                  <a:srgbClr val="FF0000"/>
                </a:solidFill>
              </a:rPr>
              <a:t>FCSD – Foundations Of Computer System Design</a:t>
            </a:r>
          </a:p>
        </p:txBody>
      </p: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70F6928E-DA26-1975-4D8D-C6A1F6F5037C}"/>
              </a:ext>
            </a:extLst>
          </p:cNvPr>
          <p:cNvPicPr>
            <a:picLocks noChangeAspect="1"/>
          </p:cNvPicPr>
          <p:nvPr/>
        </p:nvPicPr>
        <p:blipFill>
          <a:blip r:embed="rId2"/>
          <a:stretch>
            <a:fillRect/>
          </a:stretch>
        </p:blipFill>
        <p:spPr>
          <a:xfrm>
            <a:off x="6056577" y="165834"/>
            <a:ext cx="6089275" cy="3837512"/>
          </a:xfrm>
          <a:prstGeom prst="rect">
            <a:avLst/>
          </a:prstGeom>
        </p:spPr>
      </p:pic>
      <p:sp>
        <p:nvSpPr>
          <p:cNvPr id="8" name="TextBox 7">
            <a:extLst>
              <a:ext uri="{FF2B5EF4-FFF2-40B4-BE49-F238E27FC236}">
                <a16:creationId xmlns:a16="http://schemas.microsoft.com/office/drawing/2014/main" id="{1C44DE99-79C9-9171-6EE6-99748E2A5B95}"/>
              </a:ext>
            </a:extLst>
          </p:cNvPr>
          <p:cNvSpPr txBox="1"/>
          <p:nvPr/>
        </p:nvSpPr>
        <p:spPr>
          <a:xfrm>
            <a:off x="46148" y="310093"/>
            <a:ext cx="6264500" cy="6555641"/>
          </a:xfrm>
          <a:prstGeom prst="rect">
            <a:avLst/>
          </a:prstGeom>
          <a:noFill/>
        </p:spPr>
        <p:txBody>
          <a:bodyPr wrap="square">
            <a:spAutoFit/>
          </a:bodyPr>
          <a:lstStyle/>
          <a:p>
            <a:r>
              <a:rPr lang="en-US" sz="2000" dirty="0"/>
              <a:t>The maximum size of the memory that can be used in any computer is determined by the addressing scheme. For example, a computer that generates 16-bit addresses is capable of addressing up to 2power16 = 64K (kilo) memory locations. Machines whose instructions generate 32-bit addresses can utilize a memory that contains up to 2power32 = 4G (giga) locations, whereas machines with 64-bit addresses can access up to 2power64 = 16E (</a:t>
            </a:r>
            <a:r>
              <a:rPr lang="en-US" sz="2000" dirty="0" err="1"/>
              <a:t>exa</a:t>
            </a:r>
            <a:r>
              <a:rPr lang="en-US" sz="2000" dirty="0"/>
              <a:t>) ≈ 16 × 1018 locations. The number of locations represents the size of the address space of the computer.</a:t>
            </a:r>
          </a:p>
          <a:p>
            <a:endParaRPr lang="en-US" sz="2000" dirty="0"/>
          </a:p>
          <a:p>
            <a:r>
              <a:rPr lang="en-US" sz="2000" dirty="0"/>
              <a:t>The connection between the processor and its memory consists of address, data, and control lines. The processor uses the address lines to specify the memory location involved in a data transfer operation, and uses the data lines to transfer the data. At the same time, the control lines carry the command indicating a Read or a Write operation and whether a byte or a word is to be transferred. The control lines also provide the necessary timing information and are used by the memory to indicate when it has completed the requested operation. </a:t>
            </a:r>
            <a:endParaRPr lang="en-IN" sz="2000" dirty="0"/>
          </a:p>
        </p:txBody>
      </p:sp>
      <p:sp>
        <p:nvSpPr>
          <p:cNvPr id="12" name="TextBox 11">
            <a:extLst>
              <a:ext uri="{FF2B5EF4-FFF2-40B4-BE49-F238E27FC236}">
                <a16:creationId xmlns:a16="http://schemas.microsoft.com/office/drawing/2014/main" id="{7AC17989-7253-17AE-8EDC-22E4038A1C93}"/>
              </a:ext>
            </a:extLst>
          </p:cNvPr>
          <p:cNvSpPr txBox="1"/>
          <p:nvPr/>
        </p:nvSpPr>
        <p:spPr>
          <a:xfrm>
            <a:off x="46148" y="-155864"/>
            <a:ext cx="10071278" cy="584775"/>
          </a:xfrm>
          <a:prstGeom prst="rect">
            <a:avLst/>
          </a:prstGeom>
          <a:noFill/>
        </p:spPr>
        <p:txBody>
          <a:bodyPr wrap="square" rtlCol="0">
            <a:spAutoFit/>
          </a:bodyPr>
          <a:lstStyle/>
          <a:p>
            <a:r>
              <a:rPr lang="en-IN" sz="3200" b="1" dirty="0">
                <a:solidFill>
                  <a:srgbClr val="FF0000"/>
                </a:solidFill>
              </a:rPr>
              <a:t>Processor &amp; Memory  Interface</a:t>
            </a:r>
          </a:p>
        </p:txBody>
      </p:sp>
    </p:spTree>
    <p:extLst>
      <p:ext uri="{BB962C8B-B14F-4D97-AF65-F5344CB8AC3E}">
        <p14:creationId xmlns:p14="http://schemas.microsoft.com/office/powerpoint/2010/main" val="313342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1C44DE99-79C9-9171-6EE6-99748E2A5B95}"/>
              </a:ext>
            </a:extLst>
          </p:cNvPr>
          <p:cNvSpPr txBox="1"/>
          <p:nvPr/>
        </p:nvSpPr>
        <p:spPr>
          <a:xfrm>
            <a:off x="0" y="136525"/>
            <a:ext cx="12192000" cy="7007046"/>
          </a:xfrm>
          <a:prstGeom prst="rect">
            <a:avLst/>
          </a:prstGeom>
          <a:noFill/>
        </p:spPr>
        <p:txBody>
          <a:bodyPr wrap="square">
            <a:spAutoFit/>
          </a:bodyPr>
          <a:lstStyle/>
          <a:p>
            <a:pPr marL="88265" marR="312420" algn="just">
              <a:spcBef>
                <a:spcPts val="409"/>
              </a:spcBef>
              <a:buClr>
                <a:schemeClr val="dk1"/>
              </a:buClr>
              <a:buSzPts val="1700"/>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The data transfer between main memory and the CPU takes place through  two CPU registers.    MAR :	Memory Address Register and	MDR :	Memory Data Register.</a:t>
            </a:r>
          </a:p>
          <a:p>
            <a:pPr marL="88265" algn="just">
              <a:spcBef>
                <a:spcPts val="409"/>
              </a:spcBef>
              <a:buClr>
                <a:schemeClr val="dk1"/>
              </a:buClr>
              <a:buSzPts val="1700"/>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If the MAR is k-bits, then the total addressable memory location will be 2</a:t>
            </a:r>
            <a:r>
              <a:rPr lang="en-US" sz="2400" baseline="30000" dirty="0">
                <a:solidFill>
                  <a:schemeClr val="dk1"/>
                </a:solidFill>
                <a:latin typeface="Calibri" panose="020F0502020204030204" pitchFamily="34" charset="0"/>
                <a:ea typeface="Comic Sans MS"/>
                <a:cs typeface="Calibri" panose="020F0502020204030204" pitchFamily="34" charset="0"/>
                <a:sym typeface="Comic Sans MS"/>
              </a:rPr>
              <a:t>k, </a:t>
            </a:r>
            <a:r>
              <a:rPr lang="en-US" sz="2400" dirty="0">
                <a:solidFill>
                  <a:schemeClr val="dk1"/>
                </a:solidFill>
                <a:latin typeface="Calibri" panose="020F0502020204030204" pitchFamily="34" charset="0"/>
                <a:ea typeface="Comic Sans MS"/>
                <a:cs typeface="Calibri" panose="020F0502020204030204" pitchFamily="34" charset="0"/>
                <a:sym typeface="Comic Sans MS"/>
              </a:rPr>
              <a:t>If the MDR is n-bits, then the n bit of data is transferred in one memory  cycle.  It also includes control lines like Read, Write and Memory Function Complete (MFC) for coordinating data transfer.</a:t>
            </a:r>
          </a:p>
          <a:p>
            <a:pPr marL="431800" algn="just">
              <a:spcBef>
                <a:spcPts val="5"/>
              </a:spcBef>
            </a:pP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431800" algn="just">
              <a:spcBef>
                <a:spcPts val="5"/>
              </a:spcBef>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An important design issue is to provide a computer system with as large and  fast a memory as possible, within a given cost target. Several techniques to increase the effective size and speed of the memory:</a:t>
            </a: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888364" lvl="1" indent="-342900" algn="just">
              <a:spcBef>
                <a:spcPts val="405"/>
              </a:spcBef>
              <a:buClr>
                <a:srgbClr val="252525"/>
              </a:buClr>
              <a:buSzPts val="1350"/>
              <a:buFont typeface="Arial" panose="020B0604020202020204" pitchFamily="34" charset="0"/>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Cache memory (to increase the effective speed).</a:t>
            </a: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888364" lvl="1" indent="-342900" algn="just">
              <a:spcBef>
                <a:spcPts val="409"/>
              </a:spcBef>
              <a:buClr>
                <a:srgbClr val="252525"/>
              </a:buClr>
              <a:buSzPts val="1350"/>
              <a:buFont typeface="Arial" panose="020B0604020202020204" pitchFamily="34" charset="0"/>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Virtual memory (to increase the effective size).</a:t>
            </a: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355600" algn="just"/>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126365" algn="just">
              <a:buClr>
                <a:schemeClr val="dk1"/>
              </a:buClr>
              <a:buSzPts val="1700"/>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The main memory of a computer is semiconductor memory. The main memory unit is basically consists of two kinds of memory:</a:t>
            </a:r>
          </a:p>
          <a:p>
            <a:pPr marL="655955" indent="-342900" algn="just">
              <a:spcBef>
                <a:spcPts val="405"/>
              </a:spcBef>
              <a:buFont typeface="Arial" panose="020B0604020202020204" pitchFamily="34" charset="0"/>
              <a:buChar char="•"/>
            </a:pPr>
            <a:r>
              <a:rPr lang="en-US" sz="2400" b="1" dirty="0">
                <a:solidFill>
                  <a:schemeClr val="dk1"/>
                </a:solidFill>
                <a:latin typeface="Calibri" panose="020F0502020204030204" pitchFamily="34" charset="0"/>
                <a:ea typeface="Comic Sans MS"/>
                <a:cs typeface="Calibri" panose="020F0502020204030204" pitchFamily="34" charset="0"/>
                <a:sym typeface="Comic Sans MS"/>
              </a:rPr>
              <a:t>RAM (RWM):</a:t>
            </a:r>
            <a:r>
              <a:rPr lang="en-US" sz="2400" dirty="0">
                <a:solidFill>
                  <a:schemeClr val="dk1"/>
                </a:solidFill>
                <a:latin typeface="Calibri" panose="020F0502020204030204" pitchFamily="34" charset="0"/>
                <a:ea typeface="Comic Sans MS"/>
                <a:cs typeface="Calibri" panose="020F0502020204030204" pitchFamily="34" charset="0"/>
                <a:sym typeface="Comic Sans MS"/>
              </a:rPr>
              <a:t>Random access memory; which is volatile in nature.</a:t>
            </a:r>
          </a:p>
          <a:p>
            <a:pPr marL="655955" indent="-342900" algn="just">
              <a:spcBef>
                <a:spcPts val="409"/>
              </a:spcBef>
              <a:buFont typeface="Arial" panose="020B0604020202020204" pitchFamily="34" charset="0"/>
              <a:buChar char="•"/>
            </a:pPr>
            <a:r>
              <a:rPr lang="en-US" sz="2400" b="1" dirty="0">
                <a:solidFill>
                  <a:schemeClr val="dk1"/>
                </a:solidFill>
                <a:latin typeface="Calibri" panose="020F0502020204030204" pitchFamily="34" charset="0"/>
                <a:ea typeface="Comic Sans MS"/>
                <a:cs typeface="Calibri" panose="020F0502020204030204" pitchFamily="34" charset="0"/>
                <a:sym typeface="Comic Sans MS"/>
              </a:rPr>
              <a:t>ROM: </a:t>
            </a:r>
            <a:r>
              <a:rPr lang="en-US" sz="2400" dirty="0">
                <a:solidFill>
                  <a:schemeClr val="dk1"/>
                </a:solidFill>
                <a:latin typeface="Calibri" panose="020F0502020204030204" pitchFamily="34" charset="0"/>
                <a:ea typeface="Comic Sans MS"/>
                <a:cs typeface="Calibri" panose="020F0502020204030204" pitchFamily="34" charset="0"/>
                <a:sym typeface="Comic Sans MS"/>
              </a:rPr>
              <a:t>Read only memory; which is non-volatile.</a:t>
            </a:r>
          </a:p>
          <a:p>
            <a:pPr marL="126365" marR="214629" algn="just">
              <a:spcBef>
                <a:spcPts val="409"/>
              </a:spcBef>
              <a:buClr>
                <a:schemeClr val="dk1"/>
              </a:buClr>
              <a:buSzPts val="1700"/>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Permanent information is kept in ROM and the user space is basically in  RAM.</a:t>
            </a:r>
          </a:p>
          <a:p>
            <a:pPr marL="355600"/>
            <a:endParaRPr lang="en-US" dirty="0">
              <a:solidFill>
                <a:schemeClr val="dk1"/>
              </a:solidFill>
              <a:latin typeface="Comic Sans MS"/>
              <a:ea typeface="Comic Sans MS"/>
              <a:cs typeface="Comic Sans MS"/>
              <a:sym typeface="Comic Sans MS"/>
            </a:endParaRPr>
          </a:p>
        </p:txBody>
      </p:sp>
    </p:spTree>
    <p:extLst>
      <p:ext uri="{BB962C8B-B14F-4D97-AF65-F5344CB8AC3E}">
        <p14:creationId xmlns:p14="http://schemas.microsoft.com/office/powerpoint/2010/main" val="392064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1C44DE99-79C9-9171-6EE6-99748E2A5B95}"/>
              </a:ext>
            </a:extLst>
          </p:cNvPr>
          <p:cNvSpPr txBox="1"/>
          <p:nvPr/>
        </p:nvSpPr>
        <p:spPr>
          <a:xfrm>
            <a:off x="0" y="542740"/>
            <a:ext cx="11784168" cy="646331"/>
          </a:xfrm>
          <a:prstGeom prst="rect">
            <a:avLst/>
          </a:prstGeom>
          <a:noFill/>
        </p:spPr>
        <p:txBody>
          <a:bodyPr wrap="square">
            <a:spAutoFit/>
          </a:bodyPr>
          <a:lstStyle/>
          <a:p>
            <a:pPr marL="355600"/>
            <a:endParaRPr lang="en-US" dirty="0">
              <a:solidFill>
                <a:schemeClr val="dk1"/>
              </a:solidFill>
              <a:latin typeface="Comic Sans MS"/>
              <a:ea typeface="Comic Sans MS"/>
              <a:cs typeface="Comic Sans MS"/>
              <a:sym typeface="Comic Sans MS"/>
            </a:endParaRPr>
          </a:p>
          <a:p>
            <a:pPr marL="355600"/>
            <a:endParaRPr lang="en-US" dirty="0">
              <a:solidFill>
                <a:schemeClr val="dk1"/>
              </a:solidFill>
              <a:latin typeface="Comic Sans MS"/>
              <a:ea typeface="Comic Sans MS"/>
              <a:cs typeface="Comic Sans MS"/>
              <a:sym typeface="Comic Sans MS"/>
            </a:endParaRPr>
          </a:p>
        </p:txBody>
      </p:sp>
      <p:pic>
        <p:nvPicPr>
          <p:cNvPr id="3" name="Picture 2">
            <a:extLst>
              <a:ext uri="{FF2B5EF4-FFF2-40B4-BE49-F238E27FC236}">
                <a16:creationId xmlns:a16="http://schemas.microsoft.com/office/drawing/2014/main" id="{4E9327CE-6400-78C9-4C45-F5A8A149F582}"/>
              </a:ext>
            </a:extLst>
          </p:cNvPr>
          <p:cNvPicPr>
            <a:picLocks noChangeAspect="1"/>
          </p:cNvPicPr>
          <p:nvPr/>
        </p:nvPicPr>
        <p:blipFill>
          <a:blip r:embed="rId2"/>
          <a:stretch>
            <a:fillRect/>
          </a:stretch>
        </p:blipFill>
        <p:spPr>
          <a:xfrm>
            <a:off x="653603" y="104715"/>
            <a:ext cx="11023242" cy="6753285"/>
          </a:xfrm>
          <a:prstGeom prst="rect">
            <a:avLst/>
          </a:prstGeom>
        </p:spPr>
      </p:pic>
    </p:spTree>
    <p:extLst>
      <p:ext uri="{BB962C8B-B14F-4D97-AF65-F5344CB8AC3E}">
        <p14:creationId xmlns:p14="http://schemas.microsoft.com/office/powerpoint/2010/main" val="1203206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5</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5A64D8BB-25BF-C148-E8C0-0DFE50850105}"/>
              </a:ext>
            </a:extLst>
          </p:cNvPr>
          <p:cNvSpPr txBox="1"/>
          <p:nvPr/>
        </p:nvSpPr>
        <p:spPr>
          <a:xfrm>
            <a:off x="768440" y="501649"/>
            <a:ext cx="7384960" cy="584775"/>
          </a:xfrm>
          <a:prstGeom prst="rect">
            <a:avLst/>
          </a:prstGeom>
          <a:noFill/>
        </p:spPr>
        <p:txBody>
          <a:bodyPr wrap="square">
            <a:spAutoFit/>
          </a:bodyPr>
          <a:lstStyle/>
          <a:p>
            <a:r>
              <a:rPr lang="en-US" sz="3200" dirty="0">
                <a:solidFill>
                  <a:srgbClr val="CC0000"/>
                </a:solidFill>
              </a:rPr>
              <a:t>Measures for the speed of a memory</a:t>
            </a:r>
            <a:endParaRPr lang="en-IN" sz="3200" dirty="0"/>
          </a:p>
        </p:txBody>
      </p:sp>
      <p:sp>
        <p:nvSpPr>
          <p:cNvPr id="7" name="TextBox 6">
            <a:extLst>
              <a:ext uri="{FF2B5EF4-FFF2-40B4-BE49-F238E27FC236}">
                <a16:creationId xmlns:a16="http://schemas.microsoft.com/office/drawing/2014/main" id="{3E515A3D-3027-A7B4-4E47-617C76A877DB}"/>
              </a:ext>
            </a:extLst>
          </p:cNvPr>
          <p:cNvSpPr txBox="1"/>
          <p:nvPr/>
        </p:nvSpPr>
        <p:spPr>
          <a:xfrm>
            <a:off x="1184856" y="1570271"/>
            <a:ext cx="9569003" cy="4159472"/>
          </a:xfrm>
          <a:prstGeom prst="rect">
            <a:avLst/>
          </a:prstGeom>
          <a:noFill/>
        </p:spPr>
        <p:txBody>
          <a:bodyPr wrap="square">
            <a:spAutoFit/>
          </a:bodyPr>
          <a:lstStyle/>
          <a:p>
            <a:pPr marL="355600" indent="-343535">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Memory Access Time</a:t>
            </a:r>
          </a:p>
          <a:p>
            <a:pPr marL="355600" marR="142875" indent="65405">
              <a:spcBef>
                <a:spcPts val="440"/>
              </a:spcBef>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A useful measure of the speed of memory unit is the time that  elapses between the initiation of an operation and the completion of  the operation .</a:t>
            </a:r>
          </a:p>
          <a:p>
            <a:pPr marL="352425">
              <a:spcBef>
                <a:spcPts val="434"/>
              </a:spcBef>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(Ex. The time between Read and MFC)</a:t>
            </a:r>
          </a:p>
          <a:p>
            <a:pPr marL="582930" indent="-570865">
              <a:spcBef>
                <a:spcPts val="470"/>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Memory cycle time</a:t>
            </a:r>
          </a:p>
          <a:p>
            <a:pPr marL="355600" marR="5080" indent="-116204">
              <a:lnSpc>
                <a:spcPct val="102200"/>
              </a:lnSpc>
              <a:spcBef>
                <a:spcPts val="635"/>
              </a:spcBef>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This is the minimum time delay between the initiation two independent  memory operations</a:t>
            </a:r>
          </a:p>
          <a:p>
            <a:pPr marL="283845">
              <a:spcBef>
                <a:spcPts val="430"/>
              </a:spcBef>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(Ex. two successive memory read operation).</a:t>
            </a:r>
          </a:p>
          <a:p>
            <a:pPr marL="355600" indent="-343535">
              <a:spcBef>
                <a:spcPts val="475"/>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Memory cycle time is slightly larger than memory access time.</a:t>
            </a:r>
          </a:p>
        </p:txBody>
      </p:sp>
    </p:spTree>
    <p:extLst>
      <p:ext uri="{BB962C8B-B14F-4D97-AF65-F5344CB8AC3E}">
        <p14:creationId xmlns:p14="http://schemas.microsoft.com/office/powerpoint/2010/main" val="3480627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6</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1438D069-615F-7A16-96A3-7D3289169FEE}"/>
              </a:ext>
            </a:extLst>
          </p:cNvPr>
          <p:cNvSpPr txBox="1"/>
          <p:nvPr/>
        </p:nvSpPr>
        <p:spPr>
          <a:xfrm>
            <a:off x="68687" y="0"/>
            <a:ext cx="12054626" cy="7068602"/>
          </a:xfrm>
          <a:prstGeom prst="rect">
            <a:avLst/>
          </a:prstGeom>
          <a:noFill/>
        </p:spPr>
        <p:txBody>
          <a:bodyPr wrap="square">
            <a:spAutoFit/>
          </a:bodyPr>
          <a:lstStyle/>
          <a:p>
            <a:endParaRPr lang="en-US" dirty="0"/>
          </a:p>
          <a:p>
            <a:pPr algn="just"/>
            <a:r>
              <a:rPr lang="en-US" sz="2400" dirty="0"/>
              <a:t>Memory cells are usually organized in the form of an array, in which each cell is capable of storing one bit of information. A possible organization is illustrated in Figure. Each row of cells constitutes a memory word, and all cells of a row are connected to a common line referred to as the word line, which is driven by the address decoder on the chip. The cells in each column are connected to a Sense/Write circuit by two bit lines, and the Sense/Write circuits are connected to the data input/output lines of the chip. During a Read operation, these circuits sense, or read, the information stored in the cells selected by a word line and place this information on the output data lines. During a Write operation, the Sense/Write circuits receive input data and store them in the cells of the selected word. (refer the figure in the next slide)</a:t>
            </a:r>
          </a:p>
          <a:p>
            <a:pPr algn="just"/>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algn="just"/>
            <a:r>
              <a:rPr lang="en-US" sz="2400" dirty="0">
                <a:solidFill>
                  <a:schemeClr val="dk1"/>
                </a:solidFill>
                <a:latin typeface="Calibri" panose="020F0502020204030204" pitchFamily="34" charset="0"/>
                <a:ea typeface="Comic Sans MS"/>
                <a:cs typeface="Calibri" panose="020F0502020204030204" pitchFamily="34" charset="0"/>
                <a:sym typeface="Comic Sans MS"/>
              </a:rPr>
              <a:t>The storage part is modelled here with SR-latch, but in reality it is an  electronics circuit made up of transistors. The memory constructed with the help of transistors is known as  semiconductor memory. The semiconductor memories are termed as Random Access  Memory(RAM), because it is possible to access any memory location in  random.</a:t>
            </a:r>
          </a:p>
          <a:p>
            <a:pPr marL="12065" marR="358775">
              <a:spcBef>
                <a:spcPts val="409"/>
              </a:spcBef>
              <a:buClr>
                <a:schemeClr val="dk1"/>
              </a:buClr>
              <a:buSzPts val="1700"/>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Depending on the technology used to construct a RAM, there are two  types of RAM : </a:t>
            </a:r>
          </a:p>
          <a:p>
            <a:pPr marL="12065" marR="358775">
              <a:spcBef>
                <a:spcPts val="409"/>
              </a:spcBef>
              <a:buClr>
                <a:schemeClr val="dk1"/>
              </a:buClr>
              <a:buSzPts val="1700"/>
            </a:pPr>
            <a:r>
              <a:rPr lang="en-US" sz="2400" b="1" dirty="0">
                <a:solidFill>
                  <a:schemeClr val="dk1"/>
                </a:solidFill>
                <a:latin typeface="Calibri" panose="020F0502020204030204" pitchFamily="34" charset="0"/>
                <a:ea typeface="Comic Sans MS"/>
                <a:cs typeface="Calibri" panose="020F0502020204030204" pitchFamily="34" charset="0"/>
                <a:sym typeface="Comic Sans MS"/>
              </a:rPr>
              <a:t>SRAM: </a:t>
            </a:r>
            <a:r>
              <a:rPr lang="en-US" sz="2400" dirty="0">
                <a:solidFill>
                  <a:schemeClr val="dk1"/>
                </a:solidFill>
                <a:latin typeface="Calibri" panose="020F0502020204030204" pitchFamily="34" charset="0"/>
                <a:ea typeface="Comic Sans MS"/>
                <a:cs typeface="Calibri" panose="020F0502020204030204" pitchFamily="34" charset="0"/>
                <a:sym typeface="Comic Sans MS"/>
              </a:rPr>
              <a:t>Static Random Access Memory. </a:t>
            </a:r>
            <a:r>
              <a:rPr lang="en-US" sz="2400" b="1" dirty="0">
                <a:solidFill>
                  <a:schemeClr val="dk1"/>
                </a:solidFill>
                <a:latin typeface="Calibri" panose="020F0502020204030204" pitchFamily="34" charset="0"/>
                <a:ea typeface="Comic Sans MS"/>
                <a:cs typeface="Calibri" panose="020F0502020204030204" pitchFamily="34" charset="0"/>
                <a:sym typeface="Comic Sans MS"/>
              </a:rPr>
              <a:t>DRAM: </a:t>
            </a:r>
            <a:r>
              <a:rPr lang="en-US" sz="2400" dirty="0">
                <a:solidFill>
                  <a:schemeClr val="dk1"/>
                </a:solidFill>
                <a:latin typeface="Calibri" panose="020F0502020204030204" pitchFamily="34" charset="0"/>
                <a:ea typeface="Comic Sans MS"/>
                <a:cs typeface="Calibri" panose="020F0502020204030204" pitchFamily="34" charset="0"/>
                <a:sym typeface="Comic Sans MS"/>
              </a:rPr>
              <a:t>Dynamic Random Access Memory.</a:t>
            </a:r>
            <a:endParaRPr lang="en-IN" sz="2400" dirty="0">
              <a:latin typeface="Calibri" panose="020F0502020204030204" pitchFamily="34" charset="0"/>
              <a:cs typeface="Calibri" panose="020F0502020204030204" pitchFamily="34" charset="0"/>
            </a:endParaRPr>
          </a:p>
          <a:p>
            <a:pPr algn="just"/>
            <a:endParaRPr lang="en-US" sz="2400" dirty="0"/>
          </a:p>
          <a:p>
            <a:pPr algn="just"/>
            <a:endParaRPr lang="en-US" sz="2400" dirty="0"/>
          </a:p>
        </p:txBody>
      </p:sp>
    </p:spTree>
    <p:extLst>
      <p:ext uri="{BB962C8B-B14F-4D97-AF65-F5344CB8AC3E}">
        <p14:creationId xmlns:p14="http://schemas.microsoft.com/office/powerpoint/2010/main" val="3004525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7</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B33D9D69-15B4-D28F-CDDB-9CC4257337AB}"/>
              </a:ext>
            </a:extLst>
          </p:cNvPr>
          <p:cNvPicPr>
            <a:picLocks noChangeAspect="1"/>
          </p:cNvPicPr>
          <p:nvPr/>
        </p:nvPicPr>
        <p:blipFill>
          <a:blip r:embed="rId2"/>
          <a:stretch>
            <a:fillRect/>
          </a:stretch>
        </p:blipFill>
        <p:spPr>
          <a:xfrm>
            <a:off x="4819918" y="751344"/>
            <a:ext cx="7393922" cy="5355312"/>
          </a:xfrm>
          <a:prstGeom prst="rect">
            <a:avLst/>
          </a:prstGeom>
        </p:spPr>
      </p:pic>
      <p:sp>
        <p:nvSpPr>
          <p:cNvPr id="6" name="TextBox 5">
            <a:extLst>
              <a:ext uri="{FF2B5EF4-FFF2-40B4-BE49-F238E27FC236}">
                <a16:creationId xmlns:a16="http://schemas.microsoft.com/office/drawing/2014/main" id="{286E7632-46E4-0A78-4A7A-307D02409621}"/>
              </a:ext>
            </a:extLst>
          </p:cNvPr>
          <p:cNvSpPr txBox="1"/>
          <p:nvPr/>
        </p:nvSpPr>
        <p:spPr>
          <a:xfrm>
            <a:off x="0" y="28996"/>
            <a:ext cx="6098146" cy="1077218"/>
          </a:xfrm>
          <a:prstGeom prst="rect">
            <a:avLst/>
          </a:prstGeom>
          <a:noFill/>
        </p:spPr>
        <p:txBody>
          <a:bodyPr wrap="square">
            <a:spAutoFit/>
          </a:bodyPr>
          <a:lstStyle/>
          <a:p>
            <a:r>
              <a:rPr lang="en-US" sz="3200" dirty="0">
                <a:solidFill>
                  <a:srgbClr val="FF0000"/>
                </a:solidFill>
              </a:rPr>
              <a:t>Organization of bit cells in a memory chip</a:t>
            </a:r>
          </a:p>
        </p:txBody>
      </p:sp>
      <p:sp>
        <p:nvSpPr>
          <p:cNvPr id="8" name="TextBox 7">
            <a:extLst>
              <a:ext uri="{FF2B5EF4-FFF2-40B4-BE49-F238E27FC236}">
                <a16:creationId xmlns:a16="http://schemas.microsoft.com/office/drawing/2014/main" id="{5B6B78B1-03C7-9667-7425-F46A949D7395}"/>
              </a:ext>
            </a:extLst>
          </p:cNvPr>
          <p:cNvSpPr txBox="1"/>
          <p:nvPr/>
        </p:nvSpPr>
        <p:spPr>
          <a:xfrm>
            <a:off x="1" y="1106214"/>
            <a:ext cx="4819918" cy="5355312"/>
          </a:xfrm>
          <a:prstGeom prst="rect">
            <a:avLst/>
          </a:prstGeom>
          <a:noFill/>
        </p:spPr>
        <p:txBody>
          <a:bodyPr wrap="square">
            <a:spAutoFit/>
          </a:bodyPr>
          <a:lstStyle/>
          <a:p>
            <a:pPr algn="just"/>
            <a:r>
              <a:rPr lang="en-US" sz="1800" dirty="0"/>
              <a:t>Circuit in Figure  is an example of a very small memory circuit consisting of 16 words of 8 bits each. This is referred to as a 16 × 8 organization. The data input and the data output of each Sense/Write circuit are connected to a single bidirectional data line that can be connected to the data lines of a computer. Two control lines, R/W and CS, are provided. The R/W (Read/Write) input specifies the required operation, and the CS (Chip Select) input selects a given chip in a multichip memory system. The memory circuit in Figure stores 128 bits and requires 14 external connections for address, data, and control lines. It also needs two lines for power supply and ground connections. Consider now a slightly larger memory circuit, one that has 1K (1024) memory cells. This circuit can be organized as a 128 × 8 memory, requiring a total of 19 external connections. </a:t>
            </a:r>
            <a:endParaRPr lang="en-IN" sz="1800" dirty="0"/>
          </a:p>
        </p:txBody>
      </p:sp>
    </p:spTree>
    <p:extLst>
      <p:ext uri="{BB962C8B-B14F-4D97-AF65-F5344CB8AC3E}">
        <p14:creationId xmlns:p14="http://schemas.microsoft.com/office/powerpoint/2010/main" val="970420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8</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7D943370-4F95-42A3-BBBD-4BAF3BC6238E}"/>
              </a:ext>
            </a:extLst>
          </p:cNvPr>
          <p:cNvPicPr>
            <a:picLocks noChangeAspect="1"/>
          </p:cNvPicPr>
          <p:nvPr/>
        </p:nvPicPr>
        <p:blipFill>
          <a:blip r:embed="rId2"/>
          <a:stretch>
            <a:fillRect/>
          </a:stretch>
        </p:blipFill>
        <p:spPr>
          <a:xfrm>
            <a:off x="2472743" y="13567"/>
            <a:ext cx="7559160" cy="5266128"/>
          </a:xfrm>
          <a:prstGeom prst="rect">
            <a:avLst/>
          </a:prstGeom>
        </p:spPr>
      </p:pic>
      <p:sp>
        <p:nvSpPr>
          <p:cNvPr id="7" name="TextBox 6">
            <a:extLst>
              <a:ext uri="{FF2B5EF4-FFF2-40B4-BE49-F238E27FC236}">
                <a16:creationId xmlns:a16="http://schemas.microsoft.com/office/drawing/2014/main" id="{C80E121C-4A3D-2251-553A-4E580632FC67}"/>
              </a:ext>
            </a:extLst>
          </p:cNvPr>
          <p:cNvSpPr txBox="1"/>
          <p:nvPr/>
        </p:nvSpPr>
        <p:spPr>
          <a:xfrm>
            <a:off x="515155" y="5223192"/>
            <a:ext cx="11406388" cy="1200329"/>
          </a:xfrm>
          <a:prstGeom prst="rect">
            <a:avLst/>
          </a:prstGeom>
          <a:noFill/>
        </p:spPr>
        <p:txBody>
          <a:bodyPr wrap="square">
            <a:spAutoFit/>
          </a:bodyPr>
          <a:lstStyle/>
          <a:p>
            <a:r>
              <a:rPr lang="en-US" dirty="0"/>
              <a:t>In this case, a 10-bit address is needed, but there is only one data line, resulting in 15 external connections. The required 10-bit address is divided into two groups of 5 bits each to form the row and column addresses for the cell array. A row address selects a row of 32 cells, all of which are accessed in parallel. But, only one of these cells is connected to the external data line, based on the column address.</a:t>
            </a:r>
            <a:endParaRPr lang="en-IN" dirty="0"/>
          </a:p>
        </p:txBody>
      </p:sp>
    </p:spTree>
    <p:extLst>
      <p:ext uri="{BB962C8B-B14F-4D97-AF65-F5344CB8AC3E}">
        <p14:creationId xmlns:p14="http://schemas.microsoft.com/office/powerpoint/2010/main" val="1582397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7B806B50-F812-3851-8DE4-F5250FE58BFF}"/>
              </a:ext>
            </a:extLst>
          </p:cNvPr>
          <p:cNvPicPr>
            <a:picLocks noChangeAspect="1"/>
          </p:cNvPicPr>
          <p:nvPr/>
        </p:nvPicPr>
        <p:blipFill>
          <a:blip r:embed="rId2"/>
          <a:stretch>
            <a:fillRect/>
          </a:stretch>
        </p:blipFill>
        <p:spPr>
          <a:xfrm>
            <a:off x="0" y="1132703"/>
            <a:ext cx="5121690" cy="4080525"/>
          </a:xfrm>
          <a:prstGeom prst="rect">
            <a:avLst/>
          </a:prstGeom>
        </p:spPr>
      </p:pic>
      <p:sp>
        <p:nvSpPr>
          <p:cNvPr id="7" name="TextBox 6">
            <a:extLst>
              <a:ext uri="{FF2B5EF4-FFF2-40B4-BE49-F238E27FC236}">
                <a16:creationId xmlns:a16="http://schemas.microsoft.com/office/drawing/2014/main" id="{ADFB32AE-B9FD-F9A2-26CB-7D7E2BF323FA}"/>
              </a:ext>
            </a:extLst>
          </p:cNvPr>
          <p:cNvSpPr txBox="1"/>
          <p:nvPr/>
        </p:nvSpPr>
        <p:spPr>
          <a:xfrm>
            <a:off x="5094667" y="201914"/>
            <a:ext cx="7031866" cy="6740307"/>
          </a:xfrm>
          <a:prstGeom prst="rect">
            <a:avLst/>
          </a:prstGeom>
          <a:noFill/>
        </p:spPr>
        <p:txBody>
          <a:bodyPr wrap="square">
            <a:spAutoFit/>
          </a:bodyPr>
          <a:lstStyle/>
          <a:p>
            <a:r>
              <a:rPr lang="en-US" sz="1800" dirty="0">
                <a:solidFill>
                  <a:schemeClr val="dk1"/>
                </a:solidFill>
                <a:latin typeface="Comic Sans MS"/>
                <a:ea typeface="Comic Sans MS"/>
                <a:cs typeface="Comic Sans MS"/>
                <a:sym typeface="Comic Sans MS"/>
              </a:rPr>
              <a:t>The circuits which are capable of retaining their state as long as  power is applied are static memories</a:t>
            </a:r>
          </a:p>
          <a:p>
            <a:r>
              <a:rPr lang="en-US" dirty="0"/>
              <a:t>Figure  illustrates how a static RAM (SRAM) cell may be implemented. Two inverters are cross-connected to form a latch. The latch is connected to two bit lines by transistors T1 and T2. These transistors act as switches that can be opened or closed under control of the word line. When the word line is at ground level, the transistors are turned off and the latch retains its state. For example, if the logic value at point X is 1 and at point Y is 0, this state is maintained as long as the signal on the word line is at ground level. Assume that this state represents the value 1.</a:t>
            </a:r>
          </a:p>
          <a:p>
            <a:endParaRPr lang="en-US" dirty="0"/>
          </a:p>
          <a:p>
            <a:r>
              <a:rPr lang="en-US" dirty="0"/>
              <a:t>Read Operation : In order to read the state of the SRAM cell, the word line is activated to close switches T1 and T2. If the cell is in state 1, the signal on bit line b is high and the signal on bit line b is low. The opposite is true if the cell is in state 0. Thus, b and b are always complements of each other. The Sense/Write circuit at the end of the two bit lines monitors their state and sets the corresponding output accordingly.</a:t>
            </a:r>
          </a:p>
          <a:p>
            <a:endParaRPr lang="en-US" dirty="0"/>
          </a:p>
          <a:p>
            <a:r>
              <a:rPr lang="en-US" dirty="0"/>
              <a:t>Write Operation: During a Write operation, the Sense/Write circuit drives bit lines b and b , instead of sensing their state. It places the appropriate value on bit line b and its complement on b and activates the word line. This forces the cell into the corresponding state, which the cell retains when the word line is deactivated</a:t>
            </a:r>
          </a:p>
          <a:p>
            <a:endParaRPr lang="en-IN" dirty="0"/>
          </a:p>
        </p:txBody>
      </p:sp>
      <p:sp>
        <p:nvSpPr>
          <p:cNvPr id="9" name="TextBox 8">
            <a:extLst>
              <a:ext uri="{FF2B5EF4-FFF2-40B4-BE49-F238E27FC236}">
                <a16:creationId xmlns:a16="http://schemas.microsoft.com/office/drawing/2014/main" id="{89AF047F-BF18-49F6-DE89-368C92026249}"/>
              </a:ext>
            </a:extLst>
          </p:cNvPr>
          <p:cNvSpPr txBox="1"/>
          <p:nvPr/>
        </p:nvSpPr>
        <p:spPr>
          <a:xfrm>
            <a:off x="513009" y="201914"/>
            <a:ext cx="6098146" cy="584775"/>
          </a:xfrm>
          <a:prstGeom prst="rect">
            <a:avLst/>
          </a:prstGeom>
          <a:noFill/>
        </p:spPr>
        <p:txBody>
          <a:bodyPr wrap="square">
            <a:spAutoFit/>
          </a:bodyPr>
          <a:lstStyle/>
          <a:p>
            <a:r>
              <a:rPr lang="en-US" sz="3200" dirty="0">
                <a:solidFill>
                  <a:srgbClr val="CC0000"/>
                </a:solidFill>
              </a:rPr>
              <a:t>Static Memories : </a:t>
            </a:r>
            <a:endParaRPr lang="en-IN" sz="3200" dirty="0"/>
          </a:p>
        </p:txBody>
      </p:sp>
    </p:spTree>
    <p:extLst>
      <p:ext uri="{BB962C8B-B14F-4D97-AF65-F5344CB8AC3E}">
        <p14:creationId xmlns:p14="http://schemas.microsoft.com/office/powerpoint/2010/main" val="141134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10</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27ECB4BB-F973-8F95-F105-EE3047D97467}"/>
              </a:ext>
            </a:extLst>
          </p:cNvPr>
          <p:cNvPicPr>
            <a:picLocks noChangeAspect="1"/>
          </p:cNvPicPr>
          <p:nvPr/>
        </p:nvPicPr>
        <p:blipFill>
          <a:blip r:embed="rId2"/>
          <a:stretch>
            <a:fillRect/>
          </a:stretch>
        </p:blipFill>
        <p:spPr>
          <a:xfrm>
            <a:off x="0" y="1085850"/>
            <a:ext cx="5867400" cy="4905375"/>
          </a:xfrm>
          <a:prstGeom prst="rect">
            <a:avLst/>
          </a:prstGeom>
        </p:spPr>
      </p:pic>
      <p:sp>
        <p:nvSpPr>
          <p:cNvPr id="7" name="TextBox 6">
            <a:extLst>
              <a:ext uri="{FF2B5EF4-FFF2-40B4-BE49-F238E27FC236}">
                <a16:creationId xmlns:a16="http://schemas.microsoft.com/office/drawing/2014/main" id="{36BC1908-6D08-957D-E35F-19DF74E42160}"/>
              </a:ext>
            </a:extLst>
          </p:cNvPr>
          <p:cNvSpPr txBox="1"/>
          <p:nvPr/>
        </p:nvSpPr>
        <p:spPr>
          <a:xfrm>
            <a:off x="5867400" y="170041"/>
            <a:ext cx="6434070" cy="6186309"/>
          </a:xfrm>
          <a:prstGeom prst="rect">
            <a:avLst/>
          </a:prstGeom>
          <a:noFill/>
        </p:spPr>
        <p:txBody>
          <a:bodyPr wrap="square">
            <a:spAutoFit/>
          </a:bodyPr>
          <a:lstStyle/>
          <a:p>
            <a:r>
              <a:rPr lang="en-US" dirty="0"/>
              <a:t>A CMOS realization of the cell </a:t>
            </a:r>
            <a:r>
              <a:rPr lang="en-US" dirty="0" err="1"/>
              <a:t>i</a:t>
            </a:r>
            <a:r>
              <a:rPr lang="en-US" dirty="0"/>
              <a:t> is given in Figure. Transistor pairs (T3, T5) and (T4, T6) form the inverters in the latch. For example, in state 1, the voltage at point X is maintained high by having transistors T3 and T6 on, while T4 and T5 are off. If T1 and T2 are turned on, bit lines b and b will have high and low signals, respectively.</a:t>
            </a:r>
          </a:p>
          <a:p>
            <a:endParaRPr lang="en-US" dirty="0"/>
          </a:p>
          <a:p>
            <a:r>
              <a:rPr lang="en-US" dirty="0"/>
              <a:t>Continuous power is needed for the cell to retain its state. If power is interrupted, the cell’s contents are lost. When power is restored, the latch settles into a stable state, but not necessarily the same state the cell was in before the interruption. Hence, SRAMs are said to be volatile memories because their contents are lost when power is interrupted. </a:t>
            </a:r>
          </a:p>
          <a:p>
            <a:endParaRPr lang="en-US" dirty="0"/>
          </a:p>
          <a:p>
            <a:r>
              <a:rPr lang="en-US" dirty="0"/>
              <a:t>A major advantage of CMOS SRAMs is their very low power consumption, because current flows in the cell only when the cell is being accessed. Otherwise, T1, T2, and one transistor in each inverter are turned off, ensuring that there is no continuous electrical path between </a:t>
            </a:r>
            <a:r>
              <a:rPr lang="en-US" dirty="0" err="1"/>
              <a:t>Vsupply</a:t>
            </a:r>
            <a:r>
              <a:rPr lang="en-US" dirty="0"/>
              <a:t> and ground. Static RAMs can be accessed very quickly. Access times on the order of a few nanoseconds are found in commercially available chips. SRAMs are used in applications where speed is of critical concern.</a:t>
            </a:r>
            <a:endParaRPr lang="en-IN" dirty="0"/>
          </a:p>
        </p:txBody>
      </p:sp>
      <p:sp>
        <p:nvSpPr>
          <p:cNvPr id="9" name="TextBox 8">
            <a:extLst>
              <a:ext uri="{FF2B5EF4-FFF2-40B4-BE49-F238E27FC236}">
                <a16:creationId xmlns:a16="http://schemas.microsoft.com/office/drawing/2014/main" id="{5A15A6CB-23DF-D348-847B-DE95E0F63C30}"/>
              </a:ext>
            </a:extLst>
          </p:cNvPr>
          <p:cNvSpPr txBox="1"/>
          <p:nvPr/>
        </p:nvSpPr>
        <p:spPr>
          <a:xfrm>
            <a:off x="947671" y="136525"/>
            <a:ext cx="6181858" cy="584775"/>
          </a:xfrm>
          <a:prstGeom prst="rect">
            <a:avLst/>
          </a:prstGeom>
          <a:noFill/>
        </p:spPr>
        <p:txBody>
          <a:bodyPr wrap="square">
            <a:spAutoFit/>
          </a:bodyPr>
          <a:lstStyle/>
          <a:p>
            <a:r>
              <a:rPr lang="en-IN" sz="3200" dirty="0">
                <a:solidFill>
                  <a:srgbClr val="FF0000"/>
                </a:solidFill>
              </a:rPr>
              <a:t>CMOS Cell</a:t>
            </a:r>
          </a:p>
        </p:txBody>
      </p:sp>
    </p:spTree>
    <p:extLst>
      <p:ext uri="{BB962C8B-B14F-4D97-AF65-F5344CB8AC3E}">
        <p14:creationId xmlns:p14="http://schemas.microsoft.com/office/powerpoint/2010/main" val="3453229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11</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FA350282-510E-803F-FD2D-FE88AADFDDF9}"/>
              </a:ext>
            </a:extLst>
          </p:cNvPr>
          <p:cNvSpPr txBox="1"/>
          <p:nvPr/>
        </p:nvSpPr>
        <p:spPr>
          <a:xfrm>
            <a:off x="1715573" y="1128370"/>
            <a:ext cx="8760854" cy="4601260"/>
          </a:xfrm>
          <a:prstGeom prst="rect">
            <a:avLst/>
          </a:prstGeom>
          <a:noFill/>
        </p:spPr>
        <p:txBody>
          <a:bodyPr wrap="square">
            <a:spAutoFit/>
          </a:bodyPr>
          <a:lstStyle/>
          <a:p>
            <a:pPr marL="355600" indent="-343535">
              <a:buClr>
                <a:srgbClr val="252525"/>
              </a:buClr>
              <a:buSzPts val="2000"/>
              <a:buFont typeface="Noto Sans Symbols"/>
              <a:buChar char="❑"/>
            </a:pPr>
            <a:r>
              <a:rPr lang="en-US" sz="2000" dirty="0">
                <a:solidFill>
                  <a:srgbClr val="252525"/>
                </a:solidFill>
                <a:latin typeface="Comic Sans MS"/>
                <a:ea typeface="Comic Sans MS"/>
                <a:cs typeface="Comic Sans MS"/>
                <a:sym typeface="Comic Sans MS"/>
              </a:rPr>
              <a:t>Static RAMs (SRAMs):</a:t>
            </a:r>
            <a:endParaRPr lang="en-US" sz="2000" dirty="0">
              <a:solidFill>
                <a:schemeClr val="dk1"/>
              </a:solidFill>
              <a:latin typeface="Comic Sans MS"/>
              <a:ea typeface="Comic Sans MS"/>
              <a:cs typeface="Comic Sans MS"/>
              <a:sym typeface="Comic Sans MS"/>
            </a:endParaRPr>
          </a:p>
          <a:p>
            <a:pPr marL="756285" marR="5080" lvl="1" indent="-287019">
              <a:spcBef>
                <a:spcPts val="44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Consist of circuits that are capable of retaining their state as long  as the power is applied.</a:t>
            </a:r>
            <a:endParaRPr lang="en-US" dirty="0">
              <a:solidFill>
                <a:schemeClr val="dk1"/>
              </a:solidFill>
              <a:latin typeface="Comic Sans MS"/>
              <a:ea typeface="Comic Sans MS"/>
              <a:cs typeface="Comic Sans MS"/>
              <a:sym typeface="Comic Sans MS"/>
            </a:endParaRPr>
          </a:p>
          <a:p>
            <a:pPr marL="756285" lvl="1" indent="-287019">
              <a:spcBef>
                <a:spcPts val="434"/>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Volatile memories, because their contents are lost when power is</a:t>
            </a:r>
            <a:endParaRPr lang="en-US" dirty="0">
              <a:solidFill>
                <a:schemeClr val="dk1"/>
              </a:solidFill>
              <a:latin typeface="Comic Sans MS"/>
              <a:ea typeface="Comic Sans MS"/>
              <a:cs typeface="Comic Sans MS"/>
              <a:sym typeface="Comic Sans MS"/>
            </a:endParaRPr>
          </a:p>
          <a:p>
            <a:pPr marL="756285"/>
            <a:r>
              <a:rPr lang="en-US" dirty="0">
                <a:solidFill>
                  <a:srgbClr val="252525"/>
                </a:solidFill>
                <a:latin typeface="Comic Sans MS"/>
                <a:ea typeface="Comic Sans MS"/>
                <a:cs typeface="Comic Sans MS"/>
                <a:sym typeface="Comic Sans MS"/>
              </a:rPr>
              <a:t>interrupted.</a:t>
            </a:r>
            <a:endParaRPr lang="en-US" dirty="0">
              <a:solidFill>
                <a:schemeClr val="dk1"/>
              </a:solidFill>
              <a:latin typeface="Comic Sans MS"/>
              <a:ea typeface="Comic Sans MS"/>
              <a:cs typeface="Comic Sans MS"/>
              <a:sym typeface="Comic Sans MS"/>
            </a:endParaRPr>
          </a:p>
          <a:p>
            <a:pPr marL="756285" marR="60325" lvl="1" indent="-287019">
              <a:spcBef>
                <a:spcPts val="43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Access times of static RAMs are in the range of few nanoseconds.  (fast)</a:t>
            </a:r>
            <a:endParaRPr lang="en-US" dirty="0">
              <a:solidFill>
                <a:schemeClr val="dk1"/>
              </a:solidFill>
              <a:latin typeface="Comic Sans MS"/>
              <a:ea typeface="Comic Sans MS"/>
              <a:cs typeface="Comic Sans MS"/>
              <a:sym typeface="Comic Sans MS"/>
            </a:endParaRPr>
          </a:p>
          <a:p>
            <a:pPr marL="756285" lvl="1" indent="-287019">
              <a:spcBef>
                <a:spcPts val="434"/>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However, the cost is usually high.</a:t>
            </a:r>
            <a:endParaRPr lang="en-US" dirty="0">
              <a:solidFill>
                <a:schemeClr val="dk1"/>
              </a:solidFill>
              <a:latin typeface="Comic Sans MS"/>
              <a:ea typeface="Comic Sans MS"/>
              <a:cs typeface="Comic Sans MS"/>
              <a:sym typeface="Comic Sans MS"/>
            </a:endParaRPr>
          </a:p>
          <a:p>
            <a:pPr marL="823594" lvl="1" indent="-354330">
              <a:spcBef>
                <a:spcPts val="43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Cache memory</a:t>
            </a:r>
            <a:endParaRPr lang="en-US" dirty="0">
              <a:solidFill>
                <a:schemeClr val="dk1"/>
              </a:solidFill>
              <a:latin typeface="Comic Sans MS"/>
              <a:ea typeface="Comic Sans MS"/>
              <a:cs typeface="Comic Sans MS"/>
              <a:sym typeface="Comic Sans MS"/>
            </a:endParaRPr>
          </a:p>
          <a:p>
            <a:pPr marL="422909" indent="-410845">
              <a:spcBef>
                <a:spcPts val="475"/>
              </a:spcBef>
              <a:buClr>
                <a:srgbClr val="252525"/>
              </a:buClr>
              <a:buSzPts val="1800"/>
              <a:buFont typeface="Noto Sans Symbols"/>
              <a:buChar char="❑"/>
            </a:pPr>
            <a:r>
              <a:rPr lang="en-US" sz="2000" dirty="0">
                <a:solidFill>
                  <a:srgbClr val="252525"/>
                </a:solidFill>
                <a:latin typeface="Comic Sans MS"/>
                <a:ea typeface="Comic Sans MS"/>
                <a:cs typeface="Comic Sans MS"/>
                <a:sym typeface="Comic Sans MS"/>
              </a:rPr>
              <a:t>Dynamic RAMs (DRAMs):</a:t>
            </a:r>
            <a:endParaRPr lang="en-US" sz="2000" dirty="0">
              <a:solidFill>
                <a:schemeClr val="dk1"/>
              </a:solidFill>
              <a:latin typeface="Comic Sans MS"/>
              <a:ea typeface="Comic Sans MS"/>
              <a:cs typeface="Comic Sans MS"/>
              <a:sym typeface="Comic Sans MS"/>
            </a:endParaRPr>
          </a:p>
          <a:p>
            <a:pPr marL="756285" lvl="1" indent="-287019">
              <a:spcBef>
                <a:spcPts val="44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Do not retain their state indefinitely.</a:t>
            </a:r>
            <a:endParaRPr lang="en-US" dirty="0">
              <a:solidFill>
                <a:schemeClr val="dk1"/>
              </a:solidFill>
              <a:latin typeface="Comic Sans MS"/>
              <a:ea typeface="Comic Sans MS"/>
              <a:cs typeface="Comic Sans MS"/>
              <a:sym typeface="Comic Sans MS"/>
            </a:endParaRPr>
          </a:p>
          <a:p>
            <a:pPr marL="756285" lvl="1" indent="-287019">
              <a:spcBef>
                <a:spcPts val="43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Contents must be periodically refreshed.</a:t>
            </a:r>
            <a:endParaRPr lang="en-US" dirty="0">
              <a:solidFill>
                <a:schemeClr val="dk1"/>
              </a:solidFill>
              <a:latin typeface="Comic Sans MS"/>
              <a:ea typeface="Comic Sans MS"/>
              <a:cs typeface="Comic Sans MS"/>
              <a:sym typeface="Comic Sans MS"/>
            </a:endParaRPr>
          </a:p>
          <a:p>
            <a:pPr marL="756285" lvl="1" indent="-287019">
              <a:spcBef>
                <a:spcPts val="434"/>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Contents may be refreshed while accessing them for reading.</a:t>
            </a:r>
            <a:endParaRPr lang="en-US" dirty="0">
              <a:solidFill>
                <a:schemeClr val="dk1"/>
              </a:solidFill>
              <a:latin typeface="Comic Sans MS"/>
              <a:ea typeface="Comic Sans MS"/>
              <a:cs typeface="Comic Sans MS"/>
              <a:sym typeface="Comic Sans MS"/>
            </a:endParaRPr>
          </a:p>
          <a:p>
            <a:pPr marL="756285" lvl="1" indent="-287019">
              <a:spcBef>
                <a:spcPts val="470"/>
              </a:spcBef>
              <a:buClr>
                <a:srgbClr val="252525"/>
              </a:buClr>
              <a:buSzPts val="1450"/>
              <a:buFont typeface="Noto Sans Symbols"/>
              <a:buChar char="◆"/>
            </a:pPr>
            <a:r>
              <a:rPr lang="en-US" dirty="0">
                <a:solidFill>
                  <a:srgbClr val="252525"/>
                </a:solidFill>
                <a:latin typeface="Comic Sans MS"/>
                <a:ea typeface="Comic Sans MS"/>
                <a:cs typeface="Comic Sans MS"/>
                <a:sym typeface="Comic Sans MS"/>
              </a:rPr>
              <a:t>M</a:t>
            </a:r>
            <a:r>
              <a:rPr lang="en-US" sz="2000" dirty="0">
                <a:solidFill>
                  <a:schemeClr val="dk1"/>
                </a:solidFill>
                <a:latin typeface="Comic Sans MS"/>
                <a:ea typeface="Comic Sans MS"/>
                <a:cs typeface="Comic Sans MS"/>
                <a:sym typeface="Comic Sans MS"/>
              </a:rPr>
              <a:t>ain memory</a:t>
            </a:r>
          </a:p>
        </p:txBody>
      </p:sp>
      <p:sp>
        <p:nvSpPr>
          <p:cNvPr id="7" name="TextBox 6">
            <a:extLst>
              <a:ext uri="{FF2B5EF4-FFF2-40B4-BE49-F238E27FC236}">
                <a16:creationId xmlns:a16="http://schemas.microsoft.com/office/drawing/2014/main" id="{094282B5-07C2-D609-C2E5-0D20C60D08F8}"/>
              </a:ext>
            </a:extLst>
          </p:cNvPr>
          <p:cNvSpPr txBox="1"/>
          <p:nvPr/>
        </p:nvSpPr>
        <p:spPr>
          <a:xfrm>
            <a:off x="808149" y="136525"/>
            <a:ext cx="6098146" cy="584775"/>
          </a:xfrm>
          <a:prstGeom prst="rect">
            <a:avLst/>
          </a:prstGeom>
          <a:noFill/>
        </p:spPr>
        <p:txBody>
          <a:bodyPr wrap="square">
            <a:spAutoFit/>
          </a:bodyPr>
          <a:lstStyle/>
          <a:p>
            <a:r>
              <a:rPr lang="en-US" sz="3200" dirty="0">
                <a:solidFill>
                  <a:srgbClr val="FF0000"/>
                </a:solidFill>
              </a:rPr>
              <a:t>Asynchronous DRAMs vs SRAMs</a:t>
            </a:r>
            <a:endParaRPr lang="en-IN" sz="3200" dirty="0">
              <a:solidFill>
                <a:srgbClr val="FF0000"/>
              </a:solidFill>
            </a:endParaRPr>
          </a:p>
        </p:txBody>
      </p:sp>
    </p:spTree>
    <p:extLst>
      <p:ext uri="{BB962C8B-B14F-4D97-AF65-F5344CB8AC3E}">
        <p14:creationId xmlns:p14="http://schemas.microsoft.com/office/powerpoint/2010/main" val="1597744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375821C4-387A-709E-183D-D0F60FEED296}"/>
              </a:ext>
            </a:extLst>
          </p:cNvPr>
          <p:cNvSpPr txBox="1"/>
          <p:nvPr/>
        </p:nvSpPr>
        <p:spPr>
          <a:xfrm>
            <a:off x="978794" y="1070662"/>
            <a:ext cx="10972800" cy="4347344"/>
          </a:xfrm>
          <a:prstGeom prst="rect">
            <a:avLst/>
          </a:prstGeom>
          <a:noFill/>
        </p:spPr>
        <p:txBody>
          <a:bodyPr wrap="square">
            <a:spAutoFit/>
          </a:bodyPr>
          <a:lstStyle/>
          <a:p>
            <a:pPr marL="355600" marR="449580" indent="-343535">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Both static and dynamic RAMs are volatile, that is, it will  retain the information as long as power supply is applied.</a:t>
            </a:r>
          </a:p>
          <a:p>
            <a:pPr marL="355600" marR="285750" indent="-343535">
              <a:spcBef>
                <a:spcPts val="480"/>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A dynamic memory cell is simpler and smaller than a static  memory cell.</a:t>
            </a:r>
          </a:p>
          <a:p>
            <a:pPr marL="355600"/>
            <a:r>
              <a:rPr lang="en-US" sz="2400" dirty="0">
                <a:solidFill>
                  <a:schemeClr val="dk1"/>
                </a:solidFill>
                <a:latin typeface="Calibri" panose="020F0502020204030204" pitchFamily="34" charset="0"/>
                <a:ea typeface="Comic Sans MS"/>
                <a:cs typeface="Calibri" panose="020F0502020204030204" pitchFamily="34" charset="0"/>
                <a:sym typeface="Comic Sans MS"/>
              </a:rPr>
              <a:t>Thus a DRAM is more dense, i.e., packing density is high</a:t>
            </a:r>
          </a:p>
          <a:p>
            <a:pPr marL="355600"/>
            <a:r>
              <a:rPr lang="en-US" sz="2400" dirty="0">
                <a:solidFill>
                  <a:schemeClr val="dk1"/>
                </a:solidFill>
                <a:latin typeface="Calibri" panose="020F0502020204030204" pitchFamily="34" charset="0"/>
                <a:ea typeface="Comic Sans MS"/>
                <a:cs typeface="Calibri" panose="020F0502020204030204" pitchFamily="34" charset="0"/>
                <a:sym typeface="Comic Sans MS"/>
              </a:rPr>
              <a:t>(more cell per unit area).</a:t>
            </a:r>
          </a:p>
          <a:p>
            <a:pPr marL="355600"/>
            <a:r>
              <a:rPr lang="en-US" sz="2400" dirty="0">
                <a:solidFill>
                  <a:schemeClr val="dk1"/>
                </a:solidFill>
                <a:latin typeface="Calibri" panose="020F0502020204030204" pitchFamily="34" charset="0"/>
                <a:ea typeface="Comic Sans MS"/>
                <a:cs typeface="Calibri" panose="020F0502020204030204" pitchFamily="34" charset="0"/>
                <a:sym typeface="Comic Sans MS"/>
              </a:rPr>
              <a:t>DRAM is less expensive than corresponding SRAM.</a:t>
            </a:r>
          </a:p>
          <a:p>
            <a:pPr marL="355600" indent="-343535">
              <a:spcBef>
                <a:spcPts val="480"/>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DRAM requires the supporting refresh circuitry.</a:t>
            </a:r>
          </a:p>
          <a:p>
            <a:pPr marL="355600" marR="5080"/>
            <a:r>
              <a:rPr lang="en-US" sz="2400" dirty="0">
                <a:solidFill>
                  <a:schemeClr val="dk1"/>
                </a:solidFill>
                <a:latin typeface="Calibri" panose="020F0502020204030204" pitchFamily="34" charset="0"/>
                <a:ea typeface="Comic Sans MS"/>
                <a:cs typeface="Calibri" panose="020F0502020204030204" pitchFamily="34" charset="0"/>
                <a:sym typeface="Comic Sans MS"/>
              </a:rPr>
              <a:t>For larger memories, the fixed cost of the refresh circuitry  is more than compensated for by the less cost of DRAM  cells.</a:t>
            </a:r>
          </a:p>
          <a:p>
            <a:pPr marL="355600" marR="126364" indent="-343535">
              <a:spcBef>
                <a:spcPts val="480"/>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SRAM cells are generally faster than the DRAM cells.  Therefore, to construct faster memory modules (like cache  memory) SRAM is used</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9639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B83A24A1-1A55-0984-FE92-F60EAF100BFB}"/>
              </a:ext>
            </a:extLst>
          </p:cNvPr>
          <p:cNvPicPr>
            <a:picLocks noChangeAspect="1"/>
          </p:cNvPicPr>
          <p:nvPr/>
        </p:nvPicPr>
        <p:blipFill>
          <a:blip r:embed="rId2"/>
          <a:stretch>
            <a:fillRect/>
          </a:stretch>
        </p:blipFill>
        <p:spPr>
          <a:xfrm>
            <a:off x="6791325" y="536507"/>
            <a:ext cx="4562475" cy="3248025"/>
          </a:xfrm>
          <a:prstGeom prst="rect">
            <a:avLst/>
          </a:prstGeom>
        </p:spPr>
      </p:pic>
      <p:sp>
        <p:nvSpPr>
          <p:cNvPr id="7" name="TextBox 6">
            <a:extLst>
              <a:ext uri="{FF2B5EF4-FFF2-40B4-BE49-F238E27FC236}">
                <a16:creationId xmlns:a16="http://schemas.microsoft.com/office/drawing/2014/main" id="{49DD36E1-6757-CECD-1612-970A9C4923F0}"/>
              </a:ext>
            </a:extLst>
          </p:cNvPr>
          <p:cNvSpPr txBox="1"/>
          <p:nvPr/>
        </p:nvSpPr>
        <p:spPr>
          <a:xfrm>
            <a:off x="343169" y="3995678"/>
            <a:ext cx="11848831" cy="2862322"/>
          </a:xfrm>
          <a:prstGeom prst="rect">
            <a:avLst/>
          </a:prstGeom>
          <a:noFill/>
        </p:spPr>
        <p:txBody>
          <a:bodyPr wrap="square">
            <a:spAutoFit/>
          </a:bodyPr>
          <a:lstStyle/>
          <a:p>
            <a:pPr marL="12700" marR="5080"/>
            <a:r>
              <a:rPr lang="en-US" dirty="0">
                <a:solidFill>
                  <a:schemeClr val="dk1"/>
                </a:solidFill>
                <a:latin typeface="Calibri" panose="020F0502020204030204" pitchFamily="34" charset="0"/>
                <a:ea typeface="Comic Sans MS"/>
                <a:cs typeface="Calibri" panose="020F0502020204030204" pitchFamily="34" charset="0"/>
                <a:sym typeface="Comic Sans MS"/>
              </a:rPr>
              <a:t>A dynamic memory cell consists of a capacitor and a transistor. In order to store  Information in this cell , transistor T is turned on and appropriate voltage is applied  to the bit line. This caused known amount of charge to be stored in the capacitor. </a:t>
            </a:r>
          </a:p>
          <a:p>
            <a:pPr marL="12700" marR="5080"/>
            <a:endParaRPr lang="en-US" dirty="0">
              <a:latin typeface="Calibri" panose="020F0502020204030204" pitchFamily="34" charset="0"/>
              <a:cs typeface="Calibri" panose="020F0502020204030204" pitchFamily="34" charset="0"/>
            </a:endParaRPr>
          </a:p>
          <a:p>
            <a:pPr marL="12700" marR="5080"/>
            <a:r>
              <a:rPr lang="en-US" dirty="0">
                <a:latin typeface="Calibri" panose="020F0502020204030204" pitchFamily="34" charset="0"/>
                <a:cs typeface="Calibri" panose="020F0502020204030204" pitchFamily="34" charset="0"/>
              </a:rPr>
              <a:t>After the transistor is turned off, the charge remains stored in the capacitor, but not for long. The capacitor begins to discharge. This is because the transistor continues to conduct a tiny amount of current, measured in picoamperes, after it is turned off. Hence, the information stored in the cell can be retrieved correctly only if it is read before the charge in the capacitor drops below some threshold value.</a:t>
            </a:r>
            <a:endParaRPr lang="en-US" dirty="0">
              <a:solidFill>
                <a:schemeClr val="dk1"/>
              </a:solidFill>
              <a:latin typeface="Calibri" panose="020F0502020204030204" pitchFamily="34" charset="0"/>
              <a:ea typeface="Comic Sans MS"/>
              <a:cs typeface="Calibri" panose="020F0502020204030204" pitchFamily="34" charset="0"/>
              <a:sym typeface="Comic Sans MS"/>
            </a:endParaRPr>
          </a:p>
          <a:p>
            <a:pPr marL="12700" marR="5080"/>
            <a:endParaRPr lang="en-US" dirty="0">
              <a:solidFill>
                <a:schemeClr val="dk1"/>
              </a:solidFill>
              <a:latin typeface="Calibri" panose="020F0502020204030204" pitchFamily="34" charset="0"/>
              <a:ea typeface="Comic Sans MS"/>
              <a:cs typeface="Calibri" panose="020F0502020204030204" pitchFamily="34" charset="0"/>
              <a:sym typeface="Comic Sans MS"/>
            </a:endParaRPr>
          </a:p>
          <a:p>
            <a:pPr marL="12700">
              <a:spcBef>
                <a:spcPts val="5"/>
              </a:spcBef>
            </a:pPr>
            <a:r>
              <a:rPr lang="en-US" dirty="0">
                <a:latin typeface="Calibri" panose="020F0502020204030204" pitchFamily="34" charset="0"/>
                <a:cs typeface="Calibri" panose="020F0502020204030204" pitchFamily="34" charset="0"/>
              </a:rPr>
              <a:t>Reading the contents of a cell automatically refreshes its contents. Since the word line is common to all cells in a row, all cells in a selected row are read and refreshed at the same time</a:t>
            </a:r>
            <a:endParaRPr lang="en-US" dirty="0">
              <a:solidFill>
                <a:schemeClr val="dk1"/>
              </a:solidFill>
              <a:latin typeface="Calibri" panose="020F0502020204030204" pitchFamily="34" charset="0"/>
              <a:ea typeface="Comic Sans MS"/>
              <a:cs typeface="Calibri" panose="020F0502020204030204" pitchFamily="34" charset="0"/>
              <a:sym typeface="Comic Sans MS"/>
            </a:endParaRPr>
          </a:p>
        </p:txBody>
      </p:sp>
      <p:sp>
        <p:nvSpPr>
          <p:cNvPr id="9" name="TextBox 8">
            <a:extLst>
              <a:ext uri="{FF2B5EF4-FFF2-40B4-BE49-F238E27FC236}">
                <a16:creationId xmlns:a16="http://schemas.microsoft.com/office/drawing/2014/main" id="{9F180444-1375-D548-5454-0F3E7865B90E}"/>
              </a:ext>
            </a:extLst>
          </p:cNvPr>
          <p:cNvSpPr txBox="1"/>
          <p:nvPr/>
        </p:nvSpPr>
        <p:spPr>
          <a:xfrm>
            <a:off x="1828798" y="-48268"/>
            <a:ext cx="6988935" cy="584775"/>
          </a:xfrm>
          <a:prstGeom prst="rect">
            <a:avLst/>
          </a:prstGeom>
          <a:noFill/>
        </p:spPr>
        <p:txBody>
          <a:bodyPr wrap="square">
            <a:spAutoFit/>
          </a:bodyPr>
          <a:lstStyle/>
          <a:p>
            <a:r>
              <a:rPr lang="en-US" sz="3200" dirty="0">
                <a:solidFill>
                  <a:srgbClr val="FF0000"/>
                </a:solidFill>
                <a:latin typeface="Calibri" panose="020F0502020204030204" pitchFamily="34" charset="0"/>
                <a:ea typeface="Comic Sans MS"/>
                <a:cs typeface="Calibri" panose="020F0502020204030204" pitchFamily="34" charset="0"/>
                <a:sym typeface="Comic Sans MS"/>
              </a:rPr>
              <a:t>A single-transistor dynamic memory cell</a:t>
            </a:r>
            <a:endParaRPr lang="en-IN" sz="3200" dirty="0">
              <a:solidFill>
                <a:srgbClr val="FF0000"/>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72E74D4-609D-5989-B3CF-6760D334248F}"/>
              </a:ext>
            </a:extLst>
          </p:cNvPr>
          <p:cNvSpPr txBox="1"/>
          <p:nvPr/>
        </p:nvSpPr>
        <p:spPr>
          <a:xfrm>
            <a:off x="343169" y="536507"/>
            <a:ext cx="6143222" cy="3416320"/>
          </a:xfrm>
          <a:prstGeom prst="rect">
            <a:avLst/>
          </a:prstGeom>
          <a:noFill/>
        </p:spPr>
        <p:txBody>
          <a:bodyPr wrap="square">
            <a:spAutoFit/>
          </a:bodyPr>
          <a:lstStyle/>
          <a:p>
            <a:r>
              <a:rPr lang="en-US" dirty="0"/>
              <a:t>Static RAMs are fast, but their cells require several transistors. Less expensive and higher density RAMs can be implemented with simpler cells. But, these simpler cells do not retain their state for a long period, unless they are accessed frequently for Read or Write operations. Memories that use such cells are called dynamic RAMs (DRAMs).</a:t>
            </a:r>
          </a:p>
          <a:p>
            <a:endParaRPr lang="en-US" dirty="0"/>
          </a:p>
          <a:p>
            <a:r>
              <a:rPr lang="en-US" dirty="0"/>
              <a:t>Since the cell is required to store information for a much longer time, its contents must be periodically refreshed by restoring the capacitor charge to its full value. This occurs when the contents of the cell are read or when new information is written into it.</a:t>
            </a:r>
            <a:endParaRPr lang="en-IN" dirty="0"/>
          </a:p>
        </p:txBody>
      </p:sp>
    </p:spTree>
    <p:extLst>
      <p:ext uri="{BB962C8B-B14F-4D97-AF65-F5344CB8AC3E}">
        <p14:creationId xmlns:p14="http://schemas.microsoft.com/office/powerpoint/2010/main" val="179465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14</a:t>
            </a:fld>
            <a:endParaRPr lang="en-IN" dirty="0"/>
          </a:p>
        </p:txBody>
      </p:sp>
      <p:pic>
        <p:nvPicPr>
          <p:cNvPr id="7" name="Picture 6">
            <a:extLst>
              <a:ext uri="{FF2B5EF4-FFF2-40B4-BE49-F238E27FC236}">
                <a16:creationId xmlns:a16="http://schemas.microsoft.com/office/drawing/2014/main" id="{C2F27408-4085-A477-FEE7-297D7A49D5FE}"/>
              </a:ext>
            </a:extLst>
          </p:cNvPr>
          <p:cNvPicPr>
            <a:picLocks noChangeAspect="1"/>
          </p:cNvPicPr>
          <p:nvPr/>
        </p:nvPicPr>
        <p:blipFill>
          <a:blip r:embed="rId2"/>
          <a:stretch>
            <a:fillRect/>
          </a:stretch>
        </p:blipFill>
        <p:spPr>
          <a:xfrm>
            <a:off x="6483856" y="1339402"/>
            <a:ext cx="5708143" cy="4108361"/>
          </a:xfrm>
          <a:prstGeom prst="rect">
            <a:avLst/>
          </a:prstGeom>
        </p:spPr>
      </p:pic>
      <p:sp>
        <p:nvSpPr>
          <p:cNvPr id="9" name="TextBox 8">
            <a:extLst>
              <a:ext uri="{FF2B5EF4-FFF2-40B4-BE49-F238E27FC236}">
                <a16:creationId xmlns:a16="http://schemas.microsoft.com/office/drawing/2014/main" id="{60A18313-F67D-FAF7-094F-0D920E084CA8}"/>
              </a:ext>
            </a:extLst>
          </p:cNvPr>
          <p:cNvSpPr txBox="1"/>
          <p:nvPr/>
        </p:nvSpPr>
        <p:spPr>
          <a:xfrm>
            <a:off x="167148" y="265323"/>
            <a:ext cx="7018986" cy="5755422"/>
          </a:xfrm>
          <a:prstGeom prst="rect">
            <a:avLst/>
          </a:prstGeom>
          <a:noFill/>
        </p:spPr>
        <p:txBody>
          <a:bodyPr wrap="square">
            <a:spAutoFit/>
          </a:bodyPr>
          <a:lstStyle/>
          <a:p>
            <a:r>
              <a:rPr lang="en-US" sz="1600" dirty="0"/>
              <a:t>The cells are organized in the form of a 16K × 16K array. The 16,384 cells in each row are divided into 2,048 groups of 8, forming 2,048 bytes of data. </a:t>
            </a:r>
          </a:p>
          <a:p>
            <a:r>
              <a:rPr lang="en-US" sz="1600" dirty="0"/>
              <a:t>Therefore, 14 address bits are needed to select a row, and another 11 bits are needed to specify a group of 8 bits in the selected row. In total, a 25-bit address is needed to access a byte in this memory. </a:t>
            </a:r>
          </a:p>
          <a:p>
            <a:endParaRPr lang="en-US" sz="1600" dirty="0"/>
          </a:p>
          <a:p>
            <a:r>
              <a:rPr lang="en-US" sz="1600" dirty="0"/>
              <a:t>The high-order 14 bits and the low-order 11 bits of the address constitute the row and column addresses of a byte, respectively. To reduce the number of pins needed for external connections, the row and column addresses are multiplexed on 14 pins. During a Read or a Write operation, the row address is applied first. It is loaded into the row address latch in response to a signal pulse on an input control line called the Row Address Strobe (RAS). This causes a Read operation to be initiated, in which all cells in the selected row are read and refreshed. </a:t>
            </a:r>
          </a:p>
          <a:p>
            <a:r>
              <a:rPr lang="en-US" sz="1600" dirty="0"/>
              <a:t>Shortly after the row address is loaded, the column address is applied to the address pins and loaded into the column address latch under control of a second control line called the Column Address Strobe (CAS). </a:t>
            </a:r>
          </a:p>
          <a:p>
            <a:endParaRPr lang="en-US" sz="1600" dirty="0"/>
          </a:p>
          <a:p>
            <a:r>
              <a:rPr lang="en-US" sz="1600" dirty="0"/>
              <a:t>The information in this latch is decoded and the appropriate group of 8 Sense/Write circuits is selected. If the R/W control signal indicates a Read operation, the output values of the selected circuits are transferred to the data lines, D7−0. For a Write operation, the information on the D7−0 lines is transferred to the selected circuits, then used to overwrite the contents of the selected cells in the corresponding 8 columns.</a:t>
            </a:r>
            <a:endParaRPr lang="en-IN" sz="1600" dirty="0"/>
          </a:p>
        </p:txBody>
      </p:sp>
      <p:sp>
        <p:nvSpPr>
          <p:cNvPr id="12" name="TextBox 11">
            <a:extLst>
              <a:ext uri="{FF2B5EF4-FFF2-40B4-BE49-F238E27FC236}">
                <a16:creationId xmlns:a16="http://schemas.microsoft.com/office/drawing/2014/main" id="{962AF700-BA88-6B86-11A3-13C8B2AFB943}"/>
              </a:ext>
            </a:extLst>
          </p:cNvPr>
          <p:cNvSpPr txBox="1"/>
          <p:nvPr/>
        </p:nvSpPr>
        <p:spPr>
          <a:xfrm>
            <a:off x="7587802" y="136525"/>
            <a:ext cx="6098146" cy="1200329"/>
          </a:xfrm>
          <a:prstGeom prst="rect">
            <a:avLst/>
          </a:prstGeom>
          <a:noFill/>
        </p:spPr>
        <p:txBody>
          <a:bodyPr wrap="square">
            <a:spAutoFit/>
          </a:bodyPr>
          <a:lstStyle/>
          <a:p>
            <a:r>
              <a:rPr lang="en-US" sz="2400" dirty="0">
                <a:solidFill>
                  <a:srgbClr val="FF0000"/>
                </a:solidFill>
              </a:rPr>
              <a:t>            256-Megabit </a:t>
            </a:r>
          </a:p>
          <a:p>
            <a:r>
              <a:rPr lang="en-US" sz="2400" dirty="0">
                <a:solidFill>
                  <a:srgbClr val="FF0000"/>
                </a:solidFill>
              </a:rPr>
              <a:t>asynchronous    DRAM chip, </a:t>
            </a:r>
          </a:p>
          <a:p>
            <a:r>
              <a:rPr lang="en-US" sz="2400" dirty="0">
                <a:solidFill>
                  <a:srgbClr val="FF0000"/>
                </a:solidFill>
              </a:rPr>
              <a:t>   configured as 32M × 8</a:t>
            </a:r>
            <a:endParaRPr lang="en-IN" sz="2400" dirty="0">
              <a:solidFill>
                <a:srgbClr val="FF0000"/>
              </a:solidFill>
            </a:endParaRPr>
          </a:p>
        </p:txBody>
      </p:sp>
    </p:spTree>
    <p:extLst>
      <p:ext uri="{BB962C8B-B14F-4D97-AF65-F5344CB8AC3E}">
        <p14:creationId xmlns:p14="http://schemas.microsoft.com/office/powerpoint/2010/main" val="2262368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15</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AD7A3342-088D-EE8C-28EB-75865FC2D1E4}"/>
              </a:ext>
            </a:extLst>
          </p:cNvPr>
          <p:cNvPicPr>
            <a:picLocks noChangeAspect="1"/>
          </p:cNvPicPr>
          <p:nvPr/>
        </p:nvPicPr>
        <p:blipFill>
          <a:blip r:embed="rId2"/>
          <a:stretch>
            <a:fillRect/>
          </a:stretch>
        </p:blipFill>
        <p:spPr>
          <a:xfrm>
            <a:off x="5993265" y="995081"/>
            <a:ext cx="5683580" cy="4657165"/>
          </a:xfrm>
          <a:prstGeom prst="rect">
            <a:avLst/>
          </a:prstGeom>
        </p:spPr>
      </p:pic>
      <p:sp>
        <p:nvSpPr>
          <p:cNvPr id="9" name="TextBox 8">
            <a:extLst>
              <a:ext uri="{FF2B5EF4-FFF2-40B4-BE49-F238E27FC236}">
                <a16:creationId xmlns:a16="http://schemas.microsoft.com/office/drawing/2014/main" id="{9984CBF0-73E0-468F-FB4E-ADC77732EAEA}"/>
              </a:ext>
            </a:extLst>
          </p:cNvPr>
          <p:cNvSpPr txBox="1"/>
          <p:nvPr/>
        </p:nvSpPr>
        <p:spPr>
          <a:xfrm>
            <a:off x="6787403" y="200249"/>
            <a:ext cx="6098240" cy="584775"/>
          </a:xfrm>
          <a:prstGeom prst="rect">
            <a:avLst/>
          </a:prstGeom>
          <a:noFill/>
        </p:spPr>
        <p:txBody>
          <a:bodyPr wrap="square">
            <a:spAutoFit/>
          </a:bodyPr>
          <a:lstStyle/>
          <a:p>
            <a:r>
              <a:rPr lang="en-IN" sz="3200" dirty="0">
                <a:solidFill>
                  <a:srgbClr val="FF0000"/>
                </a:solidFill>
              </a:rPr>
              <a:t>Synchronous DRAM</a:t>
            </a:r>
          </a:p>
        </p:txBody>
      </p:sp>
      <p:sp>
        <p:nvSpPr>
          <p:cNvPr id="12" name="TextBox 11">
            <a:extLst>
              <a:ext uri="{FF2B5EF4-FFF2-40B4-BE49-F238E27FC236}">
                <a16:creationId xmlns:a16="http://schemas.microsoft.com/office/drawing/2014/main" id="{EF46E6AF-3BA9-246B-51D0-A0960D96D7CD}"/>
              </a:ext>
            </a:extLst>
          </p:cNvPr>
          <p:cNvSpPr txBox="1"/>
          <p:nvPr/>
        </p:nvSpPr>
        <p:spPr>
          <a:xfrm>
            <a:off x="117663" y="258167"/>
            <a:ext cx="6441140" cy="6463308"/>
          </a:xfrm>
          <a:prstGeom prst="rect">
            <a:avLst/>
          </a:prstGeom>
          <a:noFill/>
        </p:spPr>
        <p:txBody>
          <a:bodyPr wrap="square">
            <a:spAutoFit/>
          </a:bodyPr>
          <a:lstStyle/>
          <a:p>
            <a:r>
              <a:rPr lang="en-US" dirty="0"/>
              <a:t>In the early 1990s, developments in memory technology resulted in DRAMs whose operation is synchronized with a clock signal. Such memories are known as synchronous DRAMs (SDRAMs). </a:t>
            </a:r>
          </a:p>
          <a:p>
            <a:r>
              <a:rPr lang="en-US" dirty="0"/>
              <a:t>The cell array is the same as in asynchronous DRAMs. The distinguishing feature of an SDRAM is the use of a clock signal, the availability of which makes it possible to incorporate control circuitry on the chip that provides many useful features. For example, SDRAMs have built-in refresh circuitry, with a refresh counter to provide the addresses of the rows to be selected for refreshing. As a result, the dynamic nature of these memory chips is almost invisible to the user</a:t>
            </a:r>
          </a:p>
          <a:p>
            <a:endParaRPr lang="en-US" dirty="0"/>
          </a:p>
          <a:p>
            <a:r>
              <a:rPr lang="en-US" dirty="0"/>
              <a:t>The address and data connections of an SDRAM may be buffered by means of registers. Internally, the Sense/Write amplifiers function as latches, as in asynchronous DRAMs. A Read operation causes the contents of all cells in the selected row to be loaded into these latches. The data in the latches of the selected column are transferred into the data register, thus becoming available on the data output pins. The buffer registers are useful when transferring large blocks of data at very high speed. SDRAMs have several different modes of operation, which can be selected by writing control information into a mode register. For example, burst operations of different lengths can be specified. </a:t>
            </a:r>
            <a:endParaRPr lang="en-IN" dirty="0"/>
          </a:p>
        </p:txBody>
      </p:sp>
    </p:spTree>
    <p:extLst>
      <p:ext uri="{BB962C8B-B14F-4D97-AF65-F5344CB8AC3E}">
        <p14:creationId xmlns:p14="http://schemas.microsoft.com/office/powerpoint/2010/main" val="1496870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16</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9984CBF0-73E0-468F-FB4E-ADC77732EAEA}"/>
              </a:ext>
            </a:extLst>
          </p:cNvPr>
          <p:cNvSpPr txBox="1"/>
          <p:nvPr/>
        </p:nvSpPr>
        <p:spPr>
          <a:xfrm>
            <a:off x="373487" y="0"/>
            <a:ext cx="6098240" cy="707886"/>
          </a:xfrm>
          <a:prstGeom prst="rect">
            <a:avLst/>
          </a:prstGeom>
          <a:noFill/>
        </p:spPr>
        <p:txBody>
          <a:bodyPr wrap="square">
            <a:spAutoFit/>
          </a:bodyPr>
          <a:lstStyle/>
          <a:p>
            <a:r>
              <a:rPr lang="en-US" sz="4000" dirty="0">
                <a:solidFill>
                  <a:srgbClr val="CC0000"/>
                </a:solidFill>
              </a:rPr>
              <a:t>Latency and Bandwidth</a:t>
            </a:r>
            <a:endParaRPr lang="en-IN" sz="3200" dirty="0">
              <a:solidFill>
                <a:srgbClr val="FF0000"/>
              </a:solidFill>
            </a:endParaRPr>
          </a:p>
        </p:txBody>
      </p:sp>
      <p:sp>
        <p:nvSpPr>
          <p:cNvPr id="5" name="TextBox 4">
            <a:extLst>
              <a:ext uri="{FF2B5EF4-FFF2-40B4-BE49-F238E27FC236}">
                <a16:creationId xmlns:a16="http://schemas.microsoft.com/office/drawing/2014/main" id="{5EF92D55-314D-3A0A-E1A5-F2EBB10954C7}"/>
              </a:ext>
            </a:extLst>
          </p:cNvPr>
          <p:cNvSpPr txBox="1"/>
          <p:nvPr/>
        </p:nvSpPr>
        <p:spPr>
          <a:xfrm>
            <a:off x="373487" y="790158"/>
            <a:ext cx="11165983" cy="6482480"/>
          </a:xfrm>
          <a:prstGeom prst="rect">
            <a:avLst/>
          </a:prstGeom>
          <a:noFill/>
        </p:spPr>
        <p:txBody>
          <a:bodyPr wrap="square">
            <a:spAutoFit/>
          </a:bodyPr>
          <a:lstStyle/>
          <a:p>
            <a:pPr marL="355600" marR="100965" indent="-343535">
              <a:lnSpc>
                <a:spcPct val="108000"/>
              </a:lnSpc>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The speed and efficiency of data transfers among memory,  processor, and disk have a large impact on	the performance of a  computer system.</a:t>
            </a:r>
          </a:p>
          <a:p>
            <a:pPr marL="355600" marR="80010" indent="-343535">
              <a:lnSpc>
                <a:spcPct val="108000"/>
              </a:lnSpc>
              <a:spcBef>
                <a:spcPts val="480"/>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Memory latency – the amount of time it takes to transfer a word  of data to or from the memory.</a:t>
            </a:r>
          </a:p>
          <a:p>
            <a:pPr marL="355600" marR="196850" indent="-343535">
              <a:lnSpc>
                <a:spcPct val="108000"/>
              </a:lnSpc>
              <a:spcBef>
                <a:spcPts val="484"/>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Memory bandwidth – the number of bits or bytes that can be  transferred in one second. It is used to measure how much time  is needed to transfer an entire block of data.</a:t>
            </a:r>
          </a:p>
          <a:p>
            <a:pPr marL="355600" marR="5080" indent="-343535" algn="just">
              <a:lnSpc>
                <a:spcPct val="90000"/>
              </a:lnSpc>
              <a:spcBef>
                <a:spcPts val="445"/>
              </a:spcBef>
              <a:buClr>
                <a:schemeClr val="dk1"/>
              </a:buClr>
              <a:buSzPts val="2000"/>
              <a:buFont typeface="Noto Sans Symbols"/>
              <a:buChar char="❑"/>
            </a:pPr>
            <a:r>
              <a:rPr lang="en-US" sz="2400" dirty="0">
                <a:solidFill>
                  <a:schemeClr val="dk1"/>
                </a:solidFill>
                <a:latin typeface="Calibri" panose="020F0502020204030204" pitchFamily="34" charset="0"/>
                <a:ea typeface="Comic Sans MS"/>
                <a:cs typeface="Calibri" panose="020F0502020204030204" pitchFamily="34" charset="0"/>
                <a:sym typeface="Comic Sans MS"/>
              </a:rPr>
              <a:t>Bandwidth- is not determined solely by memory. It is the product  of the rate at which data are transferred (and accessed) and the  width of the data bus.</a:t>
            </a:r>
          </a:p>
          <a:p>
            <a:pPr marL="355600" marR="5080" indent="-343535">
              <a:buClr>
                <a:schemeClr val="dk1"/>
              </a:buClr>
              <a:buSzPts val="1800"/>
              <a:buFont typeface="Noto Sans Symbols"/>
              <a:buChar char="❑"/>
            </a:pPr>
            <a:r>
              <a:rPr lang="en-US" sz="2400" dirty="0">
                <a:solidFill>
                  <a:schemeClr val="dk1"/>
                </a:solidFill>
                <a:latin typeface="Comic Sans MS"/>
                <a:ea typeface="Comic Sans MS"/>
                <a:cs typeface="Comic Sans MS"/>
                <a:sym typeface="Comic Sans MS"/>
              </a:rPr>
              <a:t>Memory latency is the time it takes to transfer a word of data to  or from memory</a:t>
            </a:r>
          </a:p>
          <a:p>
            <a:pPr marL="355600" marR="417194" indent="-343535">
              <a:spcBef>
                <a:spcPts val="430"/>
              </a:spcBef>
              <a:buClr>
                <a:schemeClr val="dk1"/>
              </a:buClr>
              <a:buSzPts val="1800"/>
              <a:buFont typeface="Noto Sans Symbols"/>
              <a:buChar char="❑"/>
            </a:pPr>
            <a:r>
              <a:rPr lang="en-US" sz="2400" dirty="0">
                <a:solidFill>
                  <a:schemeClr val="dk1"/>
                </a:solidFill>
                <a:latin typeface="Comic Sans MS"/>
                <a:ea typeface="Comic Sans MS"/>
                <a:cs typeface="Comic Sans MS"/>
                <a:sym typeface="Comic Sans MS"/>
              </a:rPr>
              <a:t>Memory bandwidth is the number of bits or bytes that can be  transferred in one second.</a:t>
            </a:r>
          </a:p>
          <a:p>
            <a:pPr marL="355600" indent="-343535">
              <a:spcBef>
                <a:spcPts val="434"/>
              </a:spcBef>
              <a:buClr>
                <a:schemeClr val="dk1"/>
              </a:buClr>
              <a:buSzPts val="1800"/>
              <a:buFont typeface="Noto Sans Symbols"/>
              <a:buChar char="❑"/>
            </a:pPr>
            <a:r>
              <a:rPr lang="en-US" sz="2400" dirty="0">
                <a:solidFill>
                  <a:schemeClr val="dk1"/>
                </a:solidFill>
                <a:latin typeface="Comic Sans MS"/>
                <a:ea typeface="Comic Sans MS"/>
                <a:cs typeface="Comic Sans MS"/>
                <a:sym typeface="Comic Sans MS"/>
              </a:rPr>
              <a:t>DDRSDRAMs</a:t>
            </a:r>
          </a:p>
          <a:p>
            <a:pPr marL="756285" lvl="1" indent="-287019">
              <a:spcBef>
                <a:spcPts val="430"/>
              </a:spcBef>
              <a:buClr>
                <a:schemeClr val="dk1"/>
              </a:buClr>
              <a:buSzPts val="1450"/>
              <a:buFont typeface="Noto Sans Symbols"/>
              <a:buChar char="◆"/>
            </a:pPr>
            <a:r>
              <a:rPr lang="en-US" sz="2400" dirty="0">
                <a:solidFill>
                  <a:schemeClr val="dk1"/>
                </a:solidFill>
                <a:latin typeface="Comic Sans MS"/>
                <a:ea typeface="Comic Sans MS"/>
                <a:cs typeface="Comic Sans MS"/>
                <a:sym typeface="Comic Sans MS"/>
              </a:rPr>
              <a:t>Cell array is organized in two banks</a:t>
            </a:r>
          </a:p>
          <a:p>
            <a:pPr marL="355600" marR="5080" indent="-343535" algn="just">
              <a:lnSpc>
                <a:spcPct val="90000"/>
              </a:lnSpc>
              <a:spcBef>
                <a:spcPts val="445"/>
              </a:spcBef>
              <a:buClr>
                <a:schemeClr val="dk1"/>
              </a:buClr>
              <a:buSzPts val="2000"/>
              <a:buFont typeface="Noto Sans Symbols"/>
              <a:buChar char="❑"/>
            </a:pP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p:txBody>
      </p:sp>
    </p:spTree>
    <p:extLst>
      <p:ext uri="{BB962C8B-B14F-4D97-AF65-F5344CB8AC3E}">
        <p14:creationId xmlns:p14="http://schemas.microsoft.com/office/powerpoint/2010/main" val="1557799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17</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9984CBF0-73E0-468F-FB4E-ADC77732EAEA}"/>
              </a:ext>
            </a:extLst>
          </p:cNvPr>
          <p:cNvSpPr txBox="1"/>
          <p:nvPr/>
        </p:nvSpPr>
        <p:spPr>
          <a:xfrm>
            <a:off x="3722231" y="0"/>
            <a:ext cx="6098240" cy="584775"/>
          </a:xfrm>
          <a:prstGeom prst="rect">
            <a:avLst/>
          </a:prstGeom>
          <a:noFill/>
        </p:spPr>
        <p:txBody>
          <a:bodyPr wrap="square">
            <a:spAutoFit/>
          </a:bodyPr>
          <a:lstStyle/>
          <a:p>
            <a:r>
              <a:rPr lang="en-US" sz="3200" dirty="0">
                <a:solidFill>
                  <a:srgbClr val="FF0000"/>
                </a:solidFill>
              </a:rPr>
              <a:t>Double-Data-Rate SDRAM</a:t>
            </a:r>
          </a:p>
        </p:txBody>
      </p:sp>
      <p:sp>
        <p:nvSpPr>
          <p:cNvPr id="7" name="TextBox 6">
            <a:extLst>
              <a:ext uri="{FF2B5EF4-FFF2-40B4-BE49-F238E27FC236}">
                <a16:creationId xmlns:a16="http://schemas.microsoft.com/office/drawing/2014/main" id="{276C7C28-56E2-8C9B-81FB-F473970A78A7}"/>
              </a:ext>
            </a:extLst>
          </p:cNvPr>
          <p:cNvSpPr txBox="1"/>
          <p:nvPr/>
        </p:nvSpPr>
        <p:spPr>
          <a:xfrm>
            <a:off x="392805" y="487025"/>
            <a:ext cx="11406389" cy="6370975"/>
          </a:xfrm>
          <a:prstGeom prst="rect">
            <a:avLst/>
          </a:prstGeom>
          <a:noFill/>
        </p:spPr>
        <p:txBody>
          <a:bodyPr wrap="square">
            <a:spAutoFit/>
          </a:bodyPr>
          <a:lstStyle/>
          <a:p>
            <a:pPr algn="ctr"/>
            <a:r>
              <a:rPr lang="en-US" sz="2400" dirty="0"/>
              <a:t>In the continuous quest for improved performance, faster versions of SDRAMs have</a:t>
            </a:r>
          </a:p>
          <a:p>
            <a:pPr algn="ctr"/>
            <a:r>
              <a:rPr lang="en-US" sz="2400" dirty="0"/>
              <a:t>been developed. In addition to faster circuits, new organizational and operational features</a:t>
            </a:r>
          </a:p>
          <a:p>
            <a:pPr algn="ctr"/>
            <a:r>
              <a:rPr lang="en-US" sz="2400" dirty="0"/>
              <a:t>make it possible to achieve high data rates during block transfers. The key idea is to take</a:t>
            </a:r>
          </a:p>
          <a:p>
            <a:pPr algn="ctr"/>
            <a:r>
              <a:rPr lang="en-US" sz="2400" dirty="0"/>
              <a:t>advantage of the fact that a large number of bits are accessed at the same time inside the chip</a:t>
            </a:r>
          </a:p>
          <a:p>
            <a:pPr algn="ctr"/>
            <a:r>
              <a:rPr lang="en-US" sz="2400" dirty="0"/>
              <a:t>when a row address is applied. </a:t>
            </a:r>
          </a:p>
          <a:p>
            <a:pPr algn="ctr"/>
            <a:endParaRPr lang="en-US" sz="2400" dirty="0"/>
          </a:p>
          <a:p>
            <a:pPr algn="ctr"/>
            <a:r>
              <a:rPr lang="en-US" sz="2400" dirty="0"/>
              <a:t>Various techniques are used to transfer these bits quickly to</a:t>
            </a:r>
          </a:p>
          <a:p>
            <a:pPr algn="ctr"/>
            <a:r>
              <a:rPr lang="en-US" sz="2400" dirty="0"/>
              <a:t>the pins of the chip. To make the best use of the available clock speed, data are transferred</a:t>
            </a:r>
          </a:p>
          <a:p>
            <a:pPr algn="ctr"/>
            <a:r>
              <a:rPr lang="en-US" sz="2400" dirty="0"/>
              <a:t>externally on both the rising and falling edges of the clock. For this reason, memories that</a:t>
            </a:r>
          </a:p>
          <a:p>
            <a:pPr algn="ctr"/>
            <a:r>
              <a:rPr lang="en-US" sz="2400" dirty="0"/>
              <a:t>use this technique are called double-data-rate SDRAMs (DDR SDRAMs).</a:t>
            </a:r>
          </a:p>
          <a:p>
            <a:pPr algn="ctr"/>
            <a:endParaRPr lang="en-US" sz="2400" dirty="0"/>
          </a:p>
          <a:p>
            <a:pPr algn="ctr"/>
            <a:r>
              <a:rPr lang="en-US" sz="2400" dirty="0"/>
              <a:t>Several versions of DDR chips have been developed. The earliest version is known as</a:t>
            </a:r>
          </a:p>
          <a:p>
            <a:pPr algn="ctr"/>
            <a:r>
              <a:rPr lang="en-US" sz="2400" dirty="0"/>
              <a:t>DDR. Later versions, called DDR2, DDR3, and DDR4, have enhanced capabilities. They</a:t>
            </a:r>
          </a:p>
          <a:p>
            <a:pPr algn="ctr"/>
            <a:r>
              <a:rPr lang="en-US" sz="2400" dirty="0"/>
              <a:t>offer increased storage capacity, lower power, and faster clock speeds. For example, DDR2</a:t>
            </a:r>
          </a:p>
          <a:p>
            <a:pPr algn="ctr"/>
            <a:r>
              <a:rPr lang="en-US" sz="2400" dirty="0"/>
              <a:t>and DDR3 can operate at clock frequencies of 400 and 800 MHz, respectively. Therefore,</a:t>
            </a:r>
          </a:p>
          <a:p>
            <a:pPr algn="ctr"/>
            <a:r>
              <a:rPr lang="en-US" sz="2400" dirty="0"/>
              <a:t>they transfer data using the effective clock speeds of 800 and 1600 MHz, respectively.</a:t>
            </a:r>
            <a:endParaRPr lang="en-IN" sz="2400" dirty="0"/>
          </a:p>
        </p:txBody>
      </p:sp>
    </p:spTree>
    <p:extLst>
      <p:ext uri="{BB962C8B-B14F-4D97-AF65-F5344CB8AC3E}">
        <p14:creationId xmlns:p14="http://schemas.microsoft.com/office/powerpoint/2010/main" val="3184927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18</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1B412C55-E8FC-4366-6959-3CE725FE3A0F}"/>
              </a:ext>
            </a:extLst>
          </p:cNvPr>
          <p:cNvSpPr txBox="1"/>
          <p:nvPr/>
        </p:nvSpPr>
        <p:spPr>
          <a:xfrm>
            <a:off x="451834" y="520511"/>
            <a:ext cx="4919729" cy="5816977"/>
          </a:xfrm>
          <a:prstGeom prst="rect">
            <a:avLst/>
          </a:prstGeom>
          <a:noFill/>
        </p:spPr>
        <p:txBody>
          <a:bodyPr wrap="square" rtlCol="0">
            <a:spAutoFit/>
          </a:bodyPr>
          <a:lstStyle/>
          <a:p>
            <a:r>
              <a:rPr lang="en-IN" sz="2400" dirty="0">
                <a:solidFill>
                  <a:srgbClr val="FF0000"/>
                </a:solidFill>
              </a:rPr>
              <a:t>Design a 1024 x 8 RAM using 256 x 8 RAM CHIPS</a:t>
            </a:r>
          </a:p>
          <a:p>
            <a:endParaRPr lang="en-IN" dirty="0"/>
          </a:p>
          <a:p>
            <a:r>
              <a:rPr lang="en-IN" dirty="0"/>
              <a:t>Number of Chips =</a:t>
            </a:r>
          </a:p>
          <a:p>
            <a:r>
              <a:rPr lang="en-IN" sz="2400" dirty="0"/>
              <a:t>(1024 x 8) / (256x8) </a:t>
            </a:r>
          </a:p>
          <a:p>
            <a:r>
              <a:rPr lang="en-IN" sz="2400" dirty="0"/>
              <a:t>2</a:t>
            </a:r>
            <a:r>
              <a:rPr lang="en-IN" sz="2400" b="1" dirty="0">
                <a:effectLst/>
                <a:ea typeface="Calibri" panose="020F0502020204030204" pitchFamily="34" charset="0"/>
                <a:cs typeface="Times New Roman" panose="02020603050405020304" pitchFamily="18" charset="0"/>
              </a:rPr>
              <a:t>^10 x 8 /  2^8 x 8</a:t>
            </a:r>
          </a:p>
          <a:p>
            <a:r>
              <a:rPr lang="en-IN" sz="2400" b="1" dirty="0">
                <a:cs typeface="Times New Roman" panose="02020603050405020304" pitchFamily="18" charset="0"/>
              </a:rPr>
              <a:t>2</a:t>
            </a:r>
            <a:r>
              <a:rPr lang="en-IN" sz="2400" b="1" dirty="0">
                <a:effectLst/>
                <a:ea typeface="Calibri" panose="020F0502020204030204" pitchFamily="34" charset="0"/>
                <a:cs typeface="Times New Roman" panose="02020603050405020304" pitchFamily="18" charset="0"/>
              </a:rPr>
              <a:t>^</a:t>
            </a:r>
            <a:r>
              <a:rPr lang="en-IN" sz="2400" b="1" dirty="0">
                <a:ea typeface="Calibri" panose="020F0502020204030204" pitchFamily="34" charset="0"/>
                <a:cs typeface="Times New Roman" panose="02020603050405020304" pitchFamily="18" charset="0"/>
              </a:rPr>
              <a:t>2 = 4 chips of 256x8 are required, they are organized as follows, shown in figure -&gt;</a:t>
            </a:r>
          </a:p>
          <a:p>
            <a:endParaRPr lang="en-IN" sz="2400" b="1" dirty="0">
              <a:cs typeface="Times New Roman" panose="02020603050405020304" pitchFamily="18" charset="0"/>
            </a:endParaRPr>
          </a:p>
          <a:p>
            <a:r>
              <a:rPr lang="en-IN" sz="2400" b="1" dirty="0">
                <a:cs typeface="Times New Roman" panose="02020603050405020304" pitchFamily="18" charset="0"/>
              </a:rPr>
              <a:t>Decoder = 2</a:t>
            </a:r>
            <a:r>
              <a:rPr lang="en-IN" sz="2400" b="1" dirty="0">
                <a:effectLst/>
                <a:ea typeface="Calibri" panose="020F0502020204030204" pitchFamily="34" charset="0"/>
                <a:cs typeface="Times New Roman" panose="02020603050405020304" pitchFamily="18" charset="0"/>
              </a:rPr>
              <a:t>^2 = 4, hence 2 to 4 line decoder required, to select one of the four chips, at a time.</a:t>
            </a:r>
          </a:p>
          <a:p>
            <a:endParaRPr lang="en-IN" sz="2400" b="1" dirty="0">
              <a:cs typeface="Times New Roman" panose="02020603050405020304" pitchFamily="18" charset="0"/>
            </a:endParaRPr>
          </a:p>
          <a:p>
            <a:r>
              <a:rPr lang="en-IN" sz="2400" b="1" dirty="0">
                <a:cs typeface="Times New Roman" panose="02020603050405020304" pitchFamily="18" charset="0"/>
              </a:rPr>
              <a:t>No. of address lines =10bits,   because  2</a:t>
            </a:r>
            <a:r>
              <a:rPr lang="en-IN" sz="2400" b="1" dirty="0">
                <a:effectLst/>
                <a:ea typeface="Calibri" panose="020F0502020204030204" pitchFamily="34" charset="0"/>
                <a:cs typeface="Times New Roman" panose="02020603050405020304" pitchFamily="18" charset="0"/>
              </a:rPr>
              <a:t>^10 = 1024 </a:t>
            </a:r>
            <a:endParaRPr lang="en-IN" sz="2400" dirty="0"/>
          </a:p>
        </p:txBody>
      </p:sp>
      <p:pic>
        <p:nvPicPr>
          <p:cNvPr id="5" name="Picture 4">
            <a:extLst>
              <a:ext uri="{FF2B5EF4-FFF2-40B4-BE49-F238E27FC236}">
                <a16:creationId xmlns:a16="http://schemas.microsoft.com/office/drawing/2014/main" id="{9CDC5FAA-4352-B9F9-42BB-4FC018F14344}"/>
              </a:ext>
            </a:extLst>
          </p:cNvPr>
          <p:cNvPicPr>
            <a:picLocks noChangeAspect="1"/>
          </p:cNvPicPr>
          <p:nvPr/>
        </p:nvPicPr>
        <p:blipFill>
          <a:blip r:embed="rId2"/>
          <a:stretch>
            <a:fillRect/>
          </a:stretch>
        </p:blipFill>
        <p:spPr>
          <a:xfrm>
            <a:off x="5214433" y="557256"/>
            <a:ext cx="6977567" cy="5539978"/>
          </a:xfrm>
          <a:prstGeom prst="rect">
            <a:avLst/>
          </a:prstGeom>
        </p:spPr>
      </p:pic>
    </p:spTree>
    <p:extLst>
      <p:ext uri="{BB962C8B-B14F-4D97-AF65-F5344CB8AC3E}">
        <p14:creationId xmlns:p14="http://schemas.microsoft.com/office/powerpoint/2010/main" val="1536198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FC4D5C7B-09DA-7DED-6B90-5A656113ECA4}"/>
              </a:ext>
            </a:extLst>
          </p:cNvPr>
          <p:cNvSpPr txBox="1"/>
          <p:nvPr/>
        </p:nvSpPr>
        <p:spPr>
          <a:xfrm>
            <a:off x="203915" y="540913"/>
            <a:ext cx="5847009" cy="4154984"/>
          </a:xfrm>
          <a:prstGeom prst="rect">
            <a:avLst/>
          </a:prstGeom>
          <a:noFill/>
        </p:spPr>
        <p:txBody>
          <a:bodyPr wrap="square" rtlCol="0">
            <a:spAutoFit/>
          </a:bodyPr>
          <a:lstStyle/>
          <a:p>
            <a:r>
              <a:rPr lang="en-US" sz="2400" dirty="0">
                <a:solidFill>
                  <a:srgbClr val="FF0000"/>
                </a:solidFill>
              </a:rPr>
              <a:t>Draw the block diagram for 8M x 32 memory using 512K x 8 memory </a:t>
            </a:r>
          </a:p>
          <a:p>
            <a:r>
              <a:rPr lang="en-US" sz="2400" dirty="0">
                <a:solidFill>
                  <a:srgbClr val="FF0000"/>
                </a:solidFill>
              </a:rPr>
              <a:t>chips. Show the calculations and all the necessary signals.</a:t>
            </a:r>
          </a:p>
          <a:p>
            <a:endParaRPr lang="en-US" sz="2400" dirty="0">
              <a:solidFill>
                <a:srgbClr val="FF0000"/>
              </a:solidFill>
            </a:endParaRPr>
          </a:p>
          <a:p>
            <a:endParaRPr lang="en-US" sz="2400" dirty="0">
              <a:solidFill>
                <a:srgbClr val="FF0000"/>
              </a:solidFill>
            </a:endParaRPr>
          </a:p>
          <a:p>
            <a:r>
              <a:rPr lang="en-US" sz="2400" dirty="0"/>
              <a:t>8 M / 512 K = 16 ROWS </a:t>
            </a:r>
          </a:p>
          <a:p>
            <a:r>
              <a:rPr lang="en-US" sz="2400" dirty="0"/>
              <a:t>32 / 8 = 4 COLUMNS</a:t>
            </a:r>
          </a:p>
          <a:p>
            <a:r>
              <a:rPr lang="en-US" sz="2400" dirty="0"/>
              <a:t>HENCE,</a:t>
            </a:r>
          </a:p>
          <a:p>
            <a:r>
              <a:rPr lang="en-US" sz="2400" dirty="0"/>
              <a:t>WE REQUIRE 16 X 4 = </a:t>
            </a:r>
          </a:p>
          <a:p>
            <a:r>
              <a:rPr lang="en-US" sz="2400" dirty="0"/>
              <a:t>64 UNITS/CHIPS OF 512 K X 8 MEMORY</a:t>
            </a:r>
            <a:endParaRPr lang="en-IN" sz="2400" dirty="0"/>
          </a:p>
        </p:txBody>
      </p:sp>
      <p:pic>
        <p:nvPicPr>
          <p:cNvPr id="5" name="Picture 4">
            <a:extLst>
              <a:ext uri="{FF2B5EF4-FFF2-40B4-BE49-F238E27FC236}">
                <a16:creationId xmlns:a16="http://schemas.microsoft.com/office/drawing/2014/main" id="{920DFFD3-5539-0B10-FC43-81F8A25F972F}"/>
              </a:ext>
            </a:extLst>
          </p:cNvPr>
          <p:cNvPicPr>
            <a:picLocks noChangeAspect="1"/>
          </p:cNvPicPr>
          <p:nvPr/>
        </p:nvPicPr>
        <p:blipFill>
          <a:blip r:embed="rId2"/>
          <a:stretch>
            <a:fillRect/>
          </a:stretch>
        </p:blipFill>
        <p:spPr>
          <a:xfrm>
            <a:off x="5858871" y="1236373"/>
            <a:ext cx="6129214" cy="3581466"/>
          </a:xfrm>
          <a:prstGeom prst="rect">
            <a:avLst/>
          </a:prstGeom>
        </p:spPr>
      </p:pic>
    </p:spTree>
    <p:extLst>
      <p:ext uri="{BB962C8B-B14F-4D97-AF65-F5344CB8AC3E}">
        <p14:creationId xmlns:p14="http://schemas.microsoft.com/office/powerpoint/2010/main" val="283122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20</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A5B74E2C-3417-609F-4273-E93614996A8C}"/>
              </a:ext>
            </a:extLst>
          </p:cNvPr>
          <p:cNvSpPr txBox="1"/>
          <p:nvPr/>
        </p:nvSpPr>
        <p:spPr>
          <a:xfrm>
            <a:off x="667555" y="978794"/>
            <a:ext cx="10856890" cy="4524315"/>
          </a:xfrm>
          <a:prstGeom prst="rect">
            <a:avLst/>
          </a:prstGeom>
          <a:noFill/>
        </p:spPr>
        <p:txBody>
          <a:bodyPr wrap="square">
            <a:spAutoFit/>
          </a:bodyPr>
          <a:lstStyle/>
          <a:p>
            <a:pPr algn="just">
              <a:tabLst>
                <a:tab pos="90170" algn="l"/>
                <a:tab pos="270510" algn="l"/>
                <a:tab pos="450215" algn="l"/>
              </a:tabLst>
            </a:pPr>
            <a:r>
              <a:rPr lang="en-IN" sz="2400" dirty="0">
                <a:solidFill>
                  <a:srgbClr val="FF0000"/>
                </a:solidFill>
                <a:effectLst/>
                <a:ea typeface="Calibri" panose="020F0502020204030204" pitchFamily="34" charset="0"/>
                <a:cs typeface="Times New Roman" panose="02020603050405020304" pitchFamily="18" charset="0"/>
              </a:rPr>
              <a:t>For designing 1M x 8 size RAM chip using 256Kx8 RAM chip, how many 256Kx8 RAM chips are required and also specify the number of address bits.</a:t>
            </a:r>
            <a:endParaRPr lang="en-IN" sz="2400" dirty="0">
              <a:solidFill>
                <a:srgbClr val="FF0000"/>
              </a:solidFill>
              <a:effectLst/>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IN" sz="2400" dirty="0">
                <a:effectLst/>
                <a:ea typeface="Calibri" panose="020F0502020204030204" pitchFamily="34" charset="0"/>
                <a:cs typeface="Times New Roman" panose="02020603050405020304" pitchFamily="18" charset="0"/>
              </a:rPr>
              <a:t> 1M – 1024 x 1024, 1k = 1024</a:t>
            </a:r>
            <a:endParaRPr lang="en-IN" sz="2400" dirty="0">
              <a:effectLst/>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IN" sz="2400" b="1" dirty="0">
                <a:effectLst/>
                <a:ea typeface="Calibri" panose="020F0502020204030204" pitchFamily="34" charset="0"/>
                <a:cs typeface="Times New Roman" panose="02020603050405020304" pitchFamily="18" charset="0"/>
              </a:rPr>
              <a:t>1x1024x1024 / 256 x 1024  = 4 chips                            </a:t>
            </a:r>
            <a:endParaRPr lang="en-IN" sz="2400" dirty="0">
              <a:effectLst/>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IN" sz="2400" b="1" dirty="0">
                <a:effectLst/>
                <a:ea typeface="Calibri" panose="020F0502020204030204" pitchFamily="34" charset="0"/>
                <a:cs typeface="Times New Roman" panose="02020603050405020304" pitchFamily="18" charset="0"/>
              </a:rPr>
              <a:t>No. address bits for each chip = 18   (2^18 = 256K)</a:t>
            </a:r>
            <a:endParaRPr lang="en-IN" sz="2400" dirty="0">
              <a:effectLst/>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IN" sz="2400" b="1" dirty="0">
                <a:effectLst/>
                <a:ea typeface="Calibri" panose="020F0502020204030204" pitchFamily="34" charset="0"/>
                <a:cs typeface="Times New Roman" panose="02020603050405020304" pitchFamily="18" charset="0"/>
              </a:rPr>
              <a:t>No. address bits for full size = 20 (2^20 = 1M)</a:t>
            </a:r>
          </a:p>
          <a:p>
            <a:pPr algn="just">
              <a:tabLst>
                <a:tab pos="90170" algn="l"/>
                <a:tab pos="270510" algn="l"/>
                <a:tab pos="450215" algn="l"/>
              </a:tabLst>
            </a:pPr>
            <a:endParaRPr lang="en-IN" sz="2400" b="1" dirty="0">
              <a:ea typeface="Times New Roman" panose="02020603050405020304" pitchFamily="18" charset="0"/>
              <a:cs typeface="Times New Roman" panose="02020603050405020304" pitchFamily="18" charset="0"/>
            </a:endParaRPr>
          </a:p>
          <a:p>
            <a:pPr algn="just">
              <a:tabLst>
                <a:tab pos="90170" algn="l"/>
                <a:tab pos="270510" algn="l"/>
                <a:tab pos="450215" algn="l"/>
              </a:tabLst>
            </a:pPr>
            <a:endParaRPr lang="en-IN" sz="2400" b="1" dirty="0">
              <a:effectLst/>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US" sz="2400" dirty="0">
                <a:solidFill>
                  <a:srgbClr val="FF0000"/>
                </a:solidFill>
                <a:effectLst/>
                <a:ea typeface="Times New Roman" panose="02020603050405020304" pitchFamily="18" charset="0"/>
                <a:cs typeface="Times New Roman" panose="02020603050405020304" pitchFamily="18" charset="0"/>
              </a:rPr>
              <a:t>Intel 8086 Microprocessor supports 1Mbyte memory (byte addressable), indicate how many address lines are provided by the chip.</a:t>
            </a:r>
          </a:p>
          <a:p>
            <a:pPr algn="just">
              <a:tabLst>
                <a:tab pos="90170" algn="l"/>
                <a:tab pos="270510" algn="l"/>
                <a:tab pos="450215" algn="l"/>
              </a:tabLst>
            </a:pPr>
            <a:endParaRPr lang="en-US" sz="2400" dirty="0">
              <a:solidFill>
                <a:srgbClr val="FF0000"/>
              </a:solidFill>
              <a:ea typeface="Times New Roman" panose="02020603050405020304" pitchFamily="18" charset="0"/>
              <a:cs typeface="Times New Roman" panose="02020603050405020304" pitchFamily="18" charset="0"/>
            </a:endParaRPr>
          </a:p>
          <a:p>
            <a:pPr algn="just">
              <a:tabLst>
                <a:tab pos="90170" algn="l"/>
                <a:tab pos="270510" algn="l"/>
                <a:tab pos="450215" algn="l"/>
              </a:tabLst>
            </a:pPr>
            <a:r>
              <a:rPr lang="en-US" sz="2400" dirty="0">
                <a:effectLst/>
                <a:ea typeface="Times New Roman" panose="02020603050405020304" pitchFamily="18" charset="0"/>
                <a:cs typeface="Times New Roman" panose="02020603050405020304" pitchFamily="18" charset="0"/>
              </a:rPr>
              <a:t>2</a:t>
            </a:r>
            <a:r>
              <a:rPr lang="en-IN" sz="2400" b="1" dirty="0">
                <a:effectLst/>
                <a:ea typeface="Calibri" panose="020F0502020204030204" pitchFamily="34" charset="0"/>
                <a:cs typeface="Times New Roman" panose="02020603050405020304" pitchFamily="18" charset="0"/>
              </a:rPr>
              <a:t>^20 = 1Mbyte,   Hence Intel 8086 Provides 20 address lines</a:t>
            </a:r>
            <a:endParaRPr lang="en-IN" sz="24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597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21</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208A0334-A638-03E7-8216-D70867BC0BEF}"/>
              </a:ext>
            </a:extLst>
          </p:cNvPr>
          <p:cNvSpPr txBox="1"/>
          <p:nvPr/>
        </p:nvSpPr>
        <p:spPr>
          <a:xfrm>
            <a:off x="296214" y="136525"/>
            <a:ext cx="11526592" cy="1477328"/>
          </a:xfrm>
          <a:prstGeom prst="rect">
            <a:avLst/>
          </a:prstGeom>
          <a:noFill/>
        </p:spPr>
        <p:txBody>
          <a:bodyPr wrap="square">
            <a:spAutoFit/>
          </a:bodyPr>
          <a:lstStyle/>
          <a:p>
            <a:r>
              <a:rPr lang="en-US" sz="2400" b="1" dirty="0">
                <a:solidFill>
                  <a:srgbClr val="FF0000"/>
                </a:solidFill>
              </a:rPr>
              <a:t>Design 256x16 RAM Memory using 16x4 RAM chips by showing all the steps and draw the organization of the memory chips.</a:t>
            </a:r>
          </a:p>
          <a:p>
            <a:r>
              <a:rPr lang="en-US" sz="2400" dirty="0"/>
              <a:t> </a:t>
            </a:r>
          </a:p>
          <a:p>
            <a:r>
              <a:rPr lang="en-US" dirty="0"/>
              <a:t> </a:t>
            </a:r>
          </a:p>
        </p:txBody>
      </p:sp>
      <p:graphicFrame>
        <p:nvGraphicFramePr>
          <p:cNvPr id="5" name="Object 4">
            <a:extLst>
              <a:ext uri="{FF2B5EF4-FFF2-40B4-BE49-F238E27FC236}">
                <a16:creationId xmlns:a16="http://schemas.microsoft.com/office/drawing/2014/main" id="{B94FCE28-C788-F863-AFAF-92FD57A23D5E}"/>
              </a:ext>
            </a:extLst>
          </p:cNvPr>
          <p:cNvGraphicFramePr>
            <a:graphicFrameLocks noChangeAspect="1"/>
          </p:cNvGraphicFramePr>
          <p:nvPr>
            <p:extLst>
              <p:ext uri="{D42A27DB-BD31-4B8C-83A1-F6EECF244321}">
                <p14:modId xmlns:p14="http://schemas.microsoft.com/office/powerpoint/2010/main" val="1076242915"/>
              </p:ext>
            </p:extLst>
          </p:nvPr>
        </p:nvGraphicFramePr>
        <p:xfrm>
          <a:off x="515155" y="1728548"/>
          <a:ext cx="5919951" cy="2431328"/>
        </p:xfrm>
        <a:graphic>
          <a:graphicData uri="http://schemas.openxmlformats.org/presentationml/2006/ole">
            <mc:AlternateContent xmlns:mc="http://schemas.openxmlformats.org/markup-compatibility/2006">
              <mc:Choice xmlns:v="urn:schemas-microsoft-com:vml" Requires="v">
                <p:oleObj name="Bitmap Image" r:id="rId2" imgW="8123810" imgH="1666667" progId="Paint.Picture">
                  <p:embed/>
                </p:oleObj>
              </mc:Choice>
              <mc:Fallback>
                <p:oleObj name="Bitmap Image" r:id="rId2" imgW="8123810" imgH="1666667" progId="Paint.Picture">
                  <p:embed/>
                  <p:pic>
                    <p:nvPicPr>
                      <p:cNvPr id="11" name="Object 10">
                        <a:extLst>
                          <a:ext uri="{FF2B5EF4-FFF2-40B4-BE49-F238E27FC236}">
                            <a16:creationId xmlns:a16="http://schemas.microsoft.com/office/drawing/2014/main" id="{B8313B0F-3DF3-08EE-E93D-ECD1D2921E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155" y="1728548"/>
                        <a:ext cx="5919951" cy="2431328"/>
                      </a:xfrm>
                      <a:prstGeom prst="rect">
                        <a:avLst/>
                      </a:prstGeom>
                      <a:noFill/>
                    </p:spPr>
                  </p:pic>
                </p:oleObj>
              </mc:Fallback>
            </mc:AlternateContent>
          </a:graphicData>
        </a:graphic>
      </p:graphicFrame>
      <p:pic>
        <p:nvPicPr>
          <p:cNvPr id="6" name="Picture 5">
            <a:extLst>
              <a:ext uri="{FF2B5EF4-FFF2-40B4-BE49-F238E27FC236}">
                <a16:creationId xmlns:a16="http://schemas.microsoft.com/office/drawing/2014/main" id="{5E7573C9-6AE7-8B1C-AC87-E69999111D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17420" y="1125313"/>
            <a:ext cx="4359425" cy="5008912"/>
          </a:xfrm>
          <a:prstGeom prst="rect">
            <a:avLst/>
          </a:prstGeom>
        </p:spPr>
      </p:pic>
    </p:spTree>
    <p:extLst>
      <p:ext uri="{BB962C8B-B14F-4D97-AF65-F5344CB8AC3E}">
        <p14:creationId xmlns:p14="http://schemas.microsoft.com/office/powerpoint/2010/main" val="3759217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46"/>
          <p:cNvSpPr txBox="1">
            <a:spLocks noGrp="1"/>
          </p:cNvSpPr>
          <p:nvPr>
            <p:ph type="title"/>
          </p:nvPr>
        </p:nvSpPr>
        <p:spPr>
          <a:xfrm>
            <a:off x="2738475" y="589229"/>
            <a:ext cx="6715048" cy="391794"/>
          </a:xfrm>
          <a:prstGeom prst="rect">
            <a:avLst/>
          </a:prstGeom>
          <a:noFill/>
          <a:ln>
            <a:noFill/>
          </a:ln>
        </p:spPr>
        <p:txBody>
          <a:bodyPr spcFirstLastPara="1" wrap="square" lIns="0" tIns="12700" rIns="0" bIns="0" anchor="t" anchorCtr="0">
            <a:spAutoFit/>
          </a:bodyPr>
          <a:lstStyle/>
          <a:p>
            <a:pPr marL="20320"/>
            <a:r>
              <a:rPr lang="en-US"/>
              <a:t>Structure of large	memories: Static memories</a:t>
            </a:r>
            <a:endParaRPr/>
          </a:p>
        </p:txBody>
      </p:sp>
      <p:grpSp>
        <p:nvGrpSpPr>
          <p:cNvPr id="1247" name="Google Shape;1247;p46"/>
          <p:cNvGrpSpPr/>
          <p:nvPr/>
        </p:nvGrpSpPr>
        <p:grpSpPr>
          <a:xfrm>
            <a:off x="2230070" y="1822069"/>
            <a:ext cx="3944417" cy="2326640"/>
            <a:chOff x="706069" y="1822069"/>
            <a:chExt cx="3944417" cy="2326640"/>
          </a:xfrm>
        </p:grpSpPr>
        <p:sp>
          <p:nvSpPr>
            <p:cNvPr id="1248" name="Google Shape;1248;p46"/>
            <p:cNvSpPr/>
            <p:nvPr/>
          </p:nvSpPr>
          <p:spPr>
            <a:xfrm>
              <a:off x="4352036" y="2909188"/>
              <a:ext cx="298450" cy="687070"/>
            </a:xfrm>
            <a:custGeom>
              <a:avLst/>
              <a:gdLst/>
              <a:ahLst/>
              <a:cxnLst/>
              <a:rect l="l" t="t" r="r" b="b"/>
              <a:pathLst>
                <a:path w="298450" h="687070" extrusionOk="0">
                  <a:moveTo>
                    <a:pt x="297941" y="0"/>
                  </a:moveTo>
                  <a:lnTo>
                    <a:pt x="297941" y="126364"/>
                  </a:lnTo>
                  <a:lnTo>
                    <a:pt x="0" y="126364"/>
                  </a:lnTo>
                </a:path>
                <a:path w="298450" h="687070" extrusionOk="0">
                  <a:moveTo>
                    <a:pt x="297941" y="562101"/>
                  </a:moveTo>
                  <a:lnTo>
                    <a:pt x="297941" y="686943"/>
                  </a:lnTo>
                  <a:lnTo>
                    <a:pt x="0" y="686943"/>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49" name="Google Shape;1249;p46"/>
            <p:cNvSpPr/>
            <p:nvPr/>
          </p:nvSpPr>
          <p:spPr>
            <a:xfrm>
              <a:off x="1618361" y="3584829"/>
              <a:ext cx="100965" cy="1905"/>
            </a:xfrm>
            <a:custGeom>
              <a:avLst/>
              <a:gdLst/>
              <a:ahLst/>
              <a:cxnLst/>
              <a:rect l="l" t="t" r="r" b="b"/>
              <a:pathLst>
                <a:path w="100964" h="1904" extrusionOk="0">
                  <a:moveTo>
                    <a:pt x="-6350" y="698"/>
                  </a:moveTo>
                  <a:lnTo>
                    <a:pt x="107187" y="698"/>
                  </a:lnTo>
                </a:path>
              </a:pathLst>
            </a:custGeom>
            <a:noFill/>
            <a:ln w="140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0" name="Google Shape;1250;p46"/>
            <p:cNvSpPr/>
            <p:nvPr/>
          </p:nvSpPr>
          <p:spPr>
            <a:xfrm>
              <a:off x="1433448" y="3333622"/>
              <a:ext cx="185420" cy="813435"/>
            </a:xfrm>
            <a:custGeom>
              <a:avLst/>
              <a:gdLst/>
              <a:ahLst/>
              <a:cxnLst/>
              <a:rect l="l" t="t" r="r" b="b"/>
              <a:pathLst>
                <a:path w="185419" h="813435" extrusionOk="0">
                  <a:moveTo>
                    <a:pt x="0" y="56768"/>
                  </a:moveTo>
                  <a:lnTo>
                    <a:pt x="123825" y="56768"/>
                  </a:lnTo>
                  <a:lnTo>
                    <a:pt x="123825" y="813181"/>
                  </a:lnTo>
                </a:path>
                <a:path w="185419" h="813435" extrusionOk="0">
                  <a:moveTo>
                    <a:pt x="0" y="0"/>
                  </a:moveTo>
                  <a:lnTo>
                    <a:pt x="184912" y="0"/>
                  </a:lnTo>
                  <a:lnTo>
                    <a:pt x="184912" y="251205"/>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1" name="Google Shape;1251;p46"/>
            <p:cNvSpPr/>
            <p:nvPr/>
          </p:nvSpPr>
          <p:spPr>
            <a:xfrm>
              <a:off x="1618361" y="3024124"/>
              <a:ext cx="99695" cy="1905"/>
            </a:xfrm>
            <a:custGeom>
              <a:avLst/>
              <a:gdLst/>
              <a:ahLst/>
              <a:cxnLst/>
              <a:rect l="l" t="t" r="r" b="b"/>
              <a:pathLst>
                <a:path w="99694" h="1905" extrusionOk="0">
                  <a:moveTo>
                    <a:pt x="-6350" y="762"/>
                  </a:moveTo>
                  <a:lnTo>
                    <a:pt x="105663" y="762"/>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2" name="Google Shape;1252;p46"/>
            <p:cNvSpPr/>
            <p:nvPr/>
          </p:nvSpPr>
          <p:spPr>
            <a:xfrm>
              <a:off x="1309623" y="2474976"/>
              <a:ext cx="414655" cy="1076325"/>
            </a:xfrm>
            <a:custGeom>
              <a:avLst/>
              <a:gdLst/>
              <a:ahLst/>
              <a:cxnLst/>
              <a:rect l="l" t="t" r="r" b="b"/>
              <a:pathLst>
                <a:path w="414655" h="1076325" extrusionOk="0">
                  <a:moveTo>
                    <a:pt x="123825" y="813181"/>
                  </a:moveTo>
                  <a:lnTo>
                    <a:pt x="308737" y="813181"/>
                  </a:lnTo>
                  <a:lnTo>
                    <a:pt x="308737" y="549148"/>
                  </a:lnTo>
                </a:path>
                <a:path w="414655" h="1076325" extrusionOk="0">
                  <a:moveTo>
                    <a:pt x="414146" y="0"/>
                  </a:moveTo>
                  <a:lnTo>
                    <a:pt x="247522" y="1397"/>
                  </a:lnTo>
                </a:path>
                <a:path w="414655" h="1076325" extrusionOk="0">
                  <a:moveTo>
                    <a:pt x="123825" y="755014"/>
                  </a:moveTo>
                  <a:lnTo>
                    <a:pt x="247650" y="755014"/>
                  </a:lnTo>
                  <a:lnTo>
                    <a:pt x="247650" y="0"/>
                  </a:lnTo>
                </a:path>
                <a:path w="414655" h="1076325" extrusionOk="0">
                  <a:moveTo>
                    <a:pt x="12318" y="1075816"/>
                  </a:moveTo>
                  <a:lnTo>
                    <a:pt x="0" y="1053084"/>
                  </a:lnTo>
                  <a:lnTo>
                    <a:pt x="0" y="1075816"/>
                  </a:lnTo>
                  <a:lnTo>
                    <a:pt x="12318" y="1075816"/>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3" name="Google Shape;1253;p46"/>
            <p:cNvSpPr/>
            <p:nvPr/>
          </p:nvSpPr>
          <p:spPr>
            <a:xfrm>
              <a:off x="1309623" y="3528060"/>
              <a:ext cx="12700" cy="22860"/>
            </a:xfrm>
            <a:custGeom>
              <a:avLst/>
              <a:gdLst/>
              <a:ahLst/>
              <a:cxnLst/>
              <a:rect l="l" t="t" r="r" b="b"/>
              <a:pathLst>
                <a:path w="12700" h="22860" extrusionOk="0">
                  <a:moveTo>
                    <a:pt x="0" y="0"/>
                  </a:moveTo>
                  <a:lnTo>
                    <a:pt x="0" y="22732"/>
                  </a:lnTo>
                  <a:lnTo>
                    <a:pt x="12318" y="22732"/>
                  </a:lnTo>
                  <a:lnTo>
                    <a:pt x="0" y="0"/>
                  </a:lnTo>
                  <a:close/>
                </a:path>
              </a:pathLst>
            </a:custGeom>
            <a:solidFill>
              <a:srgbClr val="000000"/>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4" name="Google Shape;1254;p46"/>
            <p:cNvSpPr/>
            <p:nvPr/>
          </p:nvSpPr>
          <p:spPr>
            <a:xfrm>
              <a:off x="1309623" y="3528060"/>
              <a:ext cx="12700" cy="22860"/>
            </a:xfrm>
            <a:custGeom>
              <a:avLst/>
              <a:gdLst/>
              <a:ahLst/>
              <a:cxnLst/>
              <a:rect l="l" t="t" r="r" b="b"/>
              <a:pathLst>
                <a:path w="12700" h="22860" extrusionOk="0">
                  <a:moveTo>
                    <a:pt x="12318" y="22732"/>
                  </a:moveTo>
                  <a:lnTo>
                    <a:pt x="0" y="0"/>
                  </a:lnTo>
                  <a:lnTo>
                    <a:pt x="0" y="22732"/>
                  </a:lnTo>
                  <a:lnTo>
                    <a:pt x="12318" y="2273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5" name="Google Shape;1255;p46"/>
            <p:cNvSpPr/>
            <p:nvPr/>
          </p:nvSpPr>
          <p:spPr>
            <a:xfrm>
              <a:off x="1187411" y="3139122"/>
              <a:ext cx="246379" cy="343535"/>
            </a:xfrm>
            <a:custGeom>
              <a:avLst/>
              <a:gdLst/>
              <a:ahLst/>
              <a:cxnLst/>
              <a:rect l="l" t="t" r="r" b="b"/>
              <a:pathLst>
                <a:path w="246380" h="343535" extrusionOk="0">
                  <a:moveTo>
                    <a:pt x="0" y="343471"/>
                  </a:moveTo>
                  <a:lnTo>
                    <a:pt x="246024" y="343471"/>
                  </a:lnTo>
                  <a:lnTo>
                    <a:pt x="246024" y="0"/>
                  </a:lnTo>
                  <a:lnTo>
                    <a:pt x="0" y="0"/>
                  </a:lnTo>
                  <a:lnTo>
                    <a:pt x="0" y="343471"/>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6" name="Google Shape;1256;p46"/>
            <p:cNvSpPr/>
            <p:nvPr/>
          </p:nvSpPr>
          <p:spPr>
            <a:xfrm>
              <a:off x="2455672" y="4146804"/>
              <a:ext cx="963294" cy="1905"/>
            </a:xfrm>
            <a:custGeom>
              <a:avLst/>
              <a:gdLst/>
              <a:ahLst/>
              <a:cxnLst/>
              <a:rect l="l" t="t" r="r" b="b"/>
              <a:pathLst>
                <a:path w="963295" h="1904" extrusionOk="0">
                  <a:moveTo>
                    <a:pt x="962787" y="0"/>
                  </a:moveTo>
                  <a:lnTo>
                    <a:pt x="0" y="139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7" name="Google Shape;1257;p46"/>
            <p:cNvSpPr/>
            <p:nvPr/>
          </p:nvSpPr>
          <p:spPr>
            <a:xfrm>
              <a:off x="1557147" y="4146804"/>
              <a:ext cx="898525" cy="1905"/>
            </a:xfrm>
            <a:custGeom>
              <a:avLst/>
              <a:gdLst/>
              <a:ahLst/>
              <a:cxnLst/>
              <a:rect l="l" t="t" r="r" b="b"/>
              <a:pathLst>
                <a:path w="898525" h="1904" extrusionOk="0">
                  <a:moveTo>
                    <a:pt x="898525" y="0"/>
                  </a:moveTo>
                  <a:lnTo>
                    <a:pt x="0" y="139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8" name="Google Shape;1258;p46"/>
            <p:cNvSpPr/>
            <p:nvPr/>
          </p:nvSpPr>
          <p:spPr>
            <a:xfrm>
              <a:off x="1827657" y="2472055"/>
              <a:ext cx="1604645" cy="4445"/>
            </a:xfrm>
            <a:custGeom>
              <a:avLst/>
              <a:gdLst/>
              <a:ahLst/>
              <a:cxnLst/>
              <a:rect l="l" t="t" r="r" b="b"/>
              <a:pathLst>
                <a:path w="1604645" h="4444" extrusionOk="0">
                  <a:moveTo>
                    <a:pt x="757936" y="2921"/>
                  </a:moveTo>
                  <a:lnTo>
                    <a:pt x="0" y="4318"/>
                  </a:lnTo>
                </a:path>
                <a:path w="1604645" h="4444" extrusionOk="0">
                  <a:moveTo>
                    <a:pt x="1604518" y="2921"/>
                  </a:moveTo>
                  <a:lnTo>
                    <a:pt x="800735"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59" name="Google Shape;1259;p46"/>
            <p:cNvSpPr/>
            <p:nvPr/>
          </p:nvSpPr>
          <p:spPr>
            <a:xfrm>
              <a:off x="2937002" y="2359913"/>
              <a:ext cx="1905" cy="115570"/>
            </a:xfrm>
            <a:custGeom>
              <a:avLst/>
              <a:gdLst/>
              <a:ahLst/>
              <a:cxnLst/>
              <a:rect l="l" t="t" r="r" b="b"/>
              <a:pathLst>
                <a:path w="1905" h="115569" extrusionOk="0">
                  <a:moveTo>
                    <a:pt x="825" y="-6349"/>
                  </a:moveTo>
                  <a:lnTo>
                    <a:pt x="825" y="121412"/>
                  </a:lnTo>
                </a:path>
              </a:pathLst>
            </a:custGeom>
            <a:noFill/>
            <a:ln w="143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0" name="Google Shape;1260;p46"/>
            <p:cNvSpPr/>
            <p:nvPr/>
          </p:nvSpPr>
          <p:spPr>
            <a:xfrm>
              <a:off x="2646680" y="3584829"/>
              <a:ext cx="772160" cy="1905"/>
            </a:xfrm>
            <a:custGeom>
              <a:avLst/>
              <a:gdLst/>
              <a:ahLst/>
              <a:cxnLst/>
              <a:rect l="l" t="t" r="r" b="b"/>
              <a:pathLst>
                <a:path w="772160" h="1904" extrusionOk="0">
                  <a:moveTo>
                    <a:pt x="771779" y="0"/>
                  </a:moveTo>
                  <a:lnTo>
                    <a:pt x="0" y="139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1" name="Google Shape;1261;p46"/>
            <p:cNvSpPr/>
            <p:nvPr/>
          </p:nvSpPr>
          <p:spPr>
            <a:xfrm>
              <a:off x="2937002" y="3482594"/>
              <a:ext cx="1905" cy="102235"/>
            </a:xfrm>
            <a:custGeom>
              <a:avLst/>
              <a:gdLst/>
              <a:ahLst/>
              <a:cxnLst/>
              <a:rect l="l" t="t" r="r" b="b"/>
              <a:pathLst>
                <a:path w="1905" h="102235" extrusionOk="0">
                  <a:moveTo>
                    <a:pt x="825" y="-6350"/>
                  </a:moveTo>
                  <a:lnTo>
                    <a:pt x="825" y="108584"/>
                  </a:lnTo>
                </a:path>
              </a:pathLst>
            </a:custGeom>
            <a:noFill/>
            <a:ln w="143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2" name="Google Shape;1262;p46"/>
            <p:cNvSpPr/>
            <p:nvPr/>
          </p:nvSpPr>
          <p:spPr>
            <a:xfrm>
              <a:off x="2666618" y="3024124"/>
              <a:ext cx="751840" cy="1905"/>
            </a:xfrm>
            <a:custGeom>
              <a:avLst/>
              <a:gdLst/>
              <a:ahLst/>
              <a:cxnLst/>
              <a:rect l="l" t="t" r="r" b="b"/>
              <a:pathLst>
                <a:path w="751839" h="1905" extrusionOk="0">
                  <a:moveTo>
                    <a:pt x="751840" y="0"/>
                  </a:moveTo>
                  <a:lnTo>
                    <a:pt x="0" y="1524"/>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3" name="Google Shape;1263;p46"/>
            <p:cNvSpPr/>
            <p:nvPr/>
          </p:nvSpPr>
          <p:spPr>
            <a:xfrm>
              <a:off x="2937002" y="2920619"/>
              <a:ext cx="1905" cy="103505"/>
            </a:xfrm>
            <a:custGeom>
              <a:avLst/>
              <a:gdLst/>
              <a:ahLst/>
              <a:cxnLst/>
              <a:rect l="l" t="t" r="r" b="b"/>
              <a:pathLst>
                <a:path w="1905" h="103505" extrusionOk="0">
                  <a:moveTo>
                    <a:pt x="825" y="-6350"/>
                  </a:moveTo>
                  <a:lnTo>
                    <a:pt x="825" y="109854"/>
                  </a:lnTo>
                </a:path>
              </a:pathLst>
            </a:custGeom>
            <a:noFill/>
            <a:ln w="143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4" name="Google Shape;1264;p46"/>
            <p:cNvSpPr/>
            <p:nvPr/>
          </p:nvSpPr>
          <p:spPr>
            <a:xfrm>
              <a:off x="2640584" y="2772918"/>
              <a:ext cx="172720" cy="1905"/>
            </a:xfrm>
            <a:custGeom>
              <a:avLst/>
              <a:gdLst/>
              <a:ahLst/>
              <a:cxnLst/>
              <a:rect l="l" t="t" r="r" b="b"/>
              <a:pathLst>
                <a:path w="172719" h="1905" extrusionOk="0">
                  <a:moveTo>
                    <a:pt x="0" y="0"/>
                  </a:moveTo>
                  <a:lnTo>
                    <a:pt x="172720" y="1524"/>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5" name="Google Shape;1265;p46"/>
            <p:cNvSpPr/>
            <p:nvPr/>
          </p:nvSpPr>
          <p:spPr>
            <a:xfrm>
              <a:off x="2640584" y="2726182"/>
              <a:ext cx="172720" cy="1905"/>
            </a:xfrm>
            <a:custGeom>
              <a:avLst/>
              <a:gdLst/>
              <a:ahLst/>
              <a:cxnLst/>
              <a:rect l="l" t="t" r="r" b="b"/>
              <a:pathLst>
                <a:path w="172719" h="1905" extrusionOk="0">
                  <a:moveTo>
                    <a:pt x="0" y="0"/>
                  </a:moveTo>
                  <a:lnTo>
                    <a:pt x="172720" y="139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6" name="Google Shape;1266;p46"/>
            <p:cNvSpPr/>
            <p:nvPr/>
          </p:nvSpPr>
          <p:spPr>
            <a:xfrm>
              <a:off x="2937002" y="4043172"/>
              <a:ext cx="1905" cy="104139"/>
            </a:xfrm>
            <a:custGeom>
              <a:avLst/>
              <a:gdLst/>
              <a:ahLst/>
              <a:cxnLst/>
              <a:rect l="l" t="t" r="r" b="b"/>
              <a:pathLst>
                <a:path w="1905" h="104139" extrusionOk="0">
                  <a:moveTo>
                    <a:pt x="825" y="-6350"/>
                  </a:moveTo>
                  <a:lnTo>
                    <a:pt x="825" y="109981"/>
                  </a:lnTo>
                </a:path>
              </a:pathLst>
            </a:custGeom>
            <a:noFill/>
            <a:ln w="143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7" name="Google Shape;1267;p46"/>
            <p:cNvSpPr/>
            <p:nvPr/>
          </p:nvSpPr>
          <p:spPr>
            <a:xfrm>
              <a:off x="2640584" y="3288157"/>
              <a:ext cx="172720" cy="551180"/>
            </a:xfrm>
            <a:custGeom>
              <a:avLst/>
              <a:gdLst/>
              <a:ahLst/>
              <a:cxnLst/>
              <a:rect l="l" t="t" r="r" b="b"/>
              <a:pathLst>
                <a:path w="172719" h="551179" extrusionOk="0">
                  <a:moveTo>
                    <a:pt x="0" y="549274"/>
                  </a:moveTo>
                  <a:lnTo>
                    <a:pt x="172720" y="550671"/>
                  </a:lnTo>
                </a:path>
                <a:path w="172719" h="551179" extrusionOk="0">
                  <a:moveTo>
                    <a:pt x="0" y="45465"/>
                  </a:moveTo>
                  <a:lnTo>
                    <a:pt x="172720" y="46862"/>
                  </a:lnTo>
                </a:path>
                <a:path w="172719" h="551179" extrusionOk="0">
                  <a:moveTo>
                    <a:pt x="0" y="0"/>
                  </a:moveTo>
                  <a:lnTo>
                    <a:pt x="172720" y="1396"/>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8" name="Google Shape;1268;p46"/>
            <p:cNvSpPr/>
            <p:nvPr/>
          </p:nvSpPr>
          <p:spPr>
            <a:xfrm>
              <a:off x="2640584" y="2772918"/>
              <a:ext cx="1905" cy="1064895"/>
            </a:xfrm>
            <a:custGeom>
              <a:avLst/>
              <a:gdLst/>
              <a:ahLst/>
              <a:cxnLst/>
              <a:rect l="l" t="t" r="r" b="b"/>
              <a:pathLst>
                <a:path w="1905" h="1064895" extrusionOk="0">
                  <a:moveTo>
                    <a:pt x="0" y="1064514"/>
                  </a:moveTo>
                  <a:lnTo>
                    <a:pt x="1524" y="560705"/>
                  </a:lnTo>
                </a:path>
                <a:path w="1905" h="1064895" extrusionOk="0">
                  <a:moveTo>
                    <a:pt x="0" y="515239"/>
                  </a:moveTo>
                  <a:lnTo>
                    <a:pt x="1524"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69" name="Google Shape;1269;p46"/>
            <p:cNvSpPr/>
            <p:nvPr/>
          </p:nvSpPr>
          <p:spPr>
            <a:xfrm>
              <a:off x="2640584" y="2210943"/>
              <a:ext cx="172720" cy="1905"/>
            </a:xfrm>
            <a:custGeom>
              <a:avLst/>
              <a:gdLst/>
              <a:ahLst/>
              <a:cxnLst/>
              <a:rect l="l" t="t" r="r" b="b"/>
              <a:pathLst>
                <a:path w="172719" h="1905" extrusionOk="0">
                  <a:moveTo>
                    <a:pt x="0" y="0"/>
                  </a:moveTo>
                  <a:lnTo>
                    <a:pt x="172720" y="139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0" name="Google Shape;1270;p46"/>
            <p:cNvSpPr/>
            <p:nvPr/>
          </p:nvSpPr>
          <p:spPr>
            <a:xfrm>
              <a:off x="2579497" y="2165477"/>
              <a:ext cx="234315" cy="1730375"/>
            </a:xfrm>
            <a:custGeom>
              <a:avLst/>
              <a:gdLst/>
              <a:ahLst/>
              <a:cxnLst/>
              <a:rect l="l" t="t" r="r" b="b"/>
              <a:pathLst>
                <a:path w="234314" h="1730375" extrusionOk="0">
                  <a:moveTo>
                    <a:pt x="61086" y="0"/>
                  </a:moveTo>
                  <a:lnTo>
                    <a:pt x="233806" y="1397"/>
                  </a:lnTo>
                </a:path>
                <a:path w="234314" h="1730375" extrusionOk="0">
                  <a:moveTo>
                    <a:pt x="61086" y="560705"/>
                  </a:moveTo>
                  <a:lnTo>
                    <a:pt x="62610" y="45465"/>
                  </a:lnTo>
                </a:path>
                <a:path w="234314" h="1730375" extrusionOk="0">
                  <a:moveTo>
                    <a:pt x="0" y="1728724"/>
                  </a:moveTo>
                  <a:lnTo>
                    <a:pt x="233806" y="1730121"/>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1" name="Google Shape;1271;p46"/>
            <p:cNvSpPr/>
            <p:nvPr/>
          </p:nvSpPr>
          <p:spPr>
            <a:xfrm>
              <a:off x="1783333" y="3024124"/>
              <a:ext cx="799465" cy="562610"/>
            </a:xfrm>
            <a:custGeom>
              <a:avLst/>
              <a:gdLst/>
              <a:ahLst/>
              <a:cxnLst/>
              <a:rect l="l" t="t" r="r" b="b"/>
              <a:pathLst>
                <a:path w="799464" h="562610" extrusionOk="0">
                  <a:moveTo>
                    <a:pt x="799211" y="560704"/>
                  </a:moveTo>
                  <a:lnTo>
                    <a:pt x="0" y="562101"/>
                  </a:lnTo>
                </a:path>
                <a:path w="799464" h="562610" extrusionOk="0">
                  <a:moveTo>
                    <a:pt x="759460" y="0"/>
                  </a:moveTo>
                  <a:lnTo>
                    <a:pt x="44323" y="1524"/>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2" name="Google Shape;1272;p46"/>
            <p:cNvSpPr/>
            <p:nvPr/>
          </p:nvSpPr>
          <p:spPr>
            <a:xfrm>
              <a:off x="2579497" y="1856105"/>
              <a:ext cx="839469" cy="2038350"/>
            </a:xfrm>
            <a:custGeom>
              <a:avLst/>
              <a:gdLst/>
              <a:ahLst/>
              <a:cxnLst/>
              <a:rect l="l" t="t" r="r" b="b"/>
              <a:pathLst>
                <a:path w="839470" h="2038350" extrusionOk="0">
                  <a:moveTo>
                    <a:pt x="838962" y="0"/>
                  </a:moveTo>
                  <a:lnTo>
                    <a:pt x="0" y="0"/>
                  </a:lnTo>
                </a:path>
                <a:path w="839470" h="2038350" extrusionOk="0">
                  <a:moveTo>
                    <a:pt x="0" y="56769"/>
                  </a:moveTo>
                  <a:lnTo>
                    <a:pt x="1523" y="2038096"/>
                  </a:lnTo>
                </a:path>
                <a:path w="839470" h="2038350" extrusionOk="0">
                  <a:moveTo>
                    <a:pt x="61086" y="56769"/>
                  </a:moveTo>
                  <a:lnTo>
                    <a:pt x="62610" y="30937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3" name="Google Shape;1273;p46"/>
            <p:cNvSpPr/>
            <p:nvPr/>
          </p:nvSpPr>
          <p:spPr>
            <a:xfrm>
              <a:off x="2098929" y="2353563"/>
              <a:ext cx="0" cy="1237615"/>
            </a:xfrm>
            <a:custGeom>
              <a:avLst/>
              <a:gdLst/>
              <a:ahLst/>
              <a:cxnLst/>
              <a:rect l="l" t="t" r="r" b="b"/>
              <a:pathLst>
                <a:path w="120000" h="1237614" extrusionOk="0">
                  <a:moveTo>
                    <a:pt x="0" y="0"/>
                  </a:moveTo>
                  <a:lnTo>
                    <a:pt x="0" y="127761"/>
                  </a:lnTo>
                </a:path>
                <a:path w="120000" h="1237614" extrusionOk="0">
                  <a:moveTo>
                    <a:pt x="0" y="1122679"/>
                  </a:moveTo>
                  <a:lnTo>
                    <a:pt x="0" y="1237614"/>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4" name="Google Shape;1274;p46"/>
            <p:cNvSpPr/>
            <p:nvPr/>
          </p:nvSpPr>
          <p:spPr>
            <a:xfrm>
              <a:off x="1790954" y="3288157"/>
              <a:ext cx="185420" cy="46990"/>
            </a:xfrm>
            <a:custGeom>
              <a:avLst/>
              <a:gdLst/>
              <a:ahLst/>
              <a:cxnLst/>
              <a:rect l="l" t="t" r="r" b="b"/>
              <a:pathLst>
                <a:path w="185419" h="46989" extrusionOk="0">
                  <a:moveTo>
                    <a:pt x="0" y="0"/>
                  </a:moveTo>
                  <a:lnTo>
                    <a:pt x="184912" y="1396"/>
                  </a:lnTo>
                </a:path>
                <a:path w="185419" h="46989" extrusionOk="0">
                  <a:moveTo>
                    <a:pt x="0" y="45465"/>
                  </a:moveTo>
                  <a:lnTo>
                    <a:pt x="184912" y="4686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5" name="Google Shape;1275;p46"/>
            <p:cNvSpPr/>
            <p:nvPr/>
          </p:nvSpPr>
          <p:spPr>
            <a:xfrm>
              <a:off x="2098166" y="2920619"/>
              <a:ext cx="1905" cy="103505"/>
            </a:xfrm>
            <a:custGeom>
              <a:avLst/>
              <a:gdLst/>
              <a:ahLst/>
              <a:cxnLst/>
              <a:rect l="l" t="t" r="r" b="b"/>
              <a:pathLst>
                <a:path w="1905" h="103505" extrusionOk="0">
                  <a:moveTo>
                    <a:pt x="762" y="-6350"/>
                  </a:moveTo>
                  <a:lnTo>
                    <a:pt x="762" y="109854"/>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6" name="Google Shape;1276;p46"/>
            <p:cNvSpPr/>
            <p:nvPr/>
          </p:nvSpPr>
          <p:spPr>
            <a:xfrm>
              <a:off x="1790954" y="2726182"/>
              <a:ext cx="185420" cy="1113155"/>
            </a:xfrm>
            <a:custGeom>
              <a:avLst/>
              <a:gdLst/>
              <a:ahLst/>
              <a:cxnLst/>
              <a:rect l="l" t="t" r="r" b="b"/>
              <a:pathLst>
                <a:path w="185419" h="1113154" extrusionOk="0">
                  <a:moveTo>
                    <a:pt x="0" y="0"/>
                  </a:moveTo>
                  <a:lnTo>
                    <a:pt x="184912" y="1396"/>
                  </a:lnTo>
                </a:path>
                <a:path w="185419" h="1113154" extrusionOk="0">
                  <a:moveTo>
                    <a:pt x="0" y="46735"/>
                  </a:moveTo>
                  <a:lnTo>
                    <a:pt x="184912" y="48259"/>
                  </a:lnTo>
                </a:path>
                <a:path w="185419" h="1113154" extrusionOk="0">
                  <a:moveTo>
                    <a:pt x="0" y="1111249"/>
                  </a:moveTo>
                  <a:lnTo>
                    <a:pt x="184912" y="1112646"/>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7" name="Google Shape;1277;p46"/>
            <p:cNvSpPr/>
            <p:nvPr/>
          </p:nvSpPr>
          <p:spPr>
            <a:xfrm>
              <a:off x="2098166" y="4043172"/>
              <a:ext cx="1905" cy="104139"/>
            </a:xfrm>
            <a:custGeom>
              <a:avLst/>
              <a:gdLst/>
              <a:ahLst/>
              <a:cxnLst/>
              <a:rect l="l" t="t" r="r" b="b"/>
              <a:pathLst>
                <a:path w="1905" h="104139" extrusionOk="0">
                  <a:moveTo>
                    <a:pt x="762" y="-6350"/>
                  </a:moveTo>
                  <a:lnTo>
                    <a:pt x="762" y="109981"/>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8" name="Google Shape;1278;p46"/>
            <p:cNvSpPr/>
            <p:nvPr/>
          </p:nvSpPr>
          <p:spPr>
            <a:xfrm>
              <a:off x="706069" y="1822069"/>
              <a:ext cx="1873885" cy="2073910"/>
            </a:xfrm>
            <a:custGeom>
              <a:avLst/>
              <a:gdLst/>
              <a:ahLst/>
              <a:cxnLst/>
              <a:rect l="l" t="t" r="r" b="b"/>
              <a:pathLst>
                <a:path w="1873885" h="2073910" extrusionOk="0">
                  <a:moveTo>
                    <a:pt x="1084884" y="2015362"/>
                  </a:moveTo>
                  <a:lnTo>
                    <a:pt x="1086408" y="1511553"/>
                  </a:lnTo>
                </a:path>
                <a:path w="1873885" h="2073910" extrusionOk="0">
                  <a:moveTo>
                    <a:pt x="1084884" y="1466088"/>
                  </a:moveTo>
                  <a:lnTo>
                    <a:pt x="1086408" y="950848"/>
                  </a:lnTo>
                </a:path>
                <a:path w="1873885" h="2073910" extrusionOk="0">
                  <a:moveTo>
                    <a:pt x="1022273" y="2072131"/>
                  </a:moveTo>
                  <a:lnTo>
                    <a:pt x="1269796" y="2073528"/>
                  </a:lnTo>
                </a:path>
                <a:path w="1873885" h="2073910" extrusionOk="0">
                  <a:moveTo>
                    <a:pt x="1022273" y="90804"/>
                  </a:moveTo>
                  <a:lnTo>
                    <a:pt x="1023797" y="2072131"/>
                  </a:lnTo>
                </a:path>
                <a:path w="1873885" h="2073910" extrusionOk="0">
                  <a:moveTo>
                    <a:pt x="1084884" y="343407"/>
                  </a:moveTo>
                  <a:lnTo>
                    <a:pt x="1269796" y="344804"/>
                  </a:lnTo>
                </a:path>
                <a:path w="1873885" h="2073910" extrusionOk="0">
                  <a:moveTo>
                    <a:pt x="1084884" y="904113"/>
                  </a:moveTo>
                  <a:lnTo>
                    <a:pt x="1086408" y="388873"/>
                  </a:lnTo>
                </a:path>
                <a:path w="1873885" h="2073910" extrusionOk="0">
                  <a:moveTo>
                    <a:pt x="1084884" y="388873"/>
                  </a:moveTo>
                  <a:lnTo>
                    <a:pt x="1269796" y="390270"/>
                  </a:lnTo>
                </a:path>
                <a:path w="1873885" h="2073910" extrusionOk="0">
                  <a:moveTo>
                    <a:pt x="1873427" y="90804"/>
                  </a:moveTo>
                  <a:lnTo>
                    <a:pt x="1084884" y="92201"/>
                  </a:lnTo>
                </a:path>
                <a:path w="1873885" h="2073910" extrusionOk="0">
                  <a:moveTo>
                    <a:pt x="1084884" y="90804"/>
                  </a:moveTo>
                  <a:lnTo>
                    <a:pt x="1086408" y="343407"/>
                  </a:lnTo>
                </a:path>
                <a:path w="1873885" h="2073910" extrusionOk="0">
                  <a:moveTo>
                    <a:pt x="357568" y="251205"/>
                  </a:moveTo>
                  <a:lnTo>
                    <a:pt x="603808" y="251205"/>
                  </a:lnTo>
                  <a:lnTo>
                    <a:pt x="603808" y="90804"/>
                  </a:lnTo>
                  <a:lnTo>
                    <a:pt x="1022273" y="90804"/>
                  </a:lnTo>
                </a:path>
                <a:path w="1873885" h="2073910" extrusionOk="0">
                  <a:moveTo>
                    <a:pt x="0" y="618743"/>
                  </a:moveTo>
                  <a:lnTo>
                    <a:pt x="185140" y="618743"/>
                  </a:lnTo>
                  <a:lnTo>
                    <a:pt x="185140" y="1545589"/>
                  </a:lnTo>
                  <a:lnTo>
                    <a:pt x="481342" y="1545589"/>
                  </a:lnTo>
                </a:path>
                <a:path w="1873885" h="2073910" extrusionOk="0">
                  <a:moveTo>
                    <a:pt x="0" y="537844"/>
                  </a:moveTo>
                  <a:lnTo>
                    <a:pt x="308559" y="537844"/>
                  </a:lnTo>
                  <a:lnTo>
                    <a:pt x="308559" y="1430654"/>
                  </a:lnTo>
                  <a:lnTo>
                    <a:pt x="481342" y="1430654"/>
                  </a:lnTo>
                </a:path>
                <a:path w="1873885" h="2073910" extrusionOk="0">
                  <a:moveTo>
                    <a:pt x="0" y="0"/>
                  </a:moveTo>
                  <a:lnTo>
                    <a:pt x="184899" y="1396"/>
                  </a:lnTo>
                </a:path>
                <a:path w="1873885" h="2073910" extrusionOk="0">
                  <a:moveTo>
                    <a:pt x="0" y="366140"/>
                  </a:moveTo>
                  <a:lnTo>
                    <a:pt x="184899" y="367538"/>
                  </a:lnTo>
                </a:path>
                <a:path w="1873885" h="2073910" extrusionOk="0">
                  <a:moveTo>
                    <a:pt x="0" y="90804"/>
                  </a:moveTo>
                  <a:lnTo>
                    <a:pt x="184899" y="92201"/>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79" name="Google Shape;1279;p46"/>
            <p:cNvSpPr/>
            <p:nvPr/>
          </p:nvSpPr>
          <p:spPr>
            <a:xfrm>
              <a:off x="4353560" y="2359913"/>
              <a:ext cx="296545" cy="119380"/>
            </a:xfrm>
            <a:custGeom>
              <a:avLst/>
              <a:gdLst/>
              <a:ahLst/>
              <a:cxnLst/>
              <a:rect l="l" t="t" r="r" b="b"/>
              <a:pathLst>
                <a:path w="296545" h="119380" extrusionOk="0">
                  <a:moveTo>
                    <a:pt x="296417" y="0"/>
                  </a:moveTo>
                  <a:lnTo>
                    <a:pt x="296417" y="119252"/>
                  </a:lnTo>
                  <a:lnTo>
                    <a:pt x="0" y="11925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
        <p:nvSpPr>
          <p:cNvPr id="1280" name="Google Shape;1280;p46"/>
          <p:cNvSpPr txBox="1"/>
          <p:nvPr/>
        </p:nvSpPr>
        <p:spPr>
          <a:xfrm>
            <a:off x="3658617" y="1600327"/>
            <a:ext cx="2009775" cy="197490"/>
          </a:xfrm>
          <a:prstGeom prst="rect">
            <a:avLst/>
          </a:prstGeom>
          <a:noFill/>
          <a:ln>
            <a:noFill/>
          </a:ln>
        </p:spPr>
        <p:txBody>
          <a:bodyPr spcFirstLastPara="1" wrap="square" lIns="0" tIns="12700" rIns="0" bIns="0" anchor="t" anchorCtr="0">
            <a:spAutoFit/>
          </a:bodyPr>
          <a:lstStyle/>
          <a:p>
            <a:pPr marL="12700"/>
            <a:r>
              <a:rPr lang="en-US" sz="1200" b="1">
                <a:solidFill>
                  <a:schemeClr val="dk1"/>
                </a:solidFill>
                <a:latin typeface="Arial"/>
                <a:ea typeface="Arial"/>
                <a:cs typeface="Arial"/>
                <a:sym typeface="Arial"/>
              </a:rPr>
              <a:t>19-bit internal chip address</a:t>
            </a:r>
            <a:endParaRPr sz="1200">
              <a:solidFill>
                <a:schemeClr val="dk1"/>
              </a:solidFill>
              <a:latin typeface="Arial"/>
              <a:ea typeface="Arial"/>
              <a:cs typeface="Arial"/>
              <a:sym typeface="Arial"/>
            </a:endParaRPr>
          </a:p>
        </p:txBody>
      </p:sp>
      <p:sp>
        <p:nvSpPr>
          <p:cNvPr id="1281" name="Google Shape;1281;p46"/>
          <p:cNvSpPr/>
          <p:nvPr/>
        </p:nvSpPr>
        <p:spPr>
          <a:xfrm>
            <a:off x="2230069" y="2267712"/>
            <a:ext cx="185420" cy="1905"/>
          </a:xfrm>
          <a:custGeom>
            <a:avLst/>
            <a:gdLst/>
            <a:ahLst/>
            <a:cxnLst/>
            <a:rect l="l" t="t" r="r" b="b"/>
            <a:pathLst>
              <a:path w="185419" h="1905" extrusionOk="0">
                <a:moveTo>
                  <a:pt x="0" y="0"/>
                </a:moveTo>
                <a:lnTo>
                  <a:pt x="184899" y="139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82" name="Google Shape;1282;p46"/>
          <p:cNvSpPr txBox="1"/>
          <p:nvPr/>
        </p:nvSpPr>
        <p:spPr>
          <a:xfrm>
            <a:off x="2205329" y="3474465"/>
            <a:ext cx="669290" cy="454340"/>
          </a:xfrm>
          <a:prstGeom prst="rect">
            <a:avLst/>
          </a:prstGeom>
          <a:noFill/>
          <a:ln>
            <a:noFill/>
          </a:ln>
        </p:spPr>
        <p:txBody>
          <a:bodyPr spcFirstLastPara="1" wrap="square" lIns="0" tIns="34275" rIns="0" bIns="0" anchor="t" anchorCtr="0">
            <a:spAutoFit/>
          </a:bodyPr>
          <a:lstStyle/>
          <a:p>
            <a:pPr marL="12700" marR="5080" indent="60960">
              <a:lnSpc>
                <a:spcPct val="101111"/>
              </a:lnSpc>
            </a:pPr>
            <a:r>
              <a:rPr lang="en-US" sz="900">
                <a:solidFill>
                  <a:schemeClr val="dk1"/>
                </a:solidFill>
                <a:latin typeface="Helvetica Neue"/>
                <a:ea typeface="Helvetica Neue"/>
                <a:cs typeface="Helvetica Neue"/>
                <a:sym typeface="Helvetica Neue"/>
              </a:rPr>
              <a:t>2-bit </a:t>
            </a:r>
            <a:r>
              <a:rPr lang="en-US" sz="900" u="sng">
                <a:solidFill>
                  <a:schemeClr val="dk1"/>
                </a:solidFill>
                <a:latin typeface="Helvetica Neue"/>
                <a:ea typeface="Helvetica Neue"/>
                <a:cs typeface="Helvetica Neue"/>
                <a:sym typeface="Helvetica Neue"/>
              </a:rPr>
              <a:t>	</a:t>
            </a:r>
            <a:r>
              <a:rPr lang="en-US" sz="900">
                <a:solidFill>
                  <a:schemeClr val="dk1"/>
                </a:solidFill>
                <a:latin typeface="Helvetica Neue"/>
                <a:ea typeface="Helvetica Neue"/>
                <a:cs typeface="Helvetica Neue"/>
                <a:sym typeface="Helvetica Neue"/>
              </a:rPr>
              <a:t> decoder</a:t>
            </a:r>
            <a:endParaRPr sz="900">
              <a:solidFill>
                <a:schemeClr val="dk1"/>
              </a:solidFill>
              <a:latin typeface="Helvetica Neue"/>
              <a:ea typeface="Helvetica Neue"/>
              <a:cs typeface="Helvetica Neue"/>
              <a:sym typeface="Helvetica Neue"/>
            </a:endParaRPr>
          </a:p>
        </p:txBody>
      </p:sp>
      <p:sp>
        <p:nvSpPr>
          <p:cNvPr id="1283" name="Google Shape;1283;p46"/>
          <p:cNvSpPr txBox="1"/>
          <p:nvPr/>
        </p:nvSpPr>
        <p:spPr>
          <a:xfrm>
            <a:off x="2229713" y="1505458"/>
            <a:ext cx="556260" cy="253018"/>
          </a:xfrm>
          <a:prstGeom prst="rect">
            <a:avLst/>
          </a:prstGeom>
          <a:noFill/>
          <a:ln>
            <a:noFill/>
          </a:ln>
        </p:spPr>
        <p:txBody>
          <a:bodyPr spcFirstLastPara="1" wrap="square" lIns="0" tIns="47625" rIns="0" bIns="0" anchor="t" anchorCtr="0">
            <a:spAutoFit/>
          </a:bodyPr>
          <a:lstStyle/>
          <a:p>
            <a:pPr marL="12700" marR="5080" indent="85090">
              <a:lnSpc>
                <a:spcPct val="74400"/>
              </a:lnSpc>
            </a:pPr>
            <a:r>
              <a:rPr lang="en-US" sz="900">
                <a:solidFill>
                  <a:schemeClr val="dk1"/>
                </a:solidFill>
                <a:latin typeface="Helvetica Neue"/>
                <a:ea typeface="Helvetica Neue"/>
                <a:cs typeface="Helvetica Neue"/>
                <a:sym typeface="Helvetica Neue"/>
              </a:rPr>
              <a:t>21-bit  addresses</a:t>
            </a:r>
            <a:endParaRPr sz="900">
              <a:solidFill>
                <a:schemeClr val="dk1"/>
              </a:solidFill>
              <a:latin typeface="Helvetica Neue"/>
              <a:ea typeface="Helvetica Neue"/>
              <a:cs typeface="Helvetica Neue"/>
              <a:sym typeface="Helvetica Neue"/>
            </a:endParaRPr>
          </a:p>
        </p:txBody>
      </p:sp>
      <p:grpSp>
        <p:nvGrpSpPr>
          <p:cNvPr id="1284" name="Google Shape;1284;p46"/>
          <p:cNvGrpSpPr/>
          <p:nvPr/>
        </p:nvGrpSpPr>
        <p:grpSpPr>
          <a:xfrm>
            <a:off x="2303424" y="1982470"/>
            <a:ext cx="2281656" cy="2187321"/>
            <a:chOff x="779424" y="1982469"/>
            <a:chExt cx="2281656" cy="2187321"/>
          </a:xfrm>
        </p:grpSpPr>
        <p:sp>
          <p:nvSpPr>
            <p:cNvPr id="1285" name="Google Shape;1285;p46"/>
            <p:cNvSpPr/>
            <p:nvPr/>
          </p:nvSpPr>
          <p:spPr>
            <a:xfrm>
              <a:off x="779424" y="2084577"/>
              <a:ext cx="24765" cy="24130"/>
            </a:xfrm>
            <a:custGeom>
              <a:avLst/>
              <a:gdLst/>
              <a:ahLst/>
              <a:cxnLst/>
              <a:rect l="l" t="t" r="r" b="b"/>
              <a:pathLst>
                <a:path w="24765" h="24130" extrusionOk="0">
                  <a:moveTo>
                    <a:pt x="24447" y="0"/>
                  </a:moveTo>
                  <a:lnTo>
                    <a:pt x="0" y="0"/>
                  </a:lnTo>
                  <a:lnTo>
                    <a:pt x="0" y="24130"/>
                  </a:lnTo>
                  <a:lnTo>
                    <a:pt x="24447" y="24130"/>
                  </a:lnTo>
                  <a:lnTo>
                    <a:pt x="2444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86" name="Google Shape;1286;p46"/>
            <p:cNvSpPr/>
            <p:nvPr/>
          </p:nvSpPr>
          <p:spPr>
            <a:xfrm>
              <a:off x="779424" y="2084577"/>
              <a:ext cx="24765" cy="24130"/>
            </a:xfrm>
            <a:custGeom>
              <a:avLst/>
              <a:gdLst/>
              <a:ahLst/>
              <a:cxnLst/>
              <a:rect l="l" t="t" r="r" b="b"/>
              <a:pathLst>
                <a:path w="24765" h="24130" extrusionOk="0">
                  <a:moveTo>
                    <a:pt x="12217" y="11430"/>
                  </a:moveTo>
                  <a:lnTo>
                    <a:pt x="0" y="11430"/>
                  </a:lnTo>
                  <a:lnTo>
                    <a:pt x="0" y="24130"/>
                  </a:lnTo>
                  <a:lnTo>
                    <a:pt x="12217" y="24130"/>
                  </a:lnTo>
                  <a:lnTo>
                    <a:pt x="24447" y="24130"/>
                  </a:lnTo>
                  <a:lnTo>
                    <a:pt x="24447" y="11430"/>
                  </a:lnTo>
                  <a:lnTo>
                    <a:pt x="24447" y="0"/>
                  </a:lnTo>
                  <a:lnTo>
                    <a:pt x="12217" y="0"/>
                  </a:lnTo>
                  <a:lnTo>
                    <a:pt x="0" y="0"/>
                  </a:lnTo>
                  <a:lnTo>
                    <a:pt x="0" y="11430"/>
                  </a:lnTo>
                  <a:lnTo>
                    <a:pt x="12217" y="1143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87" name="Google Shape;1287;p46"/>
            <p:cNvSpPr/>
            <p:nvPr/>
          </p:nvSpPr>
          <p:spPr>
            <a:xfrm>
              <a:off x="791641" y="2096007"/>
              <a:ext cx="12700" cy="12700"/>
            </a:xfrm>
            <a:custGeom>
              <a:avLst/>
              <a:gdLst/>
              <a:ahLst/>
              <a:cxnLst/>
              <a:rect l="l" t="t" r="r" b="b"/>
              <a:pathLst>
                <a:path w="12700" h="12700" extrusionOk="0">
                  <a:moveTo>
                    <a:pt x="0" y="0"/>
                  </a:moveTo>
                  <a:lnTo>
                    <a:pt x="0" y="12700"/>
                  </a:lnTo>
                  <a:lnTo>
                    <a:pt x="12230" y="0"/>
                  </a:lnTo>
                  <a:lnTo>
                    <a:pt x="0" y="0"/>
                  </a:lnTo>
                </a:path>
              </a:pathLst>
            </a:custGeom>
            <a:noFill/>
            <a:ln w="127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88" name="Google Shape;1288;p46"/>
            <p:cNvSpPr/>
            <p:nvPr/>
          </p:nvSpPr>
          <p:spPr>
            <a:xfrm>
              <a:off x="779424" y="2039238"/>
              <a:ext cx="24765" cy="22860"/>
            </a:xfrm>
            <a:custGeom>
              <a:avLst/>
              <a:gdLst/>
              <a:ahLst/>
              <a:cxnLst/>
              <a:rect l="l" t="t" r="r" b="b"/>
              <a:pathLst>
                <a:path w="24765" h="22860" extrusionOk="0">
                  <a:moveTo>
                    <a:pt x="24447" y="0"/>
                  </a:moveTo>
                  <a:lnTo>
                    <a:pt x="0" y="0"/>
                  </a:lnTo>
                  <a:lnTo>
                    <a:pt x="0" y="22606"/>
                  </a:lnTo>
                  <a:lnTo>
                    <a:pt x="24447" y="22606"/>
                  </a:lnTo>
                  <a:lnTo>
                    <a:pt x="2444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89" name="Google Shape;1289;p46"/>
            <p:cNvSpPr/>
            <p:nvPr/>
          </p:nvSpPr>
          <p:spPr>
            <a:xfrm>
              <a:off x="779424" y="2039238"/>
              <a:ext cx="24765" cy="22860"/>
            </a:xfrm>
            <a:custGeom>
              <a:avLst/>
              <a:gdLst/>
              <a:ahLst/>
              <a:cxnLst/>
              <a:rect l="l" t="t" r="r" b="b"/>
              <a:pathLst>
                <a:path w="24765" h="22860" extrusionOk="0">
                  <a:moveTo>
                    <a:pt x="12217" y="11302"/>
                  </a:moveTo>
                  <a:lnTo>
                    <a:pt x="0" y="11302"/>
                  </a:lnTo>
                  <a:lnTo>
                    <a:pt x="0" y="22606"/>
                  </a:lnTo>
                  <a:lnTo>
                    <a:pt x="12217" y="22606"/>
                  </a:lnTo>
                  <a:lnTo>
                    <a:pt x="24447" y="22606"/>
                  </a:lnTo>
                  <a:lnTo>
                    <a:pt x="24447" y="11302"/>
                  </a:lnTo>
                  <a:lnTo>
                    <a:pt x="24447" y="0"/>
                  </a:lnTo>
                  <a:lnTo>
                    <a:pt x="12217" y="0"/>
                  </a:lnTo>
                  <a:lnTo>
                    <a:pt x="0" y="0"/>
                  </a:lnTo>
                  <a:lnTo>
                    <a:pt x="0" y="11302"/>
                  </a:lnTo>
                  <a:lnTo>
                    <a:pt x="12217" y="113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0" name="Google Shape;1290;p46"/>
            <p:cNvSpPr/>
            <p:nvPr/>
          </p:nvSpPr>
          <p:spPr>
            <a:xfrm>
              <a:off x="791641" y="2050541"/>
              <a:ext cx="12700" cy="11430"/>
            </a:xfrm>
            <a:custGeom>
              <a:avLst/>
              <a:gdLst/>
              <a:ahLst/>
              <a:cxnLst/>
              <a:rect l="l" t="t" r="r" b="b"/>
              <a:pathLst>
                <a:path w="12700" h="11430" extrusionOk="0">
                  <a:moveTo>
                    <a:pt x="0" y="0"/>
                  </a:moveTo>
                  <a:lnTo>
                    <a:pt x="0" y="11303"/>
                  </a:lnTo>
                  <a:lnTo>
                    <a:pt x="12230" y="0"/>
                  </a:lnTo>
                  <a:lnTo>
                    <a:pt x="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1" name="Google Shape;1291;p46"/>
            <p:cNvSpPr/>
            <p:nvPr/>
          </p:nvSpPr>
          <p:spPr>
            <a:xfrm>
              <a:off x="779424" y="1982469"/>
              <a:ext cx="24765" cy="22860"/>
            </a:xfrm>
            <a:custGeom>
              <a:avLst/>
              <a:gdLst/>
              <a:ahLst/>
              <a:cxnLst/>
              <a:rect l="l" t="t" r="r" b="b"/>
              <a:pathLst>
                <a:path w="24765" h="22860" extrusionOk="0">
                  <a:moveTo>
                    <a:pt x="24447" y="0"/>
                  </a:moveTo>
                  <a:lnTo>
                    <a:pt x="0" y="0"/>
                  </a:lnTo>
                  <a:lnTo>
                    <a:pt x="0" y="22605"/>
                  </a:lnTo>
                  <a:lnTo>
                    <a:pt x="24447" y="22605"/>
                  </a:lnTo>
                  <a:lnTo>
                    <a:pt x="2444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2" name="Google Shape;1292;p46"/>
            <p:cNvSpPr/>
            <p:nvPr/>
          </p:nvSpPr>
          <p:spPr>
            <a:xfrm>
              <a:off x="779424" y="1982469"/>
              <a:ext cx="24765" cy="22860"/>
            </a:xfrm>
            <a:custGeom>
              <a:avLst/>
              <a:gdLst/>
              <a:ahLst/>
              <a:cxnLst/>
              <a:rect l="l" t="t" r="r" b="b"/>
              <a:pathLst>
                <a:path w="24765" h="22860" extrusionOk="0">
                  <a:moveTo>
                    <a:pt x="12217" y="11302"/>
                  </a:moveTo>
                  <a:lnTo>
                    <a:pt x="0" y="11302"/>
                  </a:lnTo>
                  <a:lnTo>
                    <a:pt x="0" y="22605"/>
                  </a:lnTo>
                  <a:lnTo>
                    <a:pt x="12217" y="22605"/>
                  </a:lnTo>
                  <a:lnTo>
                    <a:pt x="24447" y="22605"/>
                  </a:lnTo>
                  <a:lnTo>
                    <a:pt x="24447" y="11302"/>
                  </a:lnTo>
                  <a:lnTo>
                    <a:pt x="24447" y="0"/>
                  </a:lnTo>
                  <a:lnTo>
                    <a:pt x="12217" y="0"/>
                  </a:lnTo>
                  <a:lnTo>
                    <a:pt x="0" y="0"/>
                  </a:lnTo>
                  <a:lnTo>
                    <a:pt x="0" y="11302"/>
                  </a:lnTo>
                  <a:lnTo>
                    <a:pt x="12217" y="113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3" name="Google Shape;1293;p46"/>
            <p:cNvSpPr/>
            <p:nvPr/>
          </p:nvSpPr>
          <p:spPr>
            <a:xfrm>
              <a:off x="791641" y="1993772"/>
              <a:ext cx="12700" cy="11430"/>
            </a:xfrm>
            <a:custGeom>
              <a:avLst/>
              <a:gdLst/>
              <a:ahLst/>
              <a:cxnLst/>
              <a:rect l="l" t="t" r="r" b="b"/>
              <a:pathLst>
                <a:path w="12700" h="11430" extrusionOk="0">
                  <a:moveTo>
                    <a:pt x="0" y="0"/>
                  </a:moveTo>
                  <a:lnTo>
                    <a:pt x="0" y="11302"/>
                  </a:lnTo>
                  <a:lnTo>
                    <a:pt x="12230" y="0"/>
                  </a:lnTo>
                  <a:lnTo>
                    <a:pt x="0" y="0"/>
                  </a:lnTo>
                </a:path>
              </a:pathLst>
            </a:custGeom>
            <a:noFill/>
            <a:ln w="127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4" name="Google Shape;1294;p46"/>
            <p:cNvSpPr/>
            <p:nvPr/>
          </p:nvSpPr>
          <p:spPr>
            <a:xfrm>
              <a:off x="2085975" y="2452242"/>
              <a:ext cx="26034" cy="22860"/>
            </a:xfrm>
            <a:custGeom>
              <a:avLst/>
              <a:gdLst/>
              <a:ahLst/>
              <a:cxnLst/>
              <a:rect l="l" t="t" r="r" b="b"/>
              <a:pathLst>
                <a:path w="26035" h="22860" extrusionOk="0">
                  <a:moveTo>
                    <a:pt x="12192" y="0"/>
                  </a:moveTo>
                  <a:lnTo>
                    <a:pt x="0" y="0"/>
                  </a:lnTo>
                  <a:lnTo>
                    <a:pt x="0" y="22733"/>
                  </a:lnTo>
                  <a:lnTo>
                    <a:pt x="25907" y="22733"/>
                  </a:lnTo>
                  <a:lnTo>
                    <a:pt x="25907" y="11303"/>
                  </a:lnTo>
                  <a:lnTo>
                    <a:pt x="12192" y="11303"/>
                  </a:lnTo>
                  <a:lnTo>
                    <a:pt x="12192" y="0"/>
                  </a:lnTo>
                  <a:close/>
                </a:path>
                <a:path w="26035" h="22860" extrusionOk="0">
                  <a:moveTo>
                    <a:pt x="25907" y="0"/>
                  </a:moveTo>
                  <a:lnTo>
                    <a:pt x="12192" y="0"/>
                  </a:lnTo>
                  <a:lnTo>
                    <a:pt x="12192" y="11303"/>
                  </a:lnTo>
                  <a:lnTo>
                    <a:pt x="25907" y="11303"/>
                  </a:lnTo>
                  <a:lnTo>
                    <a:pt x="2590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5" name="Google Shape;1295;p46"/>
            <p:cNvSpPr/>
            <p:nvPr/>
          </p:nvSpPr>
          <p:spPr>
            <a:xfrm>
              <a:off x="2085975" y="2452242"/>
              <a:ext cx="26034" cy="22860"/>
            </a:xfrm>
            <a:custGeom>
              <a:avLst/>
              <a:gdLst/>
              <a:ahLst/>
              <a:cxnLst/>
              <a:rect l="l" t="t" r="r" b="b"/>
              <a:pathLst>
                <a:path w="26035" h="22860" extrusionOk="0">
                  <a:moveTo>
                    <a:pt x="12192" y="11303"/>
                  </a:moveTo>
                  <a:lnTo>
                    <a:pt x="12192" y="0"/>
                  </a:lnTo>
                  <a:lnTo>
                    <a:pt x="0" y="0"/>
                  </a:lnTo>
                  <a:lnTo>
                    <a:pt x="0" y="11303"/>
                  </a:lnTo>
                  <a:lnTo>
                    <a:pt x="0" y="22733"/>
                  </a:lnTo>
                  <a:lnTo>
                    <a:pt x="12192" y="22733"/>
                  </a:lnTo>
                  <a:lnTo>
                    <a:pt x="25907" y="22733"/>
                  </a:lnTo>
                  <a:lnTo>
                    <a:pt x="25907" y="11303"/>
                  </a:lnTo>
                  <a:lnTo>
                    <a:pt x="25907" y="0"/>
                  </a:lnTo>
                  <a:lnTo>
                    <a:pt x="12192" y="0"/>
                  </a:lnTo>
                  <a:lnTo>
                    <a:pt x="12192"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6" name="Google Shape;1296;p46"/>
            <p:cNvSpPr/>
            <p:nvPr/>
          </p:nvSpPr>
          <p:spPr>
            <a:xfrm>
              <a:off x="2073656" y="2452242"/>
              <a:ext cx="38735" cy="34290"/>
            </a:xfrm>
            <a:custGeom>
              <a:avLst/>
              <a:gdLst/>
              <a:ahLst/>
              <a:cxnLst/>
              <a:rect l="l" t="t" r="r" b="b"/>
              <a:pathLst>
                <a:path w="38735" h="34289" extrusionOk="0">
                  <a:moveTo>
                    <a:pt x="25526" y="0"/>
                  </a:moveTo>
                  <a:lnTo>
                    <a:pt x="12826" y="11303"/>
                  </a:lnTo>
                  <a:lnTo>
                    <a:pt x="0" y="22733"/>
                  </a:lnTo>
                  <a:lnTo>
                    <a:pt x="12826" y="22733"/>
                  </a:lnTo>
                  <a:lnTo>
                    <a:pt x="25526" y="34036"/>
                  </a:lnTo>
                  <a:lnTo>
                    <a:pt x="25526" y="22733"/>
                  </a:lnTo>
                  <a:lnTo>
                    <a:pt x="38226" y="22733"/>
                  </a:lnTo>
                  <a:lnTo>
                    <a:pt x="25526" y="11303"/>
                  </a:lnTo>
                  <a:lnTo>
                    <a:pt x="25526"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7" name="Google Shape;1297;p46"/>
            <p:cNvSpPr/>
            <p:nvPr/>
          </p:nvSpPr>
          <p:spPr>
            <a:xfrm>
              <a:off x="2085975" y="3012820"/>
              <a:ext cx="26034" cy="22860"/>
            </a:xfrm>
            <a:custGeom>
              <a:avLst/>
              <a:gdLst/>
              <a:ahLst/>
              <a:cxnLst/>
              <a:rect l="l" t="t" r="r" b="b"/>
              <a:pathLst>
                <a:path w="26035" h="22860" extrusionOk="0">
                  <a:moveTo>
                    <a:pt x="12192" y="0"/>
                  </a:moveTo>
                  <a:lnTo>
                    <a:pt x="0" y="0"/>
                  </a:lnTo>
                  <a:lnTo>
                    <a:pt x="0" y="22732"/>
                  </a:lnTo>
                  <a:lnTo>
                    <a:pt x="25907" y="22732"/>
                  </a:lnTo>
                  <a:lnTo>
                    <a:pt x="25907" y="11302"/>
                  </a:lnTo>
                  <a:lnTo>
                    <a:pt x="12192" y="11302"/>
                  </a:lnTo>
                  <a:lnTo>
                    <a:pt x="12192" y="0"/>
                  </a:lnTo>
                  <a:close/>
                </a:path>
                <a:path w="26035" h="22860" extrusionOk="0">
                  <a:moveTo>
                    <a:pt x="25907" y="0"/>
                  </a:moveTo>
                  <a:lnTo>
                    <a:pt x="12192" y="0"/>
                  </a:lnTo>
                  <a:lnTo>
                    <a:pt x="12192" y="11302"/>
                  </a:lnTo>
                  <a:lnTo>
                    <a:pt x="25907" y="11302"/>
                  </a:lnTo>
                  <a:lnTo>
                    <a:pt x="2590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8" name="Google Shape;1298;p46"/>
            <p:cNvSpPr/>
            <p:nvPr/>
          </p:nvSpPr>
          <p:spPr>
            <a:xfrm>
              <a:off x="2085975" y="3012820"/>
              <a:ext cx="26034" cy="22860"/>
            </a:xfrm>
            <a:custGeom>
              <a:avLst/>
              <a:gdLst/>
              <a:ahLst/>
              <a:cxnLst/>
              <a:rect l="l" t="t" r="r" b="b"/>
              <a:pathLst>
                <a:path w="26035" h="22860" extrusionOk="0">
                  <a:moveTo>
                    <a:pt x="12192" y="11302"/>
                  </a:moveTo>
                  <a:lnTo>
                    <a:pt x="12192" y="0"/>
                  </a:lnTo>
                  <a:lnTo>
                    <a:pt x="0" y="0"/>
                  </a:lnTo>
                  <a:lnTo>
                    <a:pt x="0" y="11302"/>
                  </a:lnTo>
                  <a:lnTo>
                    <a:pt x="0" y="22732"/>
                  </a:lnTo>
                  <a:lnTo>
                    <a:pt x="12192" y="22732"/>
                  </a:lnTo>
                  <a:lnTo>
                    <a:pt x="25907" y="22732"/>
                  </a:lnTo>
                  <a:lnTo>
                    <a:pt x="25907" y="11302"/>
                  </a:lnTo>
                  <a:lnTo>
                    <a:pt x="25907" y="0"/>
                  </a:lnTo>
                  <a:lnTo>
                    <a:pt x="12192" y="0"/>
                  </a:lnTo>
                  <a:lnTo>
                    <a:pt x="12192" y="11302"/>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299" name="Google Shape;1299;p46"/>
            <p:cNvSpPr/>
            <p:nvPr/>
          </p:nvSpPr>
          <p:spPr>
            <a:xfrm>
              <a:off x="2073656" y="3012820"/>
              <a:ext cx="38735" cy="34290"/>
            </a:xfrm>
            <a:custGeom>
              <a:avLst/>
              <a:gdLst/>
              <a:ahLst/>
              <a:cxnLst/>
              <a:rect l="l" t="t" r="r" b="b"/>
              <a:pathLst>
                <a:path w="38735" h="34289" extrusionOk="0">
                  <a:moveTo>
                    <a:pt x="25526" y="0"/>
                  </a:moveTo>
                  <a:lnTo>
                    <a:pt x="12826" y="11302"/>
                  </a:lnTo>
                  <a:lnTo>
                    <a:pt x="0" y="22732"/>
                  </a:lnTo>
                  <a:lnTo>
                    <a:pt x="12826" y="22732"/>
                  </a:lnTo>
                  <a:lnTo>
                    <a:pt x="25526" y="34036"/>
                  </a:lnTo>
                  <a:lnTo>
                    <a:pt x="25526" y="22732"/>
                  </a:lnTo>
                  <a:lnTo>
                    <a:pt x="38226" y="22732"/>
                  </a:lnTo>
                  <a:lnTo>
                    <a:pt x="25526" y="11302"/>
                  </a:lnTo>
                  <a:lnTo>
                    <a:pt x="25526"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0" name="Google Shape;1300;p46"/>
            <p:cNvSpPr/>
            <p:nvPr/>
          </p:nvSpPr>
          <p:spPr>
            <a:xfrm>
              <a:off x="2085975" y="3573398"/>
              <a:ext cx="26034" cy="22860"/>
            </a:xfrm>
            <a:custGeom>
              <a:avLst/>
              <a:gdLst/>
              <a:ahLst/>
              <a:cxnLst/>
              <a:rect l="l" t="t" r="r" b="b"/>
              <a:pathLst>
                <a:path w="26035" h="22860" extrusionOk="0">
                  <a:moveTo>
                    <a:pt x="12192" y="0"/>
                  </a:moveTo>
                  <a:lnTo>
                    <a:pt x="0" y="0"/>
                  </a:lnTo>
                  <a:lnTo>
                    <a:pt x="0" y="22733"/>
                  </a:lnTo>
                  <a:lnTo>
                    <a:pt x="25907" y="22733"/>
                  </a:lnTo>
                  <a:lnTo>
                    <a:pt x="25907" y="11429"/>
                  </a:lnTo>
                  <a:lnTo>
                    <a:pt x="12192" y="11429"/>
                  </a:lnTo>
                  <a:lnTo>
                    <a:pt x="12192" y="0"/>
                  </a:lnTo>
                  <a:close/>
                </a:path>
                <a:path w="26035" h="22860" extrusionOk="0">
                  <a:moveTo>
                    <a:pt x="25907" y="0"/>
                  </a:moveTo>
                  <a:lnTo>
                    <a:pt x="12192" y="0"/>
                  </a:lnTo>
                  <a:lnTo>
                    <a:pt x="12192" y="11429"/>
                  </a:lnTo>
                  <a:lnTo>
                    <a:pt x="25907" y="11429"/>
                  </a:lnTo>
                  <a:lnTo>
                    <a:pt x="2590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1" name="Google Shape;1301;p46"/>
            <p:cNvSpPr/>
            <p:nvPr/>
          </p:nvSpPr>
          <p:spPr>
            <a:xfrm>
              <a:off x="2085975" y="3573398"/>
              <a:ext cx="26034" cy="22860"/>
            </a:xfrm>
            <a:custGeom>
              <a:avLst/>
              <a:gdLst/>
              <a:ahLst/>
              <a:cxnLst/>
              <a:rect l="l" t="t" r="r" b="b"/>
              <a:pathLst>
                <a:path w="26035" h="22860" extrusionOk="0">
                  <a:moveTo>
                    <a:pt x="12192" y="11429"/>
                  </a:moveTo>
                  <a:lnTo>
                    <a:pt x="12192" y="0"/>
                  </a:lnTo>
                  <a:lnTo>
                    <a:pt x="0" y="0"/>
                  </a:lnTo>
                  <a:lnTo>
                    <a:pt x="0" y="11429"/>
                  </a:lnTo>
                  <a:lnTo>
                    <a:pt x="0" y="22733"/>
                  </a:lnTo>
                  <a:lnTo>
                    <a:pt x="12192" y="22733"/>
                  </a:lnTo>
                  <a:lnTo>
                    <a:pt x="25907" y="22733"/>
                  </a:lnTo>
                  <a:lnTo>
                    <a:pt x="25907" y="11429"/>
                  </a:lnTo>
                  <a:lnTo>
                    <a:pt x="25907" y="0"/>
                  </a:lnTo>
                  <a:lnTo>
                    <a:pt x="12192" y="0"/>
                  </a:lnTo>
                  <a:lnTo>
                    <a:pt x="12192" y="11429"/>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2" name="Google Shape;1302;p46"/>
            <p:cNvSpPr/>
            <p:nvPr/>
          </p:nvSpPr>
          <p:spPr>
            <a:xfrm>
              <a:off x="2073656" y="3573398"/>
              <a:ext cx="38735" cy="35560"/>
            </a:xfrm>
            <a:custGeom>
              <a:avLst/>
              <a:gdLst/>
              <a:ahLst/>
              <a:cxnLst/>
              <a:rect l="l" t="t" r="r" b="b"/>
              <a:pathLst>
                <a:path w="38735" h="35560" extrusionOk="0">
                  <a:moveTo>
                    <a:pt x="25526" y="0"/>
                  </a:moveTo>
                  <a:lnTo>
                    <a:pt x="12826" y="11811"/>
                  </a:lnTo>
                  <a:lnTo>
                    <a:pt x="0" y="23749"/>
                  </a:lnTo>
                  <a:lnTo>
                    <a:pt x="12826" y="23749"/>
                  </a:lnTo>
                  <a:lnTo>
                    <a:pt x="25526" y="35559"/>
                  </a:lnTo>
                  <a:lnTo>
                    <a:pt x="25526" y="23749"/>
                  </a:lnTo>
                  <a:lnTo>
                    <a:pt x="38226" y="23749"/>
                  </a:lnTo>
                  <a:lnTo>
                    <a:pt x="25526" y="11811"/>
                  </a:lnTo>
                  <a:lnTo>
                    <a:pt x="25526"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3" name="Google Shape;1303;p46"/>
            <p:cNvSpPr/>
            <p:nvPr/>
          </p:nvSpPr>
          <p:spPr>
            <a:xfrm>
              <a:off x="2085975" y="4135500"/>
              <a:ext cx="26034" cy="22860"/>
            </a:xfrm>
            <a:custGeom>
              <a:avLst/>
              <a:gdLst/>
              <a:ahLst/>
              <a:cxnLst/>
              <a:rect l="l" t="t" r="r" b="b"/>
              <a:pathLst>
                <a:path w="26035" h="22860" extrusionOk="0">
                  <a:moveTo>
                    <a:pt x="12192" y="0"/>
                  </a:moveTo>
                  <a:lnTo>
                    <a:pt x="0" y="0"/>
                  </a:lnTo>
                  <a:lnTo>
                    <a:pt x="0" y="22732"/>
                  </a:lnTo>
                  <a:lnTo>
                    <a:pt x="25907" y="22732"/>
                  </a:lnTo>
                  <a:lnTo>
                    <a:pt x="25907" y="11303"/>
                  </a:lnTo>
                  <a:lnTo>
                    <a:pt x="12192" y="11303"/>
                  </a:lnTo>
                  <a:lnTo>
                    <a:pt x="12192" y="0"/>
                  </a:lnTo>
                  <a:close/>
                </a:path>
                <a:path w="26035" h="22860" extrusionOk="0">
                  <a:moveTo>
                    <a:pt x="25907" y="0"/>
                  </a:moveTo>
                  <a:lnTo>
                    <a:pt x="12192" y="0"/>
                  </a:lnTo>
                  <a:lnTo>
                    <a:pt x="12192" y="11303"/>
                  </a:lnTo>
                  <a:lnTo>
                    <a:pt x="25907" y="11303"/>
                  </a:lnTo>
                  <a:lnTo>
                    <a:pt x="25907"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4" name="Google Shape;1304;p46"/>
            <p:cNvSpPr/>
            <p:nvPr/>
          </p:nvSpPr>
          <p:spPr>
            <a:xfrm>
              <a:off x="2085975" y="4135500"/>
              <a:ext cx="26034" cy="22860"/>
            </a:xfrm>
            <a:custGeom>
              <a:avLst/>
              <a:gdLst/>
              <a:ahLst/>
              <a:cxnLst/>
              <a:rect l="l" t="t" r="r" b="b"/>
              <a:pathLst>
                <a:path w="26035" h="22860" extrusionOk="0">
                  <a:moveTo>
                    <a:pt x="12192" y="11303"/>
                  </a:moveTo>
                  <a:lnTo>
                    <a:pt x="12192" y="0"/>
                  </a:lnTo>
                  <a:lnTo>
                    <a:pt x="0" y="0"/>
                  </a:lnTo>
                  <a:lnTo>
                    <a:pt x="0" y="11303"/>
                  </a:lnTo>
                  <a:lnTo>
                    <a:pt x="0" y="22732"/>
                  </a:lnTo>
                  <a:lnTo>
                    <a:pt x="12192" y="22732"/>
                  </a:lnTo>
                  <a:lnTo>
                    <a:pt x="25907" y="22732"/>
                  </a:lnTo>
                  <a:lnTo>
                    <a:pt x="25907" y="11303"/>
                  </a:lnTo>
                  <a:lnTo>
                    <a:pt x="25907" y="0"/>
                  </a:lnTo>
                  <a:lnTo>
                    <a:pt x="12192" y="0"/>
                  </a:lnTo>
                  <a:lnTo>
                    <a:pt x="12192"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5" name="Google Shape;1305;p46"/>
            <p:cNvSpPr/>
            <p:nvPr/>
          </p:nvSpPr>
          <p:spPr>
            <a:xfrm>
              <a:off x="2073656" y="4135500"/>
              <a:ext cx="38735" cy="34290"/>
            </a:xfrm>
            <a:custGeom>
              <a:avLst/>
              <a:gdLst/>
              <a:ahLst/>
              <a:cxnLst/>
              <a:rect l="l" t="t" r="r" b="b"/>
              <a:pathLst>
                <a:path w="38735" h="34289" extrusionOk="0">
                  <a:moveTo>
                    <a:pt x="25526" y="0"/>
                  </a:moveTo>
                  <a:lnTo>
                    <a:pt x="12826" y="11303"/>
                  </a:lnTo>
                  <a:lnTo>
                    <a:pt x="0" y="22732"/>
                  </a:lnTo>
                  <a:lnTo>
                    <a:pt x="12826" y="22732"/>
                  </a:lnTo>
                  <a:lnTo>
                    <a:pt x="25526" y="34036"/>
                  </a:lnTo>
                  <a:lnTo>
                    <a:pt x="25526" y="22732"/>
                  </a:lnTo>
                  <a:lnTo>
                    <a:pt x="38226" y="22732"/>
                  </a:lnTo>
                  <a:lnTo>
                    <a:pt x="25526" y="11303"/>
                  </a:lnTo>
                  <a:lnTo>
                    <a:pt x="25526"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6" name="Google Shape;1306;p46"/>
            <p:cNvSpPr/>
            <p:nvPr/>
          </p:nvSpPr>
          <p:spPr>
            <a:xfrm>
              <a:off x="2924810" y="4135500"/>
              <a:ext cx="24765" cy="22860"/>
            </a:xfrm>
            <a:custGeom>
              <a:avLst/>
              <a:gdLst/>
              <a:ahLst/>
              <a:cxnLst/>
              <a:rect l="l" t="t" r="r" b="b"/>
              <a:pathLst>
                <a:path w="24764" h="22860" extrusionOk="0">
                  <a:moveTo>
                    <a:pt x="12191" y="0"/>
                  </a:moveTo>
                  <a:lnTo>
                    <a:pt x="0" y="0"/>
                  </a:lnTo>
                  <a:lnTo>
                    <a:pt x="0" y="22732"/>
                  </a:lnTo>
                  <a:lnTo>
                    <a:pt x="24510" y="22732"/>
                  </a:lnTo>
                  <a:lnTo>
                    <a:pt x="24510" y="11303"/>
                  </a:lnTo>
                  <a:lnTo>
                    <a:pt x="12191" y="11303"/>
                  </a:lnTo>
                  <a:lnTo>
                    <a:pt x="12191" y="0"/>
                  </a:lnTo>
                  <a:close/>
                </a:path>
                <a:path w="24764" h="22860" extrusionOk="0">
                  <a:moveTo>
                    <a:pt x="24510" y="0"/>
                  </a:moveTo>
                  <a:lnTo>
                    <a:pt x="12191" y="0"/>
                  </a:lnTo>
                  <a:lnTo>
                    <a:pt x="12191" y="11303"/>
                  </a:lnTo>
                  <a:lnTo>
                    <a:pt x="24510" y="11303"/>
                  </a:lnTo>
                  <a:lnTo>
                    <a:pt x="24510"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7" name="Google Shape;1307;p46"/>
            <p:cNvSpPr/>
            <p:nvPr/>
          </p:nvSpPr>
          <p:spPr>
            <a:xfrm>
              <a:off x="2924810" y="4135500"/>
              <a:ext cx="24765" cy="22860"/>
            </a:xfrm>
            <a:custGeom>
              <a:avLst/>
              <a:gdLst/>
              <a:ahLst/>
              <a:cxnLst/>
              <a:rect l="l" t="t" r="r" b="b"/>
              <a:pathLst>
                <a:path w="24764" h="22860" extrusionOk="0">
                  <a:moveTo>
                    <a:pt x="12191" y="11303"/>
                  </a:moveTo>
                  <a:lnTo>
                    <a:pt x="12191" y="0"/>
                  </a:lnTo>
                  <a:lnTo>
                    <a:pt x="0" y="0"/>
                  </a:lnTo>
                  <a:lnTo>
                    <a:pt x="0" y="11303"/>
                  </a:lnTo>
                  <a:lnTo>
                    <a:pt x="0" y="22732"/>
                  </a:lnTo>
                  <a:lnTo>
                    <a:pt x="12191" y="22732"/>
                  </a:lnTo>
                  <a:lnTo>
                    <a:pt x="24510" y="22732"/>
                  </a:lnTo>
                  <a:lnTo>
                    <a:pt x="24510" y="11303"/>
                  </a:lnTo>
                  <a:lnTo>
                    <a:pt x="24510" y="0"/>
                  </a:lnTo>
                  <a:lnTo>
                    <a:pt x="12191" y="0"/>
                  </a:lnTo>
                  <a:lnTo>
                    <a:pt x="12191"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8" name="Google Shape;1308;p46"/>
            <p:cNvSpPr/>
            <p:nvPr/>
          </p:nvSpPr>
          <p:spPr>
            <a:xfrm>
              <a:off x="2924810" y="4135500"/>
              <a:ext cx="36830" cy="34290"/>
            </a:xfrm>
            <a:custGeom>
              <a:avLst/>
              <a:gdLst/>
              <a:ahLst/>
              <a:cxnLst/>
              <a:rect l="l" t="t" r="r" b="b"/>
              <a:pathLst>
                <a:path w="36830" h="34289" extrusionOk="0">
                  <a:moveTo>
                    <a:pt x="24510" y="0"/>
                  </a:moveTo>
                  <a:lnTo>
                    <a:pt x="12191" y="11303"/>
                  </a:lnTo>
                  <a:lnTo>
                    <a:pt x="0" y="22732"/>
                  </a:lnTo>
                  <a:lnTo>
                    <a:pt x="12191" y="22732"/>
                  </a:lnTo>
                  <a:lnTo>
                    <a:pt x="24510" y="34036"/>
                  </a:lnTo>
                  <a:lnTo>
                    <a:pt x="24510" y="22732"/>
                  </a:lnTo>
                  <a:lnTo>
                    <a:pt x="36702" y="22732"/>
                  </a:lnTo>
                  <a:lnTo>
                    <a:pt x="24510" y="11303"/>
                  </a:lnTo>
                  <a:lnTo>
                    <a:pt x="2451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09" name="Google Shape;1309;p46"/>
            <p:cNvSpPr/>
            <p:nvPr/>
          </p:nvSpPr>
          <p:spPr>
            <a:xfrm>
              <a:off x="2924810" y="3573398"/>
              <a:ext cx="24765" cy="22860"/>
            </a:xfrm>
            <a:custGeom>
              <a:avLst/>
              <a:gdLst/>
              <a:ahLst/>
              <a:cxnLst/>
              <a:rect l="l" t="t" r="r" b="b"/>
              <a:pathLst>
                <a:path w="24764" h="22860" extrusionOk="0">
                  <a:moveTo>
                    <a:pt x="12191" y="0"/>
                  </a:moveTo>
                  <a:lnTo>
                    <a:pt x="0" y="0"/>
                  </a:lnTo>
                  <a:lnTo>
                    <a:pt x="0" y="22733"/>
                  </a:lnTo>
                  <a:lnTo>
                    <a:pt x="24510" y="22733"/>
                  </a:lnTo>
                  <a:lnTo>
                    <a:pt x="24510" y="11429"/>
                  </a:lnTo>
                  <a:lnTo>
                    <a:pt x="12191" y="11429"/>
                  </a:lnTo>
                  <a:lnTo>
                    <a:pt x="12191" y="0"/>
                  </a:lnTo>
                  <a:close/>
                </a:path>
                <a:path w="24764" h="22860" extrusionOk="0">
                  <a:moveTo>
                    <a:pt x="24510" y="0"/>
                  </a:moveTo>
                  <a:lnTo>
                    <a:pt x="12191" y="0"/>
                  </a:lnTo>
                  <a:lnTo>
                    <a:pt x="12191" y="11429"/>
                  </a:lnTo>
                  <a:lnTo>
                    <a:pt x="24510" y="11429"/>
                  </a:lnTo>
                  <a:lnTo>
                    <a:pt x="24510"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0" name="Google Shape;1310;p46"/>
            <p:cNvSpPr/>
            <p:nvPr/>
          </p:nvSpPr>
          <p:spPr>
            <a:xfrm>
              <a:off x="2924810" y="3573398"/>
              <a:ext cx="24765" cy="22860"/>
            </a:xfrm>
            <a:custGeom>
              <a:avLst/>
              <a:gdLst/>
              <a:ahLst/>
              <a:cxnLst/>
              <a:rect l="l" t="t" r="r" b="b"/>
              <a:pathLst>
                <a:path w="24764" h="22860" extrusionOk="0">
                  <a:moveTo>
                    <a:pt x="12191" y="11429"/>
                  </a:moveTo>
                  <a:lnTo>
                    <a:pt x="12191" y="0"/>
                  </a:lnTo>
                  <a:lnTo>
                    <a:pt x="0" y="0"/>
                  </a:lnTo>
                  <a:lnTo>
                    <a:pt x="0" y="11429"/>
                  </a:lnTo>
                  <a:lnTo>
                    <a:pt x="0" y="22733"/>
                  </a:lnTo>
                  <a:lnTo>
                    <a:pt x="12191" y="22733"/>
                  </a:lnTo>
                  <a:lnTo>
                    <a:pt x="24510" y="22733"/>
                  </a:lnTo>
                  <a:lnTo>
                    <a:pt x="24510" y="11429"/>
                  </a:lnTo>
                  <a:lnTo>
                    <a:pt x="24510" y="0"/>
                  </a:lnTo>
                  <a:lnTo>
                    <a:pt x="12191" y="0"/>
                  </a:lnTo>
                  <a:lnTo>
                    <a:pt x="12191" y="11429"/>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1" name="Google Shape;1311;p46"/>
            <p:cNvSpPr/>
            <p:nvPr/>
          </p:nvSpPr>
          <p:spPr>
            <a:xfrm>
              <a:off x="2924810" y="3573398"/>
              <a:ext cx="36830" cy="35560"/>
            </a:xfrm>
            <a:custGeom>
              <a:avLst/>
              <a:gdLst/>
              <a:ahLst/>
              <a:cxnLst/>
              <a:rect l="l" t="t" r="r" b="b"/>
              <a:pathLst>
                <a:path w="36830" h="35560" extrusionOk="0">
                  <a:moveTo>
                    <a:pt x="24510" y="0"/>
                  </a:moveTo>
                  <a:lnTo>
                    <a:pt x="12191" y="11811"/>
                  </a:lnTo>
                  <a:lnTo>
                    <a:pt x="0" y="23749"/>
                  </a:lnTo>
                  <a:lnTo>
                    <a:pt x="12191" y="23749"/>
                  </a:lnTo>
                  <a:lnTo>
                    <a:pt x="24510" y="35559"/>
                  </a:lnTo>
                  <a:lnTo>
                    <a:pt x="24510" y="23749"/>
                  </a:lnTo>
                  <a:lnTo>
                    <a:pt x="36702" y="23749"/>
                  </a:lnTo>
                  <a:lnTo>
                    <a:pt x="24510" y="11811"/>
                  </a:lnTo>
                  <a:lnTo>
                    <a:pt x="2451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2" name="Google Shape;1312;p46"/>
            <p:cNvSpPr/>
            <p:nvPr/>
          </p:nvSpPr>
          <p:spPr>
            <a:xfrm>
              <a:off x="2924810" y="3012820"/>
              <a:ext cx="24765" cy="22860"/>
            </a:xfrm>
            <a:custGeom>
              <a:avLst/>
              <a:gdLst/>
              <a:ahLst/>
              <a:cxnLst/>
              <a:rect l="l" t="t" r="r" b="b"/>
              <a:pathLst>
                <a:path w="24764" h="22860" extrusionOk="0">
                  <a:moveTo>
                    <a:pt x="12191" y="0"/>
                  </a:moveTo>
                  <a:lnTo>
                    <a:pt x="0" y="0"/>
                  </a:lnTo>
                  <a:lnTo>
                    <a:pt x="0" y="22732"/>
                  </a:lnTo>
                  <a:lnTo>
                    <a:pt x="24510" y="22732"/>
                  </a:lnTo>
                  <a:lnTo>
                    <a:pt x="24510" y="11302"/>
                  </a:lnTo>
                  <a:lnTo>
                    <a:pt x="12191" y="11302"/>
                  </a:lnTo>
                  <a:lnTo>
                    <a:pt x="12191" y="0"/>
                  </a:lnTo>
                  <a:close/>
                </a:path>
                <a:path w="24764" h="22860" extrusionOk="0">
                  <a:moveTo>
                    <a:pt x="24510" y="0"/>
                  </a:moveTo>
                  <a:lnTo>
                    <a:pt x="12191" y="0"/>
                  </a:lnTo>
                  <a:lnTo>
                    <a:pt x="12191" y="11302"/>
                  </a:lnTo>
                  <a:lnTo>
                    <a:pt x="24510" y="11302"/>
                  </a:lnTo>
                  <a:lnTo>
                    <a:pt x="24510"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3" name="Google Shape;1313;p46"/>
            <p:cNvSpPr/>
            <p:nvPr/>
          </p:nvSpPr>
          <p:spPr>
            <a:xfrm>
              <a:off x="2924810" y="3012820"/>
              <a:ext cx="24765" cy="22860"/>
            </a:xfrm>
            <a:custGeom>
              <a:avLst/>
              <a:gdLst/>
              <a:ahLst/>
              <a:cxnLst/>
              <a:rect l="l" t="t" r="r" b="b"/>
              <a:pathLst>
                <a:path w="24764" h="22860" extrusionOk="0">
                  <a:moveTo>
                    <a:pt x="12191" y="11302"/>
                  </a:moveTo>
                  <a:lnTo>
                    <a:pt x="12191" y="0"/>
                  </a:lnTo>
                  <a:lnTo>
                    <a:pt x="0" y="0"/>
                  </a:lnTo>
                  <a:lnTo>
                    <a:pt x="0" y="11302"/>
                  </a:lnTo>
                  <a:lnTo>
                    <a:pt x="0" y="22732"/>
                  </a:lnTo>
                  <a:lnTo>
                    <a:pt x="12191" y="22732"/>
                  </a:lnTo>
                  <a:lnTo>
                    <a:pt x="24510" y="22732"/>
                  </a:lnTo>
                  <a:lnTo>
                    <a:pt x="24510" y="11302"/>
                  </a:lnTo>
                  <a:lnTo>
                    <a:pt x="24510" y="0"/>
                  </a:lnTo>
                  <a:lnTo>
                    <a:pt x="12191" y="0"/>
                  </a:lnTo>
                  <a:lnTo>
                    <a:pt x="12191" y="11302"/>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4" name="Google Shape;1314;p46"/>
            <p:cNvSpPr/>
            <p:nvPr/>
          </p:nvSpPr>
          <p:spPr>
            <a:xfrm>
              <a:off x="2912618" y="3012820"/>
              <a:ext cx="36830" cy="34290"/>
            </a:xfrm>
            <a:custGeom>
              <a:avLst/>
              <a:gdLst/>
              <a:ahLst/>
              <a:cxnLst/>
              <a:rect l="l" t="t" r="r" b="b"/>
              <a:pathLst>
                <a:path w="36830" h="34289" extrusionOk="0">
                  <a:moveTo>
                    <a:pt x="24383" y="0"/>
                  </a:moveTo>
                  <a:lnTo>
                    <a:pt x="12192" y="11302"/>
                  </a:lnTo>
                  <a:lnTo>
                    <a:pt x="0" y="22732"/>
                  </a:lnTo>
                  <a:lnTo>
                    <a:pt x="12192" y="22732"/>
                  </a:lnTo>
                  <a:lnTo>
                    <a:pt x="24383" y="34036"/>
                  </a:lnTo>
                  <a:lnTo>
                    <a:pt x="24383" y="22732"/>
                  </a:lnTo>
                  <a:lnTo>
                    <a:pt x="36702" y="22732"/>
                  </a:lnTo>
                  <a:lnTo>
                    <a:pt x="24383" y="11302"/>
                  </a:lnTo>
                  <a:lnTo>
                    <a:pt x="24383"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5" name="Google Shape;1315;p46"/>
            <p:cNvSpPr/>
            <p:nvPr/>
          </p:nvSpPr>
          <p:spPr>
            <a:xfrm>
              <a:off x="2924810" y="2452242"/>
              <a:ext cx="24765" cy="22860"/>
            </a:xfrm>
            <a:custGeom>
              <a:avLst/>
              <a:gdLst/>
              <a:ahLst/>
              <a:cxnLst/>
              <a:rect l="l" t="t" r="r" b="b"/>
              <a:pathLst>
                <a:path w="24764" h="22860" extrusionOk="0">
                  <a:moveTo>
                    <a:pt x="12191" y="0"/>
                  </a:moveTo>
                  <a:lnTo>
                    <a:pt x="0" y="0"/>
                  </a:lnTo>
                  <a:lnTo>
                    <a:pt x="0" y="22733"/>
                  </a:lnTo>
                  <a:lnTo>
                    <a:pt x="24510" y="22733"/>
                  </a:lnTo>
                  <a:lnTo>
                    <a:pt x="24510" y="11303"/>
                  </a:lnTo>
                  <a:lnTo>
                    <a:pt x="12191" y="11303"/>
                  </a:lnTo>
                  <a:lnTo>
                    <a:pt x="12191" y="0"/>
                  </a:lnTo>
                  <a:close/>
                </a:path>
                <a:path w="24764" h="22860" extrusionOk="0">
                  <a:moveTo>
                    <a:pt x="24510" y="0"/>
                  </a:moveTo>
                  <a:lnTo>
                    <a:pt x="12191" y="0"/>
                  </a:lnTo>
                  <a:lnTo>
                    <a:pt x="12191" y="11303"/>
                  </a:lnTo>
                  <a:lnTo>
                    <a:pt x="24510" y="11303"/>
                  </a:lnTo>
                  <a:lnTo>
                    <a:pt x="24510"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6" name="Google Shape;1316;p46"/>
            <p:cNvSpPr/>
            <p:nvPr/>
          </p:nvSpPr>
          <p:spPr>
            <a:xfrm>
              <a:off x="2924810" y="2452242"/>
              <a:ext cx="24765" cy="22860"/>
            </a:xfrm>
            <a:custGeom>
              <a:avLst/>
              <a:gdLst/>
              <a:ahLst/>
              <a:cxnLst/>
              <a:rect l="l" t="t" r="r" b="b"/>
              <a:pathLst>
                <a:path w="24764" h="22860" extrusionOk="0">
                  <a:moveTo>
                    <a:pt x="12191" y="11303"/>
                  </a:moveTo>
                  <a:lnTo>
                    <a:pt x="12191" y="0"/>
                  </a:lnTo>
                  <a:lnTo>
                    <a:pt x="0" y="0"/>
                  </a:lnTo>
                  <a:lnTo>
                    <a:pt x="0" y="11303"/>
                  </a:lnTo>
                  <a:lnTo>
                    <a:pt x="0" y="22733"/>
                  </a:lnTo>
                  <a:lnTo>
                    <a:pt x="12191" y="22733"/>
                  </a:lnTo>
                  <a:lnTo>
                    <a:pt x="24510" y="22733"/>
                  </a:lnTo>
                  <a:lnTo>
                    <a:pt x="24510" y="11303"/>
                  </a:lnTo>
                  <a:lnTo>
                    <a:pt x="24510" y="0"/>
                  </a:lnTo>
                  <a:lnTo>
                    <a:pt x="12191" y="0"/>
                  </a:lnTo>
                  <a:lnTo>
                    <a:pt x="12191"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7" name="Google Shape;1317;p46"/>
            <p:cNvSpPr/>
            <p:nvPr/>
          </p:nvSpPr>
          <p:spPr>
            <a:xfrm>
              <a:off x="2924810" y="2452242"/>
              <a:ext cx="36830" cy="34290"/>
            </a:xfrm>
            <a:custGeom>
              <a:avLst/>
              <a:gdLst/>
              <a:ahLst/>
              <a:cxnLst/>
              <a:rect l="l" t="t" r="r" b="b"/>
              <a:pathLst>
                <a:path w="36830" h="34289" extrusionOk="0">
                  <a:moveTo>
                    <a:pt x="24510" y="0"/>
                  </a:moveTo>
                  <a:lnTo>
                    <a:pt x="12191" y="11303"/>
                  </a:lnTo>
                  <a:lnTo>
                    <a:pt x="0" y="22733"/>
                  </a:lnTo>
                  <a:lnTo>
                    <a:pt x="12191" y="22733"/>
                  </a:lnTo>
                  <a:lnTo>
                    <a:pt x="24510" y="34036"/>
                  </a:lnTo>
                  <a:lnTo>
                    <a:pt x="24510" y="22733"/>
                  </a:lnTo>
                  <a:lnTo>
                    <a:pt x="36702" y="22733"/>
                  </a:lnTo>
                  <a:lnTo>
                    <a:pt x="24510" y="11303"/>
                  </a:lnTo>
                  <a:lnTo>
                    <a:pt x="2451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18" name="Google Shape;1318;p46"/>
            <p:cNvSpPr/>
            <p:nvPr/>
          </p:nvSpPr>
          <p:spPr>
            <a:xfrm>
              <a:off x="1975865" y="2016442"/>
              <a:ext cx="1085215" cy="2026920"/>
            </a:xfrm>
            <a:custGeom>
              <a:avLst/>
              <a:gdLst/>
              <a:ahLst/>
              <a:cxnLst/>
              <a:rect l="l" t="t" r="r" b="b"/>
              <a:pathLst>
                <a:path w="1085214" h="2026920" extrusionOk="0">
                  <a:moveTo>
                    <a:pt x="837438" y="343471"/>
                  </a:moveTo>
                  <a:lnTo>
                    <a:pt x="1084986" y="343471"/>
                  </a:lnTo>
                  <a:lnTo>
                    <a:pt x="1084986" y="0"/>
                  </a:lnTo>
                  <a:lnTo>
                    <a:pt x="837438" y="0"/>
                  </a:lnTo>
                  <a:lnTo>
                    <a:pt x="837438" y="343471"/>
                  </a:lnTo>
                  <a:close/>
                </a:path>
                <a:path w="1085214" h="2026920" extrusionOk="0">
                  <a:moveTo>
                    <a:pt x="837438" y="1466151"/>
                  </a:moveTo>
                  <a:lnTo>
                    <a:pt x="1084986" y="1466151"/>
                  </a:lnTo>
                  <a:lnTo>
                    <a:pt x="1084986" y="1122680"/>
                  </a:lnTo>
                  <a:lnTo>
                    <a:pt x="837438" y="1122680"/>
                  </a:lnTo>
                  <a:lnTo>
                    <a:pt x="837438" y="1466151"/>
                  </a:lnTo>
                  <a:close/>
                </a:path>
                <a:path w="1085214" h="2026920" extrusionOk="0">
                  <a:moveTo>
                    <a:pt x="837438" y="904176"/>
                  </a:moveTo>
                  <a:lnTo>
                    <a:pt x="1084986" y="904176"/>
                  </a:lnTo>
                  <a:lnTo>
                    <a:pt x="1084986" y="560705"/>
                  </a:lnTo>
                  <a:lnTo>
                    <a:pt x="837438" y="560705"/>
                  </a:lnTo>
                  <a:lnTo>
                    <a:pt x="837438" y="904176"/>
                  </a:lnTo>
                  <a:close/>
                </a:path>
                <a:path w="1085214" h="2026920" extrusionOk="0">
                  <a:moveTo>
                    <a:pt x="837438" y="2026729"/>
                  </a:moveTo>
                  <a:lnTo>
                    <a:pt x="1084986" y="2026729"/>
                  </a:lnTo>
                  <a:lnTo>
                    <a:pt x="1084986" y="1683258"/>
                  </a:lnTo>
                  <a:lnTo>
                    <a:pt x="837438" y="1683258"/>
                  </a:lnTo>
                  <a:lnTo>
                    <a:pt x="837438" y="2026729"/>
                  </a:lnTo>
                  <a:close/>
                </a:path>
                <a:path w="1085214" h="2026920" extrusionOk="0">
                  <a:moveTo>
                    <a:pt x="0" y="1466151"/>
                  </a:moveTo>
                  <a:lnTo>
                    <a:pt x="233794" y="1466151"/>
                  </a:lnTo>
                  <a:lnTo>
                    <a:pt x="233794" y="1122680"/>
                  </a:lnTo>
                  <a:lnTo>
                    <a:pt x="0" y="1122680"/>
                  </a:lnTo>
                  <a:lnTo>
                    <a:pt x="0" y="1466151"/>
                  </a:lnTo>
                  <a:close/>
                </a:path>
                <a:path w="1085214" h="2026920" extrusionOk="0">
                  <a:moveTo>
                    <a:pt x="0" y="904176"/>
                  </a:moveTo>
                  <a:lnTo>
                    <a:pt x="233794" y="904176"/>
                  </a:lnTo>
                  <a:lnTo>
                    <a:pt x="233794" y="560705"/>
                  </a:lnTo>
                  <a:lnTo>
                    <a:pt x="0" y="560705"/>
                  </a:lnTo>
                  <a:lnTo>
                    <a:pt x="0" y="904176"/>
                  </a:lnTo>
                  <a:close/>
                </a:path>
                <a:path w="1085214" h="2026920" extrusionOk="0">
                  <a:moveTo>
                    <a:pt x="0" y="2026729"/>
                  </a:moveTo>
                  <a:lnTo>
                    <a:pt x="233794" y="2026729"/>
                  </a:lnTo>
                  <a:lnTo>
                    <a:pt x="233794" y="1683258"/>
                  </a:lnTo>
                  <a:lnTo>
                    <a:pt x="0" y="1683258"/>
                  </a:lnTo>
                  <a:lnTo>
                    <a:pt x="0" y="2026729"/>
                  </a:lnTo>
                  <a:close/>
                </a:path>
                <a:path w="1085214" h="2026920" extrusionOk="0">
                  <a:moveTo>
                    <a:pt x="0" y="343471"/>
                  </a:moveTo>
                  <a:lnTo>
                    <a:pt x="233794" y="343471"/>
                  </a:lnTo>
                  <a:lnTo>
                    <a:pt x="233794" y="0"/>
                  </a:lnTo>
                  <a:lnTo>
                    <a:pt x="0" y="0"/>
                  </a:lnTo>
                  <a:lnTo>
                    <a:pt x="0" y="343471"/>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
        <p:nvSpPr>
          <p:cNvPr id="1319" name="Google Shape;1319;p46"/>
          <p:cNvSpPr txBox="1"/>
          <p:nvPr/>
        </p:nvSpPr>
        <p:spPr>
          <a:xfrm>
            <a:off x="2044701" y="1711198"/>
            <a:ext cx="102235"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A</a:t>
            </a:r>
            <a:endParaRPr sz="900">
              <a:solidFill>
                <a:schemeClr val="dk1"/>
              </a:solidFill>
              <a:latin typeface="Helvetica Neue"/>
              <a:ea typeface="Helvetica Neue"/>
              <a:cs typeface="Helvetica Neue"/>
              <a:sym typeface="Helvetica Neue"/>
            </a:endParaRPr>
          </a:p>
        </p:txBody>
      </p:sp>
      <p:sp>
        <p:nvSpPr>
          <p:cNvPr id="1320" name="Google Shape;1320;p46"/>
          <p:cNvSpPr txBox="1"/>
          <p:nvPr/>
        </p:nvSpPr>
        <p:spPr>
          <a:xfrm>
            <a:off x="2130349" y="1782572"/>
            <a:ext cx="67945" cy="105157"/>
          </a:xfrm>
          <a:prstGeom prst="rect">
            <a:avLst/>
          </a:prstGeom>
          <a:noFill/>
          <a:ln>
            <a:noFill/>
          </a:ln>
        </p:spPr>
        <p:txBody>
          <a:bodyPr spcFirstLastPara="1" wrap="square" lIns="0" tIns="12700" rIns="0" bIns="0" anchor="t" anchorCtr="0">
            <a:spAutoFit/>
          </a:bodyPr>
          <a:lstStyle/>
          <a:p>
            <a:pPr marL="12700"/>
            <a:r>
              <a:rPr lang="en-US" sz="600">
                <a:solidFill>
                  <a:schemeClr val="dk1"/>
                </a:solidFill>
                <a:latin typeface="Helvetica Neue"/>
                <a:ea typeface="Helvetica Neue"/>
                <a:cs typeface="Helvetica Neue"/>
                <a:sym typeface="Helvetica Neue"/>
              </a:rPr>
              <a:t>0</a:t>
            </a:r>
            <a:endParaRPr sz="600">
              <a:solidFill>
                <a:schemeClr val="dk1"/>
              </a:solidFill>
              <a:latin typeface="Helvetica Neue"/>
              <a:ea typeface="Helvetica Neue"/>
              <a:cs typeface="Helvetica Neue"/>
              <a:sym typeface="Helvetica Neue"/>
            </a:endParaRPr>
          </a:p>
        </p:txBody>
      </p:sp>
      <p:sp>
        <p:nvSpPr>
          <p:cNvPr id="1321" name="Google Shape;1321;p46"/>
          <p:cNvSpPr txBox="1"/>
          <p:nvPr/>
        </p:nvSpPr>
        <p:spPr>
          <a:xfrm>
            <a:off x="2019300" y="1826515"/>
            <a:ext cx="204470" cy="151323"/>
          </a:xfrm>
          <a:prstGeom prst="rect">
            <a:avLst/>
          </a:prstGeom>
          <a:noFill/>
          <a:ln>
            <a:noFill/>
          </a:ln>
        </p:spPr>
        <p:txBody>
          <a:bodyPr spcFirstLastPara="1" wrap="square" lIns="0" tIns="12700" rIns="0" bIns="0" anchor="t" anchorCtr="0">
            <a:spAutoFit/>
          </a:bodyPr>
          <a:lstStyle/>
          <a:p>
            <a:pPr marL="38100"/>
            <a:r>
              <a:rPr lang="en-US" sz="900">
                <a:solidFill>
                  <a:schemeClr val="dk1"/>
                </a:solidFill>
                <a:latin typeface="Helvetica Neue"/>
                <a:ea typeface="Helvetica Neue"/>
                <a:cs typeface="Helvetica Neue"/>
                <a:sym typeface="Helvetica Neue"/>
              </a:rPr>
              <a:t>A</a:t>
            </a:r>
            <a:r>
              <a:rPr lang="en-US" sz="900" baseline="-25000">
                <a:solidFill>
                  <a:schemeClr val="dk1"/>
                </a:solidFill>
                <a:latin typeface="Helvetica Neue"/>
                <a:ea typeface="Helvetica Neue"/>
                <a:cs typeface="Helvetica Neue"/>
                <a:sym typeface="Helvetica Neue"/>
              </a:rPr>
              <a:t>1</a:t>
            </a:r>
            <a:endParaRPr sz="900" baseline="-25000">
              <a:solidFill>
                <a:schemeClr val="dk1"/>
              </a:solidFill>
              <a:latin typeface="Helvetica Neue"/>
              <a:ea typeface="Helvetica Neue"/>
              <a:cs typeface="Helvetica Neue"/>
              <a:sym typeface="Helvetica Neue"/>
            </a:endParaRPr>
          </a:p>
        </p:txBody>
      </p:sp>
      <p:sp>
        <p:nvSpPr>
          <p:cNvPr id="1322" name="Google Shape;1322;p46"/>
          <p:cNvSpPr txBox="1"/>
          <p:nvPr/>
        </p:nvSpPr>
        <p:spPr>
          <a:xfrm>
            <a:off x="2574938" y="1886203"/>
            <a:ext cx="227965" cy="197490"/>
          </a:xfrm>
          <a:prstGeom prst="rect">
            <a:avLst/>
          </a:prstGeom>
          <a:noFill/>
          <a:ln>
            <a:noFill/>
          </a:ln>
        </p:spPr>
        <p:txBody>
          <a:bodyPr spcFirstLastPara="1" wrap="square" lIns="0" tIns="12700" rIns="0" bIns="0" anchor="t" anchorCtr="0">
            <a:spAutoFit/>
          </a:bodyPr>
          <a:lstStyle/>
          <a:p>
            <a:pPr marL="12700"/>
            <a:r>
              <a:rPr lang="en-US" sz="600" u="sng">
                <a:solidFill>
                  <a:schemeClr val="dk1"/>
                </a:solidFill>
                <a:latin typeface="Helvetica Neue"/>
                <a:ea typeface="Helvetica Neue"/>
                <a:cs typeface="Helvetica Neue"/>
                <a:sym typeface="Helvetica Neue"/>
              </a:rPr>
              <a:t> 	</a:t>
            </a:r>
            <a:endParaRPr sz="600">
              <a:solidFill>
                <a:schemeClr val="dk1"/>
              </a:solidFill>
              <a:latin typeface="Helvetica Neue"/>
              <a:ea typeface="Helvetica Neue"/>
              <a:cs typeface="Helvetica Neue"/>
              <a:sym typeface="Helvetica Neue"/>
            </a:endParaRPr>
          </a:p>
        </p:txBody>
      </p:sp>
      <p:grpSp>
        <p:nvGrpSpPr>
          <p:cNvPr id="1323" name="Google Shape;1323;p46"/>
          <p:cNvGrpSpPr/>
          <p:nvPr/>
        </p:nvGrpSpPr>
        <p:grpSpPr>
          <a:xfrm>
            <a:off x="2469743" y="1815719"/>
            <a:ext cx="4135398" cy="2672460"/>
            <a:chOff x="945743" y="1815719"/>
            <a:chExt cx="4135398" cy="2672460"/>
          </a:xfrm>
        </p:grpSpPr>
        <p:sp>
          <p:nvSpPr>
            <p:cNvPr id="1324" name="Google Shape;1324;p46"/>
            <p:cNvSpPr/>
            <p:nvPr/>
          </p:nvSpPr>
          <p:spPr>
            <a:xfrm>
              <a:off x="1852168" y="3035554"/>
              <a:ext cx="2445385" cy="996315"/>
            </a:xfrm>
            <a:custGeom>
              <a:avLst/>
              <a:gdLst/>
              <a:ahLst/>
              <a:cxnLst/>
              <a:rect l="l" t="t" r="r" b="b"/>
              <a:pathLst>
                <a:path w="2445385" h="996314" extrusionOk="0">
                  <a:moveTo>
                    <a:pt x="2444877" y="0"/>
                  </a:moveTo>
                  <a:lnTo>
                    <a:pt x="1688465" y="1397"/>
                  </a:lnTo>
                </a:path>
                <a:path w="2445385" h="996314" extrusionOk="0">
                  <a:moveTo>
                    <a:pt x="12192" y="996315"/>
                  </a:moveTo>
                  <a:lnTo>
                    <a:pt x="36575" y="962279"/>
                  </a:lnTo>
                  <a:lnTo>
                    <a:pt x="0" y="985012"/>
                  </a:lnTo>
                  <a:lnTo>
                    <a:pt x="12192" y="996315"/>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25" name="Google Shape;1325;p46"/>
            <p:cNvSpPr/>
            <p:nvPr/>
          </p:nvSpPr>
          <p:spPr>
            <a:xfrm>
              <a:off x="1852168" y="3997833"/>
              <a:ext cx="36830" cy="34290"/>
            </a:xfrm>
            <a:custGeom>
              <a:avLst/>
              <a:gdLst/>
              <a:ahLst/>
              <a:cxnLst/>
              <a:rect l="l" t="t" r="r" b="b"/>
              <a:pathLst>
                <a:path w="36830" h="34289" extrusionOk="0">
                  <a:moveTo>
                    <a:pt x="36575" y="0"/>
                  </a:moveTo>
                  <a:lnTo>
                    <a:pt x="0" y="22733"/>
                  </a:lnTo>
                  <a:lnTo>
                    <a:pt x="12192" y="34036"/>
                  </a:lnTo>
                  <a:lnTo>
                    <a:pt x="36575" y="0"/>
                  </a:lnTo>
                  <a:close/>
                </a:path>
              </a:pathLst>
            </a:custGeom>
            <a:solidFill>
              <a:srgbClr val="000000"/>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26" name="Google Shape;1326;p46"/>
            <p:cNvSpPr/>
            <p:nvPr/>
          </p:nvSpPr>
          <p:spPr>
            <a:xfrm>
              <a:off x="1852168" y="3997833"/>
              <a:ext cx="36830" cy="34290"/>
            </a:xfrm>
            <a:custGeom>
              <a:avLst/>
              <a:gdLst/>
              <a:ahLst/>
              <a:cxnLst/>
              <a:rect l="l" t="t" r="r" b="b"/>
              <a:pathLst>
                <a:path w="36830" h="34289" extrusionOk="0">
                  <a:moveTo>
                    <a:pt x="12192" y="34036"/>
                  </a:moveTo>
                  <a:lnTo>
                    <a:pt x="36575" y="0"/>
                  </a:lnTo>
                  <a:lnTo>
                    <a:pt x="0" y="22733"/>
                  </a:lnTo>
                  <a:lnTo>
                    <a:pt x="12192" y="3403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27" name="Google Shape;1327;p46"/>
            <p:cNvSpPr/>
            <p:nvPr/>
          </p:nvSpPr>
          <p:spPr>
            <a:xfrm>
              <a:off x="1569466" y="4031869"/>
              <a:ext cx="295275" cy="354965"/>
            </a:xfrm>
            <a:custGeom>
              <a:avLst/>
              <a:gdLst/>
              <a:ahLst/>
              <a:cxnLst/>
              <a:rect l="l" t="t" r="r" b="b"/>
              <a:pathLst>
                <a:path w="295275" h="354964" extrusionOk="0">
                  <a:moveTo>
                    <a:pt x="294894" y="0"/>
                  </a:moveTo>
                  <a:lnTo>
                    <a:pt x="0" y="354837"/>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28" name="Google Shape;1328;p46"/>
            <p:cNvPicPr preferRelativeResize="0"/>
            <p:nvPr/>
          </p:nvPicPr>
          <p:blipFill rotWithShape="1">
            <a:blip r:embed="rId3">
              <a:alphaModFix/>
            </a:blip>
            <a:srcRect/>
            <a:stretch/>
          </p:blipFill>
          <p:spPr>
            <a:xfrm>
              <a:off x="945743" y="1815719"/>
              <a:ext cx="87579" cy="471169"/>
            </a:xfrm>
            <a:prstGeom prst="rect">
              <a:avLst/>
            </a:prstGeom>
            <a:noFill/>
            <a:ln>
              <a:noFill/>
            </a:ln>
          </p:spPr>
        </p:pic>
        <p:pic>
          <p:nvPicPr>
            <p:cNvPr id="1329" name="Google Shape;1329;p46"/>
            <p:cNvPicPr preferRelativeResize="0"/>
            <p:nvPr/>
          </p:nvPicPr>
          <p:blipFill rotWithShape="1">
            <a:blip r:embed="rId4">
              <a:alphaModFix/>
            </a:blip>
            <a:srcRect/>
            <a:stretch/>
          </p:blipFill>
          <p:spPr>
            <a:xfrm>
              <a:off x="3054477" y="2125091"/>
              <a:ext cx="221996" cy="114935"/>
            </a:xfrm>
            <a:prstGeom prst="rect">
              <a:avLst/>
            </a:prstGeom>
            <a:noFill/>
            <a:ln>
              <a:noFill/>
            </a:ln>
          </p:spPr>
        </p:pic>
        <p:pic>
          <p:nvPicPr>
            <p:cNvPr id="1330" name="Google Shape;1330;p46"/>
            <p:cNvPicPr preferRelativeResize="0"/>
            <p:nvPr/>
          </p:nvPicPr>
          <p:blipFill rotWithShape="1">
            <a:blip r:embed="rId5">
              <a:alphaModFix/>
            </a:blip>
            <a:srcRect/>
            <a:stretch/>
          </p:blipFill>
          <p:spPr>
            <a:xfrm>
              <a:off x="3054477" y="2697099"/>
              <a:ext cx="221996" cy="104901"/>
            </a:xfrm>
            <a:prstGeom prst="rect">
              <a:avLst/>
            </a:prstGeom>
            <a:noFill/>
            <a:ln>
              <a:noFill/>
            </a:ln>
          </p:spPr>
        </p:pic>
        <p:pic>
          <p:nvPicPr>
            <p:cNvPr id="1331" name="Google Shape;1331;p46"/>
            <p:cNvPicPr preferRelativeResize="0"/>
            <p:nvPr/>
          </p:nvPicPr>
          <p:blipFill rotWithShape="1">
            <a:blip r:embed="rId6">
              <a:alphaModFix/>
            </a:blip>
            <a:srcRect/>
            <a:stretch/>
          </p:blipFill>
          <p:spPr>
            <a:xfrm>
              <a:off x="3054477" y="3257677"/>
              <a:ext cx="221996" cy="116332"/>
            </a:xfrm>
            <a:prstGeom prst="rect">
              <a:avLst/>
            </a:prstGeom>
            <a:noFill/>
            <a:ln>
              <a:noFill/>
            </a:ln>
          </p:spPr>
        </p:pic>
        <p:pic>
          <p:nvPicPr>
            <p:cNvPr id="1332" name="Google Shape;1332;p46"/>
            <p:cNvPicPr preferRelativeResize="0"/>
            <p:nvPr/>
          </p:nvPicPr>
          <p:blipFill rotWithShape="1">
            <a:blip r:embed="rId7">
              <a:alphaModFix/>
            </a:blip>
            <a:srcRect/>
            <a:stretch/>
          </p:blipFill>
          <p:spPr>
            <a:xfrm>
              <a:off x="3054477" y="3819779"/>
              <a:ext cx="221996" cy="103504"/>
            </a:xfrm>
            <a:prstGeom prst="rect">
              <a:avLst/>
            </a:prstGeom>
            <a:noFill/>
            <a:ln>
              <a:noFill/>
            </a:ln>
          </p:spPr>
        </p:pic>
        <p:sp>
          <p:nvSpPr>
            <p:cNvPr id="1333" name="Google Shape;1333;p46"/>
            <p:cNvSpPr/>
            <p:nvPr/>
          </p:nvSpPr>
          <p:spPr>
            <a:xfrm>
              <a:off x="3270123" y="2210943"/>
              <a:ext cx="1905" cy="1638300"/>
            </a:xfrm>
            <a:custGeom>
              <a:avLst/>
              <a:gdLst/>
              <a:ahLst/>
              <a:cxnLst/>
              <a:rect l="l" t="t" r="r" b="b"/>
              <a:pathLst>
                <a:path w="1904" h="1638300" extrusionOk="0">
                  <a:moveTo>
                    <a:pt x="0" y="515239"/>
                  </a:moveTo>
                  <a:lnTo>
                    <a:pt x="1650" y="0"/>
                  </a:lnTo>
                </a:path>
                <a:path w="1904" h="1638300" extrusionOk="0">
                  <a:moveTo>
                    <a:pt x="0" y="1077214"/>
                  </a:moveTo>
                  <a:lnTo>
                    <a:pt x="1650" y="561975"/>
                  </a:lnTo>
                </a:path>
                <a:path w="1904" h="1638300" extrusionOk="0">
                  <a:moveTo>
                    <a:pt x="0" y="1637792"/>
                  </a:moveTo>
                  <a:lnTo>
                    <a:pt x="1650" y="112268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34" name="Google Shape;1334;p46"/>
            <p:cNvPicPr preferRelativeResize="0"/>
            <p:nvPr/>
          </p:nvPicPr>
          <p:blipFill rotWithShape="1">
            <a:blip r:embed="rId8">
              <a:alphaModFix/>
            </a:blip>
            <a:srcRect/>
            <a:stretch/>
          </p:blipFill>
          <p:spPr>
            <a:xfrm>
              <a:off x="3243961" y="4285860"/>
              <a:ext cx="118110" cy="202319"/>
            </a:xfrm>
            <a:prstGeom prst="rect">
              <a:avLst/>
            </a:prstGeom>
            <a:noFill/>
            <a:ln>
              <a:noFill/>
            </a:ln>
          </p:spPr>
        </p:pic>
        <p:sp>
          <p:nvSpPr>
            <p:cNvPr id="1335" name="Google Shape;1335;p46"/>
            <p:cNvSpPr/>
            <p:nvPr/>
          </p:nvSpPr>
          <p:spPr>
            <a:xfrm>
              <a:off x="3270123" y="2165477"/>
              <a:ext cx="62865" cy="2130425"/>
            </a:xfrm>
            <a:custGeom>
              <a:avLst/>
              <a:gdLst/>
              <a:ahLst/>
              <a:cxnLst/>
              <a:rect l="l" t="t" r="r" b="b"/>
              <a:pathLst>
                <a:path w="62864" h="2130425" extrusionOk="0">
                  <a:moveTo>
                    <a:pt x="0" y="2118995"/>
                  </a:moveTo>
                  <a:lnTo>
                    <a:pt x="1650" y="1728724"/>
                  </a:lnTo>
                </a:path>
                <a:path w="62864" h="2130425" extrusionOk="0">
                  <a:moveTo>
                    <a:pt x="61213" y="2130425"/>
                  </a:moveTo>
                  <a:lnTo>
                    <a:pt x="62737"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36" name="Google Shape;1336;p46"/>
            <p:cNvSpPr/>
            <p:nvPr/>
          </p:nvSpPr>
          <p:spPr>
            <a:xfrm>
              <a:off x="3257930" y="2161286"/>
              <a:ext cx="61594" cy="1905"/>
            </a:xfrm>
            <a:custGeom>
              <a:avLst/>
              <a:gdLst/>
              <a:ahLst/>
              <a:cxnLst/>
              <a:rect l="l" t="t" r="r" b="b"/>
              <a:pathLst>
                <a:path w="61595" h="1905" extrusionOk="0">
                  <a:moveTo>
                    <a:pt x="-6350" y="698"/>
                  </a:moveTo>
                  <a:lnTo>
                    <a:pt x="67436" y="698"/>
                  </a:lnTo>
                </a:path>
              </a:pathLst>
            </a:custGeom>
            <a:noFill/>
            <a:ln w="140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37" name="Google Shape;1337;p46"/>
            <p:cNvPicPr preferRelativeResize="0"/>
            <p:nvPr/>
          </p:nvPicPr>
          <p:blipFill rotWithShape="1">
            <a:blip r:embed="rId9">
              <a:alphaModFix/>
            </a:blip>
            <a:srcRect/>
            <a:stretch/>
          </p:blipFill>
          <p:spPr>
            <a:xfrm>
              <a:off x="2203323" y="2125091"/>
              <a:ext cx="222122" cy="114935"/>
            </a:xfrm>
            <a:prstGeom prst="rect">
              <a:avLst/>
            </a:prstGeom>
            <a:noFill/>
            <a:ln>
              <a:noFill/>
            </a:ln>
          </p:spPr>
        </p:pic>
        <p:pic>
          <p:nvPicPr>
            <p:cNvPr id="1338" name="Google Shape;1338;p46"/>
            <p:cNvPicPr preferRelativeResize="0"/>
            <p:nvPr/>
          </p:nvPicPr>
          <p:blipFill rotWithShape="1">
            <a:blip r:embed="rId10">
              <a:alphaModFix/>
            </a:blip>
            <a:srcRect/>
            <a:stretch/>
          </p:blipFill>
          <p:spPr>
            <a:xfrm>
              <a:off x="2203323" y="2697099"/>
              <a:ext cx="222122" cy="104901"/>
            </a:xfrm>
            <a:prstGeom prst="rect">
              <a:avLst/>
            </a:prstGeom>
            <a:noFill/>
            <a:ln>
              <a:noFill/>
            </a:ln>
          </p:spPr>
        </p:pic>
        <p:pic>
          <p:nvPicPr>
            <p:cNvPr id="1339" name="Google Shape;1339;p46"/>
            <p:cNvPicPr preferRelativeResize="0"/>
            <p:nvPr/>
          </p:nvPicPr>
          <p:blipFill rotWithShape="1">
            <a:blip r:embed="rId11">
              <a:alphaModFix/>
            </a:blip>
            <a:srcRect/>
            <a:stretch/>
          </p:blipFill>
          <p:spPr>
            <a:xfrm>
              <a:off x="2203323" y="3257677"/>
              <a:ext cx="222122" cy="116332"/>
            </a:xfrm>
            <a:prstGeom prst="rect">
              <a:avLst/>
            </a:prstGeom>
            <a:noFill/>
            <a:ln>
              <a:noFill/>
            </a:ln>
          </p:spPr>
        </p:pic>
        <p:pic>
          <p:nvPicPr>
            <p:cNvPr id="1340" name="Google Shape;1340;p46"/>
            <p:cNvPicPr preferRelativeResize="0"/>
            <p:nvPr/>
          </p:nvPicPr>
          <p:blipFill rotWithShape="1">
            <a:blip r:embed="rId12">
              <a:alphaModFix/>
            </a:blip>
            <a:srcRect/>
            <a:stretch/>
          </p:blipFill>
          <p:spPr>
            <a:xfrm>
              <a:off x="2203323" y="3819779"/>
              <a:ext cx="222122" cy="103504"/>
            </a:xfrm>
            <a:prstGeom prst="rect">
              <a:avLst/>
            </a:prstGeom>
            <a:noFill/>
            <a:ln>
              <a:noFill/>
            </a:ln>
          </p:spPr>
        </p:pic>
        <p:sp>
          <p:nvSpPr>
            <p:cNvPr id="1341" name="Google Shape;1341;p46"/>
            <p:cNvSpPr/>
            <p:nvPr/>
          </p:nvSpPr>
          <p:spPr>
            <a:xfrm>
              <a:off x="2419096" y="2210943"/>
              <a:ext cx="1905" cy="1638300"/>
            </a:xfrm>
            <a:custGeom>
              <a:avLst/>
              <a:gdLst/>
              <a:ahLst/>
              <a:cxnLst/>
              <a:rect l="l" t="t" r="r" b="b"/>
              <a:pathLst>
                <a:path w="1905" h="1638300" extrusionOk="0">
                  <a:moveTo>
                    <a:pt x="0" y="515239"/>
                  </a:moveTo>
                  <a:lnTo>
                    <a:pt x="1524" y="0"/>
                  </a:lnTo>
                </a:path>
                <a:path w="1905" h="1638300" extrusionOk="0">
                  <a:moveTo>
                    <a:pt x="0" y="1077214"/>
                  </a:moveTo>
                  <a:lnTo>
                    <a:pt x="1524" y="561975"/>
                  </a:lnTo>
                </a:path>
                <a:path w="1905" h="1638300" extrusionOk="0">
                  <a:moveTo>
                    <a:pt x="0" y="1637792"/>
                  </a:moveTo>
                  <a:lnTo>
                    <a:pt x="1524" y="112268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42" name="Google Shape;1342;p46"/>
            <p:cNvPicPr preferRelativeResize="0"/>
            <p:nvPr/>
          </p:nvPicPr>
          <p:blipFill rotWithShape="1">
            <a:blip r:embed="rId8">
              <a:alphaModFix/>
            </a:blip>
            <a:srcRect/>
            <a:stretch/>
          </p:blipFill>
          <p:spPr>
            <a:xfrm>
              <a:off x="2392807" y="4285860"/>
              <a:ext cx="118110" cy="202319"/>
            </a:xfrm>
            <a:prstGeom prst="rect">
              <a:avLst/>
            </a:prstGeom>
            <a:noFill/>
            <a:ln>
              <a:noFill/>
            </a:ln>
          </p:spPr>
        </p:pic>
        <p:sp>
          <p:nvSpPr>
            <p:cNvPr id="1343" name="Google Shape;1343;p46"/>
            <p:cNvSpPr/>
            <p:nvPr/>
          </p:nvSpPr>
          <p:spPr>
            <a:xfrm>
              <a:off x="2419096" y="2165477"/>
              <a:ext cx="64135" cy="2130425"/>
            </a:xfrm>
            <a:custGeom>
              <a:avLst/>
              <a:gdLst/>
              <a:ahLst/>
              <a:cxnLst/>
              <a:rect l="l" t="t" r="r" b="b"/>
              <a:pathLst>
                <a:path w="64135" h="2130425" extrusionOk="0">
                  <a:moveTo>
                    <a:pt x="0" y="2118995"/>
                  </a:moveTo>
                  <a:lnTo>
                    <a:pt x="1524" y="1728724"/>
                  </a:lnTo>
                </a:path>
                <a:path w="64135" h="2130425" extrusionOk="0">
                  <a:moveTo>
                    <a:pt x="62611" y="2130425"/>
                  </a:moveTo>
                  <a:lnTo>
                    <a:pt x="64135"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4" name="Google Shape;1344;p46"/>
            <p:cNvSpPr/>
            <p:nvPr/>
          </p:nvSpPr>
          <p:spPr>
            <a:xfrm>
              <a:off x="2406777" y="2161286"/>
              <a:ext cx="62865" cy="1905"/>
            </a:xfrm>
            <a:custGeom>
              <a:avLst/>
              <a:gdLst/>
              <a:ahLst/>
              <a:cxnLst/>
              <a:rect l="l" t="t" r="r" b="b"/>
              <a:pathLst>
                <a:path w="62864" h="1905" extrusionOk="0">
                  <a:moveTo>
                    <a:pt x="-6350" y="698"/>
                  </a:moveTo>
                  <a:lnTo>
                    <a:pt x="69087" y="698"/>
                  </a:lnTo>
                </a:path>
              </a:pathLst>
            </a:custGeom>
            <a:noFill/>
            <a:ln w="140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5" name="Google Shape;1345;p46"/>
            <p:cNvSpPr/>
            <p:nvPr/>
          </p:nvSpPr>
          <p:spPr>
            <a:xfrm>
              <a:off x="3406139" y="2165477"/>
              <a:ext cx="1243965" cy="1983105"/>
            </a:xfrm>
            <a:custGeom>
              <a:avLst/>
              <a:gdLst/>
              <a:ahLst/>
              <a:cxnLst/>
              <a:rect l="l" t="t" r="r" b="b"/>
              <a:pathLst>
                <a:path w="1243964" h="1983104" extrusionOk="0">
                  <a:moveTo>
                    <a:pt x="1243838" y="1981327"/>
                  </a:moveTo>
                  <a:lnTo>
                    <a:pt x="0" y="1982724"/>
                  </a:lnTo>
                </a:path>
                <a:path w="1243964" h="1983104" extrusionOk="0">
                  <a:moveTo>
                    <a:pt x="948944" y="1683258"/>
                  </a:moveTo>
                  <a:lnTo>
                    <a:pt x="1133856" y="1684782"/>
                  </a:lnTo>
                </a:path>
                <a:path w="1243964" h="1983104" extrusionOk="0">
                  <a:moveTo>
                    <a:pt x="948944" y="1168146"/>
                  </a:moveTo>
                  <a:lnTo>
                    <a:pt x="1133856" y="1169543"/>
                  </a:lnTo>
                </a:path>
                <a:path w="1243964" h="1983104" extrusionOk="0">
                  <a:moveTo>
                    <a:pt x="948944" y="1122680"/>
                  </a:moveTo>
                  <a:lnTo>
                    <a:pt x="1133856" y="1124077"/>
                  </a:lnTo>
                </a:path>
                <a:path w="1243964" h="1983104" extrusionOk="0">
                  <a:moveTo>
                    <a:pt x="948944" y="618871"/>
                  </a:moveTo>
                  <a:lnTo>
                    <a:pt x="1133856" y="620268"/>
                  </a:lnTo>
                </a:path>
                <a:path w="1243964" h="1983104" extrusionOk="0">
                  <a:moveTo>
                    <a:pt x="948944" y="56769"/>
                  </a:moveTo>
                  <a:lnTo>
                    <a:pt x="1133856" y="58165"/>
                  </a:lnTo>
                </a:path>
                <a:path w="1243964" h="1983104" extrusionOk="0">
                  <a:moveTo>
                    <a:pt x="948944" y="0"/>
                  </a:moveTo>
                  <a:lnTo>
                    <a:pt x="1133856" y="1397"/>
                  </a:lnTo>
                </a:path>
                <a:path w="1243964" h="1983104" extrusionOk="0">
                  <a:moveTo>
                    <a:pt x="948944" y="560705"/>
                  </a:moveTo>
                  <a:lnTo>
                    <a:pt x="1133856" y="562101"/>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6" name="Google Shape;1346;p46"/>
            <p:cNvSpPr/>
            <p:nvPr/>
          </p:nvSpPr>
          <p:spPr>
            <a:xfrm>
              <a:off x="4649977" y="4043172"/>
              <a:ext cx="1905" cy="104139"/>
            </a:xfrm>
            <a:custGeom>
              <a:avLst/>
              <a:gdLst/>
              <a:ahLst/>
              <a:cxnLst/>
              <a:rect l="l" t="t" r="r" b="b"/>
              <a:pathLst>
                <a:path w="1904" h="104139" extrusionOk="0">
                  <a:moveTo>
                    <a:pt x="762" y="-6350"/>
                  </a:moveTo>
                  <a:lnTo>
                    <a:pt x="762" y="109981"/>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7" name="Google Shape;1347;p46"/>
            <p:cNvSpPr/>
            <p:nvPr/>
          </p:nvSpPr>
          <p:spPr>
            <a:xfrm>
              <a:off x="3505454" y="1912874"/>
              <a:ext cx="1035050" cy="1983105"/>
            </a:xfrm>
            <a:custGeom>
              <a:avLst/>
              <a:gdLst/>
              <a:ahLst/>
              <a:cxnLst/>
              <a:rect l="l" t="t" r="r" b="b"/>
              <a:pathLst>
                <a:path w="1035050" h="1983104" extrusionOk="0">
                  <a:moveTo>
                    <a:pt x="849630" y="1935861"/>
                  </a:moveTo>
                  <a:lnTo>
                    <a:pt x="851154" y="1420749"/>
                  </a:lnTo>
                </a:path>
                <a:path w="1035050" h="1983104" extrusionOk="0">
                  <a:moveTo>
                    <a:pt x="849630" y="1375283"/>
                  </a:moveTo>
                  <a:lnTo>
                    <a:pt x="851154" y="871474"/>
                  </a:lnTo>
                </a:path>
                <a:path w="1035050" h="1983104" extrusionOk="0">
                  <a:moveTo>
                    <a:pt x="849630" y="813308"/>
                  </a:moveTo>
                  <a:lnTo>
                    <a:pt x="851154" y="309372"/>
                  </a:lnTo>
                </a:path>
                <a:path w="1035050" h="1983104" extrusionOk="0">
                  <a:moveTo>
                    <a:pt x="787019" y="1981327"/>
                  </a:moveTo>
                  <a:lnTo>
                    <a:pt x="1034542" y="1982724"/>
                  </a:lnTo>
                </a:path>
                <a:path w="1035050" h="1983104" extrusionOk="0">
                  <a:moveTo>
                    <a:pt x="787019" y="1674749"/>
                  </a:moveTo>
                  <a:lnTo>
                    <a:pt x="0" y="1676146"/>
                  </a:lnTo>
                </a:path>
                <a:path w="1035050" h="1983104" extrusionOk="0">
                  <a:moveTo>
                    <a:pt x="787019" y="562101"/>
                  </a:moveTo>
                  <a:lnTo>
                    <a:pt x="10795" y="563499"/>
                  </a:lnTo>
                </a:path>
                <a:path w="1035050" h="1983104" extrusionOk="0">
                  <a:moveTo>
                    <a:pt x="787019" y="0"/>
                  </a:moveTo>
                  <a:lnTo>
                    <a:pt x="788543" y="1981327"/>
                  </a:lnTo>
                </a:path>
                <a:path w="1035050" h="1983104" extrusionOk="0">
                  <a:moveTo>
                    <a:pt x="849630" y="0"/>
                  </a:moveTo>
                  <a:lnTo>
                    <a:pt x="851154" y="25260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8" name="Google Shape;1348;p46"/>
            <p:cNvSpPr/>
            <p:nvPr/>
          </p:nvSpPr>
          <p:spPr>
            <a:xfrm>
              <a:off x="3813429" y="2353563"/>
              <a:ext cx="0" cy="1249045"/>
            </a:xfrm>
            <a:custGeom>
              <a:avLst/>
              <a:gdLst/>
              <a:ahLst/>
              <a:cxnLst/>
              <a:rect l="l" t="t" r="r" b="b"/>
              <a:pathLst>
                <a:path w="120000" h="1249045" extrusionOk="0">
                  <a:moveTo>
                    <a:pt x="0" y="0"/>
                  </a:moveTo>
                  <a:lnTo>
                    <a:pt x="0" y="127761"/>
                  </a:lnTo>
                </a:path>
                <a:path w="120000" h="1249045" extrusionOk="0">
                  <a:moveTo>
                    <a:pt x="0" y="1122679"/>
                  </a:moveTo>
                  <a:lnTo>
                    <a:pt x="0" y="1248918"/>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49" name="Google Shape;1349;p46"/>
            <p:cNvSpPr/>
            <p:nvPr/>
          </p:nvSpPr>
          <p:spPr>
            <a:xfrm>
              <a:off x="3503930" y="3288157"/>
              <a:ext cx="185420" cy="46990"/>
            </a:xfrm>
            <a:custGeom>
              <a:avLst/>
              <a:gdLst/>
              <a:ahLst/>
              <a:cxnLst/>
              <a:rect l="l" t="t" r="r" b="b"/>
              <a:pathLst>
                <a:path w="185420" h="46989" extrusionOk="0">
                  <a:moveTo>
                    <a:pt x="0" y="0"/>
                  </a:moveTo>
                  <a:lnTo>
                    <a:pt x="184912" y="1396"/>
                  </a:lnTo>
                </a:path>
                <a:path w="185420" h="46989" extrusionOk="0">
                  <a:moveTo>
                    <a:pt x="0" y="45465"/>
                  </a:moveTo>
                  <a:lnTo>
                    <a:pt x="184912" y="4686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0" name="Google Shape;1350;p46"/>
            <p:cNvSpPr/>
            <p:nvPr/>
          </p:nvSpPr>
          <p:spPr>
            <a:xfrm>
              <a:off x="3812667" y="2920619"/>
              <a:ext cx="1905" cy="114935"/>
            </a:xfrm>
            <a:custGeom>
              <a:avLst/>
              <a:gdLst/>
              <a:ahLst/>
              <a:cxnLst/>
              <a:rect l="l" t="t" r="r" b="b"/>
              <a:pathLst>
                <a:path w="1904" h="114935" extrusionOk="0">
                  <a:moveTo>
                    <a:pt x="762" y="-6350"/>
                  </a:moveTo>
                  <a:lnTo>
                    <a:pt x="762" y="121284"/>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1" name="Google Shape;1351;p46"/>
            <p:cNvSpPr/>
            <p:nvPr/>
          </p:nvSpPr>
          <p:spPr>
            <a:xfrm>
              <a:off x="3503930" y="2726182"/>
              <a:ext cx="185420" cy="1124585"/>
            </a:xfrm>
            <a:custGeom>
              <a:avLst/>
              <a:gdLst/>
              <a:ahLst/>
              <a:cxnLst/>
              <a:rect l="l" t="t" r="r" b="b"/>
              <a:pathLst>
                <a:path w="185420" h="1124585" extrusionOk="0">
                  <a:moveTo>
                    <a:pt x="0" y="0"/>
                  </a:moveTo>
                  <a:lnTo>
                    <a:pt x="184912" y="1396"/>
                  </a:lnTo>
                </a:path>
                <a:path w="185420" h="1124585" extrusionOk="0">
                  <a:moveTo>
                    <a:pt x="0" y="58165"/>
                  </a:moveTo>
                  <a:lnTo>
                    <a:pt x="184912" y="59562"/>
                  </a:lnTo>
                </a:path>
                <a:path w="185420" h="1124585" extrusionOk="0">
                  <a:moveTo>
                    <a:pt x="0" y="1122552"/>
                  </a:moveTo>
                  <a:lnTo>
                    <a:pt x="184912" y="1124076"/>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2" name="Google Shape;1352;p46"/>
            <p:cNvSpPr/>
            <p:nvPr/>
          </p:nvSpPr>
          <p:spPr>
            <a:xfrm>
              <a:off x="3812667" y="4043172"/>
              <a:ext cx="1905" cy="104139"/>
            </a:xfrm>
            <a:custGeom>
              <a:avLst/>
              <a:gdLst/>
              <a:ahLst/>
              <a:cxnLst/>
              <a:rect l="l" t="t" r="r" b="b"/>
              <a:pathLst>
                <a:path w="1904" h="104139" extrusionOk="0">
                  <a:moveTo>
                    <a:pt x="762" y="-6350"/>
                  </a:moveTo>
                  <a:lnTo>
                    <a:pt x="762" y="109981"/>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3" name="Google Shape;1353;p46"/>
            <p:cNvSpPr/>
            <p:nvPr/>
          </p:nvSpPr>
          <p:spPr>
            <a:xfrm>
              <a:off x="3442842" y="1912874"/>
              <a:ext cx="849630" cy="1983105"/>
            </a:xfrm>
            <a:custGeom>
              <a:avLst/>
              <a:gdLst/>
              <a:ahLst/>
              <a:cxnLst/>
              <a:rect l="l" t="t" r="r" b="b"/>
              <a:pathLst>
                <a:path w="849629" h="1983104" extrusionOk="0">
                  <a:moveTo>
                    <a:pt x="61087" y="1935861"/>
                  </a:moveTo>
                  <a:lnTo>
                    <a:pt x="62611" y="1420749"/>
                  </a:lnTo>
                </a:path>
                <a:path w="849629" h="1983104" extrusionOk="0">
                  <a:moveTo>
                    <a:pt x="61087" y="1375283"/>
                  </a:moveTo>
                  <a:lnTo>
                    <a:pt x="62611" y="871474"/>
                  </a:lnTo>
                </a:path>
                <a:path w="849629" h="1983104" extrusionOk="0">
                  <a:moveTo>
                    <a:pt x="0" y="1981327"/>
                  </a:moveTo>
                  <a:lnTo>
                    <a:pt x="245999" y="1982724"/>
                  </a:lnTo>
                </a:path>
                <a:path w="849629" h="1983104" extrusionOk="0">
                  <a:moveTo>
                    <a:pt x="0" y="0"/>
                  </a:moveTo>
                  <a:lnTo>
                    <a:pt x="1524" y="1981327"/>
                  </a:lnTo>
                </a:path>
                <a:path w="849629" h="1983104" extrusionOk="0">
                  <a:moveTo>
                    <a:pt x="61087" y="252602"/>
                  </a:moveTo>
                  <a:lnTo>
                    <a:pt x="245999" y="254000"/>
                  </a:lnTo>
                </a:path>
                <a:path w="849629" h="1983104" extrusionOk="0">
                  <a:moveTo>
                    <a:pt x="61087" y="813308"/>
                  </a:moveTo>
                  <a:lnTo>
                    <a:pt x="62611" y="309372"/>
                  </a:lnTo>
                </a:path>
                <a:path w="849629" h="1983104" extrusionOk="0">
                  <a:moveTo>
                    <a:pt x="61087" y="309372"/>
                  </a:moveTo>
                  <a:lnTo>
                    <a:pt x="245999" y="310768"/>
                  </a:lnTo>
                </a:path>
                <a:path w="849629" h="1983104" extrusionOk="0">
                  <a:moveTo>
                    <a:pt x="849630" y="0"/>
                  </a:moveTo>
                  <a:lnTo>
                    <a:pt x="61087" y="1397"/>
                  </a:lnTo>
                </a:path>
                <a:path w="849629" h="1983104" extrusionOk="0">
                  <a:moveTo>
                    <a:pt x="61087" y="0"/>
                  </a:moveTo>
                  <a:lnTo>
                    <a:pt x="62611" y="25260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4" name="Google Shape;1354;p46"/>
            <p:cNvSpPr/>
            <p:nvPr/>
          </p:nvSpPr>
          <p:spPr>
            <a:xfrm>
              <a:off x="3800475" y="2452243"/>
              <a:ext cx="24765" cy="22860"/>
            </a:xfrm>
            <a:custGeom>
              <a:avLst/>
              <a:gdLst/>
              <a:ahLst/>
              <a:cxnLst/>
              <a:rect l="l" t="t" r="r" b="b"/>
              <a:pathLst>
                <a:path w="24764" h="22860" extrusionOk="0">
                  <a:moveTo>
                    <a:pt x="12191" y="0"/>
                  </a:moveTo>
                  <a:lnTo>
                    <a:pt x="0" y="0"/>
                  </a:lnTo>
                  <a:lnTo>
                    <a:pt x="0" y="22733"/>
                  </a:lnTo>
                  <a:lnTo>
                    <a:pt x="24384" y="22733"/>
                  </a:lnTo>
                  <a:lnTo>
                    <a:pt x="24384" y="11303"/>
                  </a:lnTo>
                  <a:lnTo>
                    <a:pt x="12191" y="11303"/>
                  </a:lnTo>
                  <a:lnTo>
                    <a:pt x="12191" y="0"/>
                  </a:lnTo>
                  <a:close/>
                </a:path>
                <a:path w="24764" h="22860" extrusionOk="0">
                  <a:moveTo>
                    <a:pt x="24384" y="0"/>
                  </a:moveTo>
                  <a:lnTo>
                    <a:pt x="12191" y="0"/>
                  </a:lnTo>
                  <a:lnTo>
                    <a:pt x="12191" y="11303"/>
                  </a:lnTo>
                  <a:lnTo>
                    <a:pt x="24384" y="11303"/>
                  </a:lnTo>
                  <a:lnTo>
                    <a:pt x="24384"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5" name="Google Shape;1355;p46"/>
            <p:cNvSpPr/>
            <p:nvPr/>
          </p:nvSpPr>
          <p:spPr>
            <a:xfrm>
              <a:off x="3800475" y="2452243"/>
              <a:ext cx="24765" cy="22860"/>
            </a:xfrm>
            <a:custGeom>
              <a:avLst/>
              <a:gdLst/>
              <a:ahLst/>
              <a:cxnLst/>
              <a:rect l="l" t="t" r="r" b="b"/>
              <a:pathLst>
                <a:path w="24764" h="22860" extrusionOk="0">
                  <a:moveTo>
                    <a:pt x="12191" y="11303"/>
                  </a:moveTo>
                  <a:lnTo>
                    <a:pt x="12191" y="0"/>
                  </a:lnTo>
                  <a:lnTo>
                    <a:pt x="0" y="0"/>
                  </a:lnTo>
                  <a:lnTo>
                    <a:pt x="0" y="11303"/>
                  </a:lnTo>
                  <a:lnTo>
                    <a:pt x="0" y="22733"/>
                  </a:lnTo>
                  <a:lnTo>
                    <a:pt x="12191" y="22733"/>
                  </a:lnTo>
                  <a:lnTo>
                    <a:pt x="24384" y="22733"/>
                  </a:lnTo>
                  <a:lnTo>
                    <a:pt x="24384" y="11303"/>
                  </a:lnTo>
                  <a:lnTo>
                    <a:pt x="24384" y="0"/>
                  </a:lnTo>
                  <a:lnTo>
                    <a:pt x="12191" y="0"/>
                  </a:lnTo>
                  <a:lnTo>
                    <a:pt x="12191"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6" name="Google Shape;1356;p46"/>
            <p:cNvSpPr/>
            <p:nvPr/>
          </p:nvSpPr>
          <p:spPr>
            <a:xfrm>
              <a:off x="3788155" y="2452243"/>
              <a:ext cx="36830" cy="34290"/>
            </a:xfrm>
            <a:custGeom>
              <a:avLst/>
              <a:gdLst/>
              <a:ahLst/>
              <a:cxnLst/>
              <a:rect l="l" t="t" r="r" b="b"/>
              <a:pathLst>
                <a:path w="36829" h="34289" extrusionOk="0">
                  <a:moveTo>
                    <a:pt x="24511" y="0"/>
                  </a:moveTo>
                  <a:lnTo>
                    <a:pt x="12319" y="11303"/>
                  </a:lnTo>
                  <a:lnTo>
                    <a:pt x="0" y="22733"/>
                  </a:lnTo>
                  <a:lnTo>
                    <a:pt x="12319" y="22733"/>
                  </a:lnTo>
                  <a:lnTo>
                    <a:pt x="24511" y="34036"/>
                  </a:lnTo>
                  <a:lnTo>
                    <a:pt x="24511" y="22733"/>
                  </a:lnTo>
                  <a:lnTo>
                    <a:pt x="36703" y="22733"/>
                  </a:lnTo>
                  <a:lnTo>
                    <a:pt x="24511" y="11303"/>
                  </a:lnTo>
                  <a:lnTo>
                    <a:pt x="24511"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7" name="Google Shape;1357;p46"/>
            <p:cNvSpPr/>
            <p:nvPr/>
          </p:nvSpPr>
          <p:spPr>
            <a:xfrm>
              <a:off x="3800475" y="3012821"/>
              <a:ext cx="24765" cy="22860"/>
            </a:xfrm>
            <a:custGeom>
              <a:avLst/>
              <a:gdLst/>
              <a:ahLst/>
              <a:cxnLst/>
              <a:rect l="l" t="t" r="r" b="b"/>
              <a:pathLst>
                <a:path w="24764" h="22860" extrusionOk="0">
                  <a:moveTo>
                    <a:pt x="12191" y="0"/>
                  </a:moveTo>
                  <a:lnTo>
                    <a:pt x="0" y="0"/>
                  </a:lnTo>
                  <a:lnTo>
                    <a:pt x="0" y="22732"/>
                  </a:lnTo>
                  <a:lnTo>
                    <a:pt x="24384" y="22732"/>
                  </a:lnTo>
                  <a:lnTo>
                    <a:pt x="24384" y="11302"/>
                  </a:lnTo>
                  <a:lnTo>
                    <a:pt x="12191" y="11302"/>
                  </a:lnTo>
                  <a:lnTo>
                    <a:pt x="12191" y="0"/>
                  </a:lnTo>
                  <a:close/>
                </a:path>
                <a:path w="24764" h="22860" extrusionOk="0">
                  <a:moveTo>
                    <a:pt x="24384" y="0"/>
                  </a:moveTo>
                  <a:lnTo>
                    <a:pt x="12191" y="0"/>
                  </a:lnTo>
                  <a:lnTo>
                    <a:pt x="12191" y="11302"/>
                  </a:lnTo>
                  <a:lnTo>
                    <a:pt x="24384" y="11302"/>
                  </a:lnTo>
                  <a:lnTo>
                    <a:pt x="24384"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8" name="Google Shape;1358;p46"/>
            <p:cNvSpPr/>
            <p:nvPr/>
          </p:nvSpPr>
          <p:spPr>
            <a:xfrm>
              <a:off x="3800475" y="3012821"/>
              <a:ext cx="24765" cy="22860"/>
            </a:xfrm>
            <a:custGeom>
              <a:avLst/>
              <a:gdLst/>
              <a:ahLst/>
              <a:cxnLst/>
              <a:rect l="l" t="t" r="r" b="b"/>
              <a:pathLst>
                <a:path w="24764" h="22860" extrusionOk="0">
                  <a:moveTo>
                    <a:pt x="12191" y="11302"/>
                  </a:moveTo>
                  <a:lnTo>
                    <a:pt x="12191" y="0"/>
                  </a:lnTo>
                  <a:lnTo>
                    <a:pt x="0" y="0"/>
                  </a:lnTo>
                  <a:lnTo>
                    <a:pt x="0" y="11302"/>
                  </a:lnTo>
                  <a:lnTo>
                    <a:pt x="0" y="22732"/>
                  </a:lnTo>
                  <a:lnTo>
                    <a:pt x="12191" y="22732"/>
                  </a:lnTo>
                  <a:lnTo>
                    <a:pt x="24384" y="22732"/>
                  </a:lnTo>
                  <a:lnTo>
                    <a:pt x="24384" y="11302"/>
                  </a:lnTo>
                  <a:lnTo>
                    <a:pt x="24384" y="0"/>
                  </a:lnTo>
                  <a:lnTo>
                    <a:pt x="12191" y="0"/>
                  </a:lnTo>
                  <a:lnTo>
                    <a:pt x="12191" y="11302"/>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59" name="Google Shape;1359;p46"/>
            <p:cNvSpPr/>
            <p:nvPr/>
          </p:nvSpPr>
          <p:spPr>
            <a:xfrm>
              <a:off x="3788155" y="3012821"/>
              <a:ext cx="36830" cy="34290"/>
            </a:xfrm>
            <a:custGeom>
              <a:avLst/>
              <a:gdLst/>
              <a:ahLst/>
              <a:cxnLst/>
              <a:rect l="l" t="t" r="r" b="b"/>
              <a:pathLst>
                <a:path w="36829" h="34289" extrusionOk="0">
                  <a:moveTo>
                    <a:pt x="24511" y="0"/>
                  </a:moveTo>
                  <a:lnTo>
                    <a:pt x="12319" y="11302"/>
                  </a:lnTo>
                  <a:lnTo>
                    <a:pt x="0" y="22732"/>
                  </a:lnTo>
                  <a:lnTo>
                    <a:pt x="12319" y="22732"/>
                  </a:lnTo>
                  <a:lnTo>
                    <a:pt x="24511" y="34036"/>
                  </a:lnTo>
                  <a:lnTo>
                    <a:pt x="24511" y="22732"/>
                  </a:lnTo>
                  <a:lnTo>
                    <a:pt x="36703" y="22732"/>
                  </a:lnTo>
                  <a:lnTo>
                    <a:pt x="24511" y="11302"/>
                  </a:lnTo>
                  <a:lnTo>
                    <a:pt x="24511"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0" name="Google Shape;1360;p46"/>
            <p:cNvSpPr/>
            <p:nvPr/>
          </p:nvSpPr>
          <p:spPr>
            <a:xfrm>
              <a:off x="3800475" y="3573398"/>
              <a:ext cx="24765" cy="22860"/>
            </a:xfrm>
            <a:custGeom>
              <a:avLst/>
              <a:gdLst/>
              <a:ahLst/>
              <a:cxnLst/>
              <a:rect l="l" t="t" r="r" b="b"/>
              <a:pathLst>
                <a:path w="24764" h="22860" extrusionOk="0">
                  <a:moveTo>
                    <a:pt x="12191" y="0"/>
                  </a:moveTo>
                  <a:lnTo>
                    <a:pt x="0" y="0"/>
                  </a:lnTo>
                  <a:lnTo>
                    <a:pt x="0" y="22733"/>
                  </a:lnTo>
                  <a:lnTo>
                    <a:pt x="24384" y="22733"/>
                  </a:lnTo>
                  <a:lnTo>
                    <a:pt x="24384" y="11429"/>
                  </a:lnTo>
                  <a:lnTo>
                    <a:pt x="12191" y="11429"/>
                  </a:lnTo>
                  <a:lnTo>
                    <a:pt x="12191" y="0"/>
                  </a:lnTo>
                  <a:close/>
                </a:path>
                <a:path w="24764" h="22860" extrusionOk="0">
                  <a:moveTo>
                    <a:pt x="24384" y="0"/>
                  </a:moveTo>
                  <a:lnTo>
                    <a:pt x="12191" y="0"/>
                  </a:lnTo>
                  <a:lnTo>
                    <a:pt x="12191" y="11429"/>
                  </a:lnTo>
                  <a:lnTo>
                    <a:pt x="24384" y="11429"/>
                  </a:lnTo>
                  <a:lnTo>
                    <a:pt x="24384"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1" name="Google Shape;1361;p46"/>
            <p:cNvSpPr/>
            <p:nvPr/>
          </p:nvSpPr>
          <p:spPr>
            <a:xfrm>
              <a:off x="3800475" y="3573398"/>
              <a:ext cx="24765" cy="22860"/>
            </a:xfrm>
            <a:custGeom>
              <a:avLst/>
              <a:gdLst/>
              <a:ahLst/>
              <a:cxnLst/>
              <a:rect l="l" t="t" r="r" b="b"/>
              <a:pathLst>
                <a:path w="24764" h="22860" extrusionOk="0">
                  <a:moveTo>
                    <a:pt x="12191" y="11429"/>
                  </a:moveTo>
                  <a:lnTo>
                    <a:pt x="12191" y="0"/>
                  </a:lnTo>
                  <a:lnTo>
                    <a:pt x="0" y="0"/>
                  </a:lnTo>
                  <a:lnTo>
                    <a:pt x="0" y="11429"/>
                  </a:lnTo>
                  <a:lnTo>
                    <a:pt x="0" y="22733"/>
                  </a:lnTo>
                  <a:lnTo>
                    <a:pt x="12191" y="22733"/>
                  </a:lnTo>
                  <a:lnTo>
                    <a:pt x="24384" y="22733"/>
                  </a:lnTo>
                  <a:lnTo>
                    <a:pt x="24384" y="11429"/>
                  </a:lnTo>
                  <a:lnTo>
                    <a:pt x="24384" y="0"/>
                  </a:lnTo>
                  <a:lnTo>
                    <a:pt x="12191" y="0"/>
                  </a:lnTo>
                  <a:lnTo>
                    <a:pt x="12191" y="11429"/>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2" name="Google Shape;1362;p46"/>
            <p:cNvSpPr/>
            <p:nvPr/>
          </p:nvSpPr>
          <p:spPr>
            <a:xfrm>
              <a:off x="3788155" y="3573398"/>
              <a:ext cx="36830" cy="35560"/>
            </a:xfrm>
            <a:custGeom>
              <a:avLst/>
              <a:gdLst/>
              <a:ahLst/>
              <a:cxnLst/>
              <a:rect l="l" t="t" r="r" b="b"/>
              <a:pathLst>
                <a:path w="36829" h="35560" extrusionOk="0">
                  <a:moveTo>
                    <a:pt x="24511" y="0"/>
                  </a:moveTo>
                  <a:lnTo>
                    <a:pt x="12319" y="11811"/>
                  </a:lnTo>
                  <a:lnTo>
                    <a:pt x="0" y="23749"/>
                  </a:lnTo>
                  <a:lnTo>
                    <a:pt x="12319" y="23749"/>
                  </a:lnTo>
                  <a:lnTo>
                    <a:pt x="24511" y="35559"/>
                  </a:lnTo>
                  <a:lnTo>
                    <a:pt x="24511" y="23749"/>
                  </a:lnTo>
                  <a:lnTo>
                    <a:pt x="36703" y="23749"/>
                  </a:lnTo>
                  <a:lnTo>
                    <a:pt x="24511" y="11811"/>
                  </a:lnTo>
                  <a:lnTo>
                    <a:pt x="2451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3" name="Google Shape;1363;p46"/>
            <p:cNvSpPr/>
            <p:nvPr/>
          </p:nvSpPr>
          <p:spPr>
            <a:xfrm>
              <a:off x="3800475" y="4135501"/>
              <a:ext cx="24765" cy="22860"/>
            </a:xfrm>
            <a:custGeom>
              <a:avLst/>
              <a:gdLst/>
              <a:ahLst/>
              <a:cxnLst/>
              <a:rect l="l" t="t" r="r" b="b"/>
              <a:pathLst>
                <a:path w="24764" h="22860" extrusionOk="0">
                  <a:moveTo>
                    <a:pt x="12191" y="0"/>
                  </a:moveTo>
                  <a:lnTo>
                    <a:pt x="0" y="0"/>
                  </a:lnTo>
                  <a:lnTo>
                    <a:pt x="0" y="22732"/>
                  </a:lnTo>
                  <a:lnTo>
                    <a:pt x="24384" y="22732"/>
                  </a:lnTo>
                  <a:lnTo>
                    <a:pt x="24384" y="11303"/>
                  </a:lnTo>
                  <a:lnTo>
                    <a:pt x="12191" y="11303"/>
                  </a:lnTo>
                  <a:lnTo>
                    <a:pt x="12191" y="0"/>
                  </a:lnTo>
                  <a:close/>
                </a:path>
                <a:path w="24764" h="22860" extrusionOk="0">
                  <a:moveTo>
                    <a:pt x="24384" y="0"/>
                  </a:moveTo>
                  <a:lnTo>
                    <a:pt x="12191" y="0"/>
                  </a:lnTo>
                  <a:lnTo>
                    <a:pt x="12191" y="11303"/>
                  </a:lnTo>
                  <a:lnTo>
                    <a:pt x="24384" y="11303"/>
                  </a:lnTo>
                  <a:lnTo>
                    <a:pt x="24384" y="0"/>
                  </a:lnTo>
                  <a:close/>
                </a:path>
              </a:pathLst>
            </a:custGeom>
            <a:solidFill>
              <a:srgbClr val="00FFFF"/>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4" name="Google Shape;1364;p46"/>
            <p:cNvSpPr/>
            <p:nvPr/>
          </p:nvSpPr>
          <p:spPr>
            <a:xfrm>
              <a:off x="3800475" y="4135501"/>
              <a:ext cx="24765" cy="22860"/>
            </a:xfrm>
            <a:custGeom>
              <a:avLst/>
              <a:gdLst/>
              <a:ahLst/>
              <a:cxnLst/>
              <a:rect l="l" t="t" r="r" b="b"/>
              <a:pathLst>
                <a:path w="24764" h="22860" extrusionOk="0">
                  <a:moveTo>
                    <a:pt x="12191" y="11303"/>
                  </a:moveTo>
                  <a:lnTo>
                    <a:pt x="12191" y="0"/>
                  </a:lnTo>
                  <a:lnTo>
                    <a:pt x="0" y="0"/>
                  </a:lnTo>
                  <a:lnTo>
                    <a:pt x="0" y="11303"/>
                  </a:lnTo>
                  <a:lnTo>
                    <a:pt x="0" y="22732"/>
                  </a:lnTo>
                  <a:lnTo>
                    <a:pt x="12191" y="22732"/>
                  </a:lnTo>
                  <a:lnTo>
                    <a:pt x="24384" y="22732"/>
                  </a:lnTo>
                  <a:lnTo>
                    <a:pt x="24384" y="11303"/>
                  </a:lnTo>
                  <a:lnTo>
                    <a:pt x="24384" y="0"/>
                  </a:lnTo>
                  <a:lnTo>
                    <a:pt x="12191" y="0"/>
                  </a:lnTo>
                  <a:lnTo>
                    <a:pt x="12191" y="11303"/>
                  </a:lnTo>
                  <a:close/>
                </a:path>
              </a:pathLst>
            </a:custGeom>
            <a:noFill/>
            <a:ln w="9525"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5" name="Google Shape;1365;p46"/>
            <p:cNvSpPr/>
            <p:nvPr/>
          </p:nvSpPr>
          <p:spPr>
            <a:xfrm>
              <a:off x="3788155" y="4135501"/>
              <a:ext cx="36830" cy="34290"/>
            </a:xfrm>
            <a:custGeom>
              <a:avLst/>
              <a:gdLst/>
              <a:ahLst/>
              <a:cxnLst/>
              <a:rect l="l" t="t" r="r" b="b"/>
              <a:pathLst>
                <a:path w="36829" h="34289" extrusionOk="0">
                  <a:moveTo>
                    <a:pt x="24511" y="0"/>
                  </a:moveTo>
                  <a:lnTo>
                    <a:pt x="12319" y="11303"/>
                  </a:lnTo>
                  <a:lnTo>
                    <a:pt x="0" y="22732"/>
                  </a:lnTo>
                  <a:lnTo>
                    <a:pt x="12319" y="22732"/>
                  </a:lnTo>
                  <a:lnTo>
                    <a:pt x="24511" y="34036"/>
                  </a:lnTo>
                  <a:lnTo>
                    <a:pt x="24511" y="22732"/>
                  </a:lnTo>
                  <a:lnTo>
                    <a:pt x="36703" y="22732"/>
                  </a:lnTo>
                  <a:lnTo>
                    <a:pt x="24511" y="11303"/>
                  </a:lnTo>
                  <a:lnTo>
                    <a:pt x="24511"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66" name="Google Shape;1366;p46"/>
            <p:cNvSpPr/>
            <p:nvPr/>
          </p:nvSpPr>
          <p:spPr>
            <a:xfrm>
              <a:off x="3688842" y="2016442"/>
              <a:ext cx="1085215" cy="2026920"/>
            </a:xfrm>
            <a:custGeom>
              <a:avLst/>
              <a:gdLst/>
              <a:ahLst/>
              <a:cxnLst/>
              <a:rect l="l" t="t" r="r" b="b"/>
              <a:pathLst>
                <a:path w="1085214" h="2026920" extrusionOk="0">
                  <a:moveTo>
                    <a:pt x="851154" y="343471"/>
                  </a:moveTo>
                  <a:lnTo>
                    <a:pt x="1084948" y="343471"/>
                  </a:lnTo>
                  <a:lnTo>
                    <a:pt x="1084948" y="0"/>
                  </a:lnTo>
                  <a:lnTo>
                    <a:pt x="851154" y="0"/>
                  </a:lnTo>
                  <a:lnTo>
                    <a:pt x="851154" y="343471"/>
                  </a:lnTo>
                  <a:close/>
                </a:path>
                <a:path w="1085214" h="2026920" extrusionOk="0">
                  <a:moveTo>
                    <a:pt x="851154" y="1466151"/>
                  </a:moveTo>
                  <a:lnTo>
                    <a:pt x="1084948" y="1466151"/>
                  </a:lnTo>
                  <a:lnTo>
                    <a:pt x="1084948" y="1122680"/>
                  </a:lnTo>
                  <a:lnTo>
                    <a:pt x="851154" y="1122680"/>
                  </a:lnTo>
                  <a:lnTo>
                    <a:pt x="851154" y="1466151"/>
                  </a:lnTo>
                  <a:close/>
                </a:path>
                <a:path w="1085214" h="2026920" extrusionOk="0">
                  <a:moveTo>
                    <a:pt x="851154" y="904176"/>
                  </a:moveTo>
                  <a:lnTo>
                    <a:pt x="1084948" y="904176"/>
                  </a:lnTo>
                  <a:lnTo>
                    <a:pt x="1084948" y="560705"/>
                  </a:lnTo>
                  <a:lnTo>
                    <a:pt x="851154" y="560705"/>
                  </a:lnTo>
                  <a:lnTo>
                    <a:pt x="851154" y="904176"/>
                  </a:lnTo>
                  <a:close/>
                </a:path>
                <a:path w="1085214" h="2026920" extrusionOk="0">
                  <a:moveTo>
                    <a:pt x="851154" y="2026729"/>
                  </a:moveTo>
                  <a:lnTo>
                    <a:pt x="1084948" y="2026729"/>
                  </a:lnTo>
                  <a:lnTo>
                    <a:pt x="1084948" y="1683258"/>
                  </a:lnTo>
                  <a:lnTo>
                    <a:pt x="851154" y="1683258"/>
                  </a:lnTo>
                  <a:lnTo>
                    <a:pt x="851154" y="2026729"/>
                  </a:lnTo>
                  <a:close/>
                </a:path>
                <a:path w="1085214" h="2026920" extrusionOk="0">
                  <a:moveTo>
                    <a:pt x="0" y="1466151"/>
                  </a:moveTo>
                  <a:lnTo>
                    <a:pt x="247548" y="1466151"/>
                  </a:lnTo>
                  <a:lnTo>
                    <a:pt x="247548" y="1122680"/>
                  </a:lnTo>
                  <a:lnTo>
                    <a:pt x="0" y="1122680"/>
                  </a:lnTo>
                  <a:lnTo>
                    <a:pt x="0" y="1466151"/>
                  </a:lnTo>
                  <a:close/>
                </a:path>
                <a:path w="1085214" h="2026920" extrusionOk="0">
                  <a:moveTo>
                    <a:pt x="0" y="904176"/>
                  </a:moveTo>
                  <a:lnTo>
                    <a:pt x="247548" y="904176"/>
                  </a:lnTo>
                  <a:lnTo>
                    <a:pt x="247548" y="560705"/>
                  </a:lnTo>
                  <a:lnTo>
                    <a:pt x="0" y="560705"/>
                  </a:lnTo>
                  <a:lnTo>
                    <a:pt x="0" y="904176"/>
                  </a:lnTo>
                  <a:close/>
                </a:path>
                <a:path w="1085214" h="2026920" extrusionOk="0">
                  <a:moveTo>
                    <a:pt x="0" y="2026729"/>
                  </a:moveTo>
                  <a:lnTo>
                    <a:pt x="247548" y="2026729"/>
                  </a:lnTo>
                  <a:lnTo>
                    <a:pt x="247548" y="1683258"/>
                  </a:lnTo>
                  <a:lnTo>
                    <a:pt x="0" y="1683258"/>
                  </a:lnTo>
                  <a:lnTo>
                    <a:pt x="0" y="2026729"/>
                  </a:lnTo>
                  <a:close/>
                </a:path>
                <a:path w="1085214" h="2026920" extrusionOk="0">
                  <a:moveTo>
                    <a:pt x="0" y="343471"/>
                  </a:moveTo>
                  <a:lnTo>
                    <a:pt x="247548" y="343471"/>
                  </a:lnTo>
                  <a:lnTo>
                    <a:pt x="247548" y="0"/>
                  </a:lnTo>
                  <a:lnTo>
                    <a:pt x="0" y="0"/>
                  </a:lnTo>
                  <a:lnTo>
                    <a:pt x="0" y="343471"/>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67" name="Google Shape;1367;p46"/>
            <p:cNvPicPr preferRelativeResize="0"/>
            <p:nvPr/>
          </p:nvPicPr>
          <p:blipFill rotWithShape="1">
            <a:blip r:embed="rId13">
              <a:alphaModFix/>
            </a:blip>
            <a:srcRect/>
            <a:stretch/>
          </p:blipFill>
          <p:spPr>
            <a:xfrm>
              <a:off x="4767452" y="2136394"/>
              <a:ext cx="221996" cy="103631"/>
            </a:xfrm>
            <a:prstGeom prst="rect">
              <a:avLst/>
            </a:prstGeom>
            <a:noFill/>
            <a:ln>
              <a:noFill/>
            </a:ln>
          </p:spPr>
        </p:pic>
        <p:pic>
          <p:nvPicPr>
            <p:cNvPr id="1368" name="Google Shape;1368;p46"/>
            <p:cNvPicPr preferRelativeResize="0"/>
            <p:nvPr/>
          </p:nvPicPr>
          <p:blipFill rotWithShape="1">
            <a:blip r:embed="rId14">
              <a:alphaModFix/>
            </a:blip>
            <a:srcRect/>
            <a:stretch/>
          </p:blipFill>
          <p:spPr>
            <a:xfrm>
              <a:off x="4767452" y="2697099"/>
              <a:ext cx="221996" cy="104901"/>
            </a:xfrm>
            <a:prstGeom prst="rect">
              <a:avLst/>
            </a:prstGeom>
            <a:noFill/>
            <a:ln>
              <a:noFill/>
            </a:ln>
          </p:spPr>
        </p:pic>
        <p:pic>
          <p:nvPicPr>
            <p:cNvPr id="1369" name="Google Shape;1369;p46"/>
            <p:cNvPicPr preferRelativeResize="0"/>
            <p:nvPr/>
          </p:nvPicPr>
          <p:blipFill rotWithShape="1">
            <a:blip r:embed="rId15">
              <a:alphaModFix/>
            </a:blip>
            <a:srcRect/>
            <a:stretch/>
          </p:blipFill>
          <p:spPr>
            <a:xfrm>
              <a:off x="4767452" y="3257677"/>
              <a:ext cx="221996" cy="116332"/>
            </a:xfrm>
            <a:prstGeom prst="rect">
              <a:avLst/>
            </a:prstGeom>
            <a:noFill/>
            <a:ln>
              <a:noFill/>
            </a:ln>
          </p:spPr>
        </p:pic>
        <p:pic>
          <p:nvPicPr>
            <p:cNvPr id="1370" name="Google Shape;1370;p46"/>
            <p:cNvPicPr preferRelativeResize="0"/>
            <p:nvPr/>
          </p:nvPicPr>
          <p:blipFill rotWithShape="1">
            <a:blip r:embed="rId16">
              <a:alphaModFix/>
            </a:blip>
            <a:srcRect/>
            <a:stretch/>
          </p:blipFill>
          <p:spPr>
            <a:xfrm>
              <a:off x="4767452" y="3819779"/>
              <a:ext cx="221996" cy="114807"/>
            </a:xfrm>
            <a:prstGeom prst="rect">
              <a:avLst/>
            </a:prstGeom>
            <a:noFill/>
            <a:ln>
              <a:noFill/>
            </a:ln>
          </p:spPr>
        </p:pic>
        <p:sp>
          <p:nvSpPr>
            <p:cNvPr id="1371" name="Google Shape;1371;p46"/>
            <p:cNvSpPr/>
            <p:nvPr/>
          </p:nvSpPr>
          <p:spPr>
            <a:xfrm>
              <a:off x="4983099" y="2210943"/>
              <a:ext cx="1905" cy="1638300"/>
            </a:xfrm>
            <a:custGeom>
              <a:avLst/>
              <a:gdLst/>
              <a:ahLst/>
              <a:cxnLst/>
              <a:rect l="l" t="t" r="r" b="b"/>
              <a:pathLst>
                <a:path w="1904" h="1638300" extrusionOk="0">
                  <a:moveTo>
                    <a:pt x="0" y="515239"/>
                  </a:moveTo>
                  <a:lnTo>
                    <a:pt x="1524" y="0"/>
                  </a:lnTo>
                </a:path>
                <a:path w="1904" h="1638300" extrusionOk="0">
                  <a:moveTo>
                    <a:pt x="0" y="1077214"/>
                  </a:moveTo>
                  <a:lnTo>
                    <a:pt x="1524" y="561975"/>
                  </a:lnTo>
                </a:path>
                <a:path w="1904" h="1638300" extrusionOk="0">
                  <a:moveTo>
                    <a:pt x="0" y="1637792"/>
                  </a:moveTo>
                  <a:lnTo>
                    <a:pt x="1524" y="112268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72" name="Google Shape;1372;p46"/>
            <p:cNvPicPr preferRelativeResize="0"/>
            <p:nvPr/>
          </p:nvPicPr>
          <p:blipFill rotWithShape="1">
            <a:blip r:embed="rId17">
              <a:alphaModFix/>
            </a:blip>
            <a:srcRect/>
            <a:stretch/>
          </p:blipFill>
          <p:spPr>
            <a:xfrm>
              <a:off x="4952364" y="4285860"/>
              <a:ext cx="128777" cy="202319"/>
            </a:xfrm>
            <a:prstGeom prst="rect">
              <a:avLst/>
            </a:prstGeom>
            <a:noFill/>
            <a:ln>
              <a:noFill/>
            </a:ln>
          </p:spPr>
        </p:pic>
        <p:sp>
          <p:nvSpPr>
            <p:cNvPr id="1373" name="Google Shape;1373;p46"/>
            <p:cNvSpPr/>
            <p:nvPr/>
          </p:nvSpPr>
          <p:spPr>
            <a:xfrm>
              <a:off x="4983099" y="2165477"/>
              <a:ext cx="64769" cy="2141855"/>
            </a:xfrm>
            <a:custGeom>
              <a:avLst/>
              <a:gdLst/>
              <a:ahLst/>
              <a:cxnLst/>
              <a:rect l="l" t="t" r="r" b="b"/>
              <a:pathLst>
                <a:path w="64770" h="2141854" extrusionOk="0">
                  <a:moveTo>
                    <a:pt x="0" y="2118995"/>
                  </a:moveTo>
                  <a:lnTo>
                    <a:pt x="1524" y="1728724"/>
                  </a:lnTo>
                </a:path>
                <a:path w="64770" h="2141854" extrusionOk="0">
                  <a:moveTo>
                    <a:pt x="62737" y="2141728"/>
                  </a:moveTo>
                  <a:lnTo>
                    <a:pt x="64262"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74" name="Google Shape;1374;p46"/>
            <p:cNvSpPr/>
            <p:nvPr/>
          </p:nvSpPr>
          <p:spPr>
            <a:xfrm>
              <a:off x="4975479" y="2161286"/>
              <a:ext cx="62865" cy="1905"/>
            </a:xfrm>
            <a:custGeom>
              <a:avLst/>
              <a:gdLst/>
              <a:ahLst/>
              <a:cxnLst/>
              <a:rect l="l" t="t" r="r" b="b"/>
              <a:pathLst>
                <a:path w="62864" h="1905" extrusionOk="0">
                  <a:moveTo>
                    <a:pt x="-6350" y="698"/>
                  </a:moveTo>
                  <a:lnTo>
                    <a:pt x="69088" y="698"/>
                  </a:lnTo>
                </a:path>
              </a:pathLst>
            </a:custGeom>
            <a:noFill/>
            <a:ln w="140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75" name="Google Shape;1375;p46"/>
            <p:cNvPicPr preferRelativeResize="0"/>
            <p:nvPr/>
          </p:nvPicPr>
          <p:blipFill rotWithShape="1">
            <a:blip r:embed="rId18">
              <a:alphaModFix/>
            </a:blip>
            <a:srcRect/>
            <a:stretch/>
          </p:blipFill>
          <p:spPr>
            <a:xfrm>
              <a:off x="3916298" y="2136394"/>
              <a:ext cx="223647" cy="103631"/>
            </a:xfrm>
            <a:prstGeom prst="rect">
              <a:avLst/>
            </a:prstGeom>
            <a:noFill/>
            <a:ln>
              <a:noFill/>
            </a:ln>
          </p:spPr>
        </p:pic>
        <p:pic>
          <p:nvPicPr>
            <p:cNvPr id="1376" name="Google Shape;1376;p46"/>
            <p:cNvPicPr preferRelativeResize="0"/>
            <p:nvPr/>
          </p:nvPicPr>
          <p:blipFill rotWithShape="1">
            <a:blip r:embed="rId19">
              <a:alphaModFix/>
            </a:blip>
            <a:srcRect/>
            <a:stretch/>
          </p:blipFill>
          <p:spPr>
            <a:xfrm>
              <a:off x="3916298" y="2697099"/>
              <a:ext cx="223647" cy="104901"/>
            </a:xfrm>
            <a:prstGeom prst="rect">
              <a:avLst/>
            </a:prstGeom>
            <a:noFill/>
            <a:ln>
              <a:noFill/>
            </a:ln>
          </p:spPr>
        </p:pic>
        <p:pic>
          <p:nvPicPr>
            <p:cNvPr id="1377" name="Google Shape;1377;p46"/>
            <p:cNvPicPr preferRelativeResize="0"/>
            <p:nvPr/>
          </p:nvPicPr>
          <p:blipFill rotWithShape="1">
            <a:blip r:embed="rId20">
              <a:alphaModFix/>
            </a:blip>
            <a:srcRect/>
            <a:stretch/>
          </p:blipFill>
          <p:spPr>
            <a:xfrm>
              <a:off x="3916298" y="3257677"/>
              <a:ext cx="223647" cy="116332"/>
            </a:xfrm>
            <a:prstGeom prst="rect">
              <a:avLst/>
            </a:prstGeom>
            <a:noFill/>
            <a:ln>
              <a:noFill/>
            </a:ln>
          </p:spPr>
        </p:pic>
        <p:pic>
          <p:nvPicPr>
            <p:cNvPr id="1378" name="Google Shape;1378;p46"/>
            <p:cNvPicPr preferRelativeResize="0"/>
            <p:nvPr/>
          </p:nvPicPr>
          <p:blipFill rotWithShape="1">
            <a:blip r:embed="rId21">
              <a:alphaModFix/>
            </a:blip>
            <a:srcRect/>
            <a:stretch/>
          </p:blipFill>
          <p:spPr>
            <a:xfrm>
              <a:off x="3916298" y="3819779"/>
              <a:ext cx="223647" cy="114807"/>
            </a:xfrm>
            <a:prstGeom prst="rect">
              <a:avLst/>
            </a:prstGeom>
            <a:noFill/>
            <a:ln>
              <a:noFill/>
            </a:ln>
          </p:spPr>
        </p:pic>
        <p:sp>
          <p:nvSpPr>
            <p:cNvPr id="1379" name="Google Shape;1379;p46"/>
            <p:cNvSpPr/>
            <p:nvPr/>
          </p:nvSpPr>
          <p:spPr>
            <a:xfrm>
              <a:off x="4133595" y="2210943"/>
              <a:ext cx="1905" cy="1638300"/>
            </a:xfrm>
            <a:custGeom>
              <a:avLst/>
              <a:gdLst/>
              <a:ahLst/>
              <a:cxnLst/>
              <a:rect l="l" t="t" r="r" b="b"/>
              <a:pathLst>
                <a:path w="1904" h="1638300" extrusionOk="0">
                  <a:moveTo>
                    <a:pt x="0" y="515239"/>
                  </a:moveTo>
                  <a:lnTo>
                    <a:pt x="1524" y="0"/>
                  </a:lnTo>
                </a:path>
                <a:path w="1904" h="1638300" extrusionOk="0">
                  <a:moveTo>
                    <a:pt x="0" y="1077214"/>
                  </a:moveTo>
                  <a:lnTo>
                    <a:pt x="1524" y="561975"/>
                  </a:lnTo>
                </a:path>
                <a:path w="1904" h="1638300" extrusionOk="0">
                  <a:moveTo>
                    <a:pt x="0" y="1637792"/>
                  </a:moveTo>
                  <a:lnTo>
                    <a:pt x="1524" y="112268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380" name="Google Shape;1380;p46"/>
            <p:cNvPicPr preferRelativeResize="0"/>
            <p:nvPr/>
          </p:nvPicPr>
          <p:blipFill rotWithShape="1">
            <a:blip r:embed="rId22">
              <a:alphaModFix/>
            </a:blip>
            <a:srcRect/>
            <a:stretch/>
          </p:blipFill>
          <p:spPr>
            <a:xfrm>
              <a:off x="4099686" y="4285860"/>
              <a:ext cx="130301" cy="202319"/>
            </a:xfrm>
            <a:prstGeom prst="rect">
              <a:avLst/>
            </a:prstGeom>
            <a:noFill/>
            <a:ln>
              <a:noFill/>
            </a:ln>
          </p:spPr>
        </p:pic>
        <p:sp>
          <p:nvSpPr>
            <p:cNvPr id="1381" name="Google Shape;1381;p46"/>
            <p:cNvSpPr/>
            <p:nvPr/>
          </p:nvSpPr>
          <p:spPr>
            <a:xfrm>
              <a:off x="4133595" y="2165477"/>
              <a:ext cx="62865" cy="2141855"/>
            </a:xfrm>
            <a:custGeom>
              <a:avLst/>
              <a:gdLst/>
              <a:ahLst/>
              <a:cxnLst/>
              <a:rect l="l" t="t" r="r" b="b"/>
              <a:pathLst>
                <a:path w="62864" h="2141854" extrusionOk="0">
                  <a:moveTo>
                    <a:pt x="0" y="2118995"/>
                  </a:moveTo>
                  <a:lnTo>
                    <a:pt x="1524" y="1728724"/>
                  </a:lnTo>
                </a:path>
                <a:path w="62864" h="2141854" extrusionOk="0">
                  <a:moveTo>
                    <a:pt x="61087" y="2141728"/>
                  </a:moveTo>
                  <a:lnTo>
                    <a:pt x="62611"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82" name="Google Shape;1382;p46"/>
            <p:cNvSpPr/>
            <p:nvPr/>
          </p:nvSpPr>
          <p:spPr>
            <a:xfrm>
              <a:off x="4121277" y="2161286"/>
              <a:ext cx="73660" cy="1905"/>
            </a:xfrm>
            <a:custGeom>
              <a:avLst/>
              <a:gdLst/>
              <a:ahLst/>
              <a:cxnLst/>
              <a:rect l="l" t="t" r="r" b="b"/>
              <a:pathLst>
                <a:path w="73660" h="1905" extrusionOk="0">
                  <a:moveTo>
                    <a:pt x="-6350" y="698"/>
                  </a:moveTo>
                  <a:lnTo>
                    <a:pt x="79755" y="698"/>
                  </a:lnTo>
                </a:path>
              </a:pathLst>
            </a:custGeom>
            <a:noFill/>
            <a:ln w="1407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83" name="Google Shape;1383;p46"/>
            <p:cNvSpPr/>
            <p:nvPr/>
          </p:nvSpPr>
          <p:spPr>
            <a:xfrm>
              <a:off x="2636011" y="1856105"/>
              <a:ext cx="1719580" cy="57150"/>
            </a:xfrm>
            <a:custGeom>
              <a:avLst/>
              <a:gdLst/>
              <a:ahLst/>
              <a:cxnLst/>
              <a:rect l="l" t="t" r="r" b="b"/>
              <a:pathLst>
                <a:path w="1719579" h="57150" extrusionOk="0">
                  <a:moveTo>
                    <a:pt x="814451" y="53975"/>
                  </a:moveTo>
                  <a:lnTo>
                    <a:pt x="0" y="55372"/>
                  </a:lnTo>
                </a:path>
                <a:path w="1719579" h="57150" extrusionOk="0">
                  <a:moveTo>
                    <a:pt x="1719072" y="56769"/>
                  </a:moveTo>
                  <a:lnTo>
                    <a:pt x="1719072" y="0"/>
                  </a:lnTo>
                  <a:lnTo>
                    <a:pt x="770127"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
        <p:nvSpPr>
          <p:cNvPr id="1384" name="Google Shape;1384;p46"/>
          <p:cNvSpPr txBox="1"/>
          <p:nvPr/>
        </p:nvSpPr>
        <p:spPr>
          <a:xfrm>
            <a:off x="2019301" y="2270887"/>
            <a:ext cx="235585" cy="220173"/>
          </a:xfrm>
          <a:prstGeom prst="rect">
            <a:avLst/>
          </a:prstGeom>
          <a:noFill/>
          <a:ln>
            <a:noFill/>
          </a:ln>
        </p:spPr>
        <p:txBody>
          <a:bodyPr spcFirstLastPara="1" wrap="square" lIns="0" tIns="34275" rIns="0" bIns="0" anchor="t" anchorCtr="0">
            <a:spAutoFit/>
          </a:bodyPr>
          <a:lstStyle/>
          <a:p>
            <a:pPr marL="38100" marR="30480">
              <a:lnSpc>
                <a:spcPct val="67407"/>
              </a:lnSpc>
            </a:pPr>
            <a:r>
              <a:rPr lang="en-US" sz="1350" baseline="30000">
                <a:solidFill>
                  <a:schemeClr val="dk1"/>
                </a:solidFill>
                <a:latin typeface="Helvetica Neue"/>
                <a:ea typeface="Helvetica Neue"/>
                <a:cs typeface="Helvetica Neue"/>
                <a:sym typeface="Helvetica Neue"/>
              </a:rPr>
              <a:t>A</a:t>
            </a:r>
            <a:r>
              <a:rPr lang="en-US" sz="600">
                <a:solidFill>
                  <a:schemeClr val="dk1"/>
                </a:solidFill>
                <a:latin typeface="Helvetica Neue"/>
                <a:ea typeface="Helvetica Neue"/>
                <a:cs typeface="Helvetica Neue"/>
                <a:sym typeface="Helvetica Neue"/>
              </a:rPr>
              <a:t>19  </a:t>
            </a:r>
            <a:r>
              <a:rPr lang="en-US" sz="1350" baseline="30000">
                <a:solidFill>
                  <a:schemeClr val="dk1"/>
                </a:solidFill>
                <a:latin typeface="Helvetica Neue"/>
                <a:ea typeface="Helvetica Neue"/>
                <a:cs typeface="Helvetica Neue"/>
                <a:sym typeface="Helvetica Neue"/>
              </a:rPr>
              <a:t>A</a:t>
            </a:r>
            <a:r>
              <a:rPr lang="en-US" sz="600">
                <a:solidFill>
                  <a:schemeClr val="dk1"/>
                </a:solidFill>
                <a:latin typeface="Helvetica Neue"/>
                <a:ea typeface="Helvetica Neue"/>
                <a:cs typeface="Helvetica Neue"/>
                <a:sym typeface="Helvetica Neue"/>
              </a:rPr>
              <a:t>20</a:t>
            </a:r>
            <a:endParaRPr sz="600">
              <a:solidFill>
                <a:schemeClr val="dk1"/>
              </a:solidFill>
              <a:latin typeface="Helvetica Neue"/>
              <a:ea typeface="Helvetica Neue"/>
              <a:cs typeface="Helvetica Neue"/>
              <a:sym typeface="Helvetica Neue"/>
            </a:endParaRPr>
          </a:p>
        </p:txBody>
      </p:sp>
      <p:sp>
        <p:nvSpPr>
          <p:cNvPr id="1385" name="Google Shape;1385;p46"/>
          <p:cNvSpPr txBox="1"/>
          <p:nvPr/>
        </p:nvSpPr>
        <p:spPr>
          <a:xfrm>
            <a:off x="2715565" y="4368800"/>
            <a:ext cx="680085" cy="300852"/>
          </a:xfrm>
          <a:prstGeom prst="rect">
            <a:avLst/>
          </a:prstGeom>
          <a:noFill/>
          <a:ln>
            <a:noFill/>
          </a:ln>
        </p:spPr>
        <p:txBody>
          <a:bodyPr spcFirstLastPara="1" wrap="square" lIns="0" tIns="12700" rIns="0" bIns="0" anchor="t" anchorCtr="0">
            <a:spAutoFit/>
          </a:bodyPr>
          <a:lstStyle/>
          <a:p>
            <a:pPr marR="26034" algn="ctr">
              <a:lnSpc>
                <a:spcPct val="104444"/>
              </a:lnSpc>
            </a:pPr>
            <a:r>
              <a:rPr lang="en-US" sz="900">
                <a:solidFill>
                  <a:schemeClr val="dk1"/>
                </a:solidFill>
                <a:latin typeface="Helvetica Neue"/>
                <a:ea typeface="Helvetica Neue"/>
                <a:cs typeface="Helvetica Neue"/>
                <a:sym typeface="Helvetica Neue"/>
              </a:rPr>
              <a:t>512K </a:t>
            </a:r>
            <a:r>
              <a:rPr lang="en-US" sz="900">
                <a:solidFill>
                  <a:schemeClr val="dk1"/>
                </a:solidFill>
                <a:latin typeface="Noto Sans Symbols"/>
                <a:ea typeface="Noto Sans Symbols"/>
                <a:cs typeface="Noto Sans Symbols"/>
                <a:sym typeface="Noto Sans Symbols"/>
              </a:rPr>
              <a:t>×</a:t>
            </a:r>
            <a:r>
              <a:rPr lang="en-US" sz="900">
                <a:solidFill>
                  <a:schemeClr val="dk1"/>
                </a:solidFill>
                <a:latin typeface="Times New Roman"/>
                <a:ea typeface="Times New Roman"/>
                <a:cs typeface="Times New Roman"/>
                <a:sym typeface="Times New Roman"/>
              </a:rPr>
              <a:t> </a:t>
            </a:r>
            <a:r>
              <a:rPr lang="en-US" sz="900">
                <a:solidFill>
                  <a:schemeClr val="dk1"/>
                </a:solidFill>
                <a:latin typeface="Helvetica Neue"/>
                <a:ea typeface="Helvetica Neue"/>
                <a:cs typeface="Helvetica Neue"/>
                <a:sym typeface="Helvetica Neue"/>
              </a:rPr>
              <a:t>8</a:t>
            </a:r>
            <a:endParaRPr sz="900">
              <a:solidFill>
                <a:schemeClr val="dk1"/>
              </a:solidFill>
              <a:latin typeface="Helvetica Neue"/>
              <a:ea typeface="Helvetica Neue"/>
              <a:cs typeface="Helvetica Neue"/>
              <a:sym typeface="Helvetica Neue"/>
            </a:endParaRPr>
          </a:p>
          <a:p>
            <a:pPr algn="ctr">
              <a:lnSpc>
                <a:spcPct val="104444"/>
              </a:lnSpc>
            </a:pPr>
            <a:r>
              <a:rPr lang="en-US" sz="900">
                <a:solidFill>
                  <a:schemeClr val="dk1"/>
                </a:solidFill>
                <a:latin typeface="Helvetica Neue"/>
                <a:ea typeface="Helvetica Neue"/>
                <a:cs typeface="Helvetica Neue"/>
                <a:sym typeface="Helvetica Neue"/>
              </a:rPr>
              <a:t>memory chip</a:t>
            </a:r>
            <a:endParaRPr sz="900">
              <a:solidFill>
                <a:schemeClr val="dk1"/>
              </a:solidFill>
              <a:latin typeface="Helvetica Neue"/>
              <a:ea typeface="Helvetica Neue"/>
              <a:cs typeface="Helvetica Neue"/>
              <a:sym typeface="Helvetica Neue"/>
            </a:endParaRPr>
          </a:p>
        </p:txBody>
      </p:sp>
      <p:sp>
        <p:nvSpPr>
          <p:cNvPr id="1386" name="Google Shape;1386;p46"/>
          <p:cNvSpPr txBox="1"/>
          <p:nvPr/>
        </p:nvSpPr>
        <p:spPr>
          <a:xfrm>
            <a:off x="3869563" y="4540378"/>
            <a:ext cx="107950"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D</a:t>
            </a:r>
            <a:endParaRPr sz="900">
              <a:solidFill>
                <a:schemeClr val="dk1"/>
              </a:solidFill>
              <a:latin typeface="Helvetica Neue"/>
              <a:ea typeface="Helvetica Neue"/>
              <a:cs typeface="Helvetica Neue"/>
              <a:sym typeface="Helvetica Neue"/>
            </a:endParaRPr>
          </a:p>
        </p:txBody>
      </p:sp>
      <p:sp>
        <p:nvSpPr>
          <p:cNvPr id="1387" name="Google Shape;1387;p46"/>
          <p:cNvSpPr txBox="1"/>
          <p:nvPr/>
        </p:nvSpPr>
        <p:spPr>
          <a:xfrm>
            <a:off x="6446265" y="4540378"/>
            <a:ext cx="107950"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D</a:t>
            </a:r>
            <a:endParaRPr sz="900">
              <a:solidFill>
                <a:schemeClr val="dk1"/>
              </a:solidFill>
              <a:latin typeface="Helvetica Neue"/>
              <a:ea typeface="Helvetica Neue"/>
              <a:cs typeface="Helvetica Neue"/>
              <a:sym typeface="Helvetica Neue"/>
            </a:endParaRPr>
          </a:p>
        </p:txBody>
      </p:sp>
      <p:sp>
        <p:nvSpPr>
          <p:cNvPr id="1388" name="Google Shape;1388;p46"/>
          <p:cNvSpPr txBox="1"/>
          <p:nvPr/>
        </p:nvSpPr>
        <p:spPr>
          <a:xfrm>
            <a:off x="6519799" y="4611752"/>
            <a:ext cx="136525" cy="105157"/>
          </a:xfrm>
          <a:prstGeom prst="rect">
            <a:avLst/>
          </a:prstGeom>
          <a:noFill/>
          <a:ln>
            <a:noFill/>
          </a:ln>
        </p:spPr>
        <p:txBody>
          <a:bodyPr spcFirstLastPara="1" wrap="square" lIns="0" tIns="12700" rIns="0" bIns="0" anchor="t" anchorCtr="0">
            <a:spAutoFit/>
          </a:bodyPr>
          <a:lstStyle/>
          <a:p>
            <a:pPr marL="12700"/>
            <a:r>
              <a:rPr lang="en-US" sz="600">
                <a:solidFill>
                  <a:schemeClr val="dk1"/>
                </a:solidFill>
                <a:latin typeface="Helvetica Neue"/>
                <a:ea typeface="Helvetica Neue"/>
                <a:cs typeface="Helvetica Neue"/>
                <a:sym typeface="Helvetica Neue"/>
              </a:rPr>
              <a:t>7-0</a:t>
            </a:r>
            <a:endParaRPr sz="600">
              <a:solidFill>
                <a:schemeClr val="dk1"/>
              </a:solidFill>
              <a:latin typeface="Helvetica Neue"/>
              <a:ea typeface="Helvetica Neue"/>
              <a:cs typeface="Helvetica Neue"/>
              <a:sym typeface="Helvetica Neue"/>
            </a:endParaRPr>
          </a:p>
        </p:txBody>
      </p:sp>
      <p:sp>
        <p:nvSpPr>
          <p:cNvPr id="1389" name="Google Shape;1389;p46"/>
          <p:cNvSpPr txBox="1"/>
          <p:nvPr/>
        </p:nvSpPr>
        <p:spPr>
          <a:xfrm>
            <a:off x="4720844" y="4540378"/>
            <a:ext cx="107950"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D</a:t>
            </a:r>
            <a:endParaRPr sz="900">
              <a:solidFill>
                <a:schemeClr val="dk1"/>
              </a:solidFill>
              <a:latin typeface="Helvetica Neue"/>
              <a:ea typeface="Helvetica Neue"/>
              <a:cs typeface="Helvetica Neue"/>
              <a:sym typeface="Helvetica Neue"/>
            </a:endParaRPr>
          </a:p>
        </p:txBody>
      </p:sp>
      <p:sp>
        <p:nvSpPr>
          <p:cNvPr id="1390" name="Google Shape;1390;p46"/>
          <p:cNvSpPr txBox="1"/>
          <p:nvPr/>
        </p:nvSpPr>
        <p:spPr>
          <a:xfrm>
            <a:off x="3942970" y="4611751"/>
            <a:ext cx="1073785" cy="197490"/>
          </a:xfrm>
          <a:prstGeom prst="rect">
            <a:avLst/>
          </a:prstGeom>
          <a:noFill/>
          <a:ln>
            <a:noFill/>
          </a:ln>
        </p:spPr>
        <p:txBody>
          <a:bodyPr spcFirstLastPara="1" wrap="square" lIns="0" tIns="12700" rIns="0" bIns="0" anchor="t" anchorCtr="0">
            <a:spAutoFit/>
          </a:bodyPr>
          <a:lstStyle/>
          <a:p>
            <a:pPr marL="12700"/>
            <a:r>
              <a:rPr lang="en-US" sz="600">
                <a:solidFill>
                  <a:schemeClr val="dk1"/>
                </a:solidFill>
                <a:latin typeface="Helvetica Neue"/>
                <a:ea typeface="Helvetica Neue"/>
                <a:cs typeface="Helvetica Neue"/>
                <a:sym typeface="Helvetica Neue"/>
              </a:rPr>
              <a:t>31-24	23-16</a:t>
            </a:r>
            <a:endParaRPr sz="600">
              <a:solidFill>
                <a:schemeClr val="dk1"/>
              </a:solidFill>
              <a:latin typeface="Helvetica Neue"/>
              <a:ea typeface="Helvetica Neue"/>
              <a:cs typeface="Helvetica Neue"/>
              <a:sym typeface="Helvetica Neue"/>
            </a:endParaRPr>
          </a:p>
        </p:txBody>
      </p:sp>
      <p:sp>
        <p:nvSpPr>
          <p:cNvPr id="1391" name="Google Shape;1391;p46"/>
          <p:cNvSpPr txBox="1"/>
          <p:nvPr/>
        </p:nvSpPr>
        <p:spPr>
          <a:xfrm>
            <a:off x="5607177" y="4540378"/>
            <a:ext cx="107950"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D</a:t>
            </a:r>
            <a:endParaRPr sz="900">
              <a:solidFill>
                <a:schemeClr val="dk1"/>
              </a:solidFill>
              <a:latin typeface="Helvetica Neue"/>
              <a:ea typeface="Helvetica Neue"/>
              <a:cs typeface="Helvetica Neue"/>
              <a:sym typeface="Helvetica Neue"/>
            </a:endParaRPr>
          </a:p>
        </p:txBody>
      </p:sp>
      <p:sp>
        <p:nvSpPr>
          <p:cNvPr id="1392" name="Google Shape;1392;p46"/>
          <p:cNvSpPr txBox="1"/>
          <p:nvPr/>
        </p:nvSpPr>
        <p:spPr>
          <a:xfrm>
            <a:off x="5694426" y="4611752"/>
            <a:ext cx="179070" cy="105157"/>
          </a:xfrm>
          <a:prstGeom prst="rect">
            <a:avLst/>
          </a:prstGeom>
          <a:noFill/>
          <a:ln>
            <a:noFill/>
          </a:ln>
        </p:spPr>
        <p:txBody>
          <a:bodyPr spcFirstLastPara="1" wrap="square" lIns="0" tIns="12700" rIns="0" bIns="0" anchor="t" anchorCtr="0">
            <a:spAutoFit/>
          </a:bodyPr>
          <a:lstStyle/>
          <a:p>
            <a:pPr marL="12700"/>
            <a:r>
              <a:rPr lang="en-US" sz="600">
                <a:solidFill>
                  <a:schemeClr val="dk1"/>
                </a:solidFill>
                <a:latin typeface="Helvetica Neue"/>
                <a:ea typeface="Helvetica Neue"/>
                <a:cs typeface="Helvetica Neue"/>
                <a:sym typeface="Helvetica Neue"/>
              </a:rPr>
              <a:t>15-8</a:t>
            </a:r>
            <a:endParaRPr sz="600">
              <a:solidFill>
                <a:schemeClr val="dk1"/>
              </a:solidFill>
              <a:latin typeface="Helvetica Neue"/>
              <a:ea typeface="Helvetica Neue"/>
              <a:cs typeface="Helvetica Neue"/>
              <a:sym typeface="Helvetica Neue"/>
            </a:endParaRPr>
          </a:p>
        </p:txBody>
      </p:sp>
      <p:grpSp>
        <p:nvGrpSpPr>
          <p:cNvPr id="1393" name="Google Shape;1393;p46"/>
          <p:cNvGrpSpPr/>
          <p:nvPr/>
        </p:nvGrpSpPr>
        <p:grpSpPr>
          <a:xfrm>
            <a:off x="4054602" y="5052339"/>
            <a:ext cx="776859" cy="832002"/>
            <a:chOff x="2530601" y="5052339"/>
            <a:chExt cx="776859" cy="832002"/>
          </a:xfrm>
        </p:grpSpPr>
        <p:sp>
          <p:nvSpPr>
            <p:cNvPr id="1394" name="Google Shape;1394;p46"/>
            <p:cNvSpPr/>
            <p:nvPr/>
          </p:nvSpPr>
          <p:spPr>
            <a:xfrm>
              <a:off x="2530601" y="5326252"/>
              <a:ext cx="295275" cy="114935"/>
            </a:xfrm>
            <a:custGeom>
              <a:avLst/>
              <a:gdLst/>
              <a:ahLst/>
              <a:cxnLst/>
              <a:rect l="l" t="t" r="r" b="b"/>
              <a:pathLst>
                <a:path w="295275" h="114935" extrusionOk="0">
                  <a:moveTo>
                    <a:pt x="0" y="91948"/>
                  </a:moveTo>
                  <a:lnTo>
                    <a:pt x="172085" y="91948"/>
                  </a:lnTo>
                  <a:lnTo>
                    <a:pt x="172085" y="114935"/>
                  </a:lnTo>
                  <a:lnTo>
                    <a:pt x="294894" y="57531"/>
                  </a:lnTo>
                  <a:lnTo>
                    <a:pt x="172085" y="0"/>
                  </a:lnTo>
                  <a:lnTo>
                    <a:pt x="172085" y="34544"/>
                  </a:lnTo>
                  <a:lnTo>
                    <a:pt x="0" y="34544"/>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95" name="Google Shape;1395;p46"/>
            <p:cNvSpPr/>
            <p:nvPr/>
          </p:nvSpPr>
          <p:spPr>
            <a:xfrm>
              <a:off x="3048634" y="5739269"/>
              <a:ext cx="24765" cy="68580"/>
            </a:xfrm>
            <a:custGeom>
              <a:avLst/>
              <a:gdLst/>
              <a:ahLst/>
              <a:cxnLst/>
              <a:rect l="l" t="t" r="r" b="b"/>
              <a:pathLst>
                <a:path w="24764" h="68579" extrusionOk="0">
                  <a:moveTo>
                    <a:pt x="24383" y="68122"/>
                  </a:moveTo>
                  <a:lnTo>
                    <a:pt x="12191" y="0"/>
                  </a:lnTo>
                  <a:lnTo>
                    <a:pt x="0" y="68122"/>
                  </a:lnTo>
                  <a:lnTo>
                    <a:pt x="12191" y="68122"/>
                  </a:lnTo>
                  <a:lnTo>
                    <a:pt x="24383" y="68122"/>
                  </a:lnTo>
                </a:path>
              </a:pathLst>
            </a:custGeom>
            <a:noFill/>
            <a:ln w="127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96" name="Google Shape;1396;p46"/>
            <p:cNvSpPr/>
            <p:nvPr/>
          </p:nvSpPr>
          <p:spPr>
            <a:xfrm>
              <a:off x="3048634" y="5739269"/>
              <a:ext cx="24765" cy="68580"/>
            </a:xfrm>
            <a:custGeom>
              <a:avLst/>
              <a:gdLst/>
              <a:ahLst/>
              <a:cxnLst/>
              <a:rect l="l" t="t" r="r" b="b"/>
              <a:pathLst>
                <a:path w="24764" h="68579" extrusionOk="0">
                  <a:moveTo>
                    <a:pt x="12191" y="0"/>
                  </a:moveTo>
                  <a:lnTo>
                    <a:pt x="0" y="68122"/>
                  </a:lnTo>
                  <a:lnTo>
                    <a:pt x="24383" y="68122"/>
                  </a:lnTo>
                  <a:lnTo>
                    <a:pt x="12191" y="0"/>
                  </a:lnTo>
                  <a:close/>
                </a:path>
              </a:pathLst>
            </a:custGeom>
            <a:solidFill>
              <a:srgbClr val="000000"/>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97" name="Google Shape;1397;p46"/>
            <p:cNvSpPr/>
            <p:nvPr/>
          </p:nvSpPr>
          <p:spPr>
            <a:xfrm>
              <a:off x="3048634" y="5739269"/>
              <a:ext cx="24765" cy="68580"/>
            </a:xfrm>
            <a:custGeom>
              <a:avLst/>
              <a:gdLst/>
              <a:ahLst/>
              <a:cxnLst/>
              <a:rect l="l" t="t" r="r" b="b"/>
              <a:pathLst>
                <a:path w="24764" h="68579" extrusionOk="0">
                  <a:moveTo>
                    <a:pt x="24383" y="68122"/>
                  </a:moveTo>
                  <a:lnTo>
                    <a:pt x="12191" y="0"/>
                  </a:lnTo>
                  <a:lnTo>
                    <a:pt x="0" y="68122"/>
                  </a:lnTo>
                  <a:lnTo>
                    <a:pt x="12191" y="68122"/>
                  </a:lnTo>
                  <a:lnTo>
                    <a:pt x="24383" y="6812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98" name="Google Shape;1398;p46"/>
            <p:cNvSpPr/>
            <p:nvPr/>
          </p:nvSpPr>
          <p:spPr>
            <a:xfrm>
              <a:off x="3060826" y="5814491"/>
              <a:ext cx="1905" cy="69850"/>
            </a:xfrm>
            <a:custGeom>
              <a:avLst/>
              <a:gdLst/>
              <a:ahLst/>
              <a:cxnLst/>
              <a:rect l="l" t="t" r="r" b="b"/>
              <a:pathLst>
                <a:path w="1905" h="69850" extrusionOk="0">
                  <a:moveTo>
                    <a:pt x="762" y="-6350"/>
                  </a:moveTo>
                  <a:lnTo>
                    <a:pt x="762" y="75895"/>
                  </a:lnTo>
                </a:path>
              </a:pathLst>
            </a:custGeom>
            <a:noFill/>
            <a:ln w="142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399" name="Google Shape;1399;p46"/>
            <p:cNvSpPr/>
            <p:nvPr/>
          </p:nvSpPr>
          <p:spPr>
            <a:xfrm>
              <a:off x="2825495" y="5052339"/>
              <a:ext cx="481965" cy="675640"/>
            </a:xfrm>
            <a:custGeom>
              <a:avLst/>
              <a:gdLst/>
              <a:ahLst/>
              <a:cxnLst/>
              <a:rect l="l" t="t" r="r" b="b"/>
              <a:pathLst>
                <a:path w="481964" h="675639" extrusionOk="0">
                  <a:moveTo>
                    <a:pt x="0" y="675576"/>
                  </a:moveTo>
                  <a:lnTo>
                    <a:pt x="481342" y="675576"/>
                  </a:lnTo>
                  <a:lnTo>
                    <a:pt x="481342" y="0"/>
                  </a:lnTo>
                  <a:lnTo>
                    <a:pt x="0" y="0"/>
                  </a:lnTo>
                  <a:lnTo>
                    <a:pt x="0" y="67557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
        <p:nvSpPr>
          <p:cNvPr id="1400" name="Google Shape;1400;p46"/>
          <p:cNvSpPr txBox="1"/>
          <p:nvPr/>
        </p:nvSpPr>
        <p:spPr>
          <a:xfrm>
            <a:off x="4324857" y="5857748"/>
            <a:ext cx="591820" cy="1513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Chip select</a:t>
            </a:r>
            <a:endParaRPr sz="900">
              <a:solidFill>
                <a:schemeClr val="dk1"/>
              </a:solidFill>
              <a:latin typeface="Helvetica Neue"/>
              <a:ea typeface="Helvetica Neue"/>
              <a:cs typeface="Helvetica Neue"/>
              <a:sym typeface="Helvetica Neue"/>
            </a:endParaRPr>
          </a:p>
        </p:txBody>
      </p:sp>
      <p:sp>
        <p:nvSpPr>
          <p:cNvPr id="1401" name="Google Shape;1401;p46"/>
          <p:cNvSpPr txBox="1"/>
          <p:nvPr/>
        </p:nvSpPr>
        <p:spPr>
          <a:xfrm>
            <a:off x="4042410" y="4804665"/>
            <a:ext cx="1129030" cy="289823"/>
          </a:xfrm>
          <a:prstGeom prst="rect">
            <a:avLst/>
          </a:prstGeom>
          <a:noFill/>
          <a:ln>
            <a:noFill/>
          </a:ln>
        </p:spPr>
        <p:txBody>
          <a:bodyPr spcFirstLastPara="1" wrap="square" lIns="0" tIns="12700" rIns="0" bIns="0" anchor="t" anchorCtr="0">
            <a:spAutoFit/>
          </a:bodyPr>
          <a:lstStyle/>
          <a:p>
            <a:pPr marL="12700"/>
            <a:r>
              <a:rPr lang="en-US" sz="900">
                <a:solidFill>
                  <a:schemeClr val="dk1"/>
                </a:solidFill>
                <a:latin typeface="Helvetica Neue"/>
                <a:ea typeface="Helvetica Neue"/>
                <a:cs typeface="Helvetica Neue"/>
                <a:sym typeface="Helvetica Neue"/>
              </a:rPr>
              <a:t>512 K</a:t>
            </a:r>
            <a:r>
              <a:rPr lang="en-US" sz="900">
                <a:solidFill>
                  <a:schemeClr val="dk1"/>
                </a:solidFill>
                <a:latin typeface="Noto Sans Symbols"/>
                <a:ea typeface="Noto Sans Symbols"/>
                <a:cs typeface="Noto Sans Symbols"/>
                <a:sym typeface="Noto Sans Symbols"/>
              </a:rPr>
              <a:t>×</a:t>
            </a:r>
            <a:r>
              <a:rPr lang="en-US" sz="900">
                <a:solidFill>
                  <a:schemeClr val="dk1"/>
                </a:solidFill>
                <a:latin typeface="Times New Roman"/>
                <a:ea typeface="Times New Roman"/>
                <a:cs typeface="Times New Roman"/>
                <a:sym typeface="Times New Roman"/>
              </a:rPr>
              <a:t> </a:t>
            </a:r>
            <a:r>
              <a:rPr lang="en-US" sz="900">
                <a:solidFill>
                  <a:schemeClr val="dk1"/>
                </a:solidFill>
                <a:latin typeface="Helvetica Neue"/>
                <a:ea typeface="Helvetica Neue"/>
                <a:cs typeface="Helvetica Neue"/>
                <a:sym typeface="Helvetica Neue"/>
              </a:rPr>
              <a:t>8 memory chip</a:t>
            </a:r>
            <a:endParaRPr sz="900">
              <a:solidFill>
                <a:schemeClr val="dk1"/>
              </a:solidFill>
              <a:latin typeface="Helvetica Neue"/>
              <a:ea typeface="Helvetica Neue"/>
              <a:cs typeface="Helvetica Neue"/>
              <a:sym typeface="Helvetica Neue"/>
            </a:endParaRPr>
          </a:p>
        </p:txBody>
      </p:sp>
      <p:sp>
        <p:nvSpPr>
          <p:cNvPr id="1402" name="Google Shape;1402;p46"/>
          <p:cNvSpPr txBox="1"/>
          <p:nvPr/>
        </p:nvSpPr>
        <p:spPr>
          <a:xfrm>
            <a:off x="3647948" y="5239003"/>
            <a:ext cx="434340" cy="266700"/>
          </a:xfrm>
          <a:prstGeom prst="rect">
            <a:avLst/>
          </a:prstGeom>
          <a:noFill/>
          <a:ln>
            <a:noFill/>
          </a:ln>
        </p:spPr>
        <p:txBody>
          <a:bodyPr spcFirstLastPara="1" wrap="square" lIns="0" tIns="45700" rIns="0" bIns="0" anchor="t" anchorCtr="0">
            <a:spAutoFit/>
          </a:bodyPr>
          <a:lstStyle/>
          <a:p>
            <a:pPr marL="12700" marR="5080" indent="36195">
              <a:lnSpc>
                <a:spcPct val="75600"/>
              </a:lnSpc>
            </a:pPr>
            <a:r>
              <a:rPr lang="en-US" sz="900">
                <a:solidFill>
                  <a:schemeClr val="dk1"/>
                </a:solidFill>
                <a:latin typeface="Helvetica Neue"/>
                <a:ea typeface="Helvetica Neue"/>
                <a:cs typeface="Helvetica Neue"/>
                <a:sym typeface="Helvetica Neue"/>
              </a:rPr>
              <a:t>19-bit  address</a:t>
            </a:r>
            <a:endParaRPr sz="900">
              <a:solidFill>
                <a:schemeClr val="dk1"/>
              </a:solidFill>
              <a:latin typeface="Helvetica Neue"/>
              <a:ea typeface="Helvetica Neue"/>
              <a:cs typeface="Helvetica Neue"/>
              <a:sym typeface="Helvetica Neue"/>
            </a:endParaRPr>
          </a:p>
        </p:txBody>
      </p:sp>
      <p:sp>
        <p:nvSpPr>
          <p:cNvPr id="1403" name="Google Shape;1403;p46"/>
          <p:cNvSpPr/>
          <p:nvPr/>
        </p:nvSpPr>
        <p:spPr>
          <a:xfrm>
            <a:off x="4818635" y="5337556"/>
            <a:ext cx="339725" cy="104139"/>
          </a:xfrm>
          <a:custGeom>
            <a:avLst/>
            <a:gdLst/>
            <a:ahLst/>
            <a:cxnLst/>
            <a:rect l="l" t="t" r="r" b="b"/>
            <a:pathLst>
              <a:path w="339725" h="104139" extrusionOk="0">
                <a:moveTo>
                  <a:pt x="184912" y="23114"/>
                </a:moveTo>
                <a:lnTo>
                  <a:pt x="110998" y="23114"/>
                </a:lnTo>
                <a:lnTo>
                  <a:pt x="110998" y="0"/>
                </a:lnTo>
                <a:lnTo>
                  <a:pt x="0" y="46101"/>
                </a:lnTo>
                <a:lnTo>
                  <a:pt x="110998" y="103632"/>
                </a:lnTo>
                <a:lnTo>
                  <a:pt x="110998" y="69088"/>
                </a:lnTo>
                <a:lnTo>
                  <a:pt x="184912" y="69088"/>
                </a:lnTo>
              </a:path>
              <a:path w="339725" h="104139" extrusionOk="0">
                <a:moveTo>
                  <a:pt x="154304" y="23495"/>
                </a:moveTo>
                <a:lnTo>
                  <a:pt x="228345" y="23495"/>
                </a:lnTo>
                <a:lnTo>
                  <a:pt x="228345" y="1524"/>
                </a:lnTo>
                <a:lnTo>
                  <a:pt x="339216" y="45593"/>
                </a:lnTo>
                <a:lnTo>
                  <a:pt x="228345" y="100838"/>
                </a:lnTo>
                <a:lnTo>
                  <a:pt x="228345" y="67691"/>
                </a:lnTo>
                <a:lnTo>
                  <a:pt x="154304" y="67691"/>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04" name="Google Shape;1404;p46"/>
          <p:cNvSpPr txBox="1"/>
          <p:nvPr/>
        </p:nvSpPr>
        <p:spPr>
          <a:xfrm>
            <a:off x="5188459" y="5239003"/>
            <a:ext cx="626745" cy="266700"/>
          </a:xfrm>
          <a:prstGeom prst="rect">
            <a:avLst/>
          </a:prstGeom>
          <a:noFill/>
          <a:ln>
            <a:noFill/>
          </a:ln>
        </p:spPr>
        <p:txBody>
          <a:bodyPr spcFirstLastPara="1" wrap="square" lIns="0" tIns="45700" rIns="0" bIns="0" anchor="t" anchorCtr="0">
            <a:spAutoFit/>
          </a:bodyPr>
          <a:lstStyle/>
          <a:p>
            <a:pPr marL="12700" marR="5080" indent="60960">
              <a:lnSpc>
                <a:spcPct val="75600"/>
              </a:lnSpc>
            </a:pPr>
            <a:r>
              <a:rPr lang="en-US" sz="900">
                <a:solidFill>
                  <a:schemeClr val="dk1"/>
                </a:solidFill>
                <a:latin typeface="Helvetica Neue"/>
                <a:ea typeface="Helvetica Neue"/>
                <a:cs typeface="Helvetica Neue"/>
                <a:sym typeface="Helvetica Neue"/>
              </a:rPr>
              <a:t>8-bit data  input/output</a:t>
            </a:r>
            <a:endParaRPr sz="900">
              <a:solidFill>
                <a:schemeClr val="dk1"/>
              </a:solidFill>
              <a:latin typeface="Helvetica Neue"/>
              <a:ea typeface="Helvetica Neue"/>
              <a:cs typeface="Helvetica Neue"/>
              <a:sym typeface="Helvetica Neue"/>
            </a:endParaRPr>
          </a:p>
        </p:txBody>
      </p:sp>
      <p:sp>
        <p:nvSpPr>
          <p:cNvPr id="1405" name="Google Shape;1405;p46"/>
          <p:cNvSpPr txBox="1"/>
          <p:nvPr/>
        </p:nvSpPr>
        <p:spPr>
          <a:xfrm>
            <a:off x="2288540" y="6331499"/>
            <a:ext cx="2694940"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406" name="Google Shape;1406;p46"/>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22</a:t>
            </a:fld>
            <a:endParaRPr/>
          </a:p>
        </p:txBody>
      </p:sp>
      <p:sp>
        <p:nvSpPr>
          <p:cNvPr id="1407" name="Google Shape;1407;p46"/>
          <p:cNvSpPr txBox="1"/>
          <p:nvPr/>
        </p:nvSpPr>
        <p:spPr>
          <a:xfrm>
            <a:off x="6937629" y="1167130"/>
            <a:ext cx="3416935" cy="4415155"/>
          </a:xfrm>
          <a:prstGeom prst="rect">
            <a:avLst/>
          </a:prstGeom>
          <a:noFill/>
          <a:ln>
            <a:noFill/>
          </a:ln>
        </p:spPr>
        <p:txBody>
          <a:bodyPr spcFirstLastPara="1" wrap="square" lIns="0" tIns="12050" rIns="0" bIns="0" anchor="t" anchorCtr="0">
            <a:spAutoFit/>
          </a:bodyPr>
          <a:lstStyle/>
          <a:p>
            <a:pPr marL="12700" marR="363855"/>
            <a:r>
              <a:rPr lang="en-US" sz="1600" dirty="0">
                <a:solidFill>
                  <a:srgbClr val="FF0000"/>
                </a:solidFill>
                <a:latin typeface="Comic Sans MS"/>
                <a:ea typeface="Comic Sans MS"/>
                <a:cs typeface="Comic Sans MS"/>
                <a:sym typeface="Comic Sans MS"/>
              </a:rPr>
              <a:t>Implement a memory unit of 2M  words of 32 bits each.</a:t>
            </a:r>
            <a:endParaRPr sz="1600" dirty="0">
              <a:solidFill>
                <a:schemeClr val="dk1"/>
              </a:solidFill>
              <a:latin typeface="Comic Sans MS"/>
              <a:ea typeface="Comic Sans MS"/>
              <a:cs typeface="Comic Sans MS"/>
              <a:sym typeface="Comic Sans MS"/>
            </a:endParaRPr>
          </a:p>
          <a:p>
            <a:pPr marL="12700" marR="371475"/>
            <a:r>
              <a:rPr lang="en-US" sz="1600" dirty="0">
                <a:solidFill>
                  <a:srgbClr val="FF0000"/>
                </a:solidFill>
                <a:latin typeface="Comic Sans MS"/>
                <a:ea typeface="Comic Sans MS"/>
                <a:cs typeface="Comic Sans MS"/>
                <a:sym typeface="Comic Sans MS"/>
              </a:rPr>
              <a:t>Use 512x8 static memory chips</a:t>
            </a:r>
            <a:r>
              <a:rPr lang="en-US" sz="1600" dirty="0">
                <a:solidFill>
                  <a:schemeClr val="dk1"/>
                </a:solidFill>
                <a:latin typeface="Comic Sans MS"/>
                <a:ea typeface="Comic Sans MS"/>
                <a:cs typeface="Comic Sans MS"/>
                <a:sym typeface="Comic Sans MS"/>
              </a:rPr>
              <a:t>.  Each column consists of 4 chips.  Each chip implements one byte  position.</a:t>
            </a:r>
            <a:endParaRPr sz="1600" dirty="0">
              <a:solidFill>
                <a:schemeClr val="dk1"/>
              </a:solidFill>
              <a:latin typeface="Comic Sans MS"/>
              <a:ea typeface="Comic Sans MS"/>
              <a:cs typeface="Comic Sans MS"/>
              <a:sym typeface="Comic Sans MS"/>
            </a:endParaRPr>
          </a:p>
          <a:p>
            <a:pPr marL="12700" marR="389890">
              <a:spcBef>
                <a:spcPts val="5"/>
              </a:spcBef>
            </a:pPr>
            <a:r>
              <a:rPr lang="en-US" sz="1600" dirty="0">
                <a:solidFill>
                  <a:schemeClr val="dk1"/>
                </a:solidFill>
                <a:latin typeface="Comic Sans MS"/>
                <a:ea typeface="Comic Sans MS"/>
                <a:cs typeface="Comic Sans MS"/>
                <a:sym typeface="Comic Sans MS"/>
              </a:rPr>
              <a:t>A chip is selected by setting its  chip select control line to 1.</a:t>
            </a:r>
            <a:endParaRPr sz="1600" dirty="0">
              <a:solidFill>
                <a:schemeClr val="dk1"/>
              </a:solidFill>
              <a:latin typeface="Comic Sans MS"/>
              <a:ea typeface="Comic Sans MS"/>
              <a:cs typeface="Comic Sans MS"/>
              <a:sym typeface="Comic Sans MS"/>
            </a:endParaRPr>
          </a:p>
          <a:p>
            <a:pPr marL="12700" marR="5080"/>
            <a:r>
              <a:rPr lang="en-US" sz="1600" dirty="0">
                <a:solidFill>
                  <a:schemeClr val="dk1"/>
                </a:solidFill>
                <a:latin typeface="Comic Sans MS"/>
                <a:ea typeface="Comic Sans MS"/>
                <a:cs typeface="Comic Sans MS"/>
                <a:sym typeface="Comic Sans MS"/>
              </a:rPr>
              <a:t>Selected chip places its data on the  data output line, outputs of other  chips are in high impedance state.</a:t>
            </a:r>
            <a:endParaRPr sz="1600" dirty="0">
              <a:solidFill>
                <a:schemeClr val="dk1"/>
              </a:solidFill>
              <a:latin typeface="Comic Sans MS"/>
              <a:ea typeface="Comic Sans MS"/>
              <a:cs typeface="Comic Sans MS"/>
              <a:sym typeface="Comic Sans MS"/>
            </a:endParaRPr>
          </a:p>
          <a:p>
            <a:pPr marL="12700" marR="274955"/>
            <a:r>
              <a:rPr lang="en-US" sz="1600" dirty="0">
                <a:solidFill>
                  <a:schemeClr val="dk1"/>
                </a:solidFill>
                <a:latin typeface="Comic Sans MS"/>
                <a:ea typeface="Comic Sans MS"/>
                <a:cs typeface="Comic Sans MS"/>
                <a:sym typeface="Comic Sans MS"/>
              </a:rPr>
              <a:t>21 bits to address a 32-bit word.  </a:t>
            </a:r>
            <a:r>
              <a:rPr lang="en-US" sz="1600" dirty="0">
                <a:solidFill>
                  <a:srgbClr val="FF0000"/>
                </a:solidFill>
                <a:latin typeface="Comic Sans MS"/>
                <a:ea typeface="Comic Sans MS"/>
                <a:cs typeface="Comic Sans MS"/>
                <a:sym typeface="Comic Sans MS"/>
              </a:rPr>
              <a:t>High order 2 bits are needed to  select the row, by activating the  four Chip Select signals.</a:t>
            </a:r>
            <a:endParaRPr sz="1600" dirty="0">
              <a:solidFill>
                <a:schemeClr val="dk1"/>
              </a:solidFill>
              <a:latin typeface="Comic Sans MS"/>
              <a:ea typeface="Comic Sans MS"/>
              <a:cs typeface="Comic Sans MS"/>
              <a:sym typeface="Comic Sans MS"/>
            </a:endParaRPr>
          </a:p>
          <a:p>
            <a:pPr marL="12700" marR="132715"/>
            <a:r>
              <a:rPr lang="en-US" sz="1600" dirty="0">
                <a:solidFill>
                  <a:schemeClr val="dk1"/>
                </a:solidFill>
                <a:latin typeface="Comic Sans MS"/>
                <a:ea typeface="Comic Sans MS"/>
                <a:cs typeface="Comic Sans MS"/>
                <a:sym typeface="Comic Sans MS"/>
              </a:rPr>
              <a:t>19 bits are used to access specific  byte locations inside the selected  chip.</a:t>
            </a:r>
            <a:endParaRPr sz="1600" dirty="0">
              <a:solidFill>
                <a:schemeClr val="dk1"/>
              </a:solidFill>
              <a:latin typeface="Comic Sans MS"/>
              <a:ea typeface="Comic Sans MS"/>
              <a:cs typeface="Comic Sans MS"/>
              <a:sym typeface="Comic Sans MS"/>
            </a:endParaRPr>
          </a:p>
        </p:txBody>
      </p:sp>
      <p:sp>
        <p:nvSpPr>
          <p:cNvPr id="1408" name="Google Shape;1408;p46"/>
          <p:cNvSpPr txBox="1"/>
          <p:nvPr/>
        </p:nvSpPr>
        <p:spPr>
          <a:xfrm>
            <a:off x="1755141" y="5816295"/>
            <a:ext cx="2412365" cy="228268"/>
          </a:xfrm>
          <a:prstGeom prst="rect">
            <a:avLst/>
          </a:prstGeom>
          <a:noFill/>
          <a:ln>
            <a:noFill/>
          </a:ln>
        </p:spPr>
        <p:txBody>
          <a:bodyPr spcFirstLastPara="1" wrap="square" lIns="0" tIns="12700" rIns="0" bIns="0" anchor="t" anchorCtr="0">
            <a:spAutoFit/>
          </a:bodyPr>
          <a:lstStyle/>
          <a:p>
            <a:pPr marL="12700"/>
            <a:r>
              <a:rPr lang="en-US" sz="1400">
                <a:solidFill>
                  <a:schemeClr val="dk1"/>
                </a:solidFill>
                <a:latin typeface="Comic Sans MS"/>
                <a:ea typeface="Comic Sans MS"/>
                <a:cs typeface="Comic Sans MS"/>
                <a:sym typeface="Comic Sans MS"/>
              </a:rPr>
              <a:t>Fig. Organization of 2M x 32</a:t>
            </a:r>
            <a:endParaRPr sz="1400">
              <a:solidFill>
                <a:schemeClr val="dk1"/>
              </a:solidFill>
              <a:latin typeface="Comic Sans MS"/>
              <a:ea typeface="Comic Sans MS"/>
              <a:cs typeface="Comic Sans MS"/>
              <a:sym typeface="Comic Sans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48"/>
          <p:cNvSpPr txBox="1">
            <a:spLocks noGrp="1"/>
          </p:cNvSpPr>
          <p:nvPr>
            <p:ph type="title"/>
          </p:nvPr>
        </p:nvSpPr>
        <p:spPr>
          <a:xfrm>
            <a:off x="2746655" y="551130"/>
            <a:ext cx="2661285" cy="391795"/>
          </a:xfrm>
          <a:prstGeom prst="rect">
            <a:avLst/>
          </a:prstGeom>
          <a:noFill/>
          <a:ln>
            <a:noFill/>
          </a:ln>
        </p:spPr>
        <p:txBody>
          <a:bodyPr spcFirstLastPara="1" wrap="square" lIns="0" tIns="12700" rIns="0" bIns="0" anchor="t" anchorCtr="0">
            <a:spAutoFit/>
          </a:bodyPr>
          <a:lstStyle/>
          <a:p>
            <a:pPr marL="12700"/>
            <a:r>
              <a:rPr lang="en-US"/>
              <a:t>Memory controller</a:t>
            </a:r>
            <a:endParaRPr/>
          </a:p>
        </p:txBody>
      </p:sp>
      <p:sp>
        <p:nvSpPr>
          <p:cNvPr id="1422" name="Google Shape;1422;p48"/>
          <p:cNvSpPr txBox="1"/>
          <p:nvPr/>
        </p:nvSpPr>
        <p:spPr>
          <a:xfrm>
            <a:off x="2288540" y="6331499"/>
            <a:ext cx="2694940"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423" name="Google Shape;1423;p48"/>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23</a:t>
            </a:fld>
            <a:endParaRPr/>
          </a:p>
        </p:txBody>
      </p:sp>
      <p:sp>
        <p:nvSpPr>
          <p:cNvPr id="1424" name="Google Shape;1424;p48"/>
          <p:cNvSpPr txBox="1"/>
          <p:nvPr/>
        </p:nvSpPr>
        <p:spPr>
          <a:xfrm>
            <a:off x="2408022" y="1367791"/>
            <a:ext cx="7492365" cy="3192525"/>
          </a:xfrm>
          <a:prstGeom prst="rect">
            <a:avLst/>
          </a:prstGeom>
          <a:noFill/>
          <a:ln>
            <a:noFill/>
          </a:ln>
        </p:spPr>
        <p:txBody>
          <a:bodyPr spcFirstLastPara="1" wrap="square" lIns="0" tIns="12050" rIns="0" bIns="0" anchor="t" anchorCtr="0">
            <a:spAutoFit/>
          </a:bodyPr>
          <a:lstStyle/>
          <a:p>
            <a:pPr marL="332740" marR="22225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To reduce the number of pins, the dynamic memory chips	use  multiplexed address inputs.</a:t>
            </a:r>
            <a:endParaRPr sz="1900">
              <a:solidFill>
                <a:schemeClr val="dk1"/>
              </a:solidFill>
              <a:latin typeface="Comic Sans MS"/>
              <a:ea typeface="Comic Sans MS"/>
              <a:cs typeface="Comic Sans MS"/>
              <a:sym typeface="Comic Sans MS"/>
            </a:endParaRPr>
          </a:p>
          <a:p>
            <a:pPr marL="33274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Address is divided into two parts:</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High-order address bits select a row in the array.</a:t>
            </a:r>
            <a:endParaRPr sz="1900">
              <a:solidFill>
                <a:schemeClr val="dk1"/>
              </a:solidFill>
              <a:latin typeface="Comic Sans MS"/>
              <a:ea typeface="Comic Sans MS"/>
              <a:cs typeface="Comic Sans MS"/>
              <a:sym typeface="Comic Sans MS"/>
            </a:endParaRPr>
          </a:p>
          <a:p>
            <a:pPr marL="625475" lvl="1" indent="-274955">
              <a:spcBef>
                <a:spcPts val="459"/>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They are provided first, and latched using RAS signal.</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Low-order address bits select a column in the row.</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They are provided later, and latched using CAS signal.</a:t>
            </a:r>
            <a:endParaRPr sz="1900">
              <a:solidFill>
                <a:schemeClr val="dk1"/>
              </a:solidFill>
              <a:latin typeface="Comic Sans MS"/>
              <a:ea typeface="Comic Sans MS"/>
              <a:cs typeface="Comic Sans MS"/>
              <a:sym typeface="Comic Sans MS"/>
            </a:endParaRPr>
          </a:p>
          <a:p>
            <a:pPr marL="33274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However, a processor issues all address bits at the same time.</a:t>
            </a:r>
            <a:endParaRPr sz="1900">
              <a:solidFill>
                <a:schemeClr val="dk1"/>
              </a:solidFill>
              <a:latin typeface="Comic Sans MS"/>
              <a:ea typeface="Comic Sans MS"/>
              <a:cs typeface="Comic Sans MS"/>
              <a:sym typeface="Comic Sans MS"/>
            </a:endParaRPr>
          </a:p>
          <a:p>
            <a:pPr marL="332740" indent="-320675">
              <a:buClr>
                <a:srgbClr val="FF0000"/>
              </a:buClr>
              <a:buSzPts val="1900"/>
              <a:buFont typeface="Cambria"/>
              <a:buChar char="◾"/>
            </a:pPr>
            <a:r>
              <a:rPr lang="en-US" sz="1900">
                <a:solidFill>
                  <a:srgbClr val="FF0000"/>
                </a:solidFill>
                <a:latin typeface="Comic Sans MS"/>
                <a:ea typeface="Comic Sans MS"/>
                <a:cs typeface="Comic Sans MS"/>
                <a:sym typeface="Comic Sans MS"/>
              </a:rPr>
              <a:t>In order to achieve the multiplexing, memory	controller circuit</a:t>
            </a:r>
            <a:endParaRPr sz="1900">
              <a:solidFill>
                <a:schemeClr val="dk1"/>
              </a:solidFill>
              <a:latin typeface="Comic Sans MS"/>
              <a:ea typeface="Comic Sans MS"/>
              <a:cs typeface="Comic Sans MS"/>
              <a:sym typeface="Comic Sans MS"/>
            </a:endParaRPr>
          </a:p>
          <a:p>
            <a:pPr marL="332740"/>
            <a:r>
              <a:rPr lang="en-US" sz="1900">
                <a:solidFill>
                  <a:srgbClr val="FF0000"/>
                </a:solidFill>
                <a:latin typeface="Comic Sans MS"/>
                <a:ea typeface="Comic Sans MS"/>
                <a:cs typeface="Comic Sans MS"/>
                <a:sym typeface="Comic Sans MS"/>
              </a:rPr>
              <a:t>is inserted between the processor	and memory.</a:t>
            </a:r>
            <a:endParaRPr sz="1900">
              <a:solidFill>
                <a:schemeClr val="dk1"/>
              </a:solidFill>
              <a:latin typeface="Comic Sans MS"/>
              <a:ea typeface="Comic Sans MS"/>
              <a:cs typeface="Comic Sans MS"/>
              <a:sym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50"/>
          <p:cNvSpPr txBox="1">
            <a:spLocks noGrp="1"/>
          </p:cNvSpPr>
          <p:nvPr>
            <p:ph type="title"/>
          </p:nvPr>
        </p:nvSpPr>
        <p:spPr>
          <a:xfrm>
            <a:off x="3888995" y="2734792"/>
            <a:ext cx="3937635" cy="1196340"/>
          </a:xfrm>
          <a:prstGeom prst="rect">
            <a:avLst/>
          </a:prstGeom>
          <a:noFill/>
          <a:ln>
            <a:noFill/>
          </a:ln>
        </p:spPr>
        <p:txBody>
          <a:bodyPr spcFirstLastPara="1" wrap="square" lIns="0" tIns="109850" rIns="0" bIns="0" anchor="t" anchorCtr="0">
            <a:spAutoFit/>
          </a:bodyPr>
          <a:lstStyle/>
          <a:p>
            <a:pPr marL="12700"/>
            <a:r>
              <a:rPr lang="en-US" sz="3200"/>
              <a:t>Read-Only Memories</a:t>
            </a:r>
            <a:endParaRPr sz="3200"/>
          </a:p>
          <a:p>
            <a:pPr marL="452755" algn="ctr">
              <a:spcBef>
                <a:spcPts val="770"/>
              </a:spcBef>
            </a:pPr>
            <a:r>
              <a:rPr lang="en-US" sz="3200"/>
              <a:t>(ROMs)</a:t>
            </a:r>
            <a:endParaRPr sz="3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sp>
        <p:nvSpPr>
          <p:cNvPr id="1462" name="Google Shape;1462;p51"/>
          <p:cNvSpPr txBox="1">
            <a:spLocks noGrp="1"/>
          </p:cNvSpPr>
          <p:nvPr>
            <p:ph type="title"/>
          </p:nvPr>
        </p:nvSpPr>
        <p:spPr>
          <a:xfrm>
            <a:off x="2746655" y="551130"/>
            <a:ext cx="4126865" cy="391795"/>
          </a:xfrm>
          <a:prstGeom prst="rect">
            <a:avLst/>
          </a:prstGeom>
          <a:noFill/>
          <a:ln>
            <a:noFill/>
          </a:ln>
        </p:spPr>
        <p:txBody>
          <a:bodyPr spcFirstLastPara="1" wrap="square" lIns="0" tIns="12700" rIns="0" bIns="0" anchor="t" anchorCtr="0">
            <a:spAutoFit/>
          </a:bodyPr>
          <a:lstStyle/>
          <a:p>
            <a:pPr marL="12700"/>
            <a:r>
              <a:rPr lang="en-US"/>
              <a:t>Read-Only Memories (ROMs)</a:t>
            </a:r>
            <a:endParaRPr/>
          </a:p>
        </p:txBody>
      </p:sp>
      <p:sp>
        <p:nvSpPr>
          <p:cNvPr id="1463" name="Google Shape;1463;p51"/>
          <p:cNvSpPr txBox="1"/>
          <p:nvPr/>
        </p:nvSpPr>
        <p:spPr>
          <a:xfrm>
            <a:off x="2288540" y="6331499"/>
            <a:ext cx="2694940"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464" name="Google Shape;1464;p51"/>
          <p:cNvSpPr txBox="1"/>
          <p:nvPr/>
        </p:nvSpPr>
        <p:spPr>
          <a:xfrm>
            <a:off x="9681718" y="6407734"/>
            <a:ext cx="223520" cy="254237"/>
          </a:xfrm>
          <a:prstGeom prst="rect">
            <a:avLst/>
          </a:prstGeom>
          <a:noFill/>
          <a:ln>
            <a:noFill/>
          </a:ln>
        </p:spPr>
        <p:txBody>
          <a:bodyPr spcFirstLastPara="1" wrap="square" lIns="0" tIns="0" rIns="0" bIns="0" anchor="t" anchorCtr="0">
            <a:spAutoFit/>
          </a:bodyPr>
          <a:lstStyle/>
          <a:p>
            <a:pPr marL="12700">
              <a:lnSpc>
                <a:spcPct val="117857"/>
              </a:lnSpc>
            </a:pPr>
            <a:r>
              <a:rPr lang="en-US" sz="1400">
                <a:solidFill>
                  <a:schemeClr val="dk1"/>
                </a:solidFill>
                <a:latin typeface="Helvetica Neue"/>
                <a:ea typeface="Helvetica Neue"/>
                <a:cs typeface="Helvetica Neue"/>
                <a:sym typeface="Helvetica Neue"/>
              </a:rPr>
              <a:t>47</a:t>
            </a:r>
            <a:endParaRPr sz="1400">
              <a:solidFill>
                <a:schemeClr val="dk1"/>
              </a:solidFill>
              <a:latin typeface="Helvetica Neue"/>
              <a:ea typeface="Helvetica Neue"/>
              <a:cs typeface="Helvetica Neue"/>
              <a:sym typeface="Helvetica Neue"/>
            </a:endParaRPr>
          </a:p>
        </p:txBody>
      </p:sp>
      <p:sp>
        <p:nvSpPr>
          <p:cNvPr id="1465" name="Google Shape;1465;p51"/>
          <p:cNvSpPr txBox="1"/>
          <p:nvPr/>
        </p:nvSpPr>
        <p:spPr>
          <a:xfrm>
            <a:off x="2255622" y="1258342"/>
            <a:ext cx="7936865" cy="4958655"/>
          </a:xfrm>
          <a:prstGeom prst="rect">
            <a:avLst/>
          </a:prstGeom>
          <a:noFill/>
          <a:ln>
            <a:noFill/>
          </a:ln>
        </p:spPr>
        <p:txBody>
          <a:bodyPr spcFirstLastPara="1" wrap="square" lIns="0" tIns="70475" rIns="0" bIns="0" anchor="t" anchorCtr="0">
            <a:spAutoFit/>
          </a:bodyPr>
          <a:lstStyle/>
          <a:p>
            <a:pPr marL="33274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SRAM and SDRAM chips are volatile:</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Lose the contents when the power is turned off.</a:t>
            </a:r>
            <a:endParaRPr sz="1900">
              <a:solidFill>
                <a:schemeClr val="dk1"/>
              </a:solidFill>
              <a:latin typeface="Comic Sans MS"/>
              <a:ea typeface="Comic Sans MS"/>
              <a:cs typeface="Comic Sans MS"/>
              <a:sym typeface="Comic Sans MS"/>
            </a:endParaRPr>
          </a:p>
          <a:p>
            <a:pPr marL="332740" marR="37084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Many applications need memory devices to retain contents after  the power is turned off.</a:t>
            </a:r>
            <a:endParaRPr sz="1900">
              <a:solidFill>
                <a:schemeClr val="dk1"/>
              </a:solidFill>
              <a:latin typeface="Comic Sans MS"/>
              <a:ea typeface="Comic Sans MS"/>
              <a:cs typeface="Comic Sans MS"/>
              <a:sym typeface="Comic Sans MS"/>
            </a:endParaRPr>
          </a:p>
          <a:p>
            <a:pPr marL="625475" marR="191135" lvl="1" indent="-274320">
              <a:spcBef>
                <a:spcPts val="459"/>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For example, computer is turned on, the operating system must  be loaded from the disk into the memory.</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Store instructions which would load the OS from the disk.</a:t>
            </a:r>
            <a:endParaRPr sz="1900">
              <a:solidFill>
                <a:schemeClr val="dk1"/>
              </a:solidFill>
              <a:latin typeface="Comic Sans MS"/>
              <a:ea typeface="Comic Sans MS"/>
              <a:cs typeface="Comic Sans MS"/>
              <a:sym typeface="Comic Sans MS"/>
            </a:endParaRPr>
          </a:p>
          <a:p>
            <a:pPr marL="625475" marR="417194" lvl="1" indent="-274320">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Need to store these instructions so that they will not be lost  after the power is turned off.</a:t>
            </a:r>
            <a:endParaRPr sz="1900">
              <a:solidFill>
                <a:schemeClr val="dk1"/>
              </a:solidFill>
              <a:latin typeface="Comic Sans MS"/>
              <a:ea typeface="Comic Sans MS"/>
              <a:cs typeface="Comic Sans MS"/>
              <a:sym typeface="Comic Sans MS"/>
            </a:endParaRPr>
          </a:p>
          <a:p>
            <a:pPr marL="625475" lvl="1" indent="-274955">
              <a:spcBef>
                <a:spcPts val="459"/>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We need to store the instructions into a non-volatile memory.</a:t>
            </a:r>
            <a:endParaRPr sz="1900">
              <a:solidFill>
                <a:schemeClr val="dk1"/>
              </a:solidFill>
              <a:latin typeface="Comic Sans MS"/>
              <a:ea typeface="Comic Sans MS"/>
              <a:cs typeface="Comic Sans MS"/>
              <a:sym typeface="Comic Sans MS"/>
            </a:endParaRPr>
          </a:p>
          <a:p>
            <a:pPr marL="332740" indent="-320675">
              <a:buClr>
                <a:srgbClr val="252525"/>
              </a:buClr>
              <a:buSzPts val="1900"/>
              <a:buFont typeface="Cambria"/>
              <a:buChar char="◾"/>
            </a:pPr>
            <a:r>
              <a:rPr lang="en-US" sz="1900">
                <a:solidFill>
                  <a:srgbClr val="252525"/>
                </a:solidFill>
                <a:latin typeface="Comic Sans MS"/>
                <a:ea typeface="Comic Sans MS"/>
                <a:cs typeface="Comic Sans MS"/>
                <a:sym typeface="Comic Sans MS"/>
              </a:rPr>
              <a:t>Non-volatile memory is read in the same manner as volatile memory.</a:t>
            </a:r>
            <a:endParaRPr sz="1900">
              <a:solidFill>
                <a:schemeClr val="dk1"/>
              </a:solidFill>
              <a:latin typeface="Comic Sans MS"/>
              <a:ea typeface="Comic Sans MS"/>
              <a:cs typeface="Comic Sans MS"/>
              <a:sym typeface="Comic Sans MS"/>
            </a:endParaRPr>
          </a:p>
          <a:p>
            <a:pPr marL="625475" lvl="1" indent="-274955">
              <a:spcBef>
                <a:spcPts val="455"/>
              </a:spcBef>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Separate writing process is needed to place information in this</a:t>
            </a:r>
            <a:endParaRPr sz="1900">
              <a:solidFill>
                <a:schemeClr val="dk1"/>
              </a:solidFill>
              <a:latin typeface="Comic Sans MS"/>
              <a:ea typeface="Comic Sans MS"/>
              <a:cs typeface="Comic Sans MS"/>
              <a:sym typeface="Comic Sans MS"/>
            </a:endParaRPr>
          </a:p>
          <a:p>
            <a:pPr marL="625475">
              <a:spcBef>
                <a:spcPts val="5"/>
              </a:spcBef>
            </a:pPr>
            <a:r>
              <a:rPr lang="en-US" sz="1900">
                <a:solidFill>
                  <a:srgbClr val="252525"/>
                </a:solidFill>
                <a:latin typeface="Comic Sans MS"/>
                <a:ea typeface="Comic Sans MS"/>
                <a:cs typeface="Comic Sans MS"/>
                <a:sym typeface="Comic Sans MS"/>
              </a:rPr>
              <a:t>memory.</a:t>
            </a:r>
            <a:endParaRPr sz="1900">
              <a:solidFill>
                <a:schemeClr val="dk1"/>
              </a:solidFill>
              <a:latin typeface="Comic Sans MS"/>
              <a:ea typeface="Comic Sans MS"/>
              <a:cs typeface="Comic Sans MS"/>
              <a:sym typeface="Comic Sans MS"/>
            </a:endParaRPr>
          </a:p>
          <a:p>
            <a:pPr marL="695325" marR="944880" lvl="1" indent="-344805">
              <a:lnSpc>
                <a:spcPct val="120000"/>
              </a:lnSpc>
              <a:buClr>
                <a:srgbClr val="252525"/>
              </a:buClr>
              <a:buSzPts val="1500"/>
              <a:buFont typeface="Noto Sans Symbols"/>
              <a:buChar char="▪"/>
            </a:pPr>
            <a:r>
              <a:rPr lang="en-US" sz="1900">
                <a:solidFill>
                  <a:srgbClr val="252525"/>
                </a:solidFill>
                <a:latin typeface="Comic Sans MS"/>
                <a:ea typeface="Comic Sans MS"/>
                <a:cs typeface="Comic Sans MS"/>
                <a:sym typeface="Comic Sans MS"/>
              </a:rPr>
              <a:t>Normal operation involves only reading of data, this type  of memory is called Read-Only memory (ROM).</a:t>
            </a:r>
            <a:endParaRPr sz="1900">
              <a:solidFill>
                <a:schemeClr val="dk1"/>
              </a:solidFill>
              <a:latin typeface="Comic Sans MS"/>
              <a:ea typeface="Comic Sans MS"/>
              <a:cs typeface="Comic Sans MS"/>
              <a:sym typeface="Comic Sans M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52"/>
          <p:cNvSpPr txBox="1">
            <a:spLocks noGrp="1"/>
          </p:cNvSpPr>
          <p:nvPr>
            <p:ph type="title"/>
          </p:nvPr>
        </p:nvSpPr>
        <p:spPr>
          <a:xfrm>
            <a:off x="2746655" y="551130"/>
            <a:ext cx="2757805" cy="391795"/>
          </a:xfrm>
          <a:prstGeom prst="rect">
            <a:avLst/>
          </a:prstGeom>
          <a:noFill/>
          <a:ln>
            <a:noFill/>
          </a:ln>
        </p:spPr>
        <p:txBody>
          <a:bodyPr spcFirstLastPara="1" wrap="square" lIns="0" tIns="12700" rIns="0" bIns="0" anchor="t" anchorCtr="0">
            <a:spAutoFit/>
          </a:bodyPr>
          <a:lstStyle/>
          <a:p>
            <a:pPr marL="12700"/>
            <a:r>
              <a:rPr lang="en-US">
                <a:solidFill>
                  <a:srgbClr val="CC0000"/>
                </a:solidFill>
              </a:rPr>
              <a:t>Read-Only-Memory</a:t>
            </a:r>
            <a:endParaRPr/>
          </a:p>
        </p:txBody>
      </p:sp>
      <p:sp>
        <p:nvSpPr>
          <p:cNvPr id="1471" name="Google Shape;1471;p52"/>
          <p:cNvSpPr txBox="1"/>
          <p:nvPr/>
        </p:nvSpPr>
        <p:spPr>
          <a:xfrm>
            <a:off x="2289149" y="1305916"/>
            <a:ext cx="3912870" cy="1440815"/>
          </a:xfrm>
          <a:prstGeom prst="rect">
            <a:avLst/>
          </a:prstGeom>
          <a:noFill/>
          <a:ln>
            <a:noFill/>
          </a:ln>
        </p:spPr>
        <p:txBody>
          <a:bodyPr spcFirstLastPara="1" wrap="square" lIns="0" tIns="73650" rIns="0" bIns="0" anchor="t" anchorCtr="0">
            <a:spAutoFit/>
          </a:bodyPr>
          <a:lstStyle/>
          <a:p>
            <a:pPr marL="355600" indent="-343535">
              <a:buClr>
                <a:schemeClr val="dk1"/>
              </a:buClr>
              <a:buSzPts val="2000"/>
              <a:buFont typeface="Noto Sans Symbols"/>
              <a:buChar char="❑"/>
            </a:pPr>
            <a:r>
              <a:rPr lang="en-US" sz="2000">
                <a:solidFill>
                  <a:schemeClr val="dk1"/>
                </a:solidFill>
                <a:latin typeface="Comic Sans MS"/>
                <a:ea typeface="Comic Sans MS"/>
                <a:cs typeface="Comic Sans MS"/>
                <a:sym typeface="Comic Sans MS"/>
              </a:rPr>
              <a:t>Volatile / non-volatile memory</a:t>
            </a:r>
            <a:endParaRPr sz="2000">
              <a:solidFill>
                <a:schemeClr val="dk1"/>
              </a:solidFill>
              <a:latin typeface="Comic Sans MS"/>
              <a:ea typeface="Comic Sans MS"/>
              <a:cs typeface="Comic Sans MS"/>
              <a:sym typeface="Comic Sans MS"/>
            </a:endParaRPr>
          </a:p>
          <a:p>
            <a:pPr marL="355600" indent="-343535">
              <a:spcBef>
                <a:spcPts val="480"/>
              </a:spcBef>
              <a:buClr>
                <a:schemeClr val="dk1"/>
              </a:buClr>
              <a:buSzPts val="2000"/>
              <a:buFont typeface="Noto Sans Symbols"/>
              <a:buChar char="❑"/>
            </a:pPr>
            <a:r>
              <a:rPr lang="en-US" sz="2000">
                <a:solidFill>
                  <a:schemeClr val="dk1"/>
                </a:solidFill>
                <a:latin typeface="Comic Sans MS"/>
                <a:ea typeface="Comic Sans MS"/>
                <a:cs typeface="Comic Sans MS"/>
                <a:sym typeface="Comic Sans MS"/>
              </a:rPr>
              <a:t>ROM</a:t>
            </a:r>
            <a:endParaRPr sz="2000">
              <a:solidFill>
                <a:schemeClr val="dk1"/>
              </a:solidFill>
              <a:latin typeface="Comic Sans MS"/>
              <a:ea typeface="Comic Sans MS"/>
              <a:cs typeface="Comic Sans MS"/>
              <a:sym typeface="Comic Sans MS"/>
            </a:endParaRPr>
          </a:p>
          <a:p>
            <a:pPr marL="355600" indent="-343535">
              <a:spcBef>
                <a:spcPts val="480"/>
              </a:spcBef>
              <a:buClr>
                <a:schemeClr val="dk1"/>
              </a:buClr>
              <a:buSzPts val="2000"/>
              <a:buFont typeface="Noto Sans Symbols"/>
              <a:buChar char="❑"/>
            </a:pPr>
            <a:r>
              <a:rPr lang="en-US" sz="2000">
                <a:solidFill>
                  <a:schemeClr val="dk1"/>
                </a:solidFill>
                <a:latin typeface="Comic Sans MS"/>
                <a:ea typeface="Comic Sans MS"/>
                <a:cs typeface="Comic Sans MS"/>
                <a:sym typeface="Comic Sans MS"/>
              </a:rPr>
              <a:t>PROM: programmable ROM</a:t>
            </a:r>
            <a:endParaRPr sz="2000">
              <a:solidFill>
                <a:schemeClr val="dk1"/>
              </a:solidFill>
              <a:latin typeface="Comic Sans MS"/>
              <a:ea typeface="Comic Sans MS"/>
              <a:cs typeface="Comic Sans MS"/>
              <a:sym typeface="Comic Sans MS"/>
            </a:endParaRPr>
          </a:p>
          <a:p>
            <a:pPr marL="2197100">
              <a:spcBef>
                <a:spcPts val="459"/>
              </a:spcBef>
            </a:pPr>
            <a:r>
              <a:rPr lang="en-US" sz="1700">
                <a:solidFill>
                  <a:schemeClr val="dk1"/>
                </a:solidFill>
                <a:latin typeface="Helvetica Neue"/>
                <a:ea typeface="Helvetica Neue"/>
                <a:cs typeface="Helvetica Neue"/>
                <a:sym typeface="Helvetica Neue"/>
              </a:rPr>
              <a:t>Bit line</a:t>
            </a:r>
            <a:endParaRPr sz="1700">
              <a:solidFill>
                <a:schemeClr val="dk1"/>
              </a:solidFill>
              <a:latin typeface="Helvetica Neue"/>
              <a:ea typeface="Helvetica Neue"/>
              <a:cs typeface="Helvetica Neue"/>
              <a:sym typeface="Helvetica Neue"/>
            </a:endParaRPr>
          </a:p>
        </p:txBody>
      </p:sp>
      <p:sp>
        <p:nvSpPr>
          <p:cNvPr id="1472" name="Google Shape;1472;p52"/>
          <p:cNvSpPr txBox="1"/>
          <p:nvPr/>
        </p:nvSpPr>
        <p:spPr>
          <a:xfrm>
            <a:off x="8079740" y="4595774"/>
            <a:ext cx="2574290" cy="727710"/>
          </a:xfrm>
          <a:prstGeom prst="rect">
            <a:avLst/>
          </a:prstGeom>
          <a:noFill/>
          <a:ln>
            <a:noFill/>
          </a:ln>
        </p:spPr>
        <p:txBody>
          <a:bodyPr spcFirstLastPara="1" wrap="square" lIns="0" tIns="12700" rIns="0" bIns="0" anchor="t" anchorCtr="0">
            <a:spAutoFit/>
          </a:bodyPr>
          <a:lstStyle/>
          <a:p>
            <a:pPr marL="25400" marR="5080" indent="-13334">
              <a:lnSpc>
                <a:spcPct val="143900"/>
              </a:lnSpc>
            </a:pPr>
            <a:r>
              <a:rPr lang="en-US" sz="1600">
                <a:solidFill>
                  <a:schemeClr val="dk1"/>
                </a:solidFill>
                <a:latin typeface="Comic Sans MS"/>
                <a:ea typeface="Comic Sans MS"/>
                <a:cs typeface="Comic Sans MS"/>
                <a:sym typeface="Comic Sans MS"/>
              </a:rPr>
              <a:t>Connected to store a 0  Not connected to store a 1</a:t>
            </a:r>
            <a:endParaRPr sz="1600">
              <a:solidFill>
                <a:schemeClr val="dk1"/>
              </a:solidFill>
              <a:latin typeface="Comic Sans MS"/>
              <a:ea typeface="Comic Sans MS"/>
              <a:cs typeface="Comic Sans MS"/>
              <a:sym typeface="Comic Sans MS"/>
            </a:endParaRPr>
          </a:p>
        </p:txBody>
      </p:sp>
      <p:grpSp>
        <p:nvGrpSpPr>
          <p:cNvPr id="1473" name="Google Shape;1473;p52"/>
          <p:cNvGrpSpPr/>
          <p:nvPr/>
        </p:nvGrpSpPr>
        <p:grpSpPr>
          <a:xfrm>
            <a:off x="4124325" y="2819400"/>
            <a:ext cx="4584700" cy="3329304"/>
            <a:chOff x="2600325" y="2819400"/>
            <a:chExt cx="4584700" cy="3329304"/>
          </a:xfrm>
        </p:grpSpPr>
        <p:sp>
          <p:nvSpPr>
            <p:cNvPr id="1474" name="Google Shape;1474;p52"/>
            <p:cNvSpPr/>
            <p:nvPr/>
          </p:nvSpPr>
          <p:spPr>
            <a:xfrm>
              <a:off x="6091300" y="4870450"/>
              <a:ext cx="386080" cy="47625"/>
            </a:xfrm>
            <a:custGeom>
              <a:avLst/>
              <a:gdLst/>
              <a:ahLst/>
              <a:cxnLst/>
              <a:rect l="l" t="t" r="r" b="b"/>
              <a:pathLst>
                <a:path w="386079" h="47625" extrusionOk="0">
                  <a:moveTo>
                    <a:pt x="0" y="23749"/>
                  </a:moveTo>
                  <a:lnTo>
                    <a:pt x="385699" y="25400"/>
                  </a:lnTo>
                </a:path>
                <a:path w="386079" h="47625" extrusionOk="0">
                  <a:moveTo>
                    <a:pt x="177800" y="0"/>
                  </a:moveTo>
                  <a:lnTo>
                    <a:pt x="33274" y="23749"/>
                  </a:lnTo>
                  <a:lnTo>
                    <a:pt x="177800" y="47625"/>
                  </a:lnTo>
                  <a:lnTo>
                    <a:pt x="177800" y="23749"/>
                  </a:lnTo>
                  <a:lnTo>
                    <a:pt x="177800" y="0"/>
                  </a:lnTo>
                </a:path>
              </a:pathLst>
            </a:custGeom>
            <a:noFill/>
            <a:ln w="238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75" name="Google Shape;1475;p52"/>
            <p:cNvSpPr/>
            <p:nvPr/>
          </p:nvSpPr>
          <p:spPr>
            <a:xfrm>
              <a:off x="5946775" y="4870450"/>
              <a:ext cx="144780" cy="47625"/>
            </a:xfrm>
            <a:custGeom>
              <a:avLst/>
              <a:gdLst/>
              <a:ahLst/>
              <a:cxnLst/>
              <a:rect l="l" t="t" r="r" b="b"/>
              <a:pathLst>
                <a:path w="144779" h="47625" extrusionOk="0">
                  <a:moveTo>
                    <a:pt x="144525" y="0"/>
                  </a:moveTo>
                  <a:lnTo>
                    <a:pt x="0" y="23749"/>
                  </a:lnTo>
                  <a:lnTo>
                    <a:pt x="144525" y="47625"/>
                  </a:lnTo>
                  <a:lnTo>
                    <a:pt x="144525" y="0"/>
                  </a:lnTo>
                  <a:close/>
                </a:path>
              </a:pathLst>
            </a:custGeom>
            <a:solidFill>
              <a:srgbClr val="000000"/>
            </a:solidFill>
            <a:ln>
              <a:noFill/>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76" name="Google Shape;1476;p52"/>
            <p:cNvSpPr/>
            <p:nvPr/>
          </p:nvSpPr>
          <p:spPr>
            <a:xfrm>
              <a:off x="5946775" y="4870450"/>
              <a:ext cx="144780" cy="47625"/>
            </a:xfrm>
            <a:custGeom>
              <a:avLst/>
              <a:gdLst/>
              <a:ahLst/>
              <a:cxnLst/>
              <a:rect l="l" t="t" r="r" b="b"/>
              <a:pathLst>
                <a:path w="144779" h="47625" extrusionOk="0">
                  <a:moveTo>
                    <a:pt x="144525" y="0"/>
                  </a:moveTo>
                  <a:lnTo>
                    <a:pt x="0" y="23749"/>
                  </a:lnTo>
                  <a:lnTo>
                    <a:pt x="144525" y="47625"/>
                  </a:lnTo>
                  <a:lnTo>
                    <a:pt x="144525" y="23749"/>
                  </a:lnTo>
                  <a:lnTo>
                    <a:pt x="144525"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77" name="Google Shape;1477;p52"/>
            <p:cNvSpPr/>
            <p:nvPr/>
          </p:nvSpPr>
          <p:spPr>
            <a:xfrm>
              <a:off x="2600325" y="2819400"/>
              <a:ext cx="4584700" cy="3329304"/>
            </a:xfrm>
            <a:custGeom>
              <a:avLst/>
              <a:gdLst/>
              <a:ahLst/>
              <a:cxnLst/>
              <a:rect l="l" t="t" r="r" b="b"/>
              <a:pathLst>
                <a:path w="4584700" h="3329304" extrusionOk="0">
                  <a:moveTo>
                    <a:pt x="4584700" y="700151"/>
                  </a:moveTo>
                  <a:lnTo>
                    <a:pt x="0" y="701675"/>
                  </a:lnTo>
                </a:path>
                <a:path w="4584700" h="3329304" extrusionOk="0">
                  <a:moveTo>
                    <a:pt x="676275" y="3328987"/>
                  </a:moveTo>
                  <a:lnTo>
                    <a:pt x="677926" y="0"/>
                  </a:lnTo>
                </a:path>
              </a:pathLst>
            </a:custGeom>
            <a:noFill/>
            <a:ln w="238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78" name="Google Shape;1478;p52"/>
            <p:cNvSpPr/>
            <p:nvPr/>
          </p:nvSpPr>
          <p:spPr>
            <a:xfrm>
              <a:off x="5495925" y="5594350"/>
              <a:ext cx="434975" cy="73025"/>
            </a:xfrm>
            <a:custGeom>
              <a:avLst/>
              <a:gdLst/>
              <a:ahLst/>
              <a:cxnLst/>
              <a:rect l="l" t="t" r="r" b="b"/>
              <a:pathLst>
                <a:path w="434975" h="73025" extrusionOk="0">
                  <a:moveTo>
                    <a:pt x="434975" y="0"/>
                  </a:moveTo>
                  <a:lnTo>
                    <a:pt x="0" y="1587"/>
                  </a:lnTo>
                </a:path>
                <a:path w="434975" h="73025" extrusionOk="0">
                  <a:moveTo>
                    <a:pt x="361950" y="71437"/>
                  </a:moveTo>
                  <a:lnTo>
                    <a:pt x="73025" y="73025"/>
                  </a:lnTo>
                </a:path>
              </a:pathLst>
            </a:custGeom>
            <a:noFill/>
            <a:ln w="238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79" name="Google Shape;1479;p52"/>
            <p:cNvSpPr/>
            <p:nvPr/>
          </p:nvSpPr>
          <p:spPr>
            <a:xfrm>
              <a:off x="5641975" y="5738812"/>
              <a:ext cx="144780" cy="1905"/>
            </a:xfrm>
            <a:custGeom>
              <a:avLst/>
              <a:gdLst/>
              <a:ahLst/>
              <a:cxnLst/>
              <a:rect l="l" t="t" r="r" b="b"/>
              <a:pathLst>
                <a:path w="144779" h="1904" extrusionOk="0">
                  <a:moveTo>
                    <a:pt x="-11906" y="793"/>
                  </a:moveTo>
                  <a:lnTo>
                    <a:pt x="156432" y="793"/>
                  </a:lnTo>
                </a:path>
              </a:pathLst>
            </a:custGeom>
            <a:noFill/>
            <a:ln w="254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480" name="Google Shape;1480;p52"/>
            <p:cNvPicPr preferRelativeResize="0"/>
            <p:nvPr/>
          </p:nvPicPr>
          <p:blipFill rotWithShape="1">
            <a:blip r:embed="rId3">
              <a:alphaModFix/>
            </a:blip>
            <a:srcRect/>
            <a:stretch/>
          </p:blipFill>
          <p:spPr>
            <a:xfrm>
              <a:off x="5653944" y="5026818"/>
              <a:ext cx="144462" cy="144462"/>
            </a:xfrm>
            <a:prstGeom prst="rect">
              <a:avLst/>
            </a:prstGeom>
            <a:noFill/>
            <a:ln>
              <a:noFill/>
            </a:ln>
          </p:spPr>
        </p:pic>
        <p:sp>
          <p:nvSpPr>
            <p:cNvPr id="1481" name="Google Shape;1481;p52"/>
            <p:cNvSpPr/>
            <p:nvPr/>
          </p:nvSpPr>
          <p:spPr>
            <a:xfrm>
              <a:off x="4121150" y="3929126"/>
              <a:ext cx="1593850" cy="1665605"/>
            </a:xfrm>
            <a:custGeom>
              <a:avLst/>
              <a:gdLst/>
              <a:ahLst/>
              <a:cxnLst/>
              <a:rect l="l" t="t" r="r" b="b"/>
              <a:pathLst>
                <a:path w="1593850" h="1665604" extrusionOk="0">
                  <a:moveTo>
                    <a:pt x="1592326" y="1665224"/>
                  </a:moveTo>
                  <a:lnTo>
                    <a:pt x="1593850" y="1234948"/>
                  </a:lnTo>
                </a:path>
                <a:path w="1593850" h="1665604" extrusionOk="0">
                  <a:moveTo>
                    <a:pt x="555625" y="0"/>
                  </a:moveTo>
                  <a:lnTo>
                    <a:pt x="0" y="1524"/>
                  </a:lnTo>
                </a:path>
              </a:pathLst>
            </a:custGeom>
            <a:noFill/>
            <a:ln w="238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82" name="Google Shape;1482;p52"/>
            <p:cNvSpPr/>
            <p:nvPr/>
          </p:nvSpPr>
          <p:spPr>
            <a:xfrm>
              <a:off x="4121150" y="4073525"/>
              <a:ext cx="555625" cy="120650"/>
            </a:xfrm>
            <a:custGeom>
              <a:avLst/>
              <a:gdLst/>
              <a:ahLst/>
              <a:cxnLst/>
              <a:rect l="l" t="t" r="r" b="b"/>
              <a:pathLst>
                <a:path w="555625" h="120650" extrusionOk="0">
                  <a:moveTo>
                    <a:pt x="0" y="120650"/>
                  </a:moveTo>
                  <a:lnTo>
                    <a:pt x="555625" y="120650"/>
                  </a:lnTo>
                  <a:lnTo>
                    <a:pt x="555625" y="0"/>
                  </a:lnTo>
                  <a:lnTo>
                    <a:pt x="0" y="0"/>
                  </a:lnTo>
                  <a:lnTo>
                    <a:pt x="0" y="120650"/>
                  </a:lnTo>
                  <a:close/>
                </a:path>
              </a:pathLst>
            </a:custGeom>
            <a:noFill/>
            <a:ln w="238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pic>
          <p:nvPicPr>
            <p:cNvPr id="1483" name="Google Shape;1483;p52"/>
            <p:cNvPicPr preferRelativeResize="0"/>
            <p:nvPr/>
          </p:nvPicPr>
          <p:blipFill rotWithShape="1">
            <a:blip r:embed="rId3">
              <a:alphaModFix/>
            </a:blip>
            <a:srcRect/>
            <a:stretch/>
          </p:blipFill>
          <p:spPr>
            <a:xfrm>
              <a:off x="5653944" y="4617243"/>
              <a:ext cx="144462" cy="144462"/>
            </a:xfrm>
            <a:prstGeom prst="rect">
              <a:avLst/>
            </a:prstGeom>
            <a:noFill/>
            <a:ln>
              <a:noFill/>
            </a:ln>
          </p:spPr>
        </p:pic>
        <p:sp>
          <p:nvSpPr>
            <p:cNvPr id="1484" name="Google Shape;1484;p52"/>
            <p:cNvSpPr/>
            <p:nvPr/>
          </p:nvSpPr>
          <p:spPr>
            <a:xfrm>
              <a:off x="3276600" y="3519551"/>
              <a:ext cx="2437130" cy="1109980"/>
            </a:xfrm>
            <a:custGeom>
              <a:avLst/>
              <a:gdLst/>
              <a:ahLst/>
              <a:cxnLst/>
              <a:rect l="l" t="t" r="r" b="b"/>
              <a:pathLst>
                <a:path w="2437129" h="1109979" extrusionOk="0">
                  <a:moveTo>
                    <a:pt x="2436876" y="1109599"/>
                  </a:moveTo>
                  <a:lnTo>
                    <a:pt x="2436876" y="674624"/>
                  </a:lnTo>
                  <a:lnTo>
                    <a:pt x="1400175" y="674624"/>
                  </a:lnTo>
                </a:path>
                <a:path w="2437129" h="1109979" extrusionOk="0">
                  <a:moveTo>
                    <a:pt x="844550" y="674624"/>
                  </a:moveTo>
                  <a:lnTo>
                    <a:pt x="0" y="676148"/>
                  </a:lnTo>
                </a:path>
                <a:path w="2437129" h="1109979" extrusionOk="0">
                  <a:moveTo>
                    <a:pt x="1109726" y="409575"/>
                  </a:moveTo>
                  <a:lnTo>
                    <a:pt x="1111250" y="0"/>
                  </a:lnTo>
                </a:path>
              </a:pathLst>
            </a:custGeom>
            <a:noFill/>
            <a:ln w="238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
        <p:nvSpPr>
          <p:cNvPr id="1485" name="Google Shape;1485;p52"/>
          <p:cNvSpPr txBox="1"/>
          <p:nvPr/>
        </p:nvSpPr>
        <p:spPr>
          <a:xfrm>
            <a:off x="1968500" y="5695899"/>
            <a:ext cx="1554480" cy="314960"/>
          </a:xfrm>
          <a:prstGeom prst="rect">
            <a:avLst/>
          </a:prstGeom>
          <a:noFill/>
          <a:ln>
            <a:noFill/>
          </a:ln>
        </p:spPr>
        <p:txBody>
          <a:bodyPr spcFirstLastPara="1" wrap="square" lIns="0" tIns="12050" rIns="0" bIns="0" anchor="t" anchorCtr="0">
            <a:spAutoFit/>
          </a:bodyPr>
          <a:lstStyle/>
          <a:p>
            <a:pPr marL="12700"/>
            <a:r>
              <a:rPr lang="en-US" sz="1600">
                <a:solidFill>
                  <a:schemeClr val="dk1"/>
                </a:solidFill>
                <a:latin typeface="Comic Sans MS"/>
                <a:ea typeface="Comic Sans MS"/>
                <a:cs typeface="Comic Sans MS"/>
                <a:sym typeface="Comic Sans MS"/>
              </a:rPr>
              <a:t>Fig. A ROM cell</a:t>
            </a:r>
            <a:r>
              <a:rPr lang="en-US" sz="1900">
                <a:solidFill>
                  <a:schemeClr val="dk1"/>
                </a:solidFill>
                <a:latin typeface="Helvetica Neue"/>
                <a:ea typeface="Helvetica Neue"/>
                <a:cs typeface="Helvetica Neue"/>
                <a:sym typeface="Helvetica Neue"/>
              </a:rPr>
              <a:t>.</a:t>
            </a:r>
            <a:endParaRPr sz="1900">
              <a:solidFill>
                <a:schemeClr val="dk1"/>
              </a:solidFill>
              <a:latin typeface="Helvetica Neue"/>
              <a:ea typeface="Helvetica Neue"/>
              <a:cs typeface="Helvetica Neue"/>
              <a:sym typeface="Helvetica Neue"/>
            </a:endParaRPr>
          </a:p>
        </p:txBody>
      </p:sp>
      <p:sp>
        <p:nvSpPr>
          <p:cNvPr id="1486" name="Google Shape;1486;p52"/>
          <p:cNvSpPr txBox="1"/>
          <p:nvPr/>
        </p:nvSpPr>
        <p:spPr>
          <a:xfrm>
            <a:off x="7636891" y="3161793"/>
            <a:ext cx="934719" cy="285115"/>
          </a:xfrm>
          <a:prstGeom prst="rect">
            <a:avLst/>
          </a:prstGeom>
          <a:noFill/>
          <a:ln>
            <a:noFill/>
          </a:ln>
        </p:spPr>
        <p:txBody>
          <a:bodyPr spcFirstLastPara="1" wrap="square" lIns="0" tIns="13325" rIns="0" bIns="0" anchor="t" anchorCtr="0">
            <a:spAutoFit/>
          </a:bodyPr>
          <a:lstStyle/>
          <a:p>
            <a:pPr marL="12700"/>
            <a:r>
              <a:rPr lang="en-US" sz="1700">
                <a:solidFill>
                  <a:schemeClr val="dk1"/>
                </a:solidFill>
                <a:latin typeface="Helvetica Neue"/>
                <a:ea typeface="Helvetica Neue"/>
                <a:cs typeface="Helvetica Neue"/>
                <a:sym typeface="Helvetica Neue"/>
              </a:rPr>
              <a:t>Word line</a:t>
            </a:r>
            <a:endParaRPr sz="1700">
              <a:solidFill>
                <a:schemeClr val="dk1"/>
              </a:solidFill>
              <a:latin typeface="Helvetica Neue"/>
              <a:ea typeface="Helvetica Neue"/>
              <a:cs typeface="Helvetica Neue"/>
              <a:sym typeface="Helvetica Neue"/>
            </a:endParaRPr>
          </a:p>
        </p:txBody>
      </p:sp>
      <p:sp>
        <p:nvSpPr>
          <p:cNvPr id="1487" name="Google Shape;1487;p52"/>
          <p:cNvSpPr txBox="1"/>
          <p:nvPr/>
        </p:nvSpPr>
        <p:spPr>
          <a:xfrm>
            <a:off x="6742938" y="4728718"/>
            <a:ext cx="170180" cy="285115"/>
          </a:xfrm>
          <a:prstGeom prst="rect">
            <a:avLst/>
          </a:prstGeom>
          <a:noFill/>
          <a:ln>
            <a:noFill/>
          </a:ln>
        </p:spPr>
        <p:txBody>
          <a:bodyPr spcFirstLastPara="1" wrap="square" lIns="0" tIns="12700" rIns="0" bIns="0" anchor="t" anchorCtr="0">
            <a:spAutoFit/>
          </a:bodyPr>
          <a:lstStyle/>
          <a:p>
            <a:pPr marL="12700"/>
            <a:r>
              <a:rPr lang="en-US" sz="1700" i="1">
                <a:solidFill>
                  <a:schemeClr val="dk1"/>
                </a:solidFill>
                <a:latin typeface="Arial"/>
                <a:ea typeface="Arial"/>
                <a:cs typeface="Arial"/>
                <a:sym typeface="Arial"/>
              </a:rPr>
              <a:t>P</a:t>
            </a:r>
            <a:endParaRPr sz="1700">
              <a:solidFill>
                <a:schemeClr val="dk1"/>
              </a:solidFill>
              <a:latin typeface="Arial"/>
              <a:ea typeface="Arial"/>
              <a:cs typeface="Arial"/>
              <a:sym typeface="Arial"/>
            </a:endParaRPr>
          </a:p>
        </p:txBody>
      </p:sp>
      <p:sp>
        <p:nvSpPr>
          <p:cNvPr id="1488" name="Google Shape;1488;p52"/>
          <p:cNvSpPr txBox="1"/>
          <p:nvPr/>
        </p:nvSpPr>
        <p:spPr>
          <a:xfrm>
            <a:off x="5855335" y="4190492"/>
            <a:ext cx="158115" cy="285115"/>
          </a:xfrm>
          <a:prstGeom prst="rect">
            <a:avLst/>
          </a:prstGeom>
          <a:noFill/>
          <a:ln>
            <a:noFill/>
          </a:ln>
        </p:spPr>
        <p:txBody>
          <a:bodyPr spcFirstLastPara="1" wrap="square" lIns="0" tIns="12700" rIns="0" bIns="0" anchor="t" anchorCtr="0">
            <a:spAutoFit/>
          </a:bodyPr>
          <a:lstStyle/>
          <a:p>
            <a:pPr marL="12700"/>
            <a:r>
              <a:rPr lang="en-US" sz="1700" i="1">
                <a:solidFill>
                  <a:schemeClr val="dk1"/>
                </a:solidFill>
                <a:latin typeface="Arial"/>
                <a:ea typeface="Arial"/>
                <a:cs typeface="Arial"/>
                <a:sym typeface="Arial"/>
              </a:rPr>
              <a:t>T</a:t>
            </a:r>
            <a:endParaRPr sz="1700">
              <a:solidFill>
                <a:schemeClr val="dk1"/>
              </a:solidFill>
              <a:latin typeface="Arial"/>
              <a:ea typeface="Arial"/>
              <a:cs typeface="Arial"/>
              <a:sym typeface="Arial"/>
            </a:endParaRPr>
          </a:p>
        </p:txBody>
      </p:sp>
      <p:grpSp>
        <p:nvGrpSpPr>
          <p:cNvPr id="1489" name="Google Shape;1489;p52"/>
          <p:cNvGrpSpPr/>
          <p:nvPr/>
        </p:nvGrpSpPr>
        <p:grpSpPr>
          <a:xfrm>
            <a:off x="4739544" y="3458369"/>
            <a:ext cx="2715356" cy="1604487"/>
            <a:chOff x="3215544" y="3458368"/>
            <a:chExt cx="2715356" cy="1604487"/>
          </a:xfrm>
        </p:grpSpPr>
        <p:pic>
          <p:nvPicPr>
            <p:cNvPr id="1490" name="Google Shape;1490;p52"/>
            <p:cNvPicPr preferRelativeResize="0"/>
            <p:nvPr/>
          </p:nvPicPr>
          <p:blipFill rotWithShape="1">
            <a:blip r:embed="rId4">
              <a:alphaModFix/>
            </a:blip>
            <a:srcRect/>
            <a:stretch/>
          </p:blipFill>
          <p:spPr>
            <a:xfrm>
              <a:off x="3215544" y="4158392"/>
              <a:ext cx="96837" cy="95313"/>
            </a:xfrm>
            <a:prstGeom prst="rect">
              <a:avLst/>
            </a:prstGeom>
            <a:noFill/>
            <a:ln>
              <a:noFill/>
            </a:ln>
          </p:spPr>
        </p:pic>
        <p:pic>
          <p:nvPicPr>
            <p:cNvPr id="1491" name="Google Shape;1491;p52"/>
            <p:cNvPicPr preferRelativeResize="0"/>
            <p:nvPr/>
          </p:nvPicPr>
          <p:blipFill rotWithShape="1">
            <a:blip r:embed="rId5">
              <a:alphaModFix/>
            </a:blip>
            <a:srcRect/>
            <a:stretch/>
          </p:blipFill>
          <p:spPr>
            <a:xfrm>
              <a:off x="4350543" y="3458368"/>
              <a:ext cx="96837" cy="96837"/>
            </a:xfrm>
            <a:prstGeom prst="rect">
              <a:avLst/>
            </a:prstGeom>
            <a:noFill/>
            <a:ln>
              <a:noFill/>
            </a:ln>
          </p:spPr>
        </p:pic>
        <p:sp>
          <p:nvSpPr>
            <p:cNvPr id="1492" name="Google Shape;1492;p52"/>
            <p:cNvSpPr/>
            <p:nvPr/>
          </p:nvSpPr>
          <p:spPr>
            <a:xfrm>
              <a:off x="5762625" y="4724400"/>
              <a:ext cx="168275" cy="338455"/>
            </a:xfrm>
            <a:custGeom>
              <a:avLst/>
              <a:gdLst/>
              <a:ahLst/>
              <a:cxnLst/>
              <a:rect l="l" t="t" r="r" b="b"/>
              <a:pathLst>
                <a:path w="168275" h="338454" extrusionOk="0">
                  <a:moveTo>
                    <a:pt x="0" y="0"/>
                  </a:moveTo>
                  <a:lnTo>
                    <a:pt x="168275" y="169037"/>
                  </a:lnTo>
                  <a:lnTo>
                    <a:pt x="0" y="338074"/>
                  </a:lnTo>
                </a:path>
              </a:pathLst>
            </a:custGeom>
            <a:noFill/>
            <a:ln w="23800" cap="flat" cmpd="sng">
              <a:solidFill>
                <a:srgbClr val="00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sp>
          <p:nvSpPr>
            <p:cNvPr id="1493" name="Google Shape;1493;p52"/>
            <p:cNvSpPr/>
            <p:nvPr/>
          </p:nvSpPr>
          <p:spPr>
            <a:xfrm>
              <a:off x="4132326" y="4184650"/>
              <a:ext cx="535305" cy="0"/>
            </a:xfrm>
            <a:custGeom>
              <a:avLst/>
              <a:gdLst/>
              <a:ahLst/>
              <a:cxnLst/>
              <a:rect l="l" t="t" r="r" b="b"/>
              <a:pathLst>
                <a:path w="535304" h="120000" extrusionOk="0">
                  <a:moveTo>
                    <a:pt x="0" y="0"/>
                  </a:moveTo>
                  <a:lnTo>
                    <a:pt x="534924" y="0"/>
                  </a:lnTo>
                </a:path>
              </a:pathLst>
            </a:custGeom>
            <a:noFill/>
            <a:ln w="76200" cap="flat" cmpd="sng">
              <a:solidFill>
                <a:srgbClr val="FFFFFF"/>
              </a:solidFill>
              <a:prstDash val="solid"/>
              <a:round/>
              <a:headEnd type="none" w="sm" len="sm"/>
              <a:tailEnd type="none" w="sm" len="sm"/>
            </a:ln>
          </p:spPr>
          <p:txBody>
            <a:bodyPr spcFirstLastPara="1" wrap="square" lIns="0" tIns="0" rIns="0" bIns="0" anchor="t" anchorCtr="0">
              <a:noAutofit/>
            </a:bodyPr>
            <a:lstStyle/>
            <a:p>
              <a:endParaRPr>
                <a:solidFill>
                  <a:schemeClr val="dk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97"/>
        <p:cNvGrpSpPr/>
        <p:nvPr/>
      </p:nvGrpSpPr>
      <p:grpSpPr>
        <a:xfrm>
          <a:off x="0" y="0"/>
          <a:ext cx="0" cy="0"/>
          <a:chOff x="0" y="0"/>
          <a:chExt cx="0" cy="0"/>
        </a:xfrm>
      </p:grpSpPr>
      <p:sp>
        <p:nvSpPr>
          <p:cNvPr id="1498" name="Google Shape;1498;p53"/>
          <p:cNvSpPr txBox="1">
            <a:spLocks noGrp="1"/>
          </p:cNvSpPr>
          <p:nvPr>
            <p:ph type="title"/>
          </p:nvPr>
        </p:nvSpPr>
        <p:spPr>
          <a:xfrm>
            <a:off x="2746655" y="551130"/>
            <a:ext cx="4260215" cy="391795"/>
          </a:xfrm>
          <a:prstGeom prst="rect">
            <a:avLst/>
          </a:prstGeom>
          <a:noFill/>
          <a:ln>
            <a:noFill/>
          </a:ln>
        </p:spPr>
        <p:txBody>
          <a:bodyPr spcFirstLastPara="1" wrap="square" lIns="0" tIns="12700" rIns="0" bIns="0" anchor="t" anchorCtr="0">
            <a:spAutoFit/>
          </a:bodyPr>
          <a:lstStyle/>
          <a:p>
            <a:pPr marL="12700"/>
            <a:r>
              <a:rPr lang="en-US"/>
              <a:t>Read-Only Memories (Contd.,)</a:t>
            </a:r>
            <a:endParaRPr/>
          </a:p>
        </p:txBody>
      </p:sp>
      <p:sp>
        <p:nvSpPr>
          <p:cNvPr id="1499" name="Google Shape;1499;p53"/>
          <p:cNvSpPr txBox="1"/>
          <p:nvPr/>
        </p:nvSpPr>
        <p:spPr>
          <a:xfrm>
            <a:off x="2364740" y="6407699"/>
            <a:ext cx="2695575"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500" name="Google Shape;1500;p53"/>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27</a:t>
            </a:fld>
            <a:endParaRPr/>
          </a:p>
        </p:txBody>
      </p:sp>
      <p:sp>
        <p:nvSpPr>
          <p:cNvPr id="1501" name="Google Shape;1501;p53"/>
          <p:cNvSpPr txBox="1"/>
          <p:nvPr/>
        </p:nvSpPr>
        <p:spPr>
          <a:xfrm>
            <a:off x="2408022" y="1312927"/>
            <a:ext cx="7102475" cy="4140835"/>
          </a:xfrm>
          <a:prstGeom prst="rect">
            <a:avLst/>
          </a:prstGeom>
          <a:noFill/>
          <a:ln>
            <a:noFill/>
          </a:ln>
        </p:spPr>
        <p:txBody>
          <a:bodyPr spcFirstLastPara="1" wrap="square" lIns="0" tIns="67300" rIns="0" bIns="0" anchor="t" anchorCtr="0">
            <a:spAutoFit/>
          </a:bodyPr>
          <a:lstStyle/>
          <a:p>
            <a:pPr marL="332740" indent="-320675">
              <a:buClr>
                <a:srgbClr val="252525"/>
              </a:buClr>
              <a:buSzPts val="1800"/>
              <a:buFont typeface="Cambria"/>
              <a:buChar char="◾"/>
            </a:pPr>
            <a:r>
              <a:rPr lang="en-US">
                <a:solidFill>
                  <a:srgbClr val="252525"/>
                </a:solidFill>
                <a:latin typeface="Comic Sans MS"/>
                <a:ea typeface="Comic Sans MS"/>
                <a:cs typeface="Comic Sans MS"/>
                <a:sym typeface="Comic Sans MS"/>
              </a:rPr>
              <a:t>Read-Only Memory:</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Data are written into a ROM when it is manufactured.</a:t>
            </a:r>
            <a:endParaRPr>
              <a:solidFill>
                <a:schemeClr val="dk1"/>
              </a:solidFill>
              <a:latin typeface="Comic Sans MS"/>
              <a:ea typeface="Comic Sans MS"/>
              <a:cs typeface="Comic Sans MS"/>
              <a:sym typeface="Comic Sans MS"/>
            </a:endParaRPr>
          </a:p>
          <a:p>
            <a:pPr marL="332740" indent="-320675">
              <a:buClr>
                <a:srgbClr val="252525"/>
              </a:buClr>
              <a:buSzPts val="1800"/>
              <a:buFont typeface="Cambria"/>
              <a:buChar char="◾"/>
            </a:pPr>
            <a:r>
              <a:rPr lang="en-US">
                <a:solidFill>
                  <a:srgbClr val="252525"/>
                </a:solidFill>
                <a:latin typeface="Comic Sans MS"/>
                <a:ea typeface="Comic Sans MS"/>
                <a:cs typeface="Comic Sans MS"/>
                <a:sym typeface="Comic Sans MS"/>
              </a:rPr>
              <a:t>Programmable Read-Only Memory (PROM):</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Allow the data to be loaded by a user.</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Process of inserting the data is irreversible.</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Storing information specific to a user in a ROM is expensive.</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Providing programming capability to a user may be better.</a:t>
            </a:r>
            <a:endParaRPr>
              <a:solidFill>
                <a:schemeClr val="dk1"/>
              </a:solidFill>
              <a:latin typeface="Comic Sans MS"/>
              <a:ea typeface="Comic Sans MS"/>
              <a:cs typeface="Comic Sans MS"/>
              <a:sym typeface="Comic Sans MS"/>
            </a:endParaRPr>
          </a:p>
          <a:p>
            <a:pPr marL="332740" indent="-320675">
              <a:buClr>
                <a:srgbClr val="252525"/>
              </a:buClr>
              <a:buSzPts val="1800"/>
              <a:buFont typeface="Cambria"/>
              <a:buChar char="◾"/>
            </a:pPr>
            <a:r>
              <a:rPr lang="en-US">
                <a:solidFill>
                  <a:srgbClr val="252525"/>
                </a:solidFill>
                <a:latin typeface="Comic Sans MS"/>
                <a:ea typeface="Comic Sans MS"/>
                <a:cs typeface="Comic Sans MS"/>
                <a:sym typeface="Comic Sans MS"/>
              </a:rPr>
              <a:t>Erasable Programmable Read-Only Memory (EPROM):</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Stored data to be erased and new data to be loaded.</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Flexibility, useful during the development phase of digital</a:t>
            </a:r>
            <a:endParaRPr>
              <a:solidFill>
                <a:schemeClr val="dk1"/>
              </a:solidFill>
              <a:latin typeface="Comic Sans MS"/>
              <a:ea typeface="Comic Sans MS"/>
              <a:cs typeface="Comic Sans MS"/>
              <a:sym typeface="Comic Sans MS"/>
            </a:endParaRPr>
          </a:p>
          <a:p>
            <a:pPr marL="625475"/>
            <a:r>
              <a:rPr lang="en-US">
                <a:solidFill>
                  <a:srgbClr val="252525"/>
                </a:solidFill>
                <a:latin typeface="Comic Sans MS"/>
                <a:ea typeface="Comic Sans MS"/>
                <a:cs typeface="Comic Sans MS"/>
                <a:sym typeface="Comic Sans MS"/>
              </a:rPr>
              <a:t>systems.</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Erasable, reprogrammable ROM.</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Erasure requires exposing the ROM to UV light.</a:t>
            </a:r>
            <a:endParaRPr>
              <a:solidFill>
                <a:schemeClr val="dk1"/>
              </a:solidFill>
              <a:latin typeface="Comic Sans MS"/>
              <a:ea typeface="Comic Sans MS"/>
              <a:cs typeface="Comic Sans MS"/>
              <a:sym typeface="Comic Sans M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54"/>
          <p:cNvSpPr txBox="1">
            <a:spLocks noGrp="1"/>
          </p:cNvSpPr>
          <p:nvPr>
            <p:ph type="title"/>
          </p:nvPr>
        </p:nvSpPr>
        <p:spPr>
          <a:xfrm>
            <a:off x="2746655" y="551130"/>
            <a:ext cx="4260215" cy="391795"/>
          </a:xfrm>
          <a:prstGeom prst="rect">
            <a:avLst/>
          </a:prstGeom>
          <a:noFill/>
          <a:ln>
            <a:noFill/>
          </a:ln>
        </p:spPr>
        <p:txBody>
          <a:bodyPr spcFirstLastPara="1" wrap="square" lIns="0" tIns="12700" rIns="0" bIns="0" anchor="t" anchorCtr="0">
            <a:spAutoFit/>
          </a:bodyPr>
          <a:lstStyle/>
          <a:p>
            <a:pPr marL="12700"/>
            <a:r>
              <a:rPr lang="en-US"/>
              <a:t>Read-Only Memories (Contd.,)</a:t>
            </a:r>
            <a:endParaRPr/>
          </a:p>
        </p:txBody>
      </p:sp>
      <p:sp>
        <p:nvSpPr>
          <p:cNvPr id="1507" name="Google Shape;1507;p54"/>
          <p:cNvSpPr txBox="1"/>
          <p:nvPr/>
        </p:nvSpPr>
        <p:spPr>
          <a:xfrm>
            <a:off x="2364740" y="6407699"/>
            <a:ext cx="2695575"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508" name="Google Shape;1508;p54"/>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28</a:t>
            </a:fld>
            <a:endParaRPr/>
          </a:p>
        </p:txBody>
      </p:sp>
      <p:sp>
        <p:nvSpPr>
          <p:cNvPr id="1509" name="Google Shape;1509;p54"/>
          <p:cNvSpPr txBox="1"/>
          <p:nvPr/>
        </p:nvSpPr>
        <p:spPr>
          <a:xfrm>
            <a:off x="2255622" y="1262000"/>
            <a:ext cx="7877809" cy="5074285"/>
          </a:xfrm>
          <a:prstGeom prst="rect">
            <a:avLst/>
          </a:prstGeom>
          <a:noFill/>
          <a:ln>
            <a:noFill/>
          </a:ln>
        </p:spPr>
        <p:txBody>
          <a:bodyPr spcFirstLastPara="1" wrap="square" lIns="0" tIns="67300" rIns="0" bIns="0" anchor="t" anchorCtr="0">
            <a:spAutoFit/>
          </a:bodyPr>
          <a:lstStyle/>
          <a:p>
            <a:pPr marL="332740" indent="-320675">
              <a:buClr>
                <a:srgbClr val="252525"/>
              </a:buClr>
              <a:buSzPts val="1800"/>
              <a:buFont typeface="Cambria"/>
              <a:buChar char="◾"/>
            </a:pPr>
            <a:r>
              <a:rPr lang="en-US">
                <a:solidFill>
                  <a:srgbClr val="252525"/>
                </a:solidFill>
                <a:latin typeface="Comic Sans MS"/>
                <a:ea typeface="Comic Sans MS"/>
                <a:cs typeface="Comic Sans MS"/>
                <a:sym typeface="Comic Sans MS"/>
              </a:rPr>
              <a:t>Electrically Erasable Programmable Read-Only Memory (EEPROM):</a:t>
            </a:r>
            <a:endParaRPr>
              <a:solidFill>
                <a:schemeClr val="dk1"/>
              </a:solidFill>
              <a:latin typeface="Comic Sans MS"/>
              <a:ea typeface="Comic Sans MS"/>
              <a:cs typeface="Comic Sans MS"/>
              <a:sym typeface="Comic Sans MS"/>
            </a:endParaRPr>
          </a:p>
          <a:p>
            <a:pPr marL="625475" marR="575310" lvl="1" indent="-274320">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To erase the contents of EPROMs, they have to be exposed to  ultraviolet light.</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Physically removed from the circuit.</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EEPROMs the contents can be stored and erased electrically.</a:t>
            </a:r>
            <a:endParaRPr>
              <a:solidFill>
                <a:schemeClr val="dk1"/>
              </a:solidFill>
              <a:latin typeface="Comic Sans MS"/>
              <a:ea typeface="Comic Sans MS"/>
              <a:cs typeface="Comic Sans MS"/>
              <a:sym typeface="Comic Sans MS"/>
            </a:endParaRPr>
          </a:p>
          <a:p>
            <a:pPr marL="332740" indent="-320675">
              <a:buClr>
                <a:srgbClr val="252525"/>
              </a:buClr>
              <a:buSzPts val="1800"/>
              <a:buFont typeface="Cambria"/>
              <a:buChar char="◾"/>
            </a:pPr>
            <a:r>
              <a:rPr lang="en-US">
                <a:solidFill>
                  <a:srgbClr val="252525"/>
                </a:solidFill>
                <a:latin typeface="Comic Sans MS"/>
                <a:ea typeface="Comic Sans MS"/>
                <a:cs typeface="Comic Sans MS"/>
                <a:sym typeface="Comic Sans MS"/>
              </a:rPr>
              <a:t>Flash memory:</a:t>
            </a:r>
            <a:endParaRPr>
              <a:solidFill>
                <a:schemeClr val="dk1"/>
              </a:solidFill>
              <a:latin typeface="Comic Sans MS"/>
              <a:ea typeface="Comic Sans MS"/>
              <a:cs typeface="Comic Sans MS"/>
              <a:sym typeface="Comic Sans MS"/>
            </a:endParaRPr>
          </a:p>
          <a:p>
            <a:pPr marL="625475" lvl="1" indent="-274955">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Has similar approach to EEPROM.</a:t>
            </a:r>
            <a:endParaRPr>
              <a:solidFill>
                <a:schemeClr val="dk1"/>
              </a:solidFill>
              <a:latin typeface="Comic Sans MS"/>
              <a:ea typeface="Comic Sans MS"/>
              <a:cs typeface="Comic Sans MS"/>
              <a:sym typeface="Comic Sans MS"/>
            </a:endParaRPr>
          </a:p>
          <a:p>
            <a:pPr marL="625475" marR="535305" lvl="1" indent="-274320">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Read the contents of a single cell, but write the contents of an  entire block of cells.</a:t>
            </a:r>
            <a:endParaRPr>
              <a:solidFill>
                <a:schemeClr val="dk1"/>
              </a:solidFill>
              <a:latin typeface="Comic Sans MS"/>
              <a:ea typeface="Comic Sans MS"/>
              <a:cs typeface="Comic Sans MS"/>
              <a:sym typeface="Comic Sans MS"/>
            </a:endParaRPr>
          </a:p>
          <a:p>
            <a:pPr marL="625475" lvl="1" indent="-274955">
              <a:spcBef>
                <a:spcPts val="434"/>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Flash devices have greater density.</a:t>
            </a:r>
            <a:endParaRPr>
              <a:solidFill>
                <a:schemeClr val="dk1"/>
              </a:solidFill>
              <a:latin typeface="Comic Sans MS"/>
              <a:ea typeface="Comic Sans MS"/>
              <a:cs typeface="Comic Sans MS"/>
              <a:sym typeface="Comic Sans MS"/>
            </a:endParaRPr>
          </a:p>
          <a:p>
            <a:pPr marL="890269">
              <a:spcBef>
                <a:spcPts val="434"/>
              </a:spcBef>
            </a:pPr>
            <a:r>
              <a:rPr lang="en-US">
                <a:solidFill>
                  <a:srgbClr val="252525"/>
                </a:solidFill>
                <a:latin typeface="Comic Sans MS"/>
                <a:ea typeface="Comic Sans MS"/>
                <a:cs typeface="Comic Sans MS"/>
                <a:sym typeface="Comic Sans MS"/>
              </a:rPr>
              <a:t>Higher capacity and low storage cost per bit.</a:t>
            </a:r>
            <a:endParaRPr>
              <a:solidFill>
                <a:schemeClr val="dk1"/>
              </a:solidFill>
              <a:latin typeface="Comic Sans MS"/>
              <a:ea typeface="Comic Sans MS"/>
              <a:cs typeface="Comic Sans MS"/>
              <a:sym typeface="Comic Sans MS"/>
            </a:endParaRPr>
          </a:p>
          <a:p>
            <a:pPr marL="625475" marR="5080" lvl="1" indent="-274320">
              <a:spcBef>
                <a:spcPts val="430"/>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Power consumption of flash memory is very low, making it attractive  for use in equipment that is battery-driven.</a:t>
            </a:r>
            <a:endParaRPr>
              <a:solidFill>
                <a:schemeClr val="dk1"/>
              </a:solidFill>
              <a:latin typeface="Comic Sans MS"/>
              <a:ea typeface="Comic Sans MS"/>
              <a:cs typeface="Comic Sans MS"/>
              <a:sym typeface="Comic Sans MS"/>
            </a:endParaRPr>
          </a:p>
          <a:p>
            <a:pPr marL="625475" marR="2264410" lvl="1" indent="-274320">
              <a:lnSpc>
                <a:spcPct val="120000"/>
              </a:lnSpc>
              <a:spcBef>
                <a:spcPts val="5"/>
              </a:spcBef>
              <a:buClr>
                <a:srgbClr val="252525"/>
              </a:buClr>
              <a:buSzPts val="1450"/>
              <a:buFont typeface="Noto Sans Symbols"/>
              <a:buChar char="▪"/>
            </a:pPr>
            <a:r>
              <a:rPr lang="en-US">
                <a:solidFill>
                  <a:srgbClr val="252525"/>
                </a:solidFill>
                <a:latin typeface="Comic Sans MS"/>
                <a:ea typeface="Comic Sans MS"/>
                <a:cs typeface="Comic Sans MS"/>
                <a:sym typeface="Comic Sans MS"/>
              </a:rPr>
              <a:t>Single flash chips are not sufficiently large, so  larger memory modules are implemented using  flash cards and flash drives.</a:t>
            </a:r>
            <a:endParaRPr>
              <a:solidFill>
                <a:schemeClr val="dk1"/>
              </a:solidFill>
              <a:latin typeface="Comic Sans MS"/>
              <a:ea typeface="Comic Sans MS"/>
              <a:cs typeface="Comic Sans MS"/>
              <a:sym typeface="Comic Sans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466961A2-B23A-1A24-0D48-13E53930EDF3}"/>
              </a:ext>
            </a:extLst>
          </p:cNvPr>
          <p:cNvSpPr txBox="1"/>
          <p:nvPr/>
        </p:nvSpPr>
        <p:spPr>
          <a:xfrm>
            <a:off x="0" y="-167425"/>
            <a:ext cx="12192000" cy="7602081"/>
          </a:xfrm>
          <a:prstGeom prst="rect">
            <a:avLst/>
          </a:prstGeom>
          <a:noFill/>
        </p:spPr>
        <p:txBody>
          <a:bodyPr wrap="square">
            <a:spAutoFit/>
          </a:bodyPr>
          <a:lstStyle/>
          <a:p>
            <a:r>
              <a:rPr lang="en-IN" sz="2400" dirty="0"/>
              <a:t>                                                          </a:t>
            </a:r>
            <a:r>
              <a:rPr lang="en-IN" sz="3200" dirty="0">
                <a:solidFill>
                  <a:srgbClr val="FF0000"/>
                </a:solidFill>
              </a:rPr>
              <a:t>Cache Memory</a:t>
            </a:r>
            <a:endParaRPr lang="en-US" sz="2400" dirty="0"/>
          </a:p>
          <a:p>
            <a:pPr marL="12065" marR="0" lvl="0" algn="l" rtl="0">
              <a:lnSpc>
                <a:spcPct val="100000"/>
              </a:lnSpc>
              <a:spcBef>
                <a:spcPts val="0"/>
              </a:spcBef>
              <a:spcAft>
                <a:spcPts val="0"/>
              </a:spcAft>
              <a:buClr>
                <a:srgbClr val="252525"/>
              </a:buClr>
              <a:buSzPts val="1800"/>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Processor is much faster than the main memory. </a:t>
            </a:r>
            <a:r>
              <a:rPr lang="en-US" sz="2400" b="0" i="0" u="none" strike="noStrike" cap="none" dirty="0">
                <a:solidFill>
                  <a:srgbClr val="252525"/>
                </a:solidFill>
                <a:latin typeface="Calibri" panose="020F0502020204030204" pitchFamily="34" charset="0"/>
                <a:ea typeface="Comic Sans MS"/>
                <a:cs typeface="Calibri" panose="020F0502020204030204" pitchFamily="34" charset="0"/>
                <a:sym typeface="Comic Sans MS"/>
              </a:rPr>
              <a:t>As a result, the processor has to spend much of its time waiting  while instructions and data are being fetched from the main  memory. This is Major obstacle towards achieving good performance.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Speed of the main memory cannot be increased beyond a certain  point, because of </a:t>
            </a:r>
            <a:r>
              <a:rPr lang="en-US" sz="2400" dirty="0" err="1">
                <a:solidFill>
                  <a:srgbClr val="252525"/>
                </a:solidFill>
                <a:latin typeface="Calibri" panose="020F0502020204030204" pitchFamily="34" charset="0"/>
                <a:ea typeface="Comic Sans MS"/>
                <a:cs typeface="Calibri" panose="020F0502020204030204" pitchFamily="34" charset="0"/>
                <a:sym typeface="Comic Sans MS"/>
              </a:rPr>
              <a:t>cost,size</a:t>
            </a: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pPr marL="12065" marR="318135" lvl="0" algn="l" rtl="0">
              <a:lnSpc>
                <a:spcPct val="100000"/>
              </a:lnSpc>
              <a:spcBef>
                <a:spcPts val="0"/>
              </a:spcBef>
              <a:spcAft>
                <a:spcPts val="0"/>
              </a:spcAft>
              <a:buClr>
                <a:srgbClr val="252525"/>
              </a:buClr>
              <a:buSzPts val="1800"/>
            </a:pPr>
            <a:endParaRPr lang="en-US" sz="2400" dirty="0">
              <a:solidFill>
                <a:srgbClr val="252525"/>
              </a:solidFill>
              <a:latin typeface="Calibri" panose="020F0502020204030204" pitchFamily="34" charset="0"/>
              <a:ea typeface="Comic Sans MS"/>
              <a:cs typeface="Calibri" panose="020F0502020204030204" pitchFamily="34" charset="0"/>
              <a:sym typeface="Comic Sans MS"/>
            </a:endParaRPr>
          </a:p>
          <a:p>
            <a:pPr marL="12065" marR="318135" lvl="0" algn="l" rtl="0">
              <a:lnSpc>
                <a:spcPct val="100000"/>
              </a:lnSpc>
              <a:spcBef>
                <a:spcPts val="0"/>
              </a:spcBef>
              <a:spcAft>
                <a:spcPts val="0"/>
              </a:spcAft>
              <a:buClr>
                <a:srgbClr val="252525"/>
              </a:buClr>
              <a:buSzPts val="1800"/>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Cache memory is an architectural arrangement which makes the  main memory appear faster to the processor than it really is. Cache memory is based on the property of computer programs known as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“locality of reference”.</a:t>
            </a:r>
          </a:p>
          <a:p>
            <a:pPr marL="12065" marR="0" lvl="0" algn="l" rtl="0">
              <a:lnSpc>
                <a:spcPct val="100000"/>
              </a:lnSpc>
              <a:spcBef>
                <a:spcPts val="0"/>
              </a:spcBef>
              <a:spcAft>
                <a:spcPts val="0"/>
              </a:spcAft>
              <a:buClr>
                <a:srgbClr val="252525"/>
              </a:buClr>
              <a:buSzPts val="1800"/>
            </a:pPr>
            <a:endParaRPr lang="en-US" sz="2400" u="sng" dirty="0">
              <a:solidFill>
                <a:srgbClr val="252525"/>
              </a:solidFill>
              <a:latin typeface="Calibri" panose="020F0502020204030204" pitchFamily="34" charset="0"/>
              <a:cs typeface="Calibri" panose="020F0502020204030204" pitchFamily="34" charset="0"/>
              <a:sym typeface="Comic Sans MS"/>
            </a:endParaRPr>
          </a:p>
          <a:p>
            <a:pPr marL="12065" marR="0" lvl="0" algn="l" rtl="0">
              <a:lnSpc>
                <a:spcPct val="100000"/>
              </a:lnSpc>
              <a:spcBef>
                <a:spcPts val="0"/>
              </a:spcBef>
              <a:spcAft>
                <a:spcPts val="0"/>
              </a:spcAft>
              <a:buClr>
                <a:srgbClr val="252525"/>
              </a:buClr>
              <a:buSzPts val="1800"/>
            </a:pPr>
            <a:r>
              <a:rPr lang="en-US" sz="2400" dirty="0">
                <a:latin typeface="Calibri" panose="020F0502020204030204" pitchFamily="34" charset="0"/>
                <a:cs typeface="Calibri" panose="020F0502020204030204" pitchFamily="34" charset="0"/>
              </a:rPr>
              <a:t>Analysis of programs indicates that many instructions in localized  areas of a program are executed repeatedly during some period of  time, while the others are accessed relatively less frequently.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These instructions may be the ones in a loop, nested loop or few </a:t>
            </a:r>
            <a:r>
              <a:rPr lang="en-US" sz="2400" dirty="0">
                <a:latin typeface="Calibri" panose="020F0502020204030204" pitchFamily="34" charset="0"/>
                <a:cs typeface="Calibri" panose="020F0502020204030204" pitchFamily="34" charset="0"/>
              </a:rPr>
              <a:t>procedures calling each other repeatedly.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This is called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“locality of reference”.  Two type of locality of reference are there,</a:t>
            </a:r>
            <a:endParaRPr lang="en-US" sz="2400" dirty="0">
              <a:latin typeface="Calibri" panose="020F0502020204030204" pitchFamily="34" charset="0"/>
              <a:ea typeface="Comic Sans MS"/>
              <a:cs typeface="Calibri" panose="020F0502020204030204" pitchFamily="34" charset="0"/>
              <a:sym typeface="Comic Sans MS"/>
            </a:endParaRPr>
          </a:p>
          <a:p>
            <a:pPr marL="95250" lvl="0" algn="l" rtl="0">
              <a:lnSpc>
                <a:spcPct val="100000"/>
              </a:lnSpc>
              <a:spcBef>
                <a:spcPts val="0"/>
              </a:spcBef>
              <a:spcAft>
                <a:spcPts val="0"/>
              </a:spcAft>
              <a:buClr>
                <a:srgbClr val="252525"/>
              </a:buClr>
              <a:buSzPts val="1800"/>
            </a:pPr>
            <a:r>
              <a:rPr lang="en-US" sz="2400" dirty="0">
                <a:latin typeface="Calibri" panose="020F0502020204030204" pitchFamily="34" charset="0"/>
                <a:cs typeface="Calibri" panose="020F0502020204030204" pitchFamily="34" charset="0"/>
              </a:rPr>
              <a:t>        1. Temporal locality of reference: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Recently executed instruction is likely to be executed again  very soon.</a:t>
            </a:r>
            <a:endParaRPr lang="en-US" sz="2400" dirty="0">
              <a:latin typeface="Calibri" panose="020F0502020204030204" pitchFamily="34" charset="0"/>
              <a:ea typeface="Comic Sans MS"/>
              <a:cs typeface="Calibri" panose="020F0502020204030204" pitchFamily="34" charset="0"/>
              <a:sym typeface="Comic Sans MS"/>
            </a:endParaRPr>
          </a:p>
          <a:p>
            <a:pPr marL="95250" lvl="0" algn="l" rtl="0">
              <a:lnSpc>
                <a:spcPct val="100000"/>
              </a:lnSpc>
              <a:spcBef>
                <a:spcPts val="0"/>
              </a:spcBef>
              <a:spcAft>
                <a:spcPts val="0"/>
              </a:spcAft>
              <a:buClr>
                <a:srgbClr val="252525"/>
              </a:buClr>
              <a:buSzPts val="1800"/>
            </a:pPr>
            <a:r>
              <a:rPr lang="en-US" sz="2400" dirty="0">
                <a:latin typeface="Calibri" panose="020F0502020204030204" pitchFamily="34" charset="0"/>
                <a:cs typeface="Calibri" panose="020F0502020204030204" pitchFamily="34" charset="0"/>
              </a:rPr>
              <a:t>        2. Spatial locality of reference: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Instructions with addresses close to a recently instruction are  likely </a:t>
            </a:r>
            <a:r>
              <a:rPr lang="en-US" sz="2400" dirty="0">
                <a:latin typeface="Calibri" panose="020F0502020204030204" pitchFamily="34" charset="0"/>
                <a:cs typeface="Calibri" panose="020F0502020204030204" pitchFamily="34" charset="0"/>
              </a:rPr>
              <a:t>to be executed soon.</a:t>
            </a:r>
            <a:endParaRPr lang="en-US" sz="2400" dirty="0">
              <a:solidFill>
                <a:schemeClr val="dk1"/>
              </a:solidFill>
              <a:latin typeface="Calibri" panose="020F0502020204030204" pitchFamily="34" charset="0"/>
              <a:ea typeface="Comic Sans MS"/>
              <a:cs typeface="Calibri" panose="020F0502020204030204" pitchFamily="34" charset="0"/>
              <a:sym typeface="Comic Sans MS"/>
            </a:endParaRPr>
          </a:p>
          <a:p>
            <a:endParaRPr lang="en-IN" sz="2400" dirty="0"/>
          </a:p>
        </p:txBody>
      </p:sp>
    </p:spTree>
    <p:extLst>
      <p:ext uri="{BB962C8B-B14F-4D97-AF65-F5344CB8AC3E}">
        <p14:creationId xmlns:p14="http://schemas.microsoft.com/office/powerpoint/2010/main" val="1156086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4" name="Google Shape;1544;p59"/>
          <p:cNvSpPr txBox="1"/>
          <p:nvPr/>
        </p:nvSpPr>
        <p:spPr>
          <a:xfrm>
            <a:off x="944350" y="2701590"/>
            <a:ext cx="10504968" cy="3336811"/>
          </a:xfrm>
          <a:prstGeom prst="rect">
            <a:avLst/>
          </a:prstGeom>
          <a:noFill/>
          <a:ln>
            <a:noFill/>
          </a:ln>
        </p:spPr>
        <p:txBody>
          <a:bodyPr spcFirstLastPara="1" wrap="square" lIns="0" tIns="12700" rIns="0" bIns="0" anchor="t" anchorCtr="0">
            <a:spAutoFit/>
          </a:bodyPr>
          <a:lstStyle/>
          <a:p>
            <a:pPr marL="332740" indent="-320675">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Processor issues a Read request, a block of words is transferred from</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a:r>
              <a:rPr lang="en-US" sz="2400" dirty="0">
                <a:solidFill>
                  <a:srgbClr val="252525"/>
                </a:solidFill>
                <a:latin typeface="Calibri" panose="020F0502020204030204" pitchFamily="34" charset="0"/>
                <a:ea typeface="Comic Sans MS"/>
                <a:cs typeface="Calibri" panose="020F0502020204030204" pitchFamily="34" charset="0"/>
                <a:sym typeface="Comic Sans MS"/>
              </a:rPr>
              <a:t>the main memory	to the cache, one word at a time.</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marR="20955" indent="-320675">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Subsequent references to the data in this block of words are found in  the cache.</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marR="5080" indent="-320675">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At any given time, only some blocks in the main memory are held in the  cache. Which blocks in the main memory are in the cache is  determined by a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mapping function”.</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marR="123189" indent="-320675">
              <a:spcBef>
                <a:spcPts val="5"/>
              </a:spcBef>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When the cache is full, and a block of words needs to be transferred  from the main memory, some block of words in the cache must be  replaced. This is determined by a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“replacement algorithm”.</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p:txBody>
      </p:sp>
      <p:sp>
        <p:nvSpPr>
          <p:cNvPr id="1555" name="Google Shape;1555;p59"/>
          <p:cNvSpPr txBox="1">
            <a:spLocks noGrp="1"/>
          </p:cNvSpPr>
          <p:nvPr>
            <p:ph type="sldNum" idx="12"/>
          </p:nvPr>
        </p:nvSpPr>
        <p:spPr>
          <a:xfrm>
            <a:off x="9557258" y="6407733"/>
            <a:ext cx="373379" cy="224790"/>
          </a:xfrm>
          <a:prstGeom prst="rect">
            <a:avLst/>
          </a:prstGeom>
          <a:noFill/>
          <a:ln>
            <a:noFill/>
          </a:ln>
        </p:spPr>
        <p:txBody>
          <a:bodyPr spcFirstLastPara="1" vert="horz" wrap="square" lIns="0" tIns="0" rIns="0" bIns="0" rtlCol="0" anchor="t" anchorCtr="0">
            <a:spAutoFit/>
          </a:bodyPr>
          <a:lstStyle/>
          <a:p>
            <a:pPr marL="137160" algn="l">
              <a:lnSpc>
                <a:spcPct val="117857"/>
              </a:lnSpc>
            </a:pPr>
            <a:fld id="{00000000-1234-1234-1234-123412341234}" type="slidenum">
              <a:rPr lang="en-US"/>
              <a:pPr marL="137160" algn="l">
                <a:lnSpc>
                  <a:spcPct val="117857"/>
                </a:lnSpc>
              </a:pPr>
              <a:t>30</a:t>
            </a:fld>
            <a:endParaRPr/>
          </a:p>
        </p:txBody>
      </p:sp>
      <p:pic>
        <p:nvPicPr>
          <p:cNvPr id="5" name="Picture 4">
            <a:extLst>
              <a:ext uri="{FF2B5EF4-FFF2-40B4-BE49-F238E27FC236}">
                <a16:creationId xmlns:a16="http://schemas.microsoft.com/office/drawing/2014/main" id="{BF3C7CE7-2035-F509-2DA4-064B8240318B}"/>
              </a:ext>
            </a:extLst>
          </p:cNvPr>
          <p:cNvPicPr>
            <a:picLocks noChangeAspect="1"/>
          </p:cNvPicPr>
          <p:nvPr/>
        </p:nvPicPr>
        <p:blipFill>
          <a:blip r:embed="rId3"/>
          <a:stretch>
            <a:fillRect/>
          </a:stretch>
        </p:blipFill>
        <p:spPr>
          <a:xfrm>
            <a:off x="2757957" y="114429"/>
            <a:ext cx="6057900" cy="23812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31</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466961A2-B23A-1A24-0D48-13E53930EDF3}"/>
              </a:ext>
            </a:extLst>
          </p:cNvPr>
          <p:cNvSpPr txBox="1"/>
          <p:nvPr/>
        </p:nvSpPr>
        <p:spPr>
          <a:xfrm>
            <a:off x="515155" y="263462"/>
            <a:ext cx="10303099" cy="7109639"/>
          </a:xfrm>
          <a:prstGeom prst="rect">
            <a:avLst/>
          </a:prstGeom>
          <a:noFill/>
        </p:spPr>
        <p:txBody>
          <a:bodyPr wrap="square">
            <a:spAutoFit/>
          </a:bodyPr>
          <a:lstStyle/>
          <a:p>
            <a:r>
              <a:rPr lang="en-IN" sz="2400" dirty="0"/>
              <a:t>                                                  </a:t>
            </a:r>
            <a:r>
              <a:rPr lang="en-IN" sz="3200" dirty="0">
                <a:solidFill>
                  <a:srgbClr val="FF0000"/>
                </a:solidFill>
              </a:rPr>
              <a:t>Cache Mapping Functions</a:t>
            </a:r>
          </a:p>
          <a:p>
            <a:endParaRPr lang="en-US" sz="2400" dirty="0"/>
          </a:p>
          <a:p>
            <a:r>
              <a:rPr lang="en-US" sz="2400" dirty="0"/>
              <a:t>There are several possible methods for determining where memory blocks are placed in the cache. </a:t>
            </a:r>
          </a:p>
          <a:p>
            <a:endParaRPr lang="en-US" sz="2400" dirty="0"/>
          </a:p>
          <a:p>
            <a:pPr marL="457200" indent="-457200">
              <a:buAutoNum type="arabicPeriod"/>
            </a:pPr>
            <a:r>
              <a:rPr lang="en-US" sz="2400" dirty="0"/>
              <a:t>Direct Mapping</a:t>
            </a:r>
          </a:p>
          <a:p>
            <a:pPr marL="457200" indent="-457200">
              <a:buAutoNum type="arabicPeriod"/>
            </a:pPr>
            <a:r>
              <a:rPr lang="en-US" sz="2400" dirty="0"/>
              <a:t>Associative Mapping</a:t>
            </a:r>
          </a:p>
          <a:p>
            <a:pPr marL="457200" indent="-457200">
              <a:buAutoNum type="arabicPeriod"/>
            </a:pPr>
            <a:r>
              <a:rPr lang="en-US" sz="2400" dirty="0"/>
              <a:t>Set Associative Mapping</a:t>
            </a:r>
          </a:p>
          <a:p>
            <a:endParaRPr lang="en-US" sz="2400" dirty="0"/>
          </a:p>
          <a:p>
            <a:r>
              <a:rPr lang="en-US" sz="2400" dirty="0"/>
              <a:t>Let us assume, (for describing different methods, in the following slides)</a:t>
            </a:r>
          </a:p>
          <a:p>
            <a:r>
              <a:rPr lang="en-US" sz="2400" dirty="0">
                <a:solidFill>
                  <a:srgbClr val="FF0000"/>
                </a:solidFill>
              </a:rPr>
              <a:t>                </a:t>
            </a:r>
            <a:r>
              <a:rPr lang="en-US" sz="3200" dirty="0">
                <a:solidFill>
                  <a:srgbClr val="FF0000"/>
                </a:solidFill>
              </a:rPr>
              <a:t>Cache memory 2K, [128 blocks, 16 words/block]</a:t>
            </a:r>
          </a:p>
          <a:p>
            <a:r>
              <a:rPr lang="en-US" sz="3200" dirty="0">
                <a:solidFill>
                  <a:srgbClr val="FF0000"/>
                </a:solidFill>
              </a:rPr>
              <a:t>            Main Memory 64K [4024/4K  blocks,16words/block]</a:t>
            </a:r>
          </a:p>
          <a:p>
            <a:endParaRPr lang="en-US" sz="2400" dirty="0"/>
          </a:p>
          <a:p>
            <a:pPr marL="457200" indent="-457200">
              <a:buAutoNum type="arabicPeriod"/>
            </a:pPr>
            <a:endParaRPr lang="en-US" sz="2400" dirty="0"/>
          </a:p>
          <a:p>
            <a:pPr marL="457200" indent="-457200">
              <a:buAutoNum type="arabicPeriod"/>
            </a:pPr>
            <a:endParaRPr lang="en-US" sz="2400" dirty="0"/>
          </a:p>
          <a:p>
            <a:r>
              <a:rPr lang="en-US" sz="2400" dirty="0"/>
              <a:t>Note: For simplicity, we have assumed that consecutive addresses refer to consecutive words.</a:t>
            </a:r>
          </a:p>
          <a:p>
            <a:endParaRPr lang="en-IN" sz="2400" dirty="0"/>
          </a:p>
        </p:txBody>
      </p:sp>
    </p:spTree>
    <p:extLst>
      <p:ext uri="{BB962C8B-B14F-4D97-AF65-F5344CB8AC3E}">
        <p14:creationId xmlns:p14="http://schemas.microsoft.com/office/powerpoint/2010/main" val="2923020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26378782-42D9-E469-6902-733DEBB26F87}"/>
              </a:ext>
            </a:extLst>
          </p:cNvPr>
          <p:cNvPicPr>
            <a:picLocks noChangeAspect="1"/>
          </p:cNvPicPr>
          <p:nvPr/>
        </p:nvPicPr>
        <p:blipFill>
          <a:blip r:embed="rId2"/>
          <a:stretch>
            <a:fillRect/>
          </a:stretch>
        </p:blipFill>
        <p:spPr>
          <a:xfrm>
            <a:off x="5632632" y="136525"/>
            <a:ext cx="6481157" cy="6647576"/>
          </a:xfrm>
          <a:prstGeom prst="rect">
            <a:avLst/>
          </a:prstGeom>
        </p:spPr>
      </p:pic>
      <p:pic>
        <p:nvPicPr>
          <p:cNvPr id="7" name="Picture 6">
            <a:extLst>
              <a:ext uri="{FF2B5EF4-FFF2-40B4-BE49-F238E27FC236}">
                <a16:creationId xmlns:a16="http://schemas.microsoft.com/office/drawing/2014/main" id="{014B958C-139B-6639-9EE6-DC84FAFE01C0}"/>
              </a:ext>
            </a:extLst>
          </p:cNvPr>
          <p:cNvPicPr>
            <a:picLocks noChangeAspect="1"/>
          </p:cNvPicPr>
          <p:nvPr/>
        </p:nvPicPr>
        <p:blipFill>
          <a:blip r:embed="rId3"/>
          <a:stretch>
            <a:fillRect/>
          </a:stretch>
        </p:blipFill>
        <p:spPr>
          <a:xfrm>
            <a:off x="5549253" y="5443537"/>
            <a:ext cx="4714875" cy="1095375"/>
          </a:xfrm>
          <a:prstGeom prst="rect">
            <a:avLst/>
          </a:prstGeom>
        </p:spPr>
      </p:pic>
      <p:sp>
        <p:nvSpPr>
          <p:cNvPr id="6" name="TextBox 5">
            <a:extLst>
              <a:ext uri="{FF2B5EF4-FFF2-40B4-BE49-F238E27FC236}">
                <a16:creationId xmlns:a16="http://schemas.microsoft.com/office/drawing/2014/main" id="{D8A3591F-0C86-D579-62BB-BF3CA642F128}"/>
              </a:ext>
            </a:extLst>
          </p:cNvPr>
          <p:cNvSpPr txBox="1"/>
          <p:nvPr/>
        </p:nvSpPr>
        <p:spPr>
          <a:xfrm>
            <a:off x="0" y="-30900"/>
            <a:ext cx="5859887" cy="7294305"/>
          </a:xfrm>
          <a:prstGeom prst="rect">
            <a:avLst/>
          </a:prstGeom>
          <a:noFill/>
        </p:spPr>
        <p:txBody>
          <a:bodyPr wrap="square">
            <a:spAutoFit/>
          </a:bodyPr>
          <a:lstStyle/>
          <a:p>
            <a:r>
              <a:rPr lang="en-US" dirty="0"/>
              <a:t>The simplest way to determine cache locations in which to store memory blocks is the direct-mapping technique. In this technique, block j of the main memory maps onto </a:t>
            </a:r>
            <a:r>
              <a:rPr lang="en-US" dirty="0">
                <a:solidFill>
                  <a:srgbClr val="FF0000"/>
                </a:solidFill>
              </a:rPr>
              <a:t>block j modulo 128 of the cache</a:t>
            </a:r>
            <a:r>
              <a:rPr lang="en-US" dirty="0"/>
              <a:t>, as depicted in Figure. Thus, whenever one of the main memory blocks 0, 128, 256,... is loaded into the cache, it is stored in cache block 0. Blocks 1, 129, 257,... are stored in cache block 1, and so on. Since more than one memory block is mapped onto a given cache block position, contention may arise for that position even when the cache is not full.</a:t>
            </a:r>
          </a:p>
          <a:p>
            <a:endParaRPr lang="en-US" dirty="0"/>
          </a:p>
          <a:p>
            <a:r>
              <a:rPr lang="en-US" dirty="0"/>
              <a:t>Processor generates memory address of 16 bits, which has 3 fields (in direct mapping technique),</a:t>
            </a:r>
          </a:p>
          <a:p>
            <a:pPr marL="342900" indent="-342900">
              <a:buAutoNum type="arabicPeriod"/>
            </a:pPr>
            <a:r>
              <a:rPr lang="en-US" dirty="0"/>
              <a:t>4bits, used to select a </a:t>
            </a:r>
            <a:r>
              <a:rPr lang="en-US" b="1" dirty="0">
                <a:solidFill>
                  <a:srgbClr val="FF0000"/>
                </a:solidFill>
              </a:rPr>
              <a:t>WORD</a:t>
            </a:r>
            <a:r>
              <a:rPr lang="en-US" dirty="0"/>
              <a:t> in the cache block (2power4= 16)</a:t>
            </a:r>
          </a:p>
          <a:p>
            <a:pPr marL="342900" indent="-342900">
              <a:buAutoNum type="arabicPeriod"/>
            </a:pPr>
            <a:r>
              <a:rPr lang="en-US" dirty="0"/>
              <a:t>7bits, used to select a </a:t>
            </a:r>
            <a:r>
              <a:rPr lang="en-US" b="1" dirty="0">
                <a:solidFill>
                  <a:srgbClr val="FF0000"/>
                </a:solidFill>
              </a:rPr>
              <a:t>BLOCK</a:t>
            </a:r>
            <a:r>
              <a:rPr lang="en-US" dirty="0"/>
              <a:t> in cache memory (2power7 = 128)</a:t>
            </a:r>
          </a:p>
          <a:p>
            <a:pPr marL="342900" indent="-342900">
              <a:buAutoNum type="arabicPeriod"/>
            </a:pPr>
            <a:r>
              <a:rPr lang="en-US" dirty="0"/>
              <a:t>5bits, </a:t>
            </a:r>
            <a:r>
              <a:rPr lang="en-US" b="1" dirty="0">
                <a:solidFill>
                  <a:srgbClr val="FF0000"/>
                </a:solidFill>
              </a:rPr>
              <a:t>TAG field </a:t>
            </a:r>
            <a:r>
              <a:rPr lang="en-US" dirty="0"/>
              <a:t>- used to identify which block of main memory (4Kblocks/128blocks=32)is currently sitting in the selected cache block (2power5=32)</a:t>
            </a:r>
          </a:p>
          <a:p>
            <a:r>
              <a:rPr lang="en-US" dirty="0"/>
              <a:t>If the tag field is not matched, then it is a cache-miss, then required block from main memory is copied to cache memory and tag filed is suitably set.</a:t>
            </a:r>
          </a:p>
          <a:p>
            <a:r>
              <a:rPr lang="en-US" dirty="0">
                <a:solidFill>
                  <a:srgbClr val="FF0000"/>
                </a:solidFill>
              </a:rPr>
              <a:t>The direct-mapping technique is easy to implement, but it is not very flexible</a:t>
            </a:r>
            <a:endParaRPr lang="en-IN" dirty="0">
              <a:solidFill>
                <a:srgbClr val="FF0000"/>
              </a:solidFill>
            </a:endParaRPr>
          </a:p>
        </p:txBody>
      </p:sp>
      <p:sp>
        <p:nvSpPr>
          <p:cNvPr id="11" name="TextBox 10">
            <a:extLst>
              <a:ext uri="{FF2B5EF4-FFF2-40B4-BE49-F238E27FC236}">
                <a16:creationId xmlns:a16="http://schemas.microsoft.com/office/drawing/2014/main" id="{DA41DE66-337A-BC27-A063-079626381FBE}"/>
              </a:ext>
            </a:extLst>
          </p:cNvPr>
          <p:cNvSpPr txBox="1"/>
          <p:nvPr/>
        </p:nvSpPr>
        <p:spPr>
          <a:xfrm>
            <a:off x="6258528" y="453630"/>
            <a:ext cx="6123904" cy="584775"/>
          </a:xfrm>
          <a:prstGeom prst="rect">
            <a:avLst/>
          </a:prstGeom>
          <a:noFill/>
        </p:spPr>
        <p:txBody>
          <a:bodyPr wrap="square">
            <a:spAutoFit/>
          </a:bodyPr>
          <a:lstStyle/>
          <a:p>
            <a:r>
              <a:rPr lang="en-US" sz="3200" b="1" dirty="0">
                <a:solidFill>
                  <a:srgbClr val="FF0000"/>
                </a:solidFill>
              </a:rPr>
              <a:t>Direct Mapping </a:t>
            </a:r>
            <a:endParaRPr lang="en-IN" sz="3200" dirty="0"/>
          </a:p>
        </p:txBody>
      </p:sp>
    </p:spTree>
    <p:extLst>
      <p:ext uri="{BB962C8B-B14F-4D97-AF65-F5344CB8AC3E}">
        <p14:creationId xmlns:p14="http://schemas.microsoft.com/office/powerpoint/2010/main" val="2640553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DC610BD1-4F36-8C15-B783-440829C2F5D0}"/>
              </a:ext>
            </a:extLst>
          </p:cNvPr>
          <p:cNvPicPr>
            <a:picLocks noChangeAspect="1"/>
          </p:cNvPicPr>
          <p:nvPr/>
        </p:nvPicPr>
        <p:blipFill>
          <a:blip r:embed="rId2"/>
          <a:stretch>
            <a:fillRect/>
          </a:stretch>
        </p:blipFill>
        <p:spPr>
          <a:xfrm>
            <a:off x="7170872" y="477840"/>
            <a:ext cx="4916861" cy="3969033"/>
          </a:xfrm>
          <a:prstGeom prst="rect">
            <a:avLst/>
          </a:prstGeom>
        </p:spPr>
      </p:pic>
      <p:pic>
        <p:nvPicPr>
          <p:cNvPr id="7" name="Picture 6">
            <a:extLst>
              <a:ext uri="{FF2B5EF4-FFF2-40B4-BE49-F238E27FC236}">
                <a16:creationId xmlns:a16="http://schemas.microsoft.com/office/drawing/2014/main" id="{18CE50E0-4F6F-1524-4823-D805780CD4F7}"/>
              </a:ext>
            </a:extLst>
          </p:cNvPr>
          <p:cNvPicPr>
            <a:picLocks noChangeAspect="1"/>
          </p:cNvPicPr>
          <p:nvPr/>
        </p:nvPicPr>
        <p:blipFill>
          <a:blip r:embed="rId3"/>
          <a:stretch>
            <a:fillRect/>
          </a:stretch>
        </p:blipFill>
        <p:spPr>
          <a:xfrm>
            <a:off x="7106158" y="5164858"/>
            <a:ext cx="4981575" cy="838200"/>
          </a:xfrm>
          <a:prstGeom prst="rect">
            <a:avLst/>
          </a:prstGeom>
        </p:spPr>
      </p:pic>
      <p:sp>
        <p:nvSpPr>
          <p:cNvPr id="11" name="TextBox 10">
            <a:extLst>
              <a:ext uri="{FF2B5EF4-FFF2-40B4-BE49-F238E27FC236}">
                <a16:creationId xmlns:a16="http://schemas.microsoft.com/office/drawing/2014/main" id="{AEB7873B-A3DF-F798-3E0D-4FABA285B53F}"/>
              </a:ext>
            </a:extLst>
          </p:cNvPr>
          <p:cNvSpPr txBox="1"/>
          <p:nvPr/>
        </p:nvSpPr>
        <p:spPr>
          <a:xfrm>
            <a:off x="0" y="117693"/>
            <a:ext cx="7950559" cy="6740307"/>
          </a:xfrm>
          <a:prstGeom prst="rect">
            <a:avLst/>
          </a:prstGeom>
          <a:noFill/>
        </p:spPr>
        <p:txBody>
          <a:bodyPr wrap="square">
            <a:spAutoFit/>
          </a:bodyPr>
          <a:lstStyle/>
          <a:p>
            <a:r>
              <a:rPr lang="en-US" dirty="0"/>
              <a:t>The disadvantage of direct mapping, each main memory block can be placed only in a particular cache block, this is overcome here.</a:t>
            </a:r>
          </a:p>
          <a:p>
            <a:r>
              <a:rPr lang="en-US" dirty="0"/>
              <a:t>Figure shows the most flexible mapping method, in which a main memory block can be placed into any cache block position.</a:t>
            </a:r>
          </a:p>
          <a:p>
            <a:endParaRPr lang="en-US" dirty="0"/>
          </a:p>
          <a:p>
            <a:r>
              <a:rPr lang="en-US" dirty="0"/>
              <a:t>Processor generates memory address of 16 bits, which has 2 fields (in associative mapping technique),</a:t>
            </a:r>
          </a:p>
          <a:p>
            <a:r>
              <a:rPr lang="en-US" dirty="0"/>
              <a:t>1. 4bits, used to select a </a:t>
            </a:r>
            <a:r>
              <a:rPr lang="en-US" b="1" dirty="0">
                <a:solidFill>
                  <a:srgbClr val="FF0000"/>
                </a:solidFill>
              </a:rPr>
              <a:t>WORD</a:t>
            </a:r>
            <a:r>
              <a:rPr lang="en-US" dirty="0"/>
              <a:t> in the cache block (2power4= 16)</a:t>
            </a:r>
          </a:p>
          <a:p>
            <a:r>
              <a:rPr lang="en-US" dirty="0"/>
              <a:t>2. 12 bits, TAG field, used to identify a memory block(2power12=4096)</a:t>
            </a:r>
          </a:p>
          <a:p>
            <a:endParaRPr lang="en-US" dirty="0"/>
          </a:p>
          <a:p>
            <a:r>
              <a:rPr lang="en-US" dirty="0"/>
              <a:t>In this case, 12 tag bits are required to identify a memory block when it is resident in the cache. The tag bits of an address received from the processor are compared to the tag bits of each block of the cache to see if the desired block is present. This is called the associative-mapping technique.</a:t>
            </a:r>
          </a:p>
          <a:p>
            <a:endParaRPr lang="en-US" dirty="0"/>
          </a:p>
          <a:p>
            <a:r>
              <a:rPr lang="en-US" dirty="0"/>
              <a:t>It gives complete freedom in choosing the cache location in which to place the memory block, resulting in a more efficient use of the space in the cache. When a new block is brought into the cache, it replaces (ejects) an existing block only if the cache is full. In this case, we need an algorithm to select the block to be replaced, like LRU algorithm. </a:t>
            </a:r>
          </a:p>
          <a:p>
            <a:r>
              <a:rPr lang="en-US" dirty="0"/>
              <a:t>The complexity of an associative cache is higher than that of a direct-mapped cache, because of the need to search all 128 tag patterns to determine whether a given block is in the cache. To avoid a long delay, the tags must be searched in parallel. A search of this kind is called an associative search.</a:t>
            </a:r>
            <a:endParaRPr lang="en-IN" dirty="0"/>
          </a:p>
        </p:txBody>
      </p:sp>
      <p:sp>
        <p:nvSpPr>
          <p:cNvPr id="12" name="TextBox 11">
            <a:extLst>
              <a:ext uri="{FF2B5EF4-FFF2-40B4-BE49-F238E27FC236}">
                <a16:creationId xmlns:a16="http://schemas.microsoft.com/office/drawing/2014/main" id="{0AC1CA12-1BFF-3196-D666-C91D64812818}"/>
              </a:ext>
            </a:extLst>
          </p:cNvPr>
          <p:cNvSpPr txBox="1"/>
          <p:nvPr/>
        </p:nvSpPr>
        <p:spPr>
          <a:xfrm>
            <a:off x="8006369" y="-106935"/>
            <a:ext cx="3721993" cy="584775"/>
          </a:xfrm>
          <a:prstGeom prst="rect">
            <a:avLst/>
          </a:prstGeom>
          <a:noFill/>
        </p:spPr>
        <p:txBody>
          <a:bodyPr wrap="square">
            <a:spAutoFit/>
          </a:bodyPr>
          <a:lstStyle/>
          <a:p>
            <a:r>
              <a:rPr lang="en-US" sz="3200" b="1" dirty="0">
                <a:solidFill>
                  <a:srgbClr val="FF0000"/>
                </a:solidFill>
              </a:rPr>
              <a:t>Associative Mapping</a:t>
            </a:r>
            <a:endParaRPr lang="en-IN" sz="3200" dirty="0"/>
          </a:p>
        </p:txBody>
      </p:sp>
    </p:spTree>
    <p:extLst>
      <p:ext uri="{BB962C8B-B14F-4D97-AF65-F5344CB8AC3E}">
        <p14:creationId xmlns:p14="http://schemas.microsoft.com/office/powerpoint/2010/main" val="2040573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34</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A99D530D-0300-2EF4-B034-D2FAA83C0485}"/>
              </a:ext>
            </a:extLst>
          </p:cNvPr>
          <p:cNvPicPr>
            <a:picLocks noChangeAspect="1"/>
          </p:cNvPicPr>
          <p:nvPr/>
        </p:nvPicPr>
        <p:blipFill>
          <a:blip r:embed="rId2"/>
          <a:stretch>
            <a:fillRect/>
          </a:stretch>
        </p:blipFill>
        <p:spPr>
          <a:xfrm>
            <a:off x="7653337" y="166687"/>
            <a:ext cx="4657725" cy="5410200"/>
          </a:xfrm>
          <a:prstGeom prst="rect">
            <a:avLst/>
          </a:prstGeom>
        </p:spPr>
      </p:pic>
      <p:pic>
        <p:nvPicPr>
          <p:cNvPr id="9" name="Picture 8">
            <a:extLst>
              <a:ext uri="{FF2B5EF4-FFF2-40B4-BE49-F238E27FC236}">
                <a16:creationId xmlns:a16="http://schemas.microsoft.com/office/drawing/2014/main" id="{C680C544-ABA7-888D-AFE6-1CA9872F2DA6}"/>
              </a:ext>
            </a:extLst>
          </p:cNvPr>
          <p:cNvPicPr>
            <a:picLocks noChangeAspect="1"/>
          </p:cNvPicPr>
          <p:nvPr/>
        </p:nvPicPr>
        <p:blipFill>
          <a:blip r:embed="rId3"/>
          <a:stretch>
            <a:fillRect/>
          </a:stretch>
        </p:blipFill>
        <p:spPr>
          <a:xfrm>
            <a:off x="7491412" y="5394325"/>
            <a:ext cx="4819650" cy="962025"/>
          </a:xfrm>
          <a:prstGeom prst="rect">
            <a:avLst/>
          </a:prstGeom>
        </p:spPr>
      </p:pic>
      <p:sp>
        <p:nvSpPr>
          <p:cNvPr id="13" name="TextBox 12">
            <a:extLst>
              <a:ext uri="{FF2B5EF4-FFF2-40B4-BE49-F238E27FC236}">
                <a16:creationId xmlns:a16="http://schemas.microsoft.com/office/drawing/2014/main" id="{9F7AD56D-761A-E266-4568-163B2675B5EF}"/>
              </a:ext>
            </a:extLst>
          </p:cNvPr>
          <p:cNvSpPr txBox="1"/>
          <p:nvPr/>
        </p:nvSpPr>
        <p:spPr>
          <a:xfrm>
            <a:off x="6795786" y="-153130"/>
            <a:ext cx="4750090" cy="584775"/>
          </a:xfrm>
          <a:prstGeom prst="rect">
            <a:avLst/>
          </a:prstGeom>
          <a:noFill/>
        </p:spPr>
        <p:txBody>
          <a:bodyPr wrap="square">
            <a:spAutoFit/>
          </a:bodyPr>
          <a:lstStyle/>
          <a:p>
            <a:r>
              <a:rPr lang="en-US" sz="3200" b="1" dirty="0">
                <a:solidFill>
                  <a:srgbClr val="FF0000"/>
                </a:solidFill>
              </a:rPr>
              <a:t>Set Associative Mapping</a:t>
            </a:r>
            <a:endParaRPr lang="en-IN" sz="3200" dirty="0"/>
          </a:p>
        </p:txBody>
      </p:sp>
      <p:sp>
        <p:nvSpPr>
          <p:cNvPr id="15" name="TextBox 14">
            <a:extLst>
              <a:ext uri="{FF2B5EF4-FFF2-40B4-BE49-F238E27FC236}">
                <a16:creationId xmlns:a16="http://schemas.microsoft.com/office/drawing/2014/main" id="{66BA8319-E308-9A91-AD10-FE856DB5E332}"/>
              </a:ext>
            </a:extLst>
          </p:cNvPr>
          <p:cNvSpPr txBox="1"/>
          <p:nvPr/>
        </p:nvSpPr>
        <p:spPr>
          <a:xfrm>
            <a:off x="4293" y="0"/>
            <a:ext cx="7885123" cy="7017306"/>
          </a:xfrm>
          <a:prstGeom prst="rect">
            <a:avLst/>
          </a:prstGeom>
          <a:noFill/>
        </p:spPr>
        <p:txBody>
          <a:bodyPr wrap="square">
            <a:spAutoFit/>
          </a:bodyPr>
          <a:lstStyle/>
          <a:p>
            <a:r>
              <a:rPr lang="en-US" dirty="0"/>
              <a:t>Another approach is to use a combination of the direct- and associative-mapping techniques. The blocks of the cache are grouped into sets, and the mapping allows a block of the main memory to reside in any block of a specific set. Hence, the contention problem of the direct method is eased by having a few choices for block placement. At the same time, the hardware cost is reduced by decreasing the size of the associative search. </a:t>
            </a:r>
          </a:p>
          <a:p>
            <a:r>
              <a:rPr lang="en-US" dirty="0"/>
              <a:t>Processor generates memory address of 16 bits, which has 3 fields (in set  associative mapping technique),</a:t>
            </a:r>
          </a:p>
          <a:p>
            <a:pPr marL="342900" indent="-342900">
              <a:buAutoNum type="arabicPeriod"/>
            </a:pPr>
            <a:r>
              <a:rPr lang="en-US" dirty="0"/>
              <a:t>4bits, used to select a </a:t>
            </a:r>
            <a:r>
              <a:rPr lang="en-US" b="1" dirty="0">
                <a:solidFill>
                  <a:srgbClr val="FF0000"/>
                </a:solidFill>
              </a:rPr>
              <a:t>WORD</a:t>
            </a:r>
            <a:r>
              <a:rPr lang="en-US" dirty="0"/>
              <a:t> in the cache block (2power4= 16words)</a:t>
            </a:r>
          </a:p>
          <a:p>
            <a:pPr marL="342900" indent="-342900">
              <a:buAutoNum type="arabicPeriod"/>
            </a:pPr>
            <a:r>
              <a:rPr lang="en-US" dirty="0"/>
              <a:t>6bits, used to select a </a:t>
            </a:r>
            <a:r>
              <a:rPr lang="en-US" b="1" dirty="0">
                <a:solidFill>
                  <a:srgbClr val="FF0000"/>
                </a:solidFill>
              </a:rPr>
              <a:t>SET</a:t>
            </a:r>
            <a:r>
              <a:rPr lang="en-US" dirty="0"/>
              <a:t> in cache memory (2power6 = 64 sets)</a:t>
            </a:r>
          </a:p>
          <a:p>
            <a:pPr marL="342900" indent="-342900">
              <a:buAutoNum type="arabicPeriod"/>
            </a:pPr>
            <a:r>
              <a:rPr lang="en-US" dirty="0"/>
              <a:t>6bits, </a:t>
            </a:r>
            <a:r>
              <a:rPr lang="en-US" b="1" dirty="0">
                <a:solidFill>
                  <a:srgbClr val="FF0000"/>
                </a:solidFill>
              </a:rPr>
              <a:t>TAG field </a:t>
            </a:r>
            <a:r>
              <a:rPr lang="en-US" dirty="0"/>
              <a:t>- used to identify the block in the selected set.</a:t>
            </a:r>
          </a:p>
          <a:p>
            <a:r>
              <a:rPr lang="en-US" dirty="0"/>
              <a:t>An example of this set-associative-mapping technique is shown in Figure  for a cache with two blocks per set. In this case, memory blocks 0, 64, 128,..., 4032 map into cache set 0, and they can occupy either of the two block positions within this set. Having 64 sets means that the 6-bit set field of the address determines which set of the cache might contain the desired block. The tag field of the address must then be associatively compared to the tags of the two blocks of the set to check if the desired block is present. The number of blocks per set is a parameter that can be selected to suit the requirements of a particular computer. For the main memory and cache sizes in Figure, four blocks per set can be accommodated by a 5-bit set field, eight blocks per set by a 4-bit set field, and so on. The extreme condition of 128 blocks per set requires no set bits and corresponds to the fully-associative technique, with 12 tag bits. The other extreme of one block per set is the direct-mapping method. A cache that has k blocks per set is referred to as a k-way set-associative cache.</a:t>
            </a:r>
            <a:endParaRPr lang="en-IN" dirty="0"/>
          </a:p>
        </p:txBody>
      </p:sp>
    </p:spTree>
    <p:extLst>
      <p:ext uri="{BB962C8B-B14F-4D97-AF65-F5344CB8AC3E}">
        <p14:creationId xmlns:p14="http://schemas.microsoft.com/office/powerpoint/2010/main" val="2299365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sp>
        <p:nvSpPr>
          <p:cNvPr id="1564" name="Google Shape;1564;p60"/>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35</a:t>
            </a:fld>
            <a:endParaRPr/>
          </a:p>
        </p:txBody>
      </p:sp>
      <p:sp>
        <p:nvSpPr>
          <p:cNvPr id="1565" name="Google Shape;1565;p60"/>
          <p:cNvSpPr txBox="1"/>
          <p:nvPr/>
        </p:nvSpPr>
        <p:spPr>
          <a:xfrm>
            <a:off x="838200" y="1372358"/>
            <a:ext cx="11011436" cy="3808735"/>
          </a:xfrm>
          <a:prstGeom prst="rect">
            <a:avLst/>
          </a:prstGeom>
          <a:noFill/>
          <a:ln>
            <a:noFill/>
          </a:ln>
        </p:spPr>
        <p:txBody>
          <a:bodyPr spcFirstLastPara="1" wrap="square" lIns="0" tIns="12700" rIns="0" bIns="0" anchor="t" anchorCtr="0">
            <a:spAutoFit/>
          </a:bodyPr>
          <a:lstStyle/>
          <a:p>
            <a:pPr marL="332740" marR="770890" indent="-320675">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Existence of a cache is transparent to the processor. The  processor issues Read and Write requests in the same manner. If the data is in the cache it is called a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Read or Write hit</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indent="-320675">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Read hit: The data is obtained from the cache.</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indent="-320675">
              <a:spcBef>
                <a:spcPts val="5"/>
              </a:spcBef>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Write hit: Cache has a replica of the contents of the main memory.</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232409" lvl="1" indent="-274320">
              <a:spcBef>
                <a:spcPts val="430"/>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Contents of the cache and the main memory may be updated  simultaneously.	This is the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write-through</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 protocol.</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5080" lvl="1" indent="-274320">
              <a:spcBef>
                <a:spcPts val="434"/>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Update the contents of the cache, and mark it as updated by  setting a bit known	as the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dirty bit or modified</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 bit. The  contents of the main memory are updated	when this block  is replaced. This is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write-back or copy-back</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 protocol.</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p:txBody>
      </p:sp>
      <p:sp>
        <p:nvSpPr>
          <p:cNvPr id="3" name="Title 2">
            <a:extLst>
              <a:ext uri="{FF2B5EF4-FFF2-40B4-BE49-F238E27FC236}">
                <a16:creationId xmlns:a16="http://schemas.microsoft.com/office/drawing/2014/main" id="{25B76C0F-0C33-296F-37F9-8E254481CD04}"/>
              </a:ext>
            </a:extLst>
          </p:cNvPr>
          <p:cNvSpPr>
            <a:spLocks noGrp="1"/>
          </p:cNvSpPr>
          <p:nvPr>
            <p:ph type="title"/>
          </p:nvPr>
        </p:nvSpPr>
        <p:spPr>
          <a:xfrm>
            <a:off x="838200" y="179469"/>
            <a:ext cx="10515600" cy="1325563"/>
          </a:xfrm>
        </p:spPr>
        <p:txBody>
          <a:bodyPr/>
          <a:lstStyle/>
          <a:p>
            <a:r>
              <a:rPr lang="en-IN" dirty="0">
                <a:solidFill>
                  <a:srgbClr val="FF0000"/>
                </a:solidFill>
                <a:latin typeface="Calibri" panose="020F0502020204030204" pitchFamily="34" charset="0"/>
                <a:cs typeface="Calibri" panose="020F0502020204030204" pitchFamily="34" charset="0"/>
              </a:rPr>
              <a:t>Cache Hit</a:t>
            </a:r>
          </a:p>
        </p:txBody>
      </p:sp>
    </p:spTree>
    <p:extLst>
      <p:ext uri="{BB962C8B-B14F-4D97-AF65-F5344CB8AC3E}">
        <p14:creationId xmlns:p14="http://schemas.microsoft.com/office/powerpoint/2010/main" val="2645681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61"/>
          <p:cNvSpPr txBox="1">
            <a:spLocks noGrp="1"/>
          </p:cNvSpPr>
          <p:nvPr>
            <p:ph type="title"/>
          </p:nvPr>
        </p:nvSpPr>
        <p:spPr>
          <a:xfrm>
            <a:off x="715009" y="279654"/>
            <a:ext cx="3316077" cy="456022"/>
          </a:xfrm>
          <a:prstGeom prst="rect">
            <a:avLst/>
          </a:prstGeom>
          <a:noFill/>
          <a:ln>
            <a:noFill/>
          </a:ln>
        </p:spPr>
        <p:txBody>
          <a:bodyPr spcFirstLastPara="1" wrap="square" lIns="0" tIns="12700" rIns="0" bIns="0" anchor="t" anchorCtr="0">
            <a:spAutoFit/>
          </a:bodyPr>
          <a:lstStyle/>
          <a:p>
            <a:pPr marL="12700"/>
            <a:r>
              <a:rPr lang="en-US" sz="3200" dirty="0">
                <a:solidFill>
                  <a:srgbClr val="FF0000"/>
                </a:solidFill>
                <a:latin typeface="+mn-lt"/>
              </a:rPr>
              <a:t>Cache  miss</a:t>
            </a:r>
            <a:endParaRPr sz="3200" dirty="0">
              <a:solidFill>
                <a:srgbClr val="FF0000"/>
              </a:solidFill>
              <a:latin typeface="+mn-lt"/>
            </a:endParaRPr>
          </a:p>
        </p:txBody>
      </p:sp>
      <p:sp>
        <p:nvSpPr>
          <p:cNvPr id="1572" name="Google Shape;1572;p61"/>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36</a:t>
            </a:fld>
            <a:endParaRPr/>
          </a:p>
        </p:txBody>
      </p:sp>
      <p:sp>
        <p:nvSpPr>
          <p:cNvPr id="1573" name="Google Shape;1573;p61"/>
          <p:cNvSpPr txBox="1"/>
          <p:nvPr/>
        </p:nvSpPr>
        <p:spPr>
          <a:xfrm>
            <a:off x="715009" y="950059"/>
            <a:ext cx="11133554" cy="5167056"/>
          </a:xfrm>
          <a:prstGeom prst="rect">
            <a:avLst/>
          </a:prstGeom>
          <a:noFill/>
          <a:ln>
            <a:noFill/>
          </a:ln>
        </p:spPr>
        <p:txBody>
          <a:bodyPr spcFirstLastPara="1" wrap="square" lIns="0" tIns="12700" rIns="0" bIns="0" anchor="t" anchorCtr="0">
            <a:spAutoFit/>
          </a:bodyPr>
          <a:lstStyle/>
          <a:p>
            <a:pPr marL="332740" marR="107314" indent="-320040">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If the data is not present in the cache, then a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Read miss or Write miss </a:t>
            </a:r>
            <a:r>
              <a:rPr lang="en-US" sz="2400" dirty="0">
                <a:solidFill>
                  <a:srgbClr val="252525"/>
                </a:solidFill>
                <a:latin typeface="Calibri" panose="020F0502020204030204" pitchFamily="34" charset="0"/>
                <a:ea typeface="Comic Sans MS"/>
                <a:cs typeface="Calibri" panose="020F0502020204030204" pitchFamily="34" charset="0"/>
                <a:sym typeface="Comic Sans MS"/>
              </a:rPr>
              <a:t> occurs.</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12700">
              <a:buClr>
                <a:srgbClr val="252525"/>
              </a:buClr>
              <a:buSzPts val="1800"/>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     Read miss:</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lvl="1" indent="-275590">
              <a:spcBef>
                <a:spcPts val="430"/>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Block of words containing this requested word is transferred from</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a:r>
              <a:rPr lang="en-US" sz="2400" dirty="0">
                <a:solidFill>
                  <a:srgbClr val="252525"/>
                </a:solidFill>
                <a:latin typeface="Calibri" panose="020F0502020204030204" pitchFamily="34" charset="0"/>
                <a:ea typeface="Comic Sans MS"/>
                <a:cs typeface="Calibri" panose="020F0502020204030204" pitchFamily="34" charset="0"/>
                <a:sym typeface="Comic Sans MS"/>
              </a:rPr>
              <a:t>the memory.</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5080" lvl="1" indent="-274955">
              <a:spcBef>
                <a:spcPts val="434"/>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After the block is transferred, the desired word is forwarded to the  processor.</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73025" lvl="1" indent="-274955">
              <a:spcBef>
                <a:spcPts val="430"/>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The desired word may also be forwarded to the processor as soon as  it is	transferred without waiting for the entire block to be  transferred. This is called	</a:t>
            </a:r>
            <a:r>
              <a:rPr lang="en-US" sz="2400" u="sng" dirty="0">
                <a:solidFill>
                  <a:srgbClr val="252525"/>
                </a:solidFill>
                <a:latin typeface="Calibri" panose="020F0502020204030204" pitchFamily="34" charset="0"/>
                <a:ea typeface="Comic Sans MS"/>
                <a:cs typeface="Calibri" panose="020F0502020204030204" pitchFamily="34" charset="0"/>
                <a:sym typeface="Comic Sans MS"/>
              </a:rPr>
              <a:t>load-through or early-restart.</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332740" indent="-320040">
              <a:spcBef>
                <a:spcPts val="5"/>
              </a:spcBef>
              <a:buClr>
                <a:srgbClr val="252525"/>
              </a:buClr>
              <a:buSzPts val="1800"/>
              <a:buFont typeface="Comic Sans M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Write-miss:</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681355" lvl="1" indent="-274955">
              <a:spcBef>
                <a:spcPts val="430"/>
              </a:spcBef>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Write-through protocol is used, then the contents of the main  memory are	updated directly.</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a:p>
            <a:pPr marL="625475" marR="394335" lvl="1" indent="-274955">
              <a:lnSpc>
                <a:spcPct val="120000"/>
              </a:lnSpc>
              <a:buClr>
                <a:srgbClr val="252525"/>
              </a:buClr>
              <a:buSzPts val="1450"/>
              <a:buFont typeface="Noto Sans Symbols"/>
              <a:buChar char="▪"/>
            </a:pPr>
            <a:r>
              <a:rPr lang="en-US" sz="2400" dirty="0">
                <a:solidFill>
                  <a:srgbClr val="252525"/>
                </a:solidFill>
                <a:latin typeface="Calibri" panose="020F0502020204030204" pitchFamily="34" charset="0"/>
                <a:ea typeface="Comic Sans MS"/>
                <a:cs typeface="Calibri" panose="020F0502020204030204" pitchFamily="34" charset="0"/>
                <a:sym typeface="Comic Sans MS"/>
              </a:rPr>
              <a:t>If write-back protocol is used, the block containing the  addressed word is first brought into the cache. The desired word  is overwritten with new information.</a:t>
            </a:r>
            <a:endParaRPr sz="2400" dirty="0">
              <a:solidFill>
                <a:schemeClr val="dk1"/>
              </a:solidFill>
              <a:latin typeface="Calibri" panose="020F0502020204030204" pitchFamily="34" charset="0"/>
              <a:ea typeface="Comic Sans MS"/>
              <a:cs typeface="Calibri" panose="020F0502020204030204" pitchFamily="34" charset="0"/>
              <a:sym typeface="Comic Sans MS"/>
            </a:endParaRPr>
          </a:p>
        </p:txBody>
      </p:sp>
    </p:spTree>
    <p:extLst>
      <p:ext uri="{BB962C8B-B14F-4D97-AF65-F5344CB8AC3E}">
        <p14:creationId xmlns:p14="http://schemas.microsoft.com/office/powerpoint/2010/main" val="2965884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77"/>
        <p:cNvGrpSpPr/>
        <p:nvPr/>
      </p:nvGrpSpPr>
      <p:grpSpPr>
        <a:xfrm>
          <a:off x="0" y="0"/>
          <a:ext cx="0" cy="0"/>
          <a:chOff x="0" y="0"/>
          <a:chExt cx="0" cy="0"/>
        </a:xfrm>
      </p:grpSpPr>
      <p:sp>
        <p:nvSpPr>
          <p:cNvPr id="1578" name="Google Shape;1578;p62"/>
          <p:cNvSpPr txBox="1">
            <a:spLocks noGrp="1"/>
          </p:cNvSpPr>
          <p:nvPr>
            <p:ph type="title"/>
          </p:nvPr>
        </p:nvSpPr>
        <p:spPr>
          <a:xfrm>
            <a:off x="299669" y="83756"/>
            <a:ext cx="7260230" cy="456022"/>
          </a:xfrm>
          <a:prstGeom prst="rect">
            <a:avLst/>
          </a:prstGeom>
          <a:noFill/>
          <a:ln>
            <a:noFill/>
          </a:ln>
        </p:spPr>
        <p:txBody>
          <a:bodyPr spcFirstLastPara="1" wrap="square" lIns="0" tIns="12700" rIns="0" bIns="0" anchor="t" anchorCtr="0">
            <a:spAutoFit/>
          </a:bodyPr>
          <a:lstStyle/>
          <a:p>
            <a:pPr marL="12700"/>
            <a:r>
              <a:rPr lang="en-US" sz="3200" dirty="0">
                <a:solidFill>
                  <a:srgbClr val="FF0000"/>
                </a:solidFill>
                <a:latin typeface="Calibri" panose="020F0502020204030204" pitchFamily="34" charset="0"/>
                <a:cs typeface="Calibri" panose="020F0502020204030204" pitchFamily="34" charset="0"/>
              </a:rPr>
              <a:t>Cache Coherence Problem</a:t>
            </a:r>
            <a:endParaRPr sz="3200" dirty="0">
              <a:solidFill>
                <a:srgbClr val="FF0000"/>
              </a:solidFill>
              <a:latin typeface="Calibri" panose="020F0502020204030204" pitchFamily="34" charset="0"/>
              <a:cs typeface="Calibri" panose="020F0502020204030204" pitchFamily="34" charset="0"/>
            </a:endParaRPr>
          </a:p>
        </p:txBody>
      </p:sp>
      <p:sp>
        <p:nvSpPr>
          <p:cNvPr id="1579" name="Google Shape;1579;p62"/>
          <p:cNvSpPr txBox="1"/>
          <p:nvPr/>
        </p:nvSpPr>
        <p:spPr>
          <a:xfrm>
            <a:off x="2288540" y="6331499"/>
            <a:ext cx="2694940" cy="246847"/>
          </a:xfrm>
          <a:prstGeom prst="rect">
            <a:avLst/>
          </a:prstGeom>
          <a:noFill/>
          <a:ln>
            <a:noFill/>
          </a:ln>
        </p:spPr>
        <p:txBody>
          <a:bodyPr spcFirstLastPara="1" wrap="square" lIns="0" tIns="31100" rIns="0" bIns="0" anchor="t" anchorCtr="0">
            <a:spAutoFit/>
          </a:bodyPr>
          <a:lstStyle/>
          <a:p>
            <a:pPr marL="12700"/>
            <a:r>
              <a:rPr lang="en-US" sz="1400">
                <a:solidFill>
                  <a:srgbClr val="FF0000"/>
                </a:solidFill>
                <a:latin typeface="Comic Sans MS"/>
                <a:ea typeface="Comic Sans MS"/>
                <a:cs typeface="Comic Sans MS"/>
                <a:sym typeface="Comic Sans MS"/>
              </a:rPr>
              <a:t>CO-UNIT-V-MEMORY SYSTEM</a:t>
            </a:r>
            <a:endParaRPr sz="1400">
              <a:solidFill>
                <a:schemeClr val="dk1"/>
              </a:solidFill>
              <a:latin typeface="Comic Sans MS"/>
              <a:ea typeface="Comic Sans MS"/>
              <a:cs typeface="Comic Sans MS"/>
              <a:sym typeface="Comic Sans MS"/>
            </a:endParaRPr>
          </a:p>
        </p:txBody>
      </p:sp>
      <p:sp>
        <p:nvSpPr>
          <p:cNvPr id="1580" name="Google Shape;1580;p62"/>
          <p:cNvSpPr txBox="1">
            <a:spLocks noGrp="1"/>
          </p:cNvSpPr>
          <p:nvPr>
            <p:ph type="sldNum" idx="12"/>
          </p:nvPr>
        </p:nvSpPr>
        <p:spPr>
          <a:xfrm>
            <a:off x="9557258" y="6407734"/>
            <a:ext cx="373379" cy="254237"/>
          </a:xfrm>
          <a:prstGeom prst="rect">
            <a:avLst/>
          </a:prstGeom>
          <a:noFill/>
          <a:ln>
            <a:noFill/>
          </a:ln>
        </p:spPr>
        <p:txBody>
          <a:bodyPr spcFirstLastPara="1" wrap="square" lIns="0" tIns="0" rIns="0" bIns="0" anchor="t" anchorCtr="0">
            <a:spAutoFit/>
          </a:bodyPr>
          <a:lstStyle/>
          <a:p>
            <a:fld id="{00000000-1234-1234-1234-123412341234}" type="slidenum">
              <a:rPr lang="en-US"/>
              <a:pPr/>
              <a:t>37</a:t>
            </a:fld>
            <a:endParaRPr/>
          </a:p>
        </p:txBody>
      </p:sp>
      <p:sp>
        <p:nvSpPr>
          <p:cNvPr id="1581" name="Google Shape;1581;p62"/>
          <p:cNvSpPr txBox="1"/>
          <p:nvPr/>
        </p:nvSpPr>
        <p:spPr>
          <a:xfrm>
            <a:off x="384220" y="1165063"/>
            <a:ext cx="11423560" cy="4075475"/>
          </a:xfrm>
          <a:prstGeom prst="rect">
            <a:avLst/>
          </a:prstGeom>
          <a:noFill/>
          <a:ln>
            <a:noFill/>
          </a:ln>
        </p:spPr>
        <p:txBody>
          <a:bodyPr spcFirstLastPara="1" wrap="square" lIns="0" tIns="12700" rIns="0" bIns="0" anchor="t" anchorCtr="0">
            <a:spAutoFit/>
          </a:bodyPr>
          <a:lstStyle/>
          <a:p>
            <a:pPr marL="332740" indent="-320675">
              <a:buClr>
                <a:srgbClr val="252525"/>
              </a:buClr>
              <a:buSzPts val="1800"/>
              <a:buFont typeface="Noto Sans Symbols"/>
              <a:buChar char="⮚"/>
            </a:pPr>
            <a:r>
              <a:rPr lang="en-US" sz="2400" dirty="0">
                <a:solidFill>
                  <a:srgbClr val="252525"/>
                </a:solidFill>
                <a:ea typeface="Comic Sans MS"/>
                <a:cs typeface="Comic Sans MS"/>
                <a:sym typeface="Comic Sans MS"/>
              </a:rPr>
              <a:t>A bit called as “valid bit” is provided for each block. If the block contains valid data, then the bit is set to 1, else it is 0. Valid bits are set to 0, when the power is just turned on.</a:t>
            </a:r>
            <a:endParaRPr sz="2400" dirty="0">
              <a:solidFill>
                <a:schemeClr val="dk1"/>
              </a:solidFill>
              <a:ea typeface="Comic Sans MS"/>
              <a:cs typeface="Comic Sans MS"/>
              <a:sym typeface="Comic Sans MS"/>
            </a:endParaRPr>
          </a:p>
          <a:p>
            <a:pPr marL="12065" marR="186055">
              <a:buClr>
                <a:srgbClr val="252525"/>
              </a:buClr>
              <a:buSzPts val="1800"/>
            </a:pPr>
            <a:r>
              <a:rPr lang="en-US" sz="2400" dirty="0">
                <a:solidFill>
                  <a:srgbClr val="252525"/>
                </a:solidFill>
                <a:ea typeface="Comic Sans MS"/>
                <a:cs typeface="Comic Sans MS"/>
                <a:sym typeface="Comic Sans MS"/>
              </a:rPr>
              <a:t>     When a block is loaded into the cache for the first time, the valid bit  is set to 1.</a:t>
            </a:r>
            <a:endParaRPr sz="2400" dirty="0">
              <a:solidFill>
                <a:schemeClr val="dk1"/>
              </a:solidFill>
              <a:ea typeface="Comic Sans MS"/>
              <a:cs typeface="Comic Sans MS"/>
              <a:sym typeface="Comic Sans MS"/>
            </a:endParaRPr>
          </a:p>
          <a:p>
            <a:pPr marL="332740" marR="5080" indent="-320675">
              <a:buClr>
                <a:srgbClr val="252525"/>
              </a:buClr>
              <a:buSzPts val="1800"/>
              <a:buFont typeface="Noto Sans Symbols"/>
              <a:buChar char="⮚"/>
            </a:pPr>
            <a:r>
              <a:rPr lang="en-US" sz="2400" dirty="0">
                <a:solidFill>
                  <a:srgbClr val="252525"/>
                </a:solidFill>
                <a:ea typeface="Comic Sans MS"/>
                <a:cs typeface="Comic Sans MS"/>
                <a:sym typeface="Comic Sans MS"/>
              </a:rPr>
              <a:t>Data transfers between main memory and disk occur directly bypassing  the cache. When the data on a disk changes, the main memory block is also  updated. However, if the data is also resident in the cache, then the valid bit is set to 0.</a:t>
            </a:r>
            <a:endParaRPr sz="2400" dirty="0">
              <a:solidFill>
                <a:schemeClr val="dk1"/>
              </a:solidFill>
              <a:ea typeface="Comic Sans MS"/>
              <a:cs typeface="Comic Sans MS"/>
              <a:sym typeface="Comic Sans MS"/>
            </a:endParaRPr>
          </a:p>
          <a:p>
            <a:pPr marL="332740" marR="11430" indent="-320675">
              <a:buClr>
                <a:srgbClr val="252525"/>
              </a:buClr>
              <a:buSzPts val="1800"/>
              <a:buFont typeface="Noto Sans Symbols"/>
              <a:buChar char="⮚"/>
            </a:pPr>
            <a:r>
              <a:rPr lang="en-US" sz="2400" dirty="0">
                <a:solidFill>
                  <a:srgbClr val="252525"/>
                </a:solidFill>
                <a:ea typeface="Comic Sans MS"/>
                <a:cs typeface="Comic Sans MS"/>
                <a:sym typeface="Comic Sans MS"/>
              </a:rPr>
              <a:t>What happens if the data in the disk and main memory changes and the  write-back protocol is being used? In this case, the data in the cache may also have changed and is  indicated by the dirty bit. The copies of the data in the cache, and the main memory are</a:t>
            </a:r>
            <a:endParaRPr sz="2400" dirty="0">
              <a:solidFill>
                <a:schemeClr val="dk1"/>
              </a:solidFill>
              <a:ea typeface="Comic Sans MS"/>
              <a:cs typeface="Comic Sans MS"/>
              <a:sym typeface="Comic Sans MS"/>
            </a:endParaRPr>
          </a:p>
          <a:p>
            <a:pPr marL="332740"/>
            <a:r>
              <a:rPr lang="en-US" sz="2400" dirty="0">
                <a:solidFill>
                  <a:srgbClr val="252525"/>
                </a:solidFill>
                <a:ea typeface="Comic Sans MS"/>
                <a:cs typeface="Comic Sans MS"/>
                <a:sym typeface="Comic Sans MS"/>
              </a:rPr>
              <a:t>different. This is called the </a:t>
            </a:r>
            <a:r>
              <a:rPr lang="en-US" sz="2400" u="sng" dirty="0">
                <a:solidFill>
                  <a:srgbClr val="252525"/>
                </a:solidFill>
                <a:ea typeface="Comic Sans MS"/>
                <a:cs typeface="Comic Sans MS"/>
                <a:sym typeface="Comic Sans MS"/>
              </a:rPr>
              <a:t>cache coherence problem</a:t>
            </a:r>
            <a:r>
              <a:rPr lang="en-US" sz="2400" dirty="0">
                <a:solidFill>
                  <a:srgbClr val="252525"/>
                </a:solidFill>
                <a:ea typeface="Comic Sans MS"/>
                <a:cs typeface="Comic Sans MS"/>
                <a:sym typeface="Comic Sans MS"/>
              </a:rPr>
              <a:t>.</a:t>
            </a:r>
            <a:endParaRPr sz="2400" dirty="0">
              <a:solidFill>
                <a:schemeClr val="dk1"/>
              </a:solidFill>
              <a:ea typeface="Comic Sans MS"/>
              <a:cs typeface="Comic Sans MS"/>
              <a:sym typeface="Comic Sans MS"/>
            </a:endParaRPr>
          </a:p>
          <a:p>
            <a:pPr marL="332740" marR="6350" indent="-320675">
              <a:buClr>
                <a:srgbClr val="252525"/>
              </a:buClr>
              <a:buSzPts val="1800"/>
              <a:buFont typeface="Noto Sans Symbols"/>
              <a:buChar char="⮚"/>
            </a:pPr>
            <a:r>
              <a:rPr lang="en-US" sz="2400" dirty="0">
                <a:solidFill>
                  <a:srgbClr val="252525"/>
                </a:solidFill>
                <a:ea typeface="Comic Sans MS"/>
                <a:cs typeface="Comic Sans MS"/>
                <a:sym typeface="Comic Sans MS"/>
              </a:rPr>
              <a:t>One option is to force a write-back before the main memory is updated  from the disk.</a:t>
            </a:r>
            <a:endParaRPr sz="2400" dirty="0">
              <a:solidFill>
                <a:schemeClr val="dk1"/>
              </a:solidFill>
              <a:ea typeface="Comic Sans MS"/>
              <a:cs typeface="Comic Sans MS"/>
              <a:sym typeface="Comic Sans MS"/>
            </a:endParaRPr>
          </a:p>
        </p:txBody>
      </p:sp>
    </p:spTree>
    <p:extLst>
      <p:ext uri="{BB962C8B-B14F-4D97-AF65-F5344CB8AC3E}">
        <p14:creationId xmlns:p14="http://schemas.microsoft.com/office/powerpoint/2010/main" val="3501665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38</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TextBox 14">
            <a:extLst>
              <a:ext uri="{FF2B5EF4-FFF2-40B4-BE49-F238E27FC236}">
                <a16:creationId xmlns:a16="http://schemas.microsoft.com/office/drawing/2014/main" id="{66BA8319-E308-9A91-AD10-FE856DB5E332}"/>
              </a:ext>
            </a:extLst>
          </p:cNvPr>
          <p:cNvSpPr txBox="1"/>
          <p:nvPr/>
        </p:nvSpPr>
        <p:spPr>
          <a:xfrm>
            <a:off x="0" y="0"/>
            <a:ext cx="12192000" cy="5170646"/>
          </a:xfrm>
          <a:prstGeom prst="rect">
            <a:avLst/>
          </a:prstGeom>
          <a:noFill/>
        </p:spPr>
        <p:txBody>
          <a:bodyPr wrap="square">
            <a:spAutoFit/>
          </a:bodyPr>
          <a:lstStyle/>
          <a:p>
            <a:r>
              <a:rPr lang="en-IN" sz="2400" dirty="0">
                <a:solidFill>
                  <a:srgbClr val="FF0000"/>
                </a:solidFill>
              </a:rPr>
              <a:t>Assume a computer has 32 bit addresses. Each block stores 16 words. A direct mapped cache has 256 blocks. In which block (line) of the cache would we look for each of the following addresses. Addresses are given in hexadecimal.</a:t>
            </a:r>
          </a:p>
          <a:p>
            <a:pPr marL="342900" indent="-342900">
              <a:buAutoNum type="arabicPeriod"/>
            </a:pPr>
            <a:r>
              <a:rPr lang="en-IN" sz="2400" dirty="0">
                <a:solidFill>
                  <a:srgbClr val="FF0000"/>
                </a:solidFill>
              </a:rPr>
              <a:t>1C2B C052</a:t>
            </a:r>
          </a:p>
          <a:p>
            <a:pPr marL="342900" indent="-342900">
              <a:buAutoNum type="arabicPeriod"/>
            </a:pPr>
            <a:r>
              <a:rPr lang="en-IN" sz="2400" dirty="0">
                <a:solidFill>
                  <a:srgbClr val="FF0000"/>
                </a:solidFill>
              </a:rPr>
              <a:t>AFFB 00EF</a:t>
            </a:r>
          </a:p>
          <a:p>
            <a:endParaRPr lang="en-IN" sz="2400" dirty="0">
              <a:solidFill>
                <a:srgbClr val="FF0000"/>
              </a:solidFill>
            </a:endParaRPr>
          </a:p>
          <a:p>
            <a:r>
              <a:rPr lang="en-IN" sz="2400" dirty="0"/>
              <a:t>ANSWER: first four bits (first digit/nibble) used to identify a word, 2</a:t>
            </a:r>
            <a:r>
              <a:rPr lang="en-IN" sz="2400" baseline="30000" dirty="0"/>
              <a:t>nd</a:t>
            </a:r>
            <a:r>
              <a:rPr lang="en-IN" sz="2400" dirty="0"/>
              <a:t> and 3</a:t>
            </a:r>
            <a:r>
              <a:rPr lang="en-IN" sz="2400" baseline="30000" dirty="0"/>
              <a:t>rd</a:t>
            </a:r>
            <a:r>
              <a:rPr lang="en-IN" sz="2400" dirty="0"/>
              <a:t> digits/nibbles (=8bits) are used to identify a cache block (because, 2power8=256 blocks)</a:t>
            </a:r>
          </a:p>
          <a:p>
            <a:r>
              <a:rPr lang="en-IN" sz="2400" dirty="0"/>
              <a:t>1. 1C2B C </a:t>
            </a:r>
            <a:r>
              <a:rPr lang="en-IN" sz="2400" dirty="0">
                <a:solidFill>
                  <a:srgbClr val="FF0000"/>
                </a:solidFill>
              </a:rPr>
              <a:t>05</a:t>
            </a:r>
            <a:r>
              <a:rPr lang="en-IN" sz="2400" dirty="0"/>
              <a:t> 2 ,  </a:t>
            </a:r>
            <a:r>
              <a:rPr lang="en-IN" sz="2400" dirty="0">
                <a:solidFill>
                  <a:srgbClr val="FF0000"/>
                </a:solidFill>
              </a:rPr>
              <a:t>5</a:t>
            </a:r>
            <a:r>
              <a:rPr lang="en-IN" sz="2400" baseline="30000" dirty="0">
                <a:solidFill>
                  <a:srgbClr val="FF0000"/>
                </a:solidFill>
              </a:rPr>
              <a:t>TH</a:t>
            </a:r>
            <a:r>
              <a:rPr lang="en-IN" sz="2400" dirty="0">
                <a:solidFill>
                  <a:srgbClr val="FF0000"/>
                </a:solidFill>
              </a:rPr>
              <a:t> CACHE BLOCK</a:t>
            </a:r>
          </a:p>
          <a:p>
            <a:r>
              <a:rPr lang="en-IN" sz="2400" dirty="0"/>
              <a:t>2. AFFB 0 </a:t>
            </a:r>
            <a:r>
              <a:rPr lang="en-IN" sz="2400" dirty="0">
                <a:solidFill>
                  <a:srgbClr val="FF0000"/>
                </a:solidFill>
              </a:rPr>
              <a:t>0E</a:t>
            </a:r>
            <a:r>
              <a:rPr lang="en-IN" sz="2400" dirty="0"/>
              <a:t> F, </a:t>
            </a:r>
            <a:r>
              <a:rPr lang="en-IN" sz="2400" dirty="0">
                <a:solidFill>
                  <a:srgbClr val="FF0000"/>
                </a:solidFill>
              </a:rPr>
              <a:t>15</a:t>
            </a:r>
            <a:r>
              <a:rPr lang="en-IN" sz="2400" baseline="30000" dirty="0">
                <a:solidFill>
                  <a:srgbClr val="FF0000"/>
                </a:solidFill>
              </a:rPr>
              <a:t>TH</a:t>
            </a:r>
            <a:r>
              <a:rPr lang="en-IN" sz="2400" dirty="0">
                <a:solidFill>
                  <a:srgbClr val="FF0000"/>
                </a:solidFill>
              </a:rPr>
              <a:t> CACHE BLOCK   </a:t>
            </a:r>
            <a:r>
              <a:rPr lang="en-IN" sz="2400" dirty="0"/>
              <a:t>(0E –&gt;14</a:t>
            </a:r>
            <a:r>
              <a:rPr lang="en-IN" sz="2400" baseline="30000" dirty="0"/>
              <a:t>th</a:t>
            </a:r>
            <a:r>
              <a:rPr lang="en-IN" sz="2400" dirty="0"/>
              <a:t> block, among 0-255 blocks)</a:t>
            </a:r>
          </a:p>
          <a:p>
            <a:endParaRPr lang="en-IN" sz="2400" dirty="0"/>
          </a:p>
          <a:p>
            <a:endParaRPr lang="en-IN" sz="2400" dirty="0"/>
          </a:p>
          <a:p>
            <a:endParaRPr lang="en-IN" sz="2400" dirty="0"/>
          </a:p>
          <a:p>
            <a:endParaRPr lang="en-IN" dirty="0"/>
          </a:p>
        </p:txBody>
      </p:sp>
    </p:spTree>
    <p:extLst>
      <p:ext uri="{BB962C8B-B14F-4D97-AF65-F5344CB8AC3E}">
        <p14:creationId xmlns:p14="http://schemas.microsoft.com/office/powerpoint/2010/main" val="2722744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TextBox 14">
            <a:extLst>
              <a:ext uri="{FF2B5EF4-FFF2-40B4-BE49-F238E27FC236}">
                <a16:creationId xmlns:a16="http://schemas.microsoft.com/office/drawing/2014/main" id="{66BA8319-E308-9A91-AD10-FE856DB5E332}"/>
              </a:ext>
            </a:extLst>
          </p:cNvPr>
          <p:cNvSpPr txBox="1"/>
          <p:nvPr/>
        </p:nvSpPr>
        <p:spPr>
          <a:xfrm>
            <a:off x="0" y="0"/>
            <a:ext cx="12192000" cy="6924973"/>
          </a:xfrm>
          <a:prstGeom prst="rect">
            <a:avLst/>
          </a:prstGeom>
          <a:noFill/>
        </p:spPr>
        <p:txBody>
          <a:bodyPr wrap="square">
            <a:spAutoFit/>
          </a:bodyPr>
          <a:lstStyle/>
          <a:p>
            <a:r>
              <a:rPr lang="en-IN" sz="2000" dirty="0">
                <a:solidFill>
                  <a:srgbClr val="FF0000"/>
                </a:solidFill>
              </a:rPr>
              <a:t>A computer  has an 8 </a:t>
            </a:r>
            <a:r>
              <a:rPr lang="en-IN" sz="2000" dirty="0" err="1">
                <a:solidFill>
                  <a:srgbClr val="FF0000"/>
                </a:solidFill>
              </a:rPr>
              <a:t>Gbyte</a:t>
            </a:r>
            <a:r>
              <a:rPr lang="en-IN" sz="2000" dirty="0">
                <a:solidFill>
                  <a:srgbClr val="FF0000"/>
                </a:solidFill>
              </a:rPr>
              <a:t> memory with 64 bit word sizes. Each block of memory stores 16 words. The computer has a direct mapped cache of 128 blocks. The computer uses word level addressing. What is the address format. If we change the cache to 4 way set associative cache, what is the new address format.</a:t>
            </a:r>
          </a:p>
          <a:p>
            <a:r>
              <a:rPr lang="en-IN" sz="2000" dirty="0">
                <a:solidFill>
                  <a:srgbClr val="FF0000"/>
                </a:solidFill>
              </a:rPr>
              <a:t>Direct Mapping</a:t>
            </a:r>
            <a:r>
              <a:rPr lang="en-IN" sz="2000" dirty="0"/>
              <a:t> </a:t>
            </a:r>
          </a:p>
          <a:p>
            <a:r>
              <a:rPr lang="en-IN" sz="2000" dirty="0" err="1"/>
              <a:t>No.Of.Words</a:t>
            </a:r>
            <a:r>
              <a:rPr lang="en-IN" sz="2000" dirty="0"/>
              <a:t> in a block = 16 = 2power4, hence 4 bits are required to select a word in a block</a:t>
            </a:r>
          </a:p>
          <a:p>
            <a:r>
              <a:rPr lang="en-IN" sz="2000" dirty="0"/>
              <a:t>Main mem in words = 8G bytes/</a:t>
            </a:r>
            <a:r>
              <a:rPr lang="en-IN" sz="2000" dirty="0" err="1"/>
              <a:t>no.of.bytesPerWord</a:t>
            </a:r>
            <a:r>
              <a:rPr lang="en-IN" sz="2000" dirty="0"/>
              <a:t> =   8 G bytes/8  (because 64bit word = 8 bytes) = 1G words</a:t>
            </a:r>
          </a:p>
          <a:p>
            <a:r>
              <a:rPr lang="en-IN" sz="2000" dirty="0"/>
              <a:t>                                                                                              Hence, 1G words =2power30, hence memory adds is 30 bits</a:t>
            </a:r>
          </a:p>
          <a:p>
            <a:r>
              <a:rPr lang="en-IN" sz="2000" dirty="0"/>
              <a:t>No. of blocks in main memory = 1 G words/ </a:t>
            </a:r>
            <a:r>
              <a:rPr lang="en-IN" sz="2000" dirty="0" err="1"/>
              <a:t>no.of.words.perblock</a:t>
            </a:r>
            <a:r>
              <a:rPr lang="en-IN" sz="2000" dirty="0"/>
              <a:t> =  1G/16 =  2power30 / 2power4 =  2power26</a:t>
            </a:r>
          </a:p>
          <a:p>
            <a:r>
              <a:rPr lang="en-IN" sz="2000" dirty="0"/>
              <a:t>No. of Cache blocks =  128 = 2power7, hence 7 bits required to identify cache block</a:t>
            </a:r>
          </a:p>
          <a:p>
            <a:r>
              <a:rPr lang="en-IN" sz="2000" dirty="0"/>
              <a:t>No. of bits for TAG field =  30bits – (7+4) = 19 bits</a:t>
            </a:r>
          </a:p>
          <a:p>
            <a:r>
              <a:rPr lang="en-IN" sz="2000" b="1" dirty="0">
                <a:solidFill>
                  <a:srgbClr val="0070C0"/>
                </a:solidFill>
              </a:rPr>
              <a:t>Address format:        30bits -&gt;     19 (tag bits) +7(block) +4(word)</a:t>
            </a:r>
          </a:p>
          <a:p>
            <a:r>
              <a:rPr lang="en-IN" sz="2000" dirty="0">
                <a:solidFill>
                  <a:srgbClr val="FF0000"/>
                </a:solidFill>
              </a:rPr>
              <a:t>4 way set associative cache</a:t>
            </a:r>
          </a:p>
          <a:p>
            <a:r>
              <a:rPr lang="en-IN" sz="2000" dirty="0"/>
              <a:t>No. of. Words.in a block = 2power4, 4 bits for word</a:t>
            </a:r>
          </a:p>
          <a:p>
            <a:r>
              <a:rPr lang="en-IN" sz="2000" dirty="0"/>
              <a:t>No. of. Sets = 128blocks/</a:t>
            </a:r>
            <a:r>
              <a:rPr lang="en-IN" sz="2000" dirty="0" err="1"/>
              <a:t>no.of.blocks</a:t>
            </a:r>
            <a:r>
              <a:rPr lang="en-IN" sz="2000" dirty="0"/>
              <a:t> </a:t>
            </a:r>
            <a:r>
              <a:rPr lang="en-IN" sz="2000" dirty="0" err="1"/>
              <a:t>perSet</a:t>
            </a:r>
            <a:r>
              <a:rPr lang="en-IN" sz="2000" dirty="0"/>
              <a:t> = 128/4 = 32 = 2power5, 5bits for SET</a:t>
            </a:r>
          </a:p>
          <a:p>
            <a:r>
              <a:rPr lang="en-IN" sz="2000" dirty="0"/>
              <a:t>TAG bits = 30 – (5+4) = 21 bits</a:t>
            </a:r>
          </a:p>
          <a:p>
            <a:r>
              <a:rPr lang="en-IN" sz="2000" b="1" dirty="0">
                <a:solidFill>
                  <a:srgbClr val="0070C0"/>
                </a:solidFill>
              </a:rPr>
              <a:t>Address format:       30bits -&gt;  21(tag bits) + 5(set) + 4 (word)</a:t>
            </a:r>
          </a:p>
          <a:p>
            <a:endParaRPr lang="en-IN" dirty="0"/>
          </a:p>
          <a:p>
            <a:endParaRPr lang="en-IN" dirty="0"/>
          </a:p>
          <a:p>
            <a:r>
              <a:rPr lang="en-US" dirty="0"/>
              <a:t>(Note: With 8 GB and a 64 bit word size, there are 8 GB / (8 bytes / word) = 1 GW of memory. This requires 30 bits for an address. Of the 30 bits, we need 4 bits for the word on the line and 7 bits for the block number, leaving 30 – (7 + 4) = 19 bits for the tag. So the address format is 19 – 7 – 4. If we have a 4-way set associative cache instead, then there will be 4 sets with 128 / 4 = 32 blocks per set. So we would only need 5 bits for the block number, leaving 30 – (5 + 4) = 21 bits for the tag. So the address format is 21 – 5 – 4. 4.)</a:t>
            </a:r>
            <a:endParaRPr lang="en-IN" dirty="0"/>
          </a:p>
        </p:txBody>
      </p:sp>
    </p:spTree>
    <p:extLst>
      <p:ext uri="{BB962C8B-B14F-4D97-AF65-F5344CB8AC3E}">
        <p14:creationId xmlns:p14="http://schemas.microsoft.com/office/powerpoint/2010/main" val="3033486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40</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50618633-3CE0-1B87-2F0F-5E93922B5CED}"/>
              </a:ext>
            </a:extLst>
          </p:cNvPr>
          <p:cNvSpPr txBox="1"/>
          <p:nvPr/>
        </p:nvSpPr>
        <p:spPr>
          <a:xfrm>
            <a:off x="0" y="31699"/>
            <a:ext cx="12192000" cy="6430735"/>
          </a:xfrm>
          <a:prstGeom prst="rect">
            <a:avLst/>
          </a:prstGeom>
          <a:noFill/>
        </p:spPr>
        <p:txBody>
          <a:bodyPr wrap="square">
            <a:spAutoFit/>
          </a:bodyPr>
          <a:lstStyle/>
          <a:p>
            <a:pPr>
              <a:lnSpc>
                <a:spcPct val="115000"/>
              </a:lnSpc>
              <a:spcAft>
                <a:spcPts val="1000"/>
              </a:spcAft>
            </a:pPr>
            <a:r>
              <a:rPr lang="en-IN" sz="2400" dirty="0">
                <a:solidFill>
                  <a:srgbClr val="FF0000"/>
                </a:solidFill>
                <a:effectLst/>
                <a:ea typeface="Times New Roman" panose="02020603050405020304" pitchFamily="18" charset="0"/>
                <a:cs typeface="Times New Roman" panose="02020603050405020304" pitchFamily="18" charset="0"/>
              </a:rPr>
              <a:t>A computer memory system uses a primary memory with 100 nanosecond access time,    fronted by a cache memory with 8 nanosecond access time.  What is the effective access  time if,</a:t>
            </a:r>
            <a:endParaRPr lang="en-IN" sz="2400" dirty="0">
              <a:solidFill>
                <a:srgbClr val="FF0000"/>
              </a:solidFill>
              <a:ea typeface="Times New Roman" panose="02020603050405020304" pitchFamily="18" charset="0"/>
              <a:cs typeface="Times New Roman" panose="02020603050405020304" pitchFamily="18" charset="0"/>
            </a:endParaRPr>
          </a:p>
          <a:p>
            <a:pPr>
              <a:lnSpc>
                <a:spcPct val="115000"/>
              </a:lnSpc>
              <a:spcAft>
                <a:spcPts val="1000"/>
              </a:spcAft>
            </a:pPr>
            <a:r>
              <a:rPr lang="en-IN" sz="2400" dirty="0">
                <a:solidFill>
                  <a:srgbClr val="FF0000"/>
                </a:solidFill>
                <a:effectLst/>
                <a:ea typeface="Times New Roman" panose="02020603050405020304" pitchFamily="18" charset="0"/>
                <a:cs typeface="Times New Roman" panose="02020603050405020304" pitchFamily="18" charset="0"/>
              </a:rPr>
              <a:t>   a)  The hit ratio is 0.7?</a:t>
            </a:r>
            <a:br>
              <a:rPr lang="en-IN" sz="2400" dirty="0">
                <a:solidFill>
                  <a:srgbClr val="FF0000"/>
                </a:solidFill>
                <a:effectLst/>
                <a:ea typeface="Times New Roman" panose="02020603050405020304" pitchFamily="18" charset="0"/>
                <a:cs typeface="Times New Roman" panose="02020603050405020304" pitchFamily="18" charset="0"/>
              </a:rPr>
            </a:br>
            <a:r>
              <a:rPr lang="en-IN" sz="2400" dirty="0">
                <a:solidFill>
                  <a:srgbClr val="FF0000"/>
                </a:solidFill>
                <a:effectLst/>
                <a:ea typeface="Times New Roman" panose="02020603050405020304" pitchFamily="18" charset="0"/>
                <a:cs typeface="Times New Roman" panose="02020603050405020304" pitchFamily="18" charset="0"/>
              </a:rPr>
              <a:t>   b)  The hit ratio is 0.9?</a:t>
            </a:r>
            <a:br>
              <a:rPr lang="en-IN" sz="2400" dirty="0">
                <a:solidFill>
                  <a:srgbClr val="FF0000"/>
                </a:solidFill>
                <a:effectLst/>
                <a:ea typeface="Times New Roman" panose="02020603050405020304" pitchFamily="18" charset="0"/>
                <a:cs typeface="Times New Roman" panose="02020603050405020304" pitchFamily="18" charset="0"/>
              </a:rPr>
            </a:br>
            <a:r>
              <a:rPr lang="en-IN" sz="2400" dirty="0">
                <a:solidFill>
                  <a:srgbClr val="FF0000"/>
                </a:solidFill>
                <a:effectLst/>
                <a:ea typeface="Times New Roman" panose="02020603050405020304" pitchFamily="18" charset="0"/>
                <a:cs typeface="Times New Roman" panose="02020603050405020304" pitchFamily="18" charset="0"/>
              </a:rPr>
              <a:t>   c)   The hit ratio is 0.95?</a:t>
            </a:r>
            <a:br>
              <a:rPr lang="en-IN" sz="2400" dirty="0">
                <a:solidFill>
                  <a:srgbClr val="FF0000"/>
                </a:solidFill>
                <a:effectLst/>
                <a:ea typeface="Times New Roman" panose="02020603050405020304" pitchFamily="18" charset="0"/>
                <a:cs typeface="Times New Roman" panose="02020603050405020304" pitchFamily="18" charset="0"/>
              </a:rPr>
            </a:br>
            <a:r>
              <a:rPr lang="en-IN" sz="2400" dirty="0">
                <a:solidFill>
                  <a:srgbClr val="FF0000"/>
                </a:solidFill>
                <a:effectLst/>
                <a:ea typeface="Times New Roman" panose="02020603050405020304" pitchFamily="18" charset="0"/>
                <a:cs typeface="Times New Roman" panose="02020603050405020304" pitchFamily="18" charset="0"/>
              </a:rPr>
              <a:t>   d)   The hit ratio is 0.99?</a:t>
            </a:r>
            <a:endParaRPr lang="en-IN" sz="2400" dirty="0">
              <a:solidFill>
                <a:srgbClr val="FF0000"/>
              </a:solidFill>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00"/>
                </a:solidFill>
                <a:effectLst/>
                <a:ea typeface="Times New Roman" panose="02020603050405020304" pitchFamily="18" charset="0"/>
                <a:cs typeface="Times New Roman" panose="02020603050405020304" pitchFamily="18" charset="0"/>
              </a:rPr>
              <a:t> </a:t>
            </a:r>
            <a:r>
              <a:rPr lang="en-IN" dirty="0">
                <a:solidFill>
                  <a:srgbClr val="0000FF"/>
                </a:solidFill>
                <a:effectLst/>
                <a:ea typeface="Times New Roman" panose="02020603050405020304" pitchFamily="18" charset="0"/>
                <a:cs typeface="Times New Roman" panose="02020603050405020304" pitchFamily="18" charset="0"/>
              </a:rPr>
              <a:t>      h – hit rate ,   T</a:t>
            </a:r>
            <a:r>
              <a:rPr lang="en-IN" baseline="-25000" dirty="0">
                <a:solidFill>
                  <a:srgbClr val="0000FF"/>
                </a:solidFill>
                <a:effectLst/>
                <a:ea typeface="Times New Roman" panose="02020603050405020304" pitchFamily="18" charset="0"/>
                <a:cs typeface="Times New Roman" panose="02020603050405020304" pitchFamily="18" charset="0"/>
              </a:rPr>
              <a:t>P</a:t>
            </a:r>
            <a:r>
              <a:rPr lang="en-IN" dirty="0">
                <a:solidFill>
                  <a:srgbClr val="0000FF"/>
                </a:solidFill>
                <a:effectLst/>
                <a:ea typeface="Times New Roman" panose="02020603050405020304" pitchFamily="18" charset="0"/>
                <a:cs typeface="Times New Roman" panose="02020603050405020304" pitchFamily="18" charset="0"/>
              </a:rPr>
              <a:t> as the access time of the cache,  T</a:t>
            </a:r>
            <a:r>
              <a:rPr lang="en-IN" baseline="-25000" dirty="0">
                <a:solidFill>
                  <a:srgbClr val="0000FF"/>
                </a:solidFill>
                <a:effectLst/>
                <a:ea typeface="Times New Roman" panose="02020603050405020304" pitchFamily="18" charset="0"/>
                <a:cs typeface="Times New Roman" panose="02020603050405020304" pitchFamily="18" charset="0"/>
              </a:rPr>
              <a:t>S</a:t>
            </a:r>
            <a:r>
              <a:rPr lang="en-IN" dirty="0">
                <a:solidFill>
                  <a:srgbClr val="0000FF"/>
                </a:solidFill>
                <a:effectLst/>
                <a:ea typeface="Times New Roman" panose="02020603050405020304" pitchFamily="18" charset="0"/>
                <a:cs typeface="Times New Roman" panose="02020603050405020304" pitchFamily="18" charset="0"/>
              </a:rPr>
              <a:t> as the access time of the primary memory.</a:t>
            </a:r>
          </a:p>
          <a:p>
            <a:pPr>
              <a:lnSpc>
                <a:spcPct val="115000"/>
              </a:lnSpc>
              <a:spcAft>
                <a:spcPts val="1000"/>
              </a:spcAft>
            </a:pPr>
            <a:r>
              <a:rPr lang="en-IN" sz="2400" dirty="0">
                <a:solidFill>
                  <a:srgbClr val="0000FF"/>
                </a:solidFill>
                <a:effectLst/>
                <a:ea typeface="Times New Roman" panose="02020603050405020304" pitchFamily="18" charset="0"/>
                <a:cs typeface="Times New Roman" panose="02020603050405020304" pitchFamily="18" charset="0"/>
              </a:rPr>
              <a:t>                          Effective Memory Access time =    T</a:t>
            </a:r>
            <a:r>
              <a:rPr lang="en-IN" sz="2400" baseline="-25000" dirty="0">
                <a:solidFill>
                  <a:srgbClr val="0000FF"/>
                </a:solidFill>
                <a:effectLst/>
                <a:ea typeface="Times New Roman" panose="02020603050405020304" pitchFamily="18" charset="0"/>
                <a:cs typeface="Times New Roman" panose="02020603050405020304" pitchFamily="18" charset="0"/>
              </a:rPr>
              <a:t>E =    </a:t>
            </a:r>
            <a:r>
              <a:rPr lang="en-IN" sz="2400" dirty="0">
                <a:solidFill>
                  <a:srgbClr val="0000FF"/>
                </a:solidFill>
                <a:effectLst/>
                <a:ea typeface="Times New Roman" panose="02020603050405020304" pitchFamily="18" charset="0"/>
                <a:cs typeface="Times New Roman" panose="02020603050405020304" pitchFamily="18" charset="0"/>
              </a:rPr>
              <a:t> h .T</a:t>
            </a:r>
            <a:r>
              <a:rPr lang="en-IN" sz="2400" baseline="-25000" dirty="0">
                <a:solidFill>
                  <a:srgbClr val="0000FF"/>
                </a:solidFill>
                <a:effectLst/>
                <a:ea typeface="Times New Roman" panose="02020603050405020304" pitchFamily="18" charset="0"/>
                <a:cs typeface="Times New Roman" panose="02020603050405020304" pitchFamily="18" charset="0"/>
              </a:rPr>
              <a:t>P  </a:t>
            </a:r>
            <a:r>
              <a:rPr lang="en-IN" sz="2400" dirty="0">
                <a:solidFill>
                  <a:srgbClr val="0000FF"/>
                </a:solidFill>
                <a:effectLst/>
                <a:ea typeface="Times New Roman" panose="02020603050405020304" pitchFamily="18" charset="0"/>
                <a:cs typeface="Times New Roman" panose="02020603050405020304" pitchFamily="18" charset="0"/>
              </a:rPr>
              <a:t>+ (1 – h)· T</a:t>
            </a:r>
            <a:r>
              <a:rPr lang="en-IN" sz="2400" baseline="-25000" dirty="0">
                <a:solidFill>
                  <a:srgbClr val="0000FF"/>
                </a:solidFill>
                <a:effectLst/>
                <a:ea typeface="Times New Roman" panose="02020603050405020304" pitchFamily="18" charset="0"/>
                <a:cs typeface="Times New Roman" panose="02020603050405020304" pitchFamily="18" charset="0"/>
              </a:rPr>
              <a:t>S</a:t>
            </a:r>
            <a:endParaRPr lang="en-IN" sz="2400"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a typeface="Calibri" panose="020F0502020204030204" pitchFamily="34" charset="0"/>
                <a:cs typeface="Times New Roman" panose="02020603050405020304" pitchFamily="18" charset="0"/>
              </a:rPr>
              <a:t>                  (Effective Access time = Hit rate x Access time of Cache + (1-Hit rate) x Access time of Primary memory)</a:t>
            </a:r>
            <a:endParaRPr lang="en-IN"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ffectLst/>
                <a:ea typeface="Times New Roman" panose="02020603050405020304" pitchFamily="18" charset="0"/>
                <a:cs typeface="Times New Roman" panose="02020603050405020304" pitchFamily="18" charset="0"/>
              </a:rPr>
              <a:t>   applying The equation,  T</a:t>
            </a:r>
            <a:r>
              <a:rPr lang="en-IN" baseline="-25000" dirty="0">
                <a:solidFill>
                  <a:srgbClr val="0000FF"/>
                </a:solidFill>
                <a:effectLst/>
                <a:ea typeface="Times New Roman" panose="02020603050405020304" pitchFamily="18" charset="0"/>
                <a:cs typeface="Times New Roman" panose="02020603050405020304" pitchFamily="18" charset="0"/>
              </a:rPr>
              <a:t>E</a:t>
            </a:r>
            <a:r>
              <a:rPr lang="en-IN" dirty="0">
                <a:solidFill>
                  <a:srgbClr val="0000FF"/>
                </a:solidFill>
                <a:effectLst/>
                <a:ea typeface="Times New Roman" panose="02020603050405020304" pitchFamily="18" charset="0"/>
                <a:cs typeface="Times New Roman" panose="02020603050405020304" pitchFamily="18" charset="0"/>
              </a:rPr>
              <a:t> = h·8 + (1 – h)·100.      </a:t>
            </a:r>
            <a:r>
              <a:rPr lang="en-IN" dirty="0">
                <a:solidFill>
                  <a:srgbClr val="0000FF"/>
                </a:solidFill>
                <a:ea typeface="Times New Roman" panose="02020603050405020304" pitchFamily="18" charset="0"/>
                <a:cs typeface="Times New Roman" panose="02020603050405020304" pitchFamily="18" charset="0"/>
              </a:rPr>
              <a:t>(h =</a:t>
            </a:r>
            <a:r>
              <a:rPr lang="en-IN" dirty="0">
                <a:solidFill>
                  <a:srgbClr val="FF0000"/>
                </a:solidFill>
                <a:ea typeface="Times New Roman" panose="02020603050405020304" pitchFamily="18" charset="0"/>
                <a:cs typeface="Times New Roman" panose="02020603050405020304" pitchFamily="18" charset="0"/>
              </a:rPr>
              <a:t>0.8</a:t>
            </a:r>
            <a:r>
              <a:rPr lang="en-IN" dirty="0">
                <a:solidFill>
                  <a:srgbClr val="0000FF"/>
                </a:solidFill>
                <a:ea typeface="Times New Roman" panose="02020603050405020304" pitchFamily="18" charset="0"/>
                <a:cs typeface="Times New Roman" panose="02020603050405020304" pitchFamily="18" charset="0"/>
              </a:rPr>
              <a:t>, </a:t>
            </a:r>
            <a:r>
              <a:rPr lang="en-IN" dirty="0">
                <a:solidFill>
                  <a:srgbClr val="0000FF"/>
                </a:solidFill>
                <a:effectLst/>
                <a:ea typeface="Times New Roman" panose="02020603050405020304" pitchFamily="18" charset="0"/>
                <a:cs typeface="Times New Roman" panose="02020603050405020304" pitchFamily="18" charset="0"/>
              </a:rPr>
              <a:t>T</a:t>
            </a:r>
            <a:r>
              <a:rPr lang="en-IN" baseline="-25000" dirty="0">
                <a:solidFill>
                  <a:srgbClr val="0000FF"/>
                </a:solidFill>
                <a:effectLst/>
                <a:ea typeface="Times New Roman" panose="02020603050405020304" pitchFamily="18" charset="0"/>
                <a:cs typeface="Times New Roman" panose="02020603050405020304" pitchFamily="18" charset="0"/>
              </a:rPr>
              <a:t>P= </a:t>
            </a:r>
            <a:r>
              <a:rPr lang="en-IN" dirty="0">
                <a:solidFill>
                  <a:srgbClr val="FF0000"/>
                </a:solidFill>
                <a:effectLst/>
                <a:ea typeface="Times New Roman" panose="02020603050405020304" pitchFamily="18" charset="0"/>
                <a:cs typeface="Times New Roman" panose="02020603050405020304" pitchFamily="18" charset="0"/>
              </a:rPr>
              <a:t>8ns</a:t>
            </a:r>
            <a:r>
              <a:rPr lang="en-IN" dirty="0">
                <a:solidFill>
                  <a:srgbClr val="0000FF"/>
                </a:solidFill>
                <a:effectLst/>
                <a:ea typeface="Times New Roman" panose="02020603050405020304" pitchFamily="18" charset="0"/>
                <a:cs typeface="Times New Roman" panose="02020603050405020304" pitchFamily="18" charset="0"/>
              </a:rPr>
              <a:t> T</a:t>
            </a:r>
            <a:r>
              <a:rPr lang="en-IN" baseline="-25000" dirty="0">
                <a:solidFill>
                  <a:srgbClr val="0000FF"/>
                </a:solidFill>
                <a:effectLst/>
                <a:ea typeface="Times New Roman" panose="02020603050405020304" pitchFamily="18" charset="0"/>
                <a:cs typeface="Times New Roman" panose="02020603050405020304" pitchFamily="18" charset="0"/>
              </a:rPr>
              <a:t>S=</a:t>
            </a:r>
            <a:r>
              <a:rPr lang="en-IN" dirty="0">
                <a:solidFill>
                  <a:srgbClr val="FF0000"/>
                </a:solidFill>
                <a:effectLst/>
                <a:ea typeface="Times New Roman" panose="02020603050405020304" pitchFamily="18" charset="0"/>
                <a:cs typeface="Times New Roman" panose="02020603050405020304" pitchFamily="18" charset="0"/>
              </a:rPr>
              <a:t> 100ns)</a:t>
            </a:r>
            <a:endParaRPr lang="en-IN"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ffectLst/>
                <a:ea typeface="Times New Roman" panose="02020603050405020304" pitchFamily="18" charset="0"/>
                <a:cs typeface="Times New Roman" panose="02020603050405020304" pitchFamily="18" charset="0"/>
              </a:rPr>
              <a:t>    a)   h = 0.7         T</a:t>
            </a:r>
            <a:r>
              <a:rPr lang="en-IN" baseline="-25000" dirty="0">
                <a:solidFill>
                  <a:srgbClr val="0000FF"/>
                </a:solidFill>
                <a:effectLst/>
                <a:ea typeface="Times New Roman" panose="02020603050405020304" pitchFamily="18" charset="0"/>
                <a:cs typeface="Times New Roman" panose="02020603050405020304" pitchFamily="18" charset="0"/>
              </a:rPr>
              <a:t>E</a:t>
            </a:r>
            <a:r>
              <a:rPr lang="en-IN" dirty="0">
                <a:solidFill>
                  <a:srgbClr val="0000FF"/>
                </a:solidFill>
                <a:effectLst/>
                <a:ea typeface="Times New Roman" panose="02020603050405020304" pitchFamily="18" charset="0"/>
                <a:cs typeface="Times New Roman" panose="02020603050405020304" pitchFamily="18" charset="0"/>
              </a:rPr>
              <a:t> = 0.7·8 + (1 – 0.7)·100 = 0.7·8 + 0.3·100 = 5.6 + 30.0                = </a:t>
            </a:r>
            <a:r>
              <a:rPr lang="en-IN" b="1" dirty="0">
                <a:solidFill>
                  <a:srgbClr val="0000FF"/>
                </a:solidFill>
                <a:effectLst/>
                <a:ea typeface="Times New Roman" panose="02020603050405020304" pitchFamily="18" charset="0"/>
                <a:cs typeface="Times New Roman" panose="02020603050405020304" pitchFamily="18" charset="0"/>
              </a:rPr>
              <a:t>35.6ns</a:t>
            </a:r>
            <a:endParaRPr lang="en-IN"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ffectLst/>
                <a:ea typeface="Times New Roman" panose="02020603050405020304" pitchFamily="18" charset="0"/>
                <a:cs typeface="Times New Roman" panose="02020603050405020304" pitchFamily="18" charset="0"/>
              </a:rPr>
              <a:t>    b)   h = 0.9         T</a:t>
            </a:r>
            <a:r>
              <a:rPr lang="en-IN" baseline="-25000" dirty="0">
                <a:solidFill>
                  <a:srgbClr val="0000FF"/>
                </a:solidFill>
                <a:effectLst/>
                <a:ea typeface="Times New Roman" panose="02020603050405020304" pitchFamily="18" charset="0"/>
                <a:cs typeface="Times New Roman" panose="02020603050405020304" pitchFamily="18" charset="0"/>
              </a:rPr>
              <a:t>E</a:t>
            </a:r>
            <a:r>
              <a:rPr lang="en-IN" dirty="0">
                <a:solidFill>
                  <a:srgbClr val="0000FF"/>
                </a:solidFill>
                <a:effectLst/>
                <a:ea typeface="Times New Roman" panose="02020603050405020304" pitchFamily="18" charset="0"/>
                <a:cs typeface="Times New Roman" panose="02020603050405020304" pitchFamily="18" charset="0"/>
              </a:rPr>
              <a:t> = 0.9·8 + (1 – 0.9)·100 = 0.9·8 + 0.1·100 = 7.2 + 10.0                = </a:t>
            </a:r>
            <a:r>
              <a:rPr lang="en-IN" b="1" dirty="0">
                <a:solidFill>
                  <a:srgbClr val="0000FF"/>
                </a:solidFill>
                <a:effectLst/>
                <a:ea typeface="Times New Roman" panose="02020603050405020304" pitchFamily="18" charset="0"/>
                <a:cs typeface="Times New Roman" panose="02020603050405020304" pitchFamily="18" charset="0"/>
              </a:rPr>
              <a:t>17.2ns</a:t>
            </a:r>
            <a:endParaRPr lang="en-IN"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ffectLst/>
                <a:ea typeface="Times New Roman" panose="02020603050405020304" pitchFamily="18" charset="0"/>
                <a:cs typeface="Times New Roman" panose="02020603050405020304" pitchFamily="18" charset="0"/>
              </a:rPr>
              <a:t>    c)   h = 0.95       T</a:t>
            </a:r>
            <a:r>
              <a:rPr lang="en-IN" baseline="-25000" dirty="0">
                <a:solidFill>
                  <a:srgbClr val="0000FF"/>
                </a:solidFill>
                <a:effectLst/>
                <a:ea typeface="Times New Roman" panose="02020603050405020304" pitchFamily="18" charset="0"/>
                <a:cs typeface="Times New Roman" panose="02020603050405020304" pitchFamily="18" charset="0"/>
              </a:rPr>
              <a:t>E</a:t>
            </a:r>
            <a:r>
              <a:rPr lang="en-IN" dirty="0">
                <a:solidFill>
                  <a:srgbClr val="0000FF"/>
                </a:solidFill>
                <a:effectLst/>
                <a:ea typeface="Times New Roman" panose="02020603050405020304" pitchFamily="18" charset="0"/>
                <a:cs typeface="Times New Roman" panose="02020603050405020304" pitchFamily="18" charset="0"/>
              </a:rPr>
              <a:t> = 0.95·8 + (1 – 0.95)·100 = 0.95·8 + 0.05·100 = 7.6 + .5.0         = </a:t>
            </a:r>
            <a:r>
              <a:rPr lang="en-IN" b="1" dirty="0">
                <a:solidFill>
                  <a:srgbClr val="0000FF"/>
                </a:solidFill>
                <a:effectLst/>
                <a:ea typeface="Times New Roman" panose="02020603050405020304" pitchFamily="18" charset="0"/>
                <a:cs typeface="Times New Roman" panose="02020603050405020304" pitchFamily="18" charset="0"/>
              </a:rPr>
              <a:t>12.6ns</a:t>
            </a:r>
            <a:endParaRPr lang="en-IN" dirty="0">
              <a:effectLst/>
              <a:ea typeface="Calibri" panose="020F0502020204030204" pitchFamily="34" charset="0"/>
              <a:cs typeface="Times New Roman" panose="02020603050405020304" pitchFamily="18" charset="0"/>
            </a:endParaRPr>
          </a:p>
          <a:p>
            <a:pPr>
              <a:lnSpc>
                <a:spcPct val="115000"/>
              </a:lnSpc>
              <a:spcAft>
                <a:spcPts val="1000"/>
              </a:spcAft>
            </a:pPr>
            <a:r>
              <a:rPr lang="en-IN" dirty="0">
                <a:solidFill>
                  <a:srgbClr val="0000FF"/>
                </a:solidFill>
                <a:effectLst/>
                <a:ea typeface="Times New Roman" panose="02020603050405020304" pitchFamily="18" charset="0"/>
                <a:cs typeface="Times New Roman" panose="02020603050405020304" pitchFamily="18" charset="0"/>
              </a:rPr>
              <a:t>    d)   h = 0.99       TE = 0.99·8 + (1 – 0.99)·100 = 0.99·8 + 0.01·100 = 7.92 + 1.0         = </a:t>
            </a:r>
            <a:r>
              <a:rPr lang="en-IN" b="1" dirty="0">
                <a:solidFill>
                  <a:srgbClr val="0000FF"/>
                </a:solidFill>
                <a:effectLst/>
                <a:ea typeface="Times New Roman" panose="02020603050405020304" pitchFamily="18" charset="0"/>
                <a:cs typeface="Times New Roman" panose="02020603050405020304" pitchFamily="18" charset="0"/>
              </a:rPr>
              <a:t>8.92 ns </a:t>
            </a:r>
            <a:endParaRPr lang="en-IN"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8771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41</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50618633-3CE0-1B87-2F0F-5E93922B5CED}"/>
              </a:ext>
            </a:extLst>
          </p:cNvPr>
          <p:cNvSpPr txBox="1"/>
          <p:nvPr/>
        </p:nvSpPr>
        <p:spPr>
          <a:xfrm>
            <a:off x="515155" y="110767"/>
            <a:ext cx="11462196" cy="5380640"/>
          </a:xfrm>
          <a:prstGeom prst="rect">
            <a:avLst/>
          </a:prstGeom>
          <a:noFill/>
        </p:spPr>
        <p:txBody>
          <a:bodyPr wrap="square">
            <a:spAutoFit/>
          </a:bodyPr>
          <a:lstStyle/>
          <a:p>
            <a:pPr>
              <a:lnSpc>
                <a:spcPct val="115000"/>
              </a:lnSpc>
              <a:spcAft>
                <a:spcPts val="1000"/>
              </a:spcAft>
            </a:pPr>
            <a:r>
              <a:rPr lang="en-US" sz="2400" dirty="0">
                <a:solidFill>
                  <a:srgbClr val="FF0000"/>
                </a:solidFill>
              </a:rPr>
              <a:t>A computer has a single cache (off-chip) with a 2 ns hit time and a 98% hit rate. Main memory has a 40 ns access time. What is the computer’s effective access time? If we add an on-chip cache with a .5 ns hit time and a 94% hit rate, what is the computer’s effective access time? How much of a speedup does the on-chip cache give the computer? </a:t>
            </a:r>
          </a:p>
          <a:p>
            <a:pPr>
              <a:lnSpc>
                <a:spcPct val="115000"/>
              </a:lnSpc>
              <a:spcAft>
                <a:spcPts val="1000"/>
              </a:spcAft>
            </a:pPr>
            <a:endParaRPr lang="en-US" sz="2400" dirty="0"/>
          </a:p>
          <a:p>
            <a:pPr>
              <a:lnSpc>
                <a:spcPct val="115000"/>
              </a:lnSpc>
              <a:spcAft>
                <a:spcPts val="1000"/>
              </a:spcAft>
            </a:pPr>
            <a:r>
              <a:rPr lang="en-US" sz="2400" dirty="0"/>
              <a:t>Answers: </a:t>
            </a:r>
          </a:p>
          <a:p>
            <a:pPr>
              <a:lnSpc>
                <a:spcPct val="115000"/>
              </a:lnSpc>
              <a:spcAft>
                <a:spcPts val="1000"/>
              </a:spcAft>
            </a:pPr>
            <a:r>
              <a:rPr lang="en-US" sz="2400" dirty="0"/>
              <a:t>1. Effective access time = 0.98 * 2 ns + (1-0.98) * 40 ns = 0.98 * 2ns + 0.02*40ns = 1.96 + 0.8 = 2.76ns</a:t>
            </a:r>
          </a:p>
          <a:p>
            <a:pPr>
              <a:lnSpc>
                <a:spcPct val="115000"/>
              </a:lnSpc>
              <a:spcAft>
                <a:spcPts val="1000"/>
              </a:spcAft>
            </a:pPr>
            <a:r>
              <a:rPr lang="en-US" sz="2400" dirty="0"/>
              <a:t>2. With the on-chip cache,  = 0.94 * .5 ns + .06 * (0.98 * 2 ns + .02 * 40 ns) = 0.94*.5 ns + 0.06 * 2.76 =  .636ns. </a:t>
            </a:r>
          </a:p>
          <a:p>
            <a:pPr>
              <a:lnSpc>
                <a:spcPct val="115000"/>
              </a:lnSpc>
              <a:spcAft>
                <a:spcPts val="1000"/>
              </a:spcAft>
            </a:pPr>
            <a:r>
              <a:rPr lang="en-US" sz="2400" dirty="0"/>
              <a:t>The speedup is 2.76 / .636 = 4.33</a:t>
            </a:r>
            <a:endParaRPr lang="en-IN" sz="2400" dirty="0">
              <a:solidFill>
                <a:srgbClr val="0000FF"/>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54038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TextBox 10">
            <a:extLst>
              <a:ext uri="{FF2B5EF4-FFF2-40B4-BE49-F238E27FC236}">
                <a16:creationId xmlns:a16="http://schemas.microsoft.com/office/drawing/2014/main" id="{5AE16D74-CE66-B11F-3332-2ECEB38C9F80}"/>
              </a:ext>
            </a:extLst>
          </p:cNvPr>
          <p:cNvSpPr txBox="1"/>
          <p:nvPr/>
        </p:nvSpPr>
        <p:spPr>
          <a:xfrm>
            <a:off x="145961" y="136525"/>
            <a:ext cx="11900078" cy="6786473"/>
          </a:xfrm>
          <a:prstGeom prst="rect">
            <a:avLst/>
          </a:prstGeom>
          <a:noFill/>
        </p:spPr>
        <p:txBody>
          <a:bodyPr wrap="square">
            <a:spAutoFit/>
          </a:bodyPr>
          <a:lstStyle/>
          <a:p>
            <a:pPr>
              <a:lnSpc>
                <a:spcPct val="115000"/>
              </a:lnSpc>
              <a:spcAft>
                <a:spcPts val="600"/>
              </a:spcAft>
            </a:pPr>
            <a:r>
              <a:rPr lang="en-IN" sz="2400" dirty="0">
                <a:solidFill>
                  <a:srgbClr val="FF0000"/>
                </a:solidFill>
                <a:effectLst/>
                <a:ea typeface="Times New Roman" panose="02020603050405020304" pitchFamily="18" charset="0"/>
                <a:cs typeface="Times New Roman" panose="02020603050405020304" pitchFamily="18" charset="0"/>
              </a:rPr>
              <a:t>You are asked to implement a 128M by 32 memory (1M = 2</a:t>
            </a:r>
            <a:r>
              <a:rPr lang="en-IN" sz="2400" baseline="30000" dirty="0">
                <a:solidFill>
                  <a:srgbClr val="FF0000"/>
                </a:solidFill>
                <a:effectLst/>
                <a:ea typeface="Times New Roman" panose="02020603050405020304" pitchFamily="18" charset="0"/>
                <a:cs typeface="Times New Roman" panose="02020603050405020304" pitchFamily="18" charset="0"/>
              </a:rPr>
              <a:t>20</a:t>
            </a:r>
            <a:r>
              <a:rPr lang="en-IN" sz="2400" dirty="0">
                <a:solidFill>
                  <a:srgbClr val="FF0000"/>
                </a:solidFill>
                <a:effectLst/>
                <a:ea typeface="Times New Roman" panose="02020603050405020304" pitchFamily="18" charset="0"/>
                <a:cs typeface="Times New Roman" panose="02020603050405020304" pitchFamily="18" charset="0"/>
              </a:rPr>
              <a:t>), using only 16M by 8 memory chips.</a:t>
            </a:r>
            <a:br>
              <a:rPr lang="en-IN" sz="2400" dirty="0">
                <a:solidFill>
                  <a:srgbClr val="FF0000"/>
                </a:solidFill>
                <a:effectLst/>
                <a:ea typeface="Times New Roman" panose="02020603050405020304" pitchFamily="18" charset="0"/>
                <a:cs typeface="Times New Roman" panose="02020603050405020304" pitchFamily="18" charset="0"/>
              </a:rPr>
            </a:br>
            <a:r>
              <a:rPr lang="en-IN" sz="2400" dirty="0">
                <a:solidFill>
                  <a:srgbClr val="000000"/>
                </a:solidFill>
                <a:effectLst/>
                <a:ea typeface="Times New Roman" panose="02020603050405020304" pitchFamily="18" charset="0"/>
                <a:cs typeface="Times New Roman" panose="02020603050405020304" pitchFamily="18" charset="0"/>
              </a:rPr>
              <a:t>      a)                 What is the minimum size of the MAR?</a:t>
            </a:r>
            <a:br>
              <a:rPr lang="en-IN" sz="2400" dirty="0">
                <a:solidFill>
                  <a:srgbClr val="000000"/>
                </a:solidFill>
                <a:effectLst/>
                <a:ea typeface="Times New Roman" panose="02020603050405020304" pitchFamily="18" charset="0"/>
                <a:cs typeface="Times New Roman" panose="02020603050405020304" pitchFamily="18" charset="0"/>
              </a:rPr>
            </a:br>
            <a:r>
              <a:rPr lang="en-IN" sz="2400" dirty="0">
                <a:solidFill>
                  <a:srgbClr val="000000"/>
                </a:solidFill>
                <a:effectLst/>
                <a:ea typeface="Times New Roman" panose="02020603050405020304" pitchFamily="18" charset="0"/>
                <a:cs typeface="Times New Roman" panose="02020603050405020304" pitchFamily="18" charset="0"/>
              </a:rPr>
              <a:t>      b)                 What is the size of the MBR?</a:t>
            </a:r>
            <a:br>
              <a:rPr lang="en-IN" sz="2400" dirty="0">
                <a:solidFill>
                  <a:srgbClr val="000000"/>
                </a:solidFill>
                <a:effectLst/>
                <a:ea typeface="Times New Roman" panose="02020603050405020304" pitchFamily="18" charset="0"/>
                <a:cs typeface="Times New Roman" panose="02020603050405020304" pitchFamily="18" charset="0"/>
              </a:rPr>
            </a:br>
            <a:r>
              <a:rPr lang="en-IN" sz="2400" dirty="0">
                <a:solidFill>
                  <a:srgbClr val="000000"/>
                </a:solidFill>
                <a:effectLst/>
                <a:ea typeface="Times New Roman" panose="02020603050405020304" pitchFamily="18" charset="0"/>
                <a:cs typeface="Times New Roman" panose="02020603050405020304" pitchFamily="18" charset="0"/>
              </a:rPr>
              <a:t>      c)                 How many 16M by 8 chips are required for this design?</a:t>
            </a:r>
          </a:p>
          <a:p>
            <a:pPr>
              <a:lnSpc>
                <a:spcPct val="115000"/>
              </a:lnSpc>
              <a:spcAft>
                <a:spcPts val="1000"/>
              </a:spcAft>
            </a:pPr>
            <a:r>
              <a:rPr lang="en-IN" sz="2400" dirty="0">
                <a:solidFill>
                  <a:srgbClr val="0000FF"/>
                </a:solidFill>
                <a:effectLst/>
                <a:ea typeface="Times New Roman" panose="02020603050405020304" pitchFamily="18" charset="0"/>
                <a:cs typeface="Times New Roman" panose="02020603050405020304" pitchFamily="18" charset="0"/>
              </a:rPr>
              <a:t>Answer:           a) 128M = 2</a:t>
            </a:r>
            <a:r>
              <a:rPr lang="en-IN" sz="2400" baseline="30000" dirty="0">
                <a:solidFill>
                  <a:srgbClr val="0000FF"/>
                </a:solidFill>
                <a:effectLst/>
                <a:ea typeface="Times New Roman" panose="02020603050405020304" pitchFamily="18" charset="0"/>
                <a:cs typeface="Times New Roman" panose="02020603050405020304" pitchFamily="18" charset="0"/>
              </a:rPr>
              <a:t>7</a:t>
            </a:r>
            <a:r>
              <a:rPr lang="en-IN" sz="2400" dirty="0">
                <a:solidFill>
                  <a:srgbClr val="0000FF"/>
                </a:solidFill>
                <a:effectLst/>
                <a:ea typeface="Times New Roman" panose="02020603050405020304" pitchFamily="18" charset="0"/>
                <a:cs typeface="Times New Roman" panose="02020603050405020304" pitchFamily="18" charset="0"/>
              </a:rPr>
              <a:t>·2</a:t>
            </a:r>
            <a:r>
              <a:rPr lang="en-IN" sz="2400" baseline="30000" dirty="0">
                <a:solidFill>
                  <a:srgbClr val="0000FF"/>
                </a:solidFill>
                <a:effectLst/>
                <a:ea typeface="Times New Roman" panose="02020603050405020304" pitchFamily="18" charset="0"/>
                <a:cs typeface="Times New Roman" panose="02020603050405020304" pitchFamily="18" charset="0"/>
              </a:rPr>
              <a:t>20</a:t>
            </a:r>
            <a:r>
              <a:rPr lang="en-IN" sz="2400" dirty="0">
                <a:solidFill>
                  <a:srgbClr val="0000FF"/>
                </a:solidFill>
                <a:effectLst/>
                <a:ea typeface="Times New Roman" panose="02020603050405020304" pitchFamily="18" charset="0"/>
                <a:cs typeface="Times New Roman" panose="02020603050405020304" pitchFamily="18" charset="0"/>
              </a:rPr>
              <a:t> = 2</a:t>
            </a:r>
            <a:r>
              <a:rPr lang="en-IN" sz="2400" baseline="30000" dirty="0">
                <a:solidFill>
                  <a:srgbClr val="0000FF"/>
                </a:solidFill>
                <a:effectLst/>
                <a:ea typeface="Times New Roman" panose="02020603050405020304" pitchFamily="18" charset="0"/>
                <a:cs typeface="Times New Roman" panose="02020603050405020304" pitchFamily="18" charset="0"/>
              </a:rPr>
              <a:t>27</a:t>
            </a:r>
            <a:r>
              <a:rPr lang="en-IN" sz="2400" dirty="0">
                <a:solidFill>
                  <a:srgbClr val="0000FF"/>
                </a:solidFill>
                <a:effectLst/>
                <a:ea typeface="Times New Roman" panose="02020603050405020304" pitchFamily="18" charset="0"/>
                <a:cs typeface="Times New Roman" panose="02020603050405020304" pitchFamily="18" charset="0"/>
              </a:rPr>
              <a:t>, so the minimum MAR size is </a:t>
            </a:r>
            <a:r>
              <a:rPr lang="en-IN" sz="2400" b="1" dirty="0">
                <a:solidFill>
                  <a:srgbClr val="0000FF"/>
                </a:solidFill>
                <a:effectLst/>
                <a:ea typeface="Times New Roman" panose="02020603050405020304" pitchFamily="18" charset="0"/>
                <a:cs typeface="Times New Roman" panose="02020603050405020304" pitchFamily="18" charset="0"/>
              </a:rPr>
              <a:t>27 bits</a:t>
            </a:r>
            <a:r>
              <a:rPr lang="en-IN" sz="2400" dirty="0">
                <a:solidFill>
                  <a:srgbClr val="0000FF"/>
                </a:solidFill>
                <a:effectLst/>
                <a:ea typeface="Times New Roman" panose="02020603050405020304" pitchFamily="18" charset="0"/>
                <a:cs typeface="Times New Roman" panose="02020603050405020304" pitchFamily="18" charset="0"/>
              </a:rPr>
              <a:t>.</a:t>
            </a:r>
            <a:br>
              <a:rPr lang="en-IN" sz="2400" dirty="0">
                <a:solidFill>
                  <a:srgbClr val="0000FF"/>
                </a:solidFill>
                <a:effectLst/>
                <a:ea typeface="Times New Roman" panose="02020603050405020304" pitchFamily="18" charset="0"/>
                <a:cs typeface="Times New Roman" panose="02020603050405020304" pitchFamily="18" charset="0"/>
              </a:rPr>
            </a:br>
            <a:r>
              <a:rPr lang="en-IN" sz="2400" dirty="0">
                <a:solidFill>
                  <a:srgbClr val="0000FF"/>
                </a:solidFill>
                <a:effectLst/>
                <a:ea typeface="Times New Roman" panose="02020603050405020304" pitchFamily="18" charset="0"/>
                <a:cs typeface="Times New Roman" panose="02020603050405020304" pitchFamily="18" charset="0"/>
              </a:rPr>
              <a:t>                          b) The MBR size is </a:t>
            </a:r>
            <a:r>
              <a:rPr lang="en-IN" sz="2400" b="1" dirty="0">
                <a:solidFill>
                  <a:srgbClr val="0000FF"/>
                </a:solidFill>
                <a:effectLst/>
                <a:ea typeface="Times New Roman" panose="02020603050405020304" pitchFamily="18" charset="0"/>
                <a:cs typeface="Times New Roman" panose="02020603050405020304" pitchFamily="18" charset="0"/>
              </a:rPr>
              <a:t>32 bits</a:t>
            </a:r>
            <a:r>
              <a:rPr lang="en-IN" sz="2400" dirty="0">
                <a:solidFill>
                  <a:srgbClr val="0000FF"/>
                </a:solidFill>
                <a:effectLst/>
                <a:ea typeface="Times New Roman" panose="02020603050405020304" pitchFamily="18" charset="0"/>
                <a:cs typeface="Times New Roman" panose="02020603050405020304" pitchFamily="18" charset="0"/>
              </a:rPr>
              <a:t>.</a:t>
            </a:r>
            <a:br>
              <a:rPr lang="en-IN" sz="2400" dirty="0">
                <a:solidFill>
                  <a:srgbClr val="0000FF"/>
                </a:solidFill>
                <a:effectLst/>
                <a:ea typeface="Times New Roman" panose="02020603050405020304" pitchFamily="18" charset="0"/>
                <a:cs typeface="Times New Roman" panose="02020603050405020304" pitchFamily="18" charset="0"/>
              </a:rPr>
            </a:br>
            <a:r>
              <a:rPr lang="en-IN" sz="2400" dirty="0">
                <a:solidFill>
                  <a:srgbClr val="0000FF"/>
                </a:solidFill>
                <a:effectLst/>
                <a:ea typeface="Times New Roman" panose="02020603050405020304" pitchFamily="18" charset="0"/>
                <a:cs typeface="Times New Roman" panose="02020603050405020304" pitchFamily="18" charset="0"/>
              </a:rPr>
              <a:t>                          c) 128M·32 / 16M·8 = 8·4 = </a:t>
            </a:r>
            <a:r>
              <a:rPr lang="en-IN" sz="2400" b="1" dirty="0">
                <a:solidFill>
                  <a:srgbClr val="0000FF"/>
                </a:solidFill>
                <a:effectLst/>
                <a:ea typeface="Times New Roman" panose="02020603050405020304" pitchFamily="18" charset="0"/>
                <a:cs typeface="Times New Roman" panose="02020603050405020304" pitchFamily="18" charset="0"/>
              </a:rPr>
              <a:t>32 chips</a:t>
            </a:r>
            <a:r>
              <a:rPr lang="en-IN" sz="2400" dirty="0">
                <a:solidFill>
                  <a:srgbClr val="0000FF"/>
                </a:solidFill>
                <a:effectLst/>
                <a:ea typeface="Times New Roman" panose="02020603050405020304" pitchFamily="18" charset="0"/>
                <a:cs typeface="Times New Roman" panose="02020603050405020304" pitchFamily="18" charset="0"/>
              </a:rPr>
              <a:t>.</a:t>
            </a:r>
          </a:p>
          <a:p>
            <a:pPr>
              <a:lnSpc>
                <a:spcPct val="115000"/>
              </a:lnSpc>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You are asked to implement a 128M by 32 memory (1M = 2</a:t>
            </a:r>
            <a:r>
              <a:rPr lang="en-IN" sz="18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b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using only 16M by 8 memory chips.</a:t>
            </a:r>
            <a:b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   What is the minimum size of the MAR?</a:t>
            </a:r>
            <a:b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   What is the size of the MBR?</a:t>
            </a:r>
            <a:b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   How many 16M by 8 chips are required for this design?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ANSWER:      Remember that 128M =2</a:t>
            </a:r>
            <a:r>
              <a:rPr lang="en-IN" sz="1800" baseline="300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7</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solidFill>
                  <a:srgbClr val="0000FF"/>
                </a:solidFill>
                <a:effectLst/>
                <a:latin typeface="Symbol" panose="05050102010706020507" pitchFamily="18" charset="2"/>
                <a:ea typeface="Times New Roman" panose="02020603050405020304" pitchFamily="18" charset="0"/>
                <a:cs typeface="Times New Roman" panose="02020603050405020304" pitchFamily="18" charset="0"/>
              </a:rPr>
              <a:t>·</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 2</a:t>
            </a:r>
            <a:r>
              <a:rPr lang="en-IN" sz="1800" baseline="300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20</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 = 2</a:t>
            </a:r>
            <a:r>
              <a:rPr lang="en-IN" sz="1800" baseline="300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27</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 and that 16M = 2</a:t>
            </a:r>
            <a:r>
              <a:rPr lang="en-IN" sz="1800" baseline="300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24</a:t>
            </a:r>
            <a:r>
              <a:rPr lang="en-IN" sz="1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FF"/>
                </a:solidFill>
                <a:effectLst/>
                <a:latin typeface="Times New Roman" panose="02020603050405020304" pitchFamily="18" charset="0"/>
                <a:ea typeface="Times New Roman" panose="02020603050405020304" pitchFamily="18" charset="0"/>
              </a:rPr>
              <a:t>      a)   To address 128M = 2</a:t>
            </a:r>
            <a:r>
              <a:rPr lang="en-IN" sz="1800" baseline="30000" dirty="0">
                <a:solidFill>
                  <a:srgbClr val="0000FF"/>
                </a:solidFill>
                <a:effectLst/>
                <a:latin typeface="Times New Roman" panose="02020603050405020304" pitchFamily="18" charset="0"/>
                <a:ea typeface="Times New Roman" panose="02020603050405020304" pitchFamily="18" charset="0"/>
              </a:rPr>
              <a:t>27</a:t>
            </a:r>
            <a:r>
              <a:rPr lang="en-IN" sz="1800" dirty="0">
                <a:solidFill>
                  <a:srgbClr val="0000FF"/>
                </a:solidFill>
                <a:effectLst/>
                <a:latin typeface="Times New Roman" panose="02020603050405020304" pitchFamily="18" charset="0"/>
                <a:ea typeface="Times New Roman" panose="02020603050405020304" pitchFamily="18" charset="0"/>
              </a:rPr>
              <a:t> entries, we need a </a:t>
            </a:r>
            <a:r>
              <a:rPr lang="en-IN" sz="1800" b="1" dirty="0">
                <a:solidFill>
                  <a:srgbClr val="0000FF"/>
                </a:solidFill>
                <a:effectLst/>
                <a:latin typeface="Times New Roman" panose="02020603050405020304" pitchFamily="18" charset="0"/>
                <a:ea typeface="Times New Roman" panose="02020603050405020304" pitchFamily="18" charset="0"/>
              </a:rPr>
              <a:t>27-bit MAR</a:t>
            </a:r>
            <a:r>
              <a:rPr lang="en-IN" sz="1800" dirty="0">
                <a:solidFill>
                  <a:srgbClr val="0000FF"/>
                </a:solidFill>
                <a:effectLst/>
                <a:latin typeface="Times New Roman" panose="02020603050405020304" pitchFamily="18" charset="0"/>
                <a:ea typeface="Times New Roman" panose="02020603050405020304" pitchFamily="18" charset="0"/>
              </a:rPr>
              <a:t>.</a:t>
            </a:r>
            <a:br>
              <a:rPr lang="en-IN" sz="1800" dirty="0">
                <a:solidFill>
                  <a:srgbClr val="0000FF"/>
                </a:solidFill>
                <a:effectLst/>
                <a:latin typeface="Times New Roman" panose="02020603050405020304" pitchFamily="18" charset="0"/>
                <a:ea typeface="Times New Roman" panose="02020603050405020304" pitchFamily="18" charset="0"/>
              </a:rPr>
            </a:br>
            <a:r>
              <a:rPr lang="en-IN" sz="1800" dirty="0">
                <a:solidFill>
                  <a:srgbClr val="0000FF"/>
                </a:solidFill>
                <a:effectLst/>
                <a:latin typeface="Times New Roman" panose="02020603050405020304" pitchFamily="18" charset="0"/>
                <a:ea typeface="Times New Roman" panose="02020603050405020304" pitchFamily="18" charset="0"/>
              </a:rPr>
              <a:t>      b)   Since each entry is 32-bits, we have a </a:t>
            </a:r>
            <a:r>
              <a:rPr lang="en-IN" sz="1800" b="1" dirty="0">
                <a:solidFill>
                  <a:srgbClr val="0000FF"/>
                </a:solidFill>
                <a:effectLst/>
                <a:latin typeface="Times New Roman" panose="02020603050405020304" pitchFamily="18" charset="0"/>
                <a:ea typeface="Times New Roman" panose="02020603050405020304" pitchFamily="18" charset="0"/>
              </a:rPr>
              <a:t>32-bit MBR</a:t>
            </a:r>
            <a:r>
              <a:rPr lang="en-IN" sz="1800" dirty="0">
                <a:solidFill>
                  <a:srgbClr val="0000FF"/>
                </a:solidFill>
                <a:effectLst/>
                <a:latin typeface="Times New Roman" panose="02020603050405020304" pitchFamily="18" charset="0"/>
                <a:ea typeface="Times New Roman" panose="02020603050405020304" pitchFamily="18" charset="0"/>
              </a:rPr>
              <a:t>.</a:t>
            </a:r>
            <a:br>
              <a:rPr lang="en-IN" sz="1800" dirty="0">
                <a:solidFill>
                  <a:srgbClr val="0000FF"/>
                </a:solidFill>
                <a:effectLst/>
                <a:latin typeface="Times New Roman" panose="02020603050405020304" pitchFamily="18" charset="0"/>
                <a:ea typeface="Times New Roman" panose="02020603050405020304" pitchFamily="18" charset="0"/>
              </a:rPr>
            </a:br>
            <a:endParaRPr lang="en-IN"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89146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F4CF1785-B0CD-7981-E597-21580927B790}"/>
              </a:ext>
            </a:extLst>
          </p:cNvPr>
          <p:cNvSpPr txBox="1"/>
          <p:nvPr/>
        </p:nvSpPr>
        <p:spPr>
          <a:xfrm>
            <a:off x="1004552" y="135229"/>
            <a:ext cx="10740980" cy="830997"/>
          </a:xfrm>
          <a:prstGeom prst="rect">
            <a:avLst/>
          </a:prstGeom>
          <a:noFill/>
        </p:spPr>
        <p:txBody>
          <a:bodyPr wrap="square">
            <a:spAutoFit/>
          </a:bodyPr>
          <a:lstStyle/>
          <a:p>
            <a:r>
              <a:rPr lang="en-US" sz="2400" dirty="0">
                <a:solidFill>
                  <a:srgbClr val="FF0000"/>
                </a:solidFill>
              </a:rPr>
              <a:t>Design a 16K-by-8 memory using 2K-by-4 memory chips.  Arrange the chips in</a:t>
            </a:r>
          </a:p>
          <a:p>
            <a:r>
              <a:rPr lang="en-US" sz="2400" dirty="0">
                <a:solidFill>
                  <a:srgbClr val="FF0000"/>
                </a:solidFill>
              </a:rPr>
              <a:t>      an 8 by 2 array (8 rows of 2 columns) and design the decoding circuitry.</a:t>
            </a:r>
          </a:p>
        </p:txBody>
      </p:sp>
      <p:sp>
        <p:nvSpPr>
          <p:cNvPr id="9" name="TextBox 8">
            <a:extLst>
              <a:ext uri="{FF2B5EF4-FFF2-40B4-BE49-F238E27FC236}">
                <a16:creationId xmlns:a16="http://schemas.microsoft.com/office/drawing/2014/main" id="{C97B542E-7C66-1D38-5315-5756617D0FB3}"/>
              </a:ext>
            </a:extLst>
          </p:cNvPr>
          <p:cNvSpPr txBox="1"/>
          <p:nvPr/>
        </p:nvSpPr>
        <p:spPr>
          <a:xfrm>
            <a:off x="433589" y="966226"/>
            <a:ext cx="5366196" cy="5044779"/>
          </a:xfrm>
          <a:prstGeom prst="rect">
            <a:avLst/>
          </a:prstGeom>
          <a:noFill/>
        </p:spPr>
        <p:txBody>
          <a:bodyPr wrap="square">
            <a:spAutoFit/>
          </a:bodyPr>
          <a:lstStyle/>
          <a:p>
            <a:pPr>
              <a:lnSpc>
                <a:spcPct val="115000"/>
              </a:lnSpc>
              <a:spcAft>
                <a:spcPts val="1000"/>
              </a:spcAft>
            </a:pPr>
            <a:endPar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1000"/>
              </a:spcAft>
            </a:pPr>
            <a:endParaRPr lang="en-IN" dirty="0">
              <a:solidFill>
                <a:srgbClr val="3366FF"/>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1000"/>
              </a:spcAft>
            </a:pPr>
            <a:r>
              <a:rPr lang="en-IN" sz="1800" dirty="0">
                <a:solidFill>
                  <a:srgbClr val="3366FF"/>
                </a:solidFill>
                <a:effectLst/>
                <a:latin typeface="Times New Roman" panose="02020603050405020304" pitchFamily="18" charset="0"/>
                <a:ea typeface="Times New Roman" panose="02020603050405020304" pitchFamily="18" charset="0"/>
              </a:rPr>
              <a:t>number of chips needed as (16K </a:t>
            </a:r>
            <a:r>
              <a:rPr lang="en-IN" sz="1800" dirty="0">
                <a:solidFill>
                  <a:srgbClr val="3366FF"/>
                </a:solidFill>
                <a:effectLst/>
                <a:latin typeface="Symbol" panose="05050102010706020507" pitchFamily="18" charset="2"/>
                <a:ea typeface="Times New Roman" panose="02020603050405020304" pitchFamily="18" charset="0"/>
                <a:cs typeface="Times New Roman" panose="02020603050405020304" pitchFamily="18" charset="0"/>
              </a:rPr>
              <a:t>·</a:t>
            </a:r>
            <a:r>
              <a:rPr lang="en-IN" sz="1800" dirty="0">
                <a:solidFill>
                  <a:srgbClr val="3366FF"/>
                </a:solidFill>
                <a:effectLst/>
                <a:latin typeface="Times New Roman" panose="02020603050405020304" pitchFamily="18" charset="0"/>
                <a:ea typeface="Times New Roman" panose="02020603050405020304" pitchFamily="18" charset="0"/>
              </a:rPr>
              <a:t> 8) / (2K </a:t>
            </a:r>
            <a:r>
              <a:rPr lang="en-IN" sz="1800" dirty="0">
                <a:solidFill>
                  <a:srgbClr val="3366FF"/>
                </a:solidFill>
                <a:effectLst/>
                <a:latin typeface="Symbol" panose="05050102010706020507" pitchFamily="18" charset="2"/>
                <a:ea typeface="Times New Roman" panose="02020603050405020304" pitchFamily="18" charset="0"/>
                <a:cs typeface="Times New Roman" panose="02020603050405020304" pitchFamily="18" charset="0"/>
              </a:rPr>
              <a:t>·</a:t>
            </a:r>
            <a:r>
              <a:rPr lang="en-IN" sz="1800" dirty="0">
                <a:solidFill>
                  <a:srgbClr val="3366FF"/>
                </a:solidFill>
                <a:effectLst/>
                <a:latin typeface="Times New Roman" panose="02020603050405020304" pitchFamily="18" charset="0"/>
                <a:ea typeface="Times New Roman" panose="02020603050405020304" pitchFamily="18" charset="0"/>
              </a:rPr>
              <a:t> 4) =                    			128K / 8K = 16</a:t>
            </a:r>
            <a:endPar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1000"/>
              </a:spcAft>
            </a:pP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We are given a collection of 2K-by-4 memory chips.  As 2K = 2</a:t>
            </a:r>
            <a:r>
              <a:rPr lang="en-IN" sz="1800" baseline="30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11</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each of these chips has eleven address lines, denoted 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9</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8</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7</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6</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5</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four data lines, 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and the required control and select lines.  We are asked to design a 16K-by-8 memory.</a:t>
            </a:r>
            <a:b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As 16K = 2</a:t>
            </a:r>
            <a:r>
              <a:rPr lang="en-IN" sz="1800" baseline="30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14</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this memory has 14 address lines, denoted 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13</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through A</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The memory to be designed has eight data lines, denoted 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7</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through D</a:t>
            </a:r>
            <a:r>
              <a:rPr lang="en-IN" sz="1800" baseline="-250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and necessary control lines.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solidFill>
                  <a:srgbClr val="3366F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10D369A2-9F3F-57C9-D932-9560BCBC9D3B}"/>
              </a:ext>
            </a:extLst>
          </p:cNvPr>
          <p:cNvPicPr>
            <a:picLocks noChangeAspect="1"/>
          </p:cNvPicPr>
          <p:nvPr/>
        </p:nvPicPr>
        <p:blipFill>
          <a:blip r:embed="rId2"/>
          <a:stretch>
            <a:fillRect/>
          </a:stretch>
        </p:blipFill>
        <p:spPr>
          <a:xfrm>
            <a:off x="6071314" y="966226"/>
            <a:ext cx="5306097" cy="5465599"/>
          </a:xfrm>
          <a:prstGeom prst="rect">
            <a:avLst/>
          </a:prstGeom>
        </p:spPr>
      </p:pic>
    </p:spTree>
    <p:extLst>
      <p:ext uri="{BB962C8B-B14F-4D97-AF65-F5344CB8AC3E}">
        <p14:creationId xmlns:p14="http://schemas.microsoft.com/office/powerpoint/2010/main" val="4211321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15791</TotalTime>
  <Words>7738</Words>
  <Application>Microsoft Office PowerPoint</Application>
  <PresentationFormat>Widescreen</PresentationFormat>
  <Paragraphs>462</Paragraphs>
  <Slides>43</Slides>
  <Notes>11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56" baseType="lpstr">
      <vt:lpstr>Arial</vt:lpstr>
      <vt:lpstr>Calibri</vt:lpstr>
      <vt:lpstr>Calibri Light</vt:lpstr>
      <vt:lpstr>Cambria</vt:lpstr>
      <vt:lpstr>Comic Sans MS</vt:lpstr>
      <vt:lpstr>Helvetica Neue</vt:lpstr>
      <vt:lpstr>Myriad Pro</vt:lpstr>
      <vt:lpstr>Noto Sans Symbols</vt:lpstr>
      <vt:lpstr>Symbol</vt:lpstr>
      <vt:lpstr>Times New Roman</vt:lpstr>
      <vt:lpstr>Office Theme</vt:lpstr>
      <vt:lpstr>1_Office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of large memories: Static memories</vt:lpstr>
      <vt:lpstr>Memory controller</vt:lpstr>
      <vt:lpstr>Read-Only Memories (ROMs)</vt:lpstr>
      <vt:lpstr>Read-Only Memories (ROMs)</vt:lpstr>
      <vt:lpstr>Read-Only-Memory</vt:lpstr>
      <vt:lpstr>Read-Only Memories (Contd.,)</vt:lpstr>
      <vt:lpstr>Read-Only Memories (Contd.,)</vt:lpstr>
      <vt:lpstr>PowerPoint Presentation</vt:lpstr>
      <vt:lpstr>PowerPoint Presentation</vt:lpstr>
      <vt:lpstr>PowerPoint Presentation</vt:lpstr>
      <vt:lpstr>PowerPoint Presentation</vt:lpstr>
      <vt:lpstr>PowerPoint Presentation</vt:lpstr>
      <vt:lpstr>PowerPoint Presentation</vt:lpstr>
      <vt:lpstr>Cache Hit</vt:lpstr>
      <vt:lpstr>Cache  miss</vt:lpstr>
      <vt:lpstr>Cache Coherence Problem</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Lalit Mehra</cp:lastModifiedBy>
  <cp:revision>24</cp:revision>
  <dcterms:created xsi:type="dcterms:W3CDTF">2022-01-11T11:32:00Z</dcterms:created>
  <dcterms:modified xsi:type="dcterms:W3CDTF">2025-02-11T05:29:47Z</dcterms:modified>
</cp:coreProperties>
</file>