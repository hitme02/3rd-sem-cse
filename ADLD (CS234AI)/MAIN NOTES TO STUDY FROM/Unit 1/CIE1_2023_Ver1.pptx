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259" r:id="rId2"/>
    <p:sldId id="336" r:id="rId3"/>
    <p:sldId id="338" r:id="rId4"/>
    <p:sldId id="339" r:id="rId5"/>
    <p:sldId id="337" r:id="rId6"/>
    <p:sldId id="341" r:id="rId7"/>
    <p:sldId id="344" r:id="rId8"/>
    <p:sldId id="343" r:id="rId9"/>
    <p:sldId id="342" r:id="rId10"/>
    <p:sldId id="346" r:id="rId11"/>
    <p:sldId id="347" r:id="rId12"/>
    <p:sldId id="264" r:id="rId13"/>
    <p:sldId id="348" r:id="rId14"/>
    <p:sldId id="350" r:id="rId15"/>
    <p:sldId id="260" r:id="rId16"/>
    <p:sldId id="262" r:id="rId17"/>
    <p:sldId id="261" r:id="rId18"/>
    <p:sldId id="263" r:id="rId19"/>
    <p:sldId id="265" r:id="rId20"/>
    <p:sldId id="266" r:id="rId21"/>
    <p:sldId id="270" r:id="rId22"/>
    <p:sldId id="269" r:id="rId23"/>
    <p:sldId id="267" r:id="rId24"/>
    <p:sldId id="268" r:id="rId25"/>
    <p:sldId id="289" r:id="rId26"/>
    <p:sldId id="283" r:id="rId27"/>
    <p:sldId id="281" r:id="rId28"/>
    <p:sldId id="284" r:id="rId29"/>
    <p:sldId id="285" r:id="rId30"/>
    <p:sldId id="286" r:id="rId31"/>
    <p:sldId id="287" r:id="rId32"/>
    <p:sldId id="290" r:id="rId33"/>
    <p:sldId id="293" r:id="rId34"/>
    <p:sldId id="291" r:id="rId35"/>
    <p:sldId id="298" r:id="rId36"/>
    <p:sldId id="292" r:id="rId37"/>
    <p:sldId id="294" r:id="rId38"/>
    <p:sldId id="306" r:id="rId39"/>
    <p:sldId id="311" r:id="rId40"/>
    <p:sldId id="307" r:id="rId41"/>
    <p:sldId id="273" r:id="rId42"/>
    <p:sldId id="296" r:id="rId43"/>
    <p:sldId id="312" r:id="rId44"/>
    <p:sldId id="297" r:id="rId45"/>
    <p:sldId id="313" r:id="rId46"/>
    <p:sldId id="308" r:id="rId47"/>
    <p:sldId id="300" r:id="rId48"/>
    <p:sldId id="305" r:id="rId49"/>
    <p:sldId id="271" r:id="rId50"/>
    <p:sldId id="279" r:id="rId51"/>
    <p:sldId id="272" r:id="rId52"/>
    <p:sldId id="280" r:id="rId53"/>
    <p:sldId id="274" r:id="rId54"/>
    <p:sldId id="299" r:id="rId55"/>
    <p:sldId id="304" r:id="rId56"/>
    <p:sldId id="301" r:id="rId57"/>
    <p:sldId id="302" r:id="rId58"/>
    <p:sldId id="282" r:id="rId59"/>
    <p:sldId id="303" r:id="rId60"/>
    <p:sldId id="275" r:id="rId61"/>
    <p:sldId id="277" r:id="rId62"/>
    <p:sldId id="257" r:id="rId63"/>
    <p:sldId id="258"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276" r:id="rId83"/>
    <p:sldId id="332" r:id="rId84"/>
    <p:sldId id="333" r:id="rId85"/>
    <p:sldId id="334" r:id="rId86"/>
    <p:sldId id="335"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77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00025B-968F-4AB8-A123-732CBA9A067F}" type="datetimeFigureOut">
              <a:rPr lang="en-IN" smtClean="0"/>
              <a:t>30/12/2023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DC72E7-01A6-4798-8D04-E9AD6A028172}" type="slidenum">
              <a:rPr lang="en-IN" smtClean="0"/>
              <a:t>‹#›</a:t>
            </a:fld>
            <a:endParaRPr lang="en-IN"/>
          </a:p>
        </p:txBody>
      </p:sp>
    </p:spTree>
    <p:extLst>
      <p:ext uri="{BB962C8B-B14F-4D97-AF65-F5344CB8AC3E}">
        <p14:creationId xmlns:p14="http://schemas.microsoft.com/office/powerpoint/2010/main" val="905793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1E479F50-D3E6-CC82-AFDC-BA936C81DD99}"/>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A2D7A79B-F721-4E4A-A224-307ADCC3F6FC}" type="slidenum">
              <a:rPr lang="en-US" altLang="en-US" sz="1000"/>
              <a:pPr/>
              <a:t>2</a:t>
            </a:fld>
            <a:endParaRPr lang="en-US" altLang="en-US" sz="1000"/>
          </a:p>
        </p:txBody>
      </p:sp>
      <p:sp>
        <p:nvSpPr>
          <p:cNvPr id="39939" name="Rectangle 2">
            <a:extLst>
              <a:ext uri="{FF2B5EF4-FFF2-40B4-BE49-F238E27FC236}">
                <a16:creationId xmlns:a16="http://schemas.microsoft.com/office/drawing/2014/main" id="{DDEDA755-5717-2471-9927-283DEEEC296D}"/>
              </a:ext>
            </a:extLst>
          </p:cNvPr>
          <p:cNvSpPr>
            <a:spLocks noGrp="1" noRot="1" noChangeAspect="1" noChangeArrowheads="1" noTextEdit="1"/>
          </p:cNvSpPr>
          <p:nvPr>
            <p:ph type="sldImg"/>
          </p:nvPr>
        </p:nvSpPr>
        <p:spPr>
          <a:xfrm>
            <a:off x="446088" y="612775"/>
            <a:ext cx="5978525" cy="3363913"/>
          </a:xfrm>
          <a:noFill/>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4229C6F4-EDB2-A72C-246E-AF429F996BFE}"/>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0A25E6D0-29B8-4F75-84E9-FB86EF02F6C7}" type="slidenum">
              <a:rPr lang="en-US" altLang="en-US" sz="1000"/>
              <a:pPr/>
              <a:t>3</a:t>
            </a:fld>
            <a:endParaRPr lang="en-US" altLang="en-US" sz="1000"/>
          </a:p>
        </p:txBody>
      </p:sp>
      <p:sp>
        <p:nvSpPr>
          <p:cNvPr id="41987" name="Rectangle 2">
            <a:extLst>
              <a:ext uri="{FF2B5EF4-FFF2-40B4-BE49-F238E27FC236}">
                <a16:creationId xmlns:a16="http://schemas.microsoft.com/office/drawing/2014/main" id="{5AF03DC1-1233-D453-8539-CA99ED9CE721}"/>
              </a:ext>
            </a:extLst>
          </p:cNvPr>
          <p:cNvSpPr>
            <a:spLocks noGrp="1" noRot="1" noChangeAspect="1" noChangeArrowheads="1" noTextEdit="1"/>
          </p:cNvSpPr>
          <p:nvPr>
            <p:ph type="sldImg"/>
          </p:nvPr>
        </p:nvSpPr>
        <p:spPr>
          <a:xfrm>
            <a:off x="446088" y="612775"/>
            <a:ext cx="5978525" cy="3363913"/>
          </a:xfrm>
          <a:noFill/>
          <a:ln cap="flat"/>
        </p:spPr>
      </p:sp>
    </p:spTree>
    <p:extLst>
      <p:ext uri="{BB962C8B-B14F-4D97-AF65-F5344CB8AC3E}">
        <p14:creationId xmlns:p14="http://schemas.microsoft.com/office/powerpoint/2010/main" val="200634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ADED923D-DCF9-3ADE-5AC8-0C85001B4EF4}"/>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B320D412-6B9B-4D9F-966C-863C7DE34751}" type="slidenum">
              <a:rPr lang="en-US" altLang="en-US" sz="1000"/>
              <a:pPr/>
              <a:t>4</a:t>
            </a:fld>
            <a:endParaRPr lang="en-US" altLang="en-US" sz="1000"/>
          </a:p>
        </p:txBody>
      </p:sp>
      <p:sp>
        <p:nvSpPr>
          <p:cNvPr id="43011" name="Rectangle 2">
            <a:extLst>
              <a:ext uri="{FF2B5EF4-FFF2-40B4-BE49-F238E27FC236}">
                <a16:creationId xmlns:a16="http://schemas.microsoft.com/office/drawing/2014/main" id="{9C3D390E-C8C3-4768-455E-523BFCCA1CD5}"/>
              </a:ext>
            </a:extLst>
          </p:cNvPr>
          <p:cNvSpPr>
            <a:spLocks noGrp="1" noRot="1" noChangeAspect="1" noChangeArrowheads="1" noTextEdit="1"/>
          </p:cNvSpPr>
          <p:nvPr>
            <p:ph type="sldImg"/>
          </p:nvPr>
        </p:nvSpPr>
        <p:spPr>
          <a:xfrm>
            <a:off x="446088" y="612775"/>
            <a:ext cx="5978525" cy="3363913"/>
          </a:xfrm>
          <a:noFill/>
          <a:ln cap="flat"/>
        </p:spPr>
      </p:sp>
    </p:spTree>
    <p:extLst>
      <p:ext uri="{BB962C8B-B14F-4D97-AF65-F5344CB8AC3E}">
        <p14:creationId xmlns:p14="http://schemas.microsoft.com/office/powerpoint/2010/main" val="3349773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408D15C-BE2B-FA97-0F6C-29A7CEA911D4}"/>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5704740C-CA1B-40BA-ADBD-E670971033EA}" type="slidenum">
              <a:rPr lang="en-US" altLang="en-US" sz="1000"/>
              <a:pPr/>
              <a:t>5</a:t>
            </a:fld>
            <a:endParaRPr lang="en-US" altLang="en-US" sz="1000"/>
          </a:p>
        </p:txBody>
      </p:sp>
      <p:sp>
        <p:nvSpPr>
          <p:cNvPr id="40963" name="Rectangle 2">
            <a:extLst>
              <a:ext uri="{FF2B5EF4-FFF2-40B4-BE49-F238E27FC236}">
                <a16:creationId xmlns:a16="http://schemas.microsoft.com/office/drawing/2014/main" id="{C36E460C-A000-B006-4627-E68C48933783}"/>
              </a:ext>
            </a:extLst>
          </p:cNvPr>
          <p:cNvSpPr>
            <a:spLocks noGrp="1" noRot="1" noChangeAspect="1" noChangeArrowheads="1" noTextEdit="1"/>
          </p:cNvSpPr>
          <p:nvPr>
            <p:ph type="sldImg"/>
          </p:nvPr>
        </p:nvSpPr>
        <p:spPr>
          <a:xfrm>
            <a:off x="446088" y="612775"/>
            <a:ext cx="5978525" cy="3363913"/>
          </a:xfrm>
          <a:noFill/>
          <a:ln cap="flat"/>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408D15C-BE2B-FA97-0F6C-29A7CEA911D4}"/>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5704740C-CA1B-40BA-ADBD-E670971033EA}" type="slidenum">
              <a:rPr lang="en-US" altLang="en-US" sz="1000"/>
              <a:pPr/>
              <a:t>6</a:t>
            </a:fld>
            <a:endParaRPr lang="en-US" altLang="en-US" sz="1000"/>
          </a:p>
        </p:txBody>
      </p:sp>
      <p:sp>
        <p:nvSpPr>
          <p:cNvPr id="40963" name="Rectangle 2">
            <a:extLst>
              <a:ext uri="{FF2B5EF4-FFF2-40B4-BE49-F238E27FC236}">
                <a16:creationId xmlns:a16="http://schemas.microsoft.com/office/drawing/2014/main" id="{C36E460C-A000-B006-4627-E68C48933783}"/>
              </a:ext>
            </a:extLst>
          </p:cNvPr>
          <p:cNvSpPr>
            <a:spLocks noGrp="1" noRot="1" noChangeAspect="1" noChangeArrowheads="1" noTextEdit="1"/>
          </p:cNvSpPr>
          <p:nvPr>
            <p:ph type="sldImg"/>
          </p:nvPr>
        </p:nvSpPr>
        <p:spPr>
          <a:xfrm>
            <a:off x="446088" y="612775"/>
            <a:ext cx="5978525" cy="3363913"/>
          </a:xfrm>
          <a:noFill/>
          <a:ln cap="flat"/>
        </p:spPr>
      </p:sp>
    </p:spTree>
    <p:extLst>
      <p:ext uri="{BB962C8B-B14F-4D97-AF65-F5344CB8AC3E}">
        <p14:creationId xmlns:p14="http://schemas.microsoft.com/office/powerpoint/2010/main" val="19955828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408D15C-BE2B-FA97-0F6C-29A7CEA911D4}"/>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5704740C-CA1B-40BA-ADBD-E670971033EA}" type="slidenum">
              <a:rPr lang="en-US" altLang="en-US" sz="1000"/>
              <a:pPr/>
              <a:t>7</a:t>
            </a:fld>
            <a:endParaRPr lang="en-US" altLang="en-US" sz="1000"/>
          </a:p>
        </p:txBody>
      </p:sp>
      <p:sp>
        <p:nvSpPr>
          <p:cNvPr id="40963" name="Rectangle 2">
            <a:extLst>
              <a:ext uri="{FF2B5EF4-FFF2-40B4-BE49-F238E27FC236}">
                <a16:creationId xmlns:a16="http://schemas.microsoft.com/office/drawing/2014/main" id="{C36E460C-A000-B006-4627-E68C48933783}"/>
              </a:ext>
            </a:extLst>
          </p:cNvPr>
          <p:cNvSpPr>
            <a:spLocks noGrp="1" noRot="1" noChangeAspect="1" noChangeArrowheads="1" noTextEdit="1"/>
          </p:cNvSpPr>
          <p:nvPr>
            <p:ph type="sldImg"/>
          </p:nvPr>
        </p:nvSpPr>
        <p:spPr>
          <a:xfrm>
            <a:off x="446088" y="612775"/>
            <a:ext cx="5978525" cy="3363913"/>
          </a:xfrm>
          <a:noFill/>
          <a:ln cap="flat"/>
        </p:spPr>
      </p:sp>
    </p:spTree>
    <p:extLst>
      <p:ext uri="{BB962C8B-B14F-4D97-AF65-F5344CB8AC3E}">
        <p14:creationId xmlns:p14="http://schemas.microsoft.com/office/powerpoint/2010/main" val="18741869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408D15C-BE2B-FA97-0F6C-29A7CEA911D4}"/>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5704740C-CA1B-40BA-ADBD-E670971033EA}" type="slidenum">
              <a:rPr lang="en-US" altLang="en-US" sz="1000"/>
              <a:pPr/>
              <a:t>8</a:t>
            </a:fld>
            <a:endParaRPr lang="en-US" altLang="en-US" sz="1000"/>
          </a:p>
        </p:txBody>
      </p:sp>
      <p:sp>
        <p:nvSpPr>
          <p:cNvPr id="40963" name="Rectangle 2">
            <a:extLst>
              <a:ext uri="{FF2B5EF4-FFF2-40B4-BE49-F238E27FC236}">
                <a16:creationId xmlns:a16="http://schemas.microsoft.com/office/drawing/2014/main" id="{C36E460C-A000-B006-4627-E68C48933783}"/>
              </a:ext>
            </a:extLst>
          </p:cNvPr>
          <p:cNvSpPr>
            <a:spLocks noGrp="1" noRot="1" noChangeAspect="1" noChangeArrowheads="1" noTextEdit="1"/>
          </p:cNvSpPr>
          <p:nvPr>
            <p:ph type="sldImg"/>
          </p:nvPr>
        </p:nvSpPr>
        <p:spPr>
          <a:xfrm>
            <a:off x="446088" y="612775"/>
            <a:ext cx="5978525" cy="3363913"/>
          </a:xfrm>
          <a:noFill/>
          <a:ln cap="flat"/>
        </p:spPr>
      </p:sp>
    </p:spTree>
    <p:extLst>
      <p:ext uri="{BB962C8B-B14F-4D97-AF65-F5344CB8AC3E}">
        <p14:creationId xmlns:p14="http://schemas.microsoft.com/office/powerpoint/2010/main" val="3016752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7408D15C-BE2B-FA97-0F6C-29A7CEA911D4}"/>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5704740C-CA1B-40BA-ADBD-E670971033EA}" type="slidenum">
              <a:rPr lang="en-US" altLang="en-US" sz="1000"/>
              <a:pPr/>
              <a:t>9</a:t>
            </a:fld>
            <a:endParaRPr lang="en-US" altLang="en-US" sz="1000"/>
          </a:p>
        </p:txBody>
      </p:sp>
      <p:sp>
        <p:nvSpPr>
          <p:cNvPr id="40963" name="Rectangle 2">
            <a:extLst>
              <a:ext uri="{FF2B5EF4-FFF2-40B4-BE49-F238E27FC236}">
                <a16:creationId xmlns:a16="http://schemas.microsoft.com/office/drawing/2014/main" id="{C36E460C-A000-B006-4627-E68C48933783}"/>
              </a:ext>
            </a:extLst>
          </p:cNvPr>
          <p:cNvSpPr>
            <a:spLocks noGrp="1" noRot="1" noChangeAspect="1" noChangeArrowheads="1" noTextEdit="1"/>
          </p:cNvSpPr>
          <p:nvPr>
            <p:ph type="sldImg"/>
          </p:nvPr>
        </p:nvSpPr>
        <p:spPr>
          <a:xfrm>
            <a:off x="446088" y="612775"/>
            <a:ext cx="5978525" cy="3363913"/>
          </a:xfrm>
          <a:noFill/>
          <a:ln cap="flat"/>
        </p:spPr>
      </p:sp>
    </p:spTree>
    <p:extLst>
      <p:ext uri="{BB962C8B-B14F-4D97-AF65-F5344CB8AC3E}">
        <p14:creationId xmlns:p14="http://schemas.microsoft.com/office/powerpoint/2010/main" val="13029667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1300ABEE-EAB5-65A5-F050-D797879BC1E3}"/>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6CE23C17-3B99-49DD-91FE-3CD8B029301F}" type="slidenum">
              <a:rPr lang="en-US" altLang="en-US" sz="1000"/>
              <a:pPr/>
              <a:t>11</a:t>
            </a:fld>
            <a:endParaRPr lang="en-US" altLang="en-US" sz="1000"/>
          </a:p>
        </p:txBody>
      </p:sp>
      <p:sp>
        <p:nvSpPr>
          <p:cNvPr id="45059" name="Rectangle 2">
            <a:extLst>
              <a:ext uri="{FF2B5EF4-FFF2-40B4-BE49-F238E27FC236}">
                <a16:creationId xmlns:a16="http://schemas.microsoft.com/office/drawing/2014/main" id="{9794763C-E5BD-65D9-3D95-E20F54A806DF}"/>
              </a:ext>
            </a:extLst>
          </p:cNvPr>
          <p:cNvSpPr>
            <a:spLocks noGrp="1" noRot="1" noChangeAspect="1" noChangeArrowheads="1" noTextEdit="1"/>
          </p:cNvSpPr>
          <p:nvPr>
            <p:ph type="sldImg"/>
          </p:nvPr>
        </p:nvSpPr>
        <p:spPr>
          <a:xfrm>
            <a:off x="444500" y="612775"/>
            <a:ext cx="5980113" cy="3363913"/>
          </a:xfrm>
          <a:noFill/>
          <a:ln cap="flat"/>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87884F9A-55D3-ED13-B4E8-64DB47832E77}"/>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3F9076D2-EA6F-407B-9FEE-3C11B0036537}" type="slidenum">
              <a:rPr lang="en-US" altLang="en-US" sz="1000"/>
              <a:pPr/>
              <a:t>13</a:t>
            </a:fld>
            <a:endParaRPr lang="en-US" altLang="en-US" sz="1000"/>
          </a:p>
        </p:txBody>
      </p:sp>
      <p:sp>
        <p:nvSpPr>
          <p:cNvPr id="47107" name="Rectangle 2">
            <a:extLst>
              <a:ext uri="{FF2B5EF4-FFF2-40B4-BE49-F238E27FC236}">
                <a16:creationId xmlns:a16="http://schemas.microsoft.com/office/drawing/2014/main" id="{1440ECC1-D1C5-B83F-019E-8955711DB881}"/>
              </a:ext>
            </a:extLst>
          </p:cNvPr>
          <p:cNvSpPr>
            <a:spLocks noGrp="1" noRot="1" noChangeAspect="1" noChangeArrowheads="1" noTextEdit="1"/>
          </p:cNvSpPr>
          <p:nvPr>
            <p:ph type="sldImg"/>
          </p:nvPr>
        </p:nvSpPr>
        <p:spPr>
          <a:xfrm>
            <a:off x="444500" y="612775"/>
            <a:ext cx="5980113" cy="3363913"/>
          </a:xfrm>
          <a:noFill/>
          <a:ln cap="flat"/>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39E45BC8-BC47-C38F-1935-453132B3A6A1}"/>
              </a:ext>
            </a:extLst>
          </p:cNvPr>
          <p:cNvSpPr>
            <a:spLocks noGrp="1" noChangeArrowheads="1"/>
          </p:cNvSpPr>
          <p:nvPr>
            <p:ph type="sldNum" sz="quarter" idx="5"/>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7D300430-6B86-4CB5-B6CD-977FEF1CFA34}" type="slidenum">
              <a:rPr lang="en-US" altLang="en-US" sz="1000"/>
              <a:pPr/>
              <a:t>14</a:t>
            </a:fld>
            <a:endParaRPr lang="en-US" altLang="en-US" sz="1000"/>
          </a:p>
        </p:txBody>
      </p:sp>
      <p:sp>
        <p:nvSpPr>
          <p:cNvPr id="49155" name="Rectangle 2">
            <a:extLst>
              <a:ext uri="{FF2B5EF4-FFF2-40B4-BE49-F238E27FC236}">
                <a16:creationId xmlns:a16="http://schemas.microsoft.com/office/drawing/2014/main" id="{E13505D9-D5D3-FB52-9C12-048A39C3C0AC}"/>
              </a:ext>
            </a:extLst>
          </p:cNvPr>
          <p:cNvSpPr>
            <a:spLocks noGrp="1" noRot="1" noChangeAspect="1" noChangeArrowheads="1" noTextEdit="1"/>
          </p:cNvSpPr>
          <p:nvPr>
            <p:ph type="sldImg"/>
          </p:nvPr>
        </p:nvSpPr>
        <p:spPr>
          <a:xfrm>
            <a:off x="444500" y="612775"/>
            <a:ext cx="5980113" cy="3363913"/>
          </a:xfrm>
          <a:noFill/>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85FBB-6B10-4765-B1D4-E598610B45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FC7555F-EF95-4EEB-A632-3ACEC94D1B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AE81FC1-D330-43DF-85A4-9713006C4E41}"/>
              </a:ext>
            </a:extLst>
          </p:cNvPr>
          <p:cNvSpPr>
            <a:spLocks noGrp="1"/>
          </p:cNvSpPr>
          <p:nvPr>
            <p:ph type="dt" sz="half" idx="10"/>
          </p:nvPr>
        </p:nvSpPr>
        <p:spPr/>
        <p:txBody>
          <a:bodyPr/>
          <a:lstStyle/>
          <a:p>
            <a:fld id="{BDC1F4AA-9C80-4F4C-8E54-D9E3C8CD668A}" type="datetimeFigureOut">
              <a:rPr lang="en-IN" smtClean="0"/>
              <a:t>30/12/2023</a:t>
            </a:fld>
            <a:endParaRPr lang="en-IN"/>
          </a:p>
        </p:txBody>
      </p:sp>
      <p:sp>
        <p:nvSpPr>
          <p:cNvPr id="5" name="Footer Placeholder 4">
            <a:extLst>
              <a:ext uri="{FF2B5EF4-FFF2-40B4-BE49-F238E27FC236}">
                <a16:creationId xmlns:a16="http://schemas.microsoft.com/office/drawing/2014/main" id="{86C7DB5C-E255-4C79-B842-85F35B6B15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04C98D-7CCD-4AF3-A28E-63C765AE127D}"/>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241044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7F20F-226C-44C6-924F-610E17489EA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1FC04D3-603E-45E1-BC15-C2419DDE0D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26EE79-8467-4732-BA30-4FB1AEA5AE7A}"/>
              </a:ext>
            </a:extLst>
          </p:cNvPr>
          <p:cNvSpPr>
            <a:spLocks noGrp="1"/>
          </p:cNvSpPr>
          <p:nvPr>
            <p:ph type="dt" sz="half" idx="10"/>
          </p:nvPr>
        </p:nvSpPr>
        <p:spPr/>
        <p:txBody>
          <a:bodyPr/>
          <a:lstStyle/>
          <a:p>
            <a:fld id="{BDC1F4AA-9C80-4F4C-8E54-D9E3C8CD668A}" type="datetimeFigureOut">
              <a:rPr lang="en-IN" smtClean="0"/>
              <a:t>30/12/2023</a:t>
            </a:fld>
            <a:endParaRPr lang="en-IN"/>
          </a:p>
        </p:txBody>
      </p:sp>
      <p:sp>
        <p:nvSpPr>
          <p:cNvPr id="5" name="Footer Placeholder 4">
            <a:extLst>
              <a:ext uri="{FF2B5EF4-FFF2-40B4-BE49-F238E27FC236}">
                <a16:creationId xmlns:a16="http://schemas.microsoft.com/office/drawing/2014/main" id="{AC97ADA7-6BC9-49F0-BD30-EA67FA9B60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490EF18-F33F-4A89-8F0A-8AA8992A41B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08942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A4357-CD8D-436E-8876-C93D4C9373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9CF6D4F-7782-4459-AB32-F5A5D16133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C855B7-4859-46C2-8A21-DA8C93FB874B}"/>
              </a:ext>
            </a:extLst>
          </p:cNvPr>
          <p:cNvSpPr>
            <a:spLocks noGrp="1"/>
          </p:cNvSpPr>
          <p:nvPr>
            <p:ph type="dt" sz="half" idx="10"/>
          </p:nvPr>
        </p:nvSpPr>
        <p:spPr/>
        <p:txBody>
          <a:bodyPr/>
          <a:lstStyle/>
          <a:p>
            <a:fld id="{BDC1F4AA-9C80-4F4C-8E54-D9E3C8CD668A}" type="datetimeFigureOut">
              <a:rPr lang="en-IN" smtClean="0"/>
              <a:t>30/12/2023</a:t>
            </a:fld>
            <a:endParaRPr lang="en-IN"/>
          </a:p>
        </p:txBody>
      </p:sp>
      <p:sp>
        <p:nvSpPr>
          <p:cNvPr id="5" name="Footer Placeholder 4">
            <a:extLst>
              <a:ext uri="{FF2B5EF4-FFF2-40B4-BE49-F238E27FC236}">
                <a16:creationId xmlns:a16="http://schemas.microsoft.com/office/drawing/2014/main" id="{0A04C77A-5956-4146-92FF-6C88E7C469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D2035E-CA8D-4F67-8677-679942CE6668}"/>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508240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EDC01-D39F-46C6-B1F5-45E438DCA0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3FCD2F-DCA5-4CCF-B943-24363AC23C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5F6FD3-D0E7-432C-8AA6-2C85B1E80BD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77DD97F-BB99-46E4-A338-C5233A10BB06}"/>
              </a:ext>
            </a:extLst>
          </p:cNvPr>
          <p:cNvSpPr>
            <a:spLocks noGrp="1"/>
          </p:cNvSpPr>
          <p:nvPr>
            <p:ph type="dt" sz="half" idx="10"/>
          </p:nvPr>
        </p:nvSpPr>
        <p:spPr/>
        <p:txBody>
          <a:bodyPr/>
          <a:lstStyle/>
          <a:p>
            <a:fld id="{BDC1F4AA-9C80-4F4C-8E54-D9E3C8CD668A}" type="datetimeFigureOut">
              <a:rPr lang="en-IN" smtClean="0"/>
              <a:t>30/12/2023</a:t>
            </a:fld>
            <a:endParaRPr lang="en-IN"/>
          </a:p>
        </p:txBody>
      </p:sp>
      <p:sp>
        <p:nvSpPr>
          <p:cNvPr id="6" name="Footer Placeholder 5">
            <a:extLst>
              <a:ext uri="{FF2B5EF4-FFF2-40B4-BE49-F238E27FC236}">
                <a16:creationId xmlns:a16="http://schemas.microsoft.com/office/drawing/2014/main" id="{989B0763-6316-4843-AC6A-9A8A68CA05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3CE640-E4C6-4B88-A8DA-38A9033DA3FA}"/>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701378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FB83-6B10-4A64-B3BB-98CAC14D56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64E9DE2-792F-4BC0-A80A-EE029779A8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9AB455-C8CC-4950-BC91-ECB1997330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6EE469-C945-4C43-8B79-88EE3725C3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CCC345-6EFF-4C29-9B73-78CE8E5E13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9D2137C-E752-4F84-ABD2-7FC8643F992A}"/>
              </a:ext>
            </a:extLst>
          </p:cNvPr>
          <p:cNvSpPr>
            <a:spLocks noGrp="1"/>
          </p:cNvSpPr>
          <p:nvPr>
            <p:ph type="dt" sz="half" idx="10"/>
          </p:nvPr>
        </p:nvSpPr>
        <p:spPr/>
        <p:txBody>
          <a:bodyPr/>
          <a:lstStyle/>
          <a:p>
            <a:fld id="{BDC1F4AA-9C80-4F4C-8E54-D9E3C8CD668A}" type="datetimeFigureOut">
              <a:rPr lang="en-IN" smtClean="0"/>
              <a:t>30/12/2023</a:t>
            </a:fld>
            <a:endParaRPr lang="en-IN"/>
          </a:p>
        </p:txBody>
      </p:sp>
      <p:sp>
        <p:nvSpPr>
          <p:cNvPr id="8" name="Footer Placeholder 7">
            <a:extLst>
              <a:ext uri="{FF2B5EF4-FFF2-40B4-BE49-F238E27FC236}">
                <a16:creationId xmlns:a16="http://schemas.microsoft.com/office/drawing/2014/main" id="{6D3601E4-17F6-4FAE-A68B-F4BE405B6C1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CAB9419-9D23-495C-8A1C-B6D8952DEF15}"/>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7305486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0F1E3-F378-4BB8-B917-4BD77284D88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A920584-5CEE-4F64-B702-B4EC57D26955}"/>
              </a:ext>
            </a:extLst>
          </p:cNvPr>
          <p:cNvSpPr>
            <a:spLocks noGrp="1"/>
          </p:cNvSpPr>
          <p:nvPr>
            <p:ph type="dt" sz="half" idx="10"/>
          </p:nvPr>
        </p:nvSpPr>
        <p:spPr/>
        <p:txBody>
          <a:bodyPr/>
          <a:lstStyle/>
          <a:p>
            <a:fld id="{BDC1F4AA-9C80-4F4C-8E54-D9E3C8CD668A}" type="datetimeFigureOut">
              <a:rPr lang="en-IN" smtClean="0"/>
              <a:t>30/12/2023</a:t>
            </a:fld>
            <a:endParaRPr lang="en-IN"/>
          </a:p>
        </p:txBody>
      </p:sp>
      <p:sp>
        <p:nvSpPr>
          <p:cNvPr id="4" name="Footer Placeholder 3">
            <a:extLst>
              <a:ext uri="{FF2B5EF4-FFF2-40B4-BE49-F238E27FC236}">
                <a16:creationId xmlns:a16="http://schemas.microsoft.com/office/drawing/2014/main" id="{5A1AA801-D588-4550-B954-A43548D8A5B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0A0DD41-C8FD-40BB-ACB6-0AF2BB1A1F1B}"/>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3478025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D717B2-71B4-4C0F-9115-D7F7F7C7B8FE}"/>
              </a:ext>
            </a:extLst>
          </p:cNvPr>
          <p:cNvSpPr>
            <a:spLocks noGrp="1"/>
          </p:cNvSpPr>
          <p:nvPr>
            <p:ph type="dt" sz="half" idx="10"/>
          </p:nvPr>
        </p:nvSpPr>
        <p:spPr/>
        <p:txBody>
          <a:bodyPr/>
          <a:lstStyle/>
          <a:p>
            <a:fld id="{BDC1F4AA-9C80-4F4C-8E54-D9E3C8CD668A}" type="datetimeFigureOut">
              <a:rPr lang="en-IN" smtClean="0"/>
              <a:t>30/12/2023</a:t>
            </a:fld>
            <a:endParaRPr lang="en-IN"/>
          </a:p>
        </p:txBody>
      </p:sp>
      <p:sp>
        <p:nvSpPr>
          <p:cNvPr id="3" name="Footer Placeholder 2">
            <a:extLst>
              <a:ext uri="{FF2B5EF4-FFF2-40B4-BE49-F238E27FC236}">
                <a16:creationId xmlns:a16="http://schemas.microsoft.com/office/drawing/2014/main" id="{C09F5609-A997-4AF2-B42F-F902B882036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7BD6E9-BDB3-404A-BCF1-D8E0677477C1}"/>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685151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4E4A0-7895-4E52-BC0D-D4B8120B7B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9E0547-D743-4911-8648-4216EE6788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286E74B-EF54-4E60-8E9A-CE0B8BA59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471B80-3F72-4134-9FE9-A57FE401FBEC}"/>
              </a:ext>
            </a:extLst>
          </p:cNvPr>
          <p:cNvSpPr>
            <a:spLocks noGrp="1"/>
          </p:cNvSpPr>
          <p:nvPr>
            <p:ph type="dt" sz="half" idx="10"/>
          </p:nvPr>
        </p:nvSpPr>
        <p:spPr/>
        <p:txBody>
          <a:bodyPr/>
          <a:lstStyle/>
          <a:p>
            <a:fld id="{BDC1F4AA-9C80-4F4C-8E54-D9E3C8CD668A}" type="datetimeFigureOut">
              <a:rPr lang="en-IN" smtClean="0"/>
              <a:t>30/12/2023</a:t>
            </a:fld>
            <a:endParaRPr lang="en-IN"/>
          </a:p>
        </p:txBody>
      </p:sp>
      <p:sp>
        <p:nvSpPr>
          <p:cNvPr id="6" name="Footer Placeholder 5">
            <a:extLst>
              <a:ext uri="{FF2B5EF4-FFF2-40B4-BE49-F238E27FC236}">
                <a16:creationId xmlns:a16="http://schemas.microsoft.com/office/drawing/2014/main" id="{C6B8F800-B884-4690-8505-0E9CD7DD78F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F638766-C73C-4FFE-AEB6-D8F51D69F45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2356394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EFFA4-E406-42D6-9550-222E77C5CC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BE926F8-4D24-4D1E-A248-57EEF25B30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AAFB05F-F858-4389-A732-7C287E2A7B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7111B2-54DA-4B5C-B515-E431309C5C68}"/>
              </a:ext>
            </a:extLst>
          </p:cNvPr>
          <p:cNvSpPr>
            <a:spLocks noGrp="1"/>
          </p:cNvSpPr>
          <p:nvPr>
            <p:ph type="dt" sz="half" idx="10"/>
          </p:nvPr>
        </p:nvSpPr>
        <p:spPr/>
        <p:txBody>
          <a:bodyPr/>
          <a:lstStyle/>
          <a:p>
            <a:fld id="{BDC1F4AA-9C80-4F4C-8E54-D9E3C8CD668A}" type="datetimeFigureOut">
              <a:rPr lang="en-IN" smtClean="0"/>
              <a:t>30/12/2023</a:t>
            </a:fld>
            <a:endParaRPr lang="en-IN"/>
          </a:p>
        </p:txBody>
      </p:sp>
      <p:sp>
        <p:nvSpPr>
          <p:cNvPr id="6" name="Footer Placeholder 5">
            <a:extLst>
              <a:ext uri="{FF2B5EF4-FFF2-40B4-BE49-F238E27FC236}">
                <a16:creationId xmlns:a16="http://schemas.microsoft.com/office/drawing/2014/main" id="{2DDCA196-0B13-4226-B9CD-C01568A818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0E081F-0D3D-423C-8BF4-0110BF40DC52}"/>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1446356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F6E6B-49B8-4934-9F98-031D4F13A9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EBC7CAA-6EC3-4F8F-BFF7-2DE455D893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DFFC5D-767D-470C-A822-22EC9FB331F2}"/>
              </a:ext>
            </a:extLst>
          </p:cNvPr>
          <p:cNvSpPr>
            <a:spLocks noGrp="1"/>
          </p:cNvSpPr>
          <p:nvPr>
            <p:ph type="dt" sz="half" idx="10"/>
          </p:nvPr>
        </p:nvSpPr>
        <p:spPr/>
        <p:txBody>
          <a:bodyPr/>
          <a:lstStyle/>
          <a:p>
            <a:fld id="{BDC1F4AA-9C80-4F4C-8E54-D9E3C8CD668A}" type="datetimeFigureOut">
              <a:rPr lang="en-IN" smtClean="0"/>
              <a:t>30/12/2023</a:t>
            </a:fld>
            <a:endParaRPr lang="en-IN"/>
          </a:p>
        </p:txBody>
      </p:sp>
      <p:sp>
        <p:nvSpPr>
          <p:cNvPr id="5" name="Footer Placeholder 4">
            <a:extLst>
              <a:ext uri="{FF2B5EF4-FFF2-40B4-BE49-F238E27FC236}">
                <a16:creationId xmlns:a16="http://schemas.microsoft.com/office/drawing/2014/main" id="{027BDF6D-A32A-48D5-AAC5-B041762A10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D0F613-209D-4CEC-B2E8-F68CF0E2BF17}"/>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1278285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788483-7E35-4A37-8272-3BEB4088AC6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C7394D-78E6-4B06-8AF2-ED7CBE65A3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4827AD-FFE6-49C4-A8AA-ACB07402CB83}"/>
              </a:ext>
            </a:extLst>
          </p:cNvPr>
          <p:cNvSpPr>
            <a:spLocks noGrp="1"/>
          </p:cNvSpPr>
          <p:nvPr>
            <p:ph type="dt" sz="half" idx="10"/>
          </p:nvPr>
        </p:nvSpPr>
        <p:spPr/>
        <p:txBody>
          <a:bodyPr/>
          <a:lstStyle/>
          <a:p>
            <a:fld id="{BDC1F4AA-9C80-4F4C-8E54-D9E3C8CD668A}" type="datetimeFigureOut">
              <a:rPr lang="en-IN" smtClean="0"/>
              <a:t>30/12/2023</a:t>
            </a:fld>
            <a:endParaRPr lang="en-IN"/>
          </a:p>
        </p:txBody>
      </p:sp>
      <p:sp>
        <p:nvSpPr>
          <p:cNvPr id="5" name="Footer Placeholder 4">
            <a:extLst>
              <a:ext uri="{FF2B5EF4-FFF2-40B4-BE49-F238E27FC236}">
                <a16:creationId xmlns:a16="http://schemas.microsoft.com/office/drawing/2014/main" id="{CC738B0B-5A05-48C8-B4EC-C6F46310A3A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00F4C5-DDFB-4838-84E2-7FB32A0407A3}"/>
              </a:ext>
            </a:extLst>
          </p:cNvPr>
          <p:cNvSpPr>
            <a:spLocks noGrp="1"/>
          </p:cNvSpPr>
          <p:nvPr>
            <p:ph type="sldNum" sz="quarter" idx="12"/>
          </p:nvPr>
        </p:nvSpPr>
        <p:spPr/>
        <p:txBody>
          <a:bodyPr/>
          <a:lstStyle/>
          <a:p>
            <a:fld id="{E01A1374-4C1F-4D42-8836-504BF6B6184D}" type="slidenum">
              <a:rPr lang="en-IN" smtClean="0"/>
              <a:t>‹#›</a:t>
            </a:fld>
            <a:endParaRPr lang="en-IN"/>
          </a:p>
        </p:txBody>
      </p:sp>
    </p:spTree>
    <p:extLst>
      <p:ext uri="{BB962C8B-B14F-4D97-AF65-F5344CB8AC3E}">
        <p14:creationId xmlns:p14="http://schemas.microsoft.com/office/powerpoint/2010/main" val="23484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A2E860-C0B1-4D74-B86A-B1A68E9A2C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B34395-CC14-4672-9177-8A8C802678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F39AEF-45BF-45A9-A01D-8A3FB7BA10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C1F4AA-9C80-4F4C-8E54-D9E3C8CD668A}" type="datetimeFigureOut">
              <a:rPr lang="en-IN" smtClean="0"/>
              <a:t>30/12/2023</a:t>
            </a:fld>
            <a:endParaRPr lang="en-IN"/>
          </a:p>
        </p:txBody>
      </p:sp>
      <p:sp>
        <p:nvSpPr>
          <p:cNvPr id="5" name="Footer Placeholder 4">
            <a:extLst>
              <a:ext uri="{FF2B5EF4-FFF2-40B4-BE49-F238E27FC236}">
                <a16:creationId xmlns:a16="http://schemas.microsoft.com/office/drawing/2014/main" id="{99D57279-8A49-457E-832B-E679E02EB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6B47146-650E-4058-A039-730239EB61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1A1374-4C1F-4D42-8836-504BF6B6184D}" type="slidenum">
              <a:rPr lang="en-IN" smtClean="0"/>
              <a:t>‹#›</a:t>
            </a:fld>
            <a:endParaRPr lang="en-IN"/>
          </a:p>
        </p:txBody>
      </p:sp>
    </p:spTree>
    <p:extLst>
      <p:ext uri="{BB962C8B-B14F-4D97-AF65-F5344CB8AC3E}">
        <p14:creationId xmlns:p14="http://schemas.microsoft.com/office/powerpoint/2010/main" val="2607402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1.xml"/><Relationship Id="rId5" Type="http://schemas.openxmlformats.org/officeDocument/2006/relationships/image" Target="../media/image53.jpeg"/><Relationship Id="rId4" Type="http://schemas.openxmlformats.org/officeDocument/2006/relationships/image" Target="../media/image52.jpeg"/></Relationships>
</file>

<file path=ppt/slides/_rels/slide52.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0.png"/></Relationships>
</file>

<file path=ppt/slides/_rels/slide5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6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370.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58.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2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jpeg"/><Relationship Id="rId1" Type="http://schemas.openxmlformats.org/officeDocument/2006/relationships/slideLayout" Target="../slideLayouts/slideLayout1.xml"/><Relationship Id="rId4" Type="http://schemas.openxmlformats.org/officeDocument/2006/relationships/image" Target="../media/image62.jpeg"/></Relationships>
</file>

<file path=ppt/slides/_rels/slide61.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71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png"/></Relationships>
</file>

<file path=ppt/slides/_rels/slide6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56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image" Target="../media/image710.png"/><Relationship Id="rId13" Type="http://schemas.openxmlformats.org/officeDocument/2006/relationships/image" Target="../media/image76.png"/><Relationship Id="rId18" Type="http://schemas.openxmlformats.org/officeDocument/2006/relationships/image" Target="../media/image290.png"/><Relationship Id="rId26" Type="http://schemas.openxmlformats.org/officeDocument/2006/relationships/image" Target="../media/image81.png"/><Relationship Id="rId3" Type="http://schemas.openxmlformats.org/officeDocument/2006/relationships/image" Target="../media/image650.png"/><Relationship Id="rId21" Type="http://schemas.openxmlformats.org/officeDocument/2006/relationships/image" Target="../media/image320.png"/><Relationship Id="rId7" Type="http://schemas.openxmlformats.org/officeDocument/2006/relationships/image" Target="../media/image690.png"/><Relationship Id="rId12" Type="http://schemas.openxmlformats.org/officeDocument/2006/relationships/image" Target="../media/image75.png"/><Relationship Id="rId17" Type="http://schemas.openxmlformats.org/officeDocument/2006/relationships/image" Target="../media/image280.png"/><Relationship Id="rId25" Type="http://schemas.openxmlformats.org/officeDocument/2006/relationships/image" Target="../media/image80.png"/><Relationship Id="rId2" Type="http://schemas.openxmlformats.org/officeDocument/2006/relationships/image" Target="../media/image640.png"/><Relationship Id="rId16" Type="http://schemas.openxmlformats.org/officeDocument/2006/relationships/image" Target="../media/image270.png"/><Relationship Id="rId20"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680.png"/><Relationship Id="rId11" Type="http://schemas.openxmlformats.org/officeDocument/2006/relationships/image" Target="../media/image74.png"/><Relationship Id="rId24" Type="http://schemas.openxmlformats.org/officeDocument/2006/relationships/image" Target="../media/image79.png"/><Relationship Id="rId5" Type="http://schemas.openxmlformats.org/officeDocument/2006/relationships/image" Target="../media/image670.png"/><Relationship Id="rId15" Type="http://schemas.openxmlformats.org/officeDocument/2006/relationships/image" Target="../media/image78.png"/><Relationship Id="rId23" Type="http://schemas.openxmlformats.org/officeDocument/2006/relationships/image" Target="../media/image341.png"/><Relationship Id="rId10" Type="http://schemas.openxmlformats.org/officeDocument/2006/relationships/image" Target="../media/image73.png"/><Relationship Id="rId19" Type="http://schemas.openxmlformats.org/officeDocument/2006/relationships/image" Target="../media/image300.png"/><Relationship Id="rId4" Type="http://schemas.openxmlformats.org/officeDocument/2006/relationships/image" Target="../media/image660.png"/><Relationship Id="rId9" Type="http://schemas.openxmlformats.org/officeDocument/2006/relationships/image" Target="../media/image72.png"/><Relationship Id="rId14" Type="http://schemas.openxmlformats.org/officeDocument/2006/relationships/image" Target="../media/image77.png"/><Relationship Id="rId22" Type="http://schemas.openxmlformats.org/officeDocument/2006/relationships/image" Target="../media/image331.png"/><Relationship Id="rId27" Type="http://schemas.openxmlformats.org/officeDocument/2006/relationships/image" Target="../media/image82.png"/></Relationships>
</file>

<file path=ppt/slides/_rels/slide71.xml.rels><?xml version="1.0" encoding="UTF-8" standalone="yes"?>
<Relationships xmlns="http://schemas.openxmlformats.org/package/2006/relationships"><Relationship Id="rId8" Type="http://schemas.openxmlformats.org/officeDocument/2006/relationships/image" Target="../media/image89.png"/><Relationship Id="rId13" Type="http://schemas.openxmlformats.org/officeDocument/2006/relationships/image" Target="../media/image94.png"/><Relationship Id="rId18" Type="http://schemas.openxmlformats.org/officeDocument/2006/relationships/image" Target="../media/image99.png"/><Relationship Id="rId3" Type="http://schemas.openxmlformats.org/officeDocument/2006/relationships/image" Target="../media/image84.png"/><Relationship Id="rId21" Type="http://schemas.openxmlformats.org/officeDocument/2006/relationships/image" Target="../media/image102.png"/><Relationship Id="rId7" Type="http://schemas.openxmlformats.org/officeDocument/2006/relationships/image" Target="../media/image88.png"/><Relationship Id="rId12" Type="http://schemas.openxmlformats.org/officeDocument/2006/relationships/image" Target="../media/image93.png"/><Relationship Id="rId17" Type="http://schemas.openxmlformats.org/officeDocument/2006/relationships/image" Target="../media/image98.png"/><Relationship Id="rId2" Type="http://schemas.openxmlformats.org/officeDocument/2006/relationships/image" Target="../media/image83.png"/><Relationship Id="rId16" Type="http://schemas.openxmlformats.org/officeDocument/2006/relationships/image" Target="../media/image97.png"/><Relationship Id="rId20"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87.png"/><Relationship Id="rId11" Type="http://schemas.openxmlformats.org/officeDocument/2006/relationships/image" Target="../media/image92.png"/><Relationship Id="rId24" Type="http://schemas.openxmlformats.org/officeDocument/2006/relationships/image" Target="../media/image105.png"/><Relationship Id="rId5" Type="http://schemas.openxmlformats.org/officeDocument/2006/relationships/image" Target="../media/image86.png"/><Relationship Id="rId15" Type="http://schemas.openxmlformats.org/officeDocument/2006/relationships/image" Target="../media/image96.png"/><Relationship Id="rId23" Type="http://schemas.openxmlformats.org/officeDocument/2006/relationships/image" Target="../media/image104.png"/><Relationship Id="rId10" Type="http://schemas.openxmlformats.org/officeDocument/2006/relationships/image" Target="../media/image91.png"/><Relationship Id="rId19" Type="http://schemas.openxmlformats.org/officeDocument/2006/relationships/image" Target="../media/image100.png"/><Relationship Id="rId4" Type="http://schemas.openxmlformats.org/officeDocument/2006/relationships/image" Target="../media/image85.png"/><Relationship Id="rId9" Type="http://schemas.openxmlformats.org/officeDocument/2006/relationships/image" Target="../media/image90.png"/><Relationship Id="rId14" Type="http://schemas.openxmlformats.org/officeDocument/2006/relationships/image" Target="../media/image95.png"/><Relationship Id="rId22" Type="http://schemas.openxmlformats.org/officeDocument/2006/relationships/image" Target="../media/image103.png"/></Relationships>
</file>

<file path=ppt/slides/_rels/slide72.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67.png"/><Relationship Id="rId7" Type="http://schemas.openxmlformats.org/officeDocument/2006/relationships/image" Target="../media/image113.png"/><Relationship Id="rId2"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12.png"/><Relationship Id="rId5" Type="http://schemas.openxmlformats.org/officeDocument/2006/relationships/image" Target="../media/image111.png"/><Relationship Id="rId10" Type="http://schemas.openxmlformats.org/officeDocument/2006/relationships/image" Target="../media/image116.png"/><Relationship Id="rId4" Type="http://schemas.openxmlformats.org/officeDocument/2006/relationships/image" Target="../media/image109.png"/><Relationship Id="rId9" Type="http://schemas.openxmlformats.org/officeDocument/2006/relationships/image" Target="../media/image115.png"/></Relationships>
</file>

<file path=ppt/slides/_rels/slide75.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67.png"/><Relationship Id="rId7" Type="http://schemas.openxmlformats.org/officeDocument/2006/relationships/image" Target="../media/image120.png"/><Relationship Id="rId2"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10" Type="http://schemas.openxmlformats.org/officeDocument/2006/relationships/image" Target="../media/image123.png"/><Relationship Id="rId4" Type="http://schemas.openxmlformats.org/officeDocument/2006/relationships/image" Target="../media/image117.png"/><Relationship Id="rId9" Type="http://schemas.openxmlformats.org/officeDocument/2006/relationships/image" Target="../media/image122.png"/></Relationships>
</file>

<file path=ppt/slides/_rels/slide7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image" Target="../media/image131.png"/><Relationship Id="rId13" Type="http://schemas.openxmlformats.org/officeDocument/2006/relationships/image" Target="../media/image136.png"/><Relationship Id="rId18" Type="http://schemas.openxmlformats.org/officeDocument/2006/relationships/image" Target="../media/image141.png"/><Relationship Id="rId3" Type="http://schemas.openxmlformats.org/officeDocument/2006/relationships/image" Target="../media/image126.png"/><Relationship Id="rId21" Type="http://schemas.openxmlformats.org/officeDocument/2006/relationships/image" Target="../media/image144.png"/><Relationship Id="rId7" Type="http://schemas.openxmlformats.org/officeDocument/2006/relationships/image" Target="../media/image130.png"/><Relationship Id="rId12" Type="http://schemas.openxmlformats.org/officeDocument/2006/relationships/image" Target="../media/image135.png"/><Relationship Id="rId17" Type="http://schemas.openxmlformats.org/officeDocument/2006/relationships/image" Target="../media/image140.png"/><Relationship Id="rId2" Type="http://schemas.openxmlformats.org/officeDocument/2006/relationships/image" Target="../media/image125.png"/><Relationship Id="rId16" Type="http://schemas.openxmlformats.org/officeDocument/2006/relationships/image" Target="../media/image139.png"/><Relationship Id="rId20" Type="http://schemas.openxmlformats.org/officeDocument/2006/relationships/image" Target="../media/image143.png"/><Relationship Id="rId1" Type="http://schemas.openxmlformats.org/officeDocument/2006/relationships/slideLayout" Target="../slideLayouts/slideLayout2.xml"/><Relationship Id="rId6" Type="http://schemas.openxmlformats.org/officeDocument/2006/relationships/image" Target="../media/image129.png"/><Relationship Id="rId11" Type="http://schemas.openxmlformats.org/officeDocument/2006/relationships/image" Target="../media/image134.png"/><Relationship Id="rId24" Type="http://schemas.openxmlformats.org/officeDocument/2006/relationships/image" Target="../media/image147.png"/><Relationship Id="rId5" Type="http://schemas.openxmlformats.org/officeDocument/2006/relationships/image" Target="../media/image128.png"/><Relationship Id="rId15" Type="http://schemas.openxmlformats.org/officeDocument/2006/relationships/image" Target="../media/image138.png"/><Relationship Id="rId23" Type="http://schemas.openxmlformats.org/officeDocument/2006/relationships/image" Target="../media/image146.png"/><Relationship Id="rId10" Type="http://schemas.openxmlformats.org/officeDocument/2006/relationships/image" Target="../media/image133.png"/><Relationship Id="rId19" Type="http://schemas.openxmlformats.org/officeDocument/2006/relationships/image" Target="../media/image142.png"/><Relationship Id="rId4" Type="http://schemas.openxmlformats.org/officeDocument/2006/relationships/image" Target="../media/image127.png"/><Relationship Id="rId9" Type="http://schemas.openxmlformats.org/officeDocument/2006/relationships/image" Target="../media/image132.png"/><Relationship Id="rId14" Type="http://schemas.openxmlformats.org/officeDocument/2006/relationships/image" Target="../media/image137.png"/><Relationship Id="rId22" Type="http://schemas.openxmlformats.org/officeDocument/2006/relationships/image" Target="../media/image145.png"/></Relationships>
</file>

<file path=ppt/slides/_rels/slide78.xml.rels><?xml version="1.0" encoding="UTF-8" standalone="yes"?>
<Relationships xmlns="http://schemas.openxmlformats.org/package/2006/relationships"><Relationship Id="rId8" Type="http://schemas.openxmlformats.org/officeDocument/2006/relationships/image" Target="../media/image154.png"/><Relationship Id="rId13" Type="http://schemas.openxmlformats.org/officeDocument/2006/relationships/image" Target="../media/image139.png"/><Relationship Id="rId18" Type="http://schemas.openxmlformats.org/officeDocument/2006/relationships/image" Target="../media/image144.png"/><Relationship Id="rId26" Type="http://schemas.openxmlformats.org/officeDocument/2006/relationships/image" Target="../media/image164.png"/><Relationship Id="rId3" Type="http://schemas.openxmlformats.org/officeDocument/2006/relationships/image" Target="../media/image149.png"/><Relationship Id="rId21" Type="http://schemas.openxmlformats.org/officeDocument/2006/relationships/image" Target="../media/image161.png"/><Relationship Id="rId7" Type="http://schemas.openxmlformats.org/officeDocument/2006/relationships/image" Target="../media/image153.png"/><Relationship Id="rId12" Type="http://schemas.openxmlformats.org/officeDocument/2006/relationships/image" Target="../media/image158.png"/><Relationship Id="rId17" Type="http://schemas.openxmlformats.org/officeDocument/2006/relationships/image" Target="../media/image143.png"/><Relationship Id="rId25" Type="http://schemas.openxmlformats.org/officeDocument/2006/relationships/image" Target="../media/image163.png"/><Relationship Id="rId2" Type="http://schemas.openxmlformats.org/officeDocument/2006/relationships/image" Target="../media/image148.png"/><Relationship Id="rId16" Type="http://schemas.openxmlformats.org/officeDocument/2006/relationships/image" Target="../media/image142.png"/><Relationship Id="rId20" Type="http://schemas.openxmlformats.org/officeDocument/2006/relationships/image" Target="../media/image160.png"/><Relationship Id="rId1" Type="http://schemas.openxmlformats.org/officeDocument/2006/relationships/slideLayout" Target="../slideLayouts/slideLayout2.xml"/><Relationship Id="rId6" Type="http://schemas.openxmlformats.org/officeDocument/2006/relationships/image" Target="../media/image152.png"/><Relationship Id="rId11" Type="http://schemas.openxmlformats.org/officeDocument/2006/relationships/image" Target="../media/image157.png"/><Relationship Id="rId24" Type="http://schemas.openxmlformats.org/officeDocument/2006/relationships/image" Target="../media/image162.png"/><Relationship Id="rId5" Type="http://schemas.openxmlformats.org/officeDocument/2006/relationships/image" Target="../media/image151.png"/><Relationship Id="rId15" Type="http://schemas.openxmlformats.org/officeDocument/2006/relationships/image" Target="../media/image141.png"/><Relationship Id="rId23" Type="http://schemas.openxmlformats.org/officeDocument/2006/relationships/image" Target="../media/image147.png"/><Relationship Id="rId10" Type="http://schemas.openxmlformats.org/officeDocument/2006/relationships/image" Target="../media/image156.png"/><Relationship Id="rId19" Type="http://schemas.openxmlformats.org/officeDocument/2006/relationships/image" Target="../media/image159.png"/><Relationship Id="rId4" Type="http://schemas.openxmlformats.org/officeDocument/2006/relationships/image" Target="../media/image150.png"/><Relationship Id="rId9" Type="http://schemas.openxmlformats.org/officeDocument/2006/relationships/image" Target="../media/image155.png"/><Relationship Id="rId14" Type="http://schemas.openxmlformats.org/officeDocument/2006/relationships/image" Target="../media/image140.png"/><Relationship Id="rId22" Type="http://schemas.openxmlformats.org/officeDocument/2006/relationships/image" Target="../media/image146.png"/><Relationship Id="rId27" Type="http://schemas.openxmlformats.org/officeDocument/2006/relationships/image" Target="../media/image165.png"/></Relationships>
</file>

<file path=ppt/slides/_rels/slide79.xml.rels><?xml version="1.0" encoding="UTF-8" standalone="yes"?>
<Relationships xmlns="http://schemas.openxmlformats.org/package/2006/relationships"><Relationship Id="rId8" Type="http://schemas.openxmlformats.org/officeDocument/2006/relationships/image" Target="../media/image121.png"/><Relationship Id="rId3" Type="http://schemas.openxmlformats.org/officeDocument/2006/relationships/image" Target="../media/image67.png"/><Relationship Id="rId7" Type="http://schemas.openxmlformats.org/officeDocument/2006/relationships/image" Target="../media/image120.png"/><Relationship Id="rId2"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118.png"/><Relationship Id="rId10" Type="http://schemas.openxmlformats.org/officeDocument/2006/relationships/image" Target="../media/image123.png"/><Relationship Id="rId4" Type="http://schemas.openxmlformats.org/officeDocument/2006/relationships/image" Target="../media/image117.png"/><Relationship Id="rId9" Type="http://schemas.openxmlformats.org/officeDocument/2006/relationships/image" Target="../media/image122.png"/></Relationships>
</file>

<file path=ppt/slides/_rels/slide80.xml.rels><?xml version="1.0" encoding="UTF-8" standalone="yes"?>
<Relationships xmlns="http://schemas.openxmlformats.org/package/2006/relationships"><Relationship Id="rId8" Type="http://schemas.openxmlformats.org/officeDocument/2006/relationships/image" Target="../media/image168.png"/><Relationship Id="rId13" Type="http://schemas.openxmlformats.org/officeDocument/2006/relationships/image" Target="../media/image173.png"/><Relationship Id="rId18" Type="http://schemas.openxmlformats.org/officeDocument/2006/relationships/image" Target="../media/image178.png"/><Relationship Id="rId3" Type="http://schemas.openxmlformats.org/officeDocument/2006/relationships/image" Target="../media/image167.png"/><Relationship Id="rId21" Type="http://schemas.openxmlformats.org/officeDocument/2006/relationships/image" Target="../media/image181.png"/><Relationship Id="rId7" Type="http://schemas.openxmlformats.org/officeDocument/2006/relationships/image" Target="../media/image130.png"/><Relationship Id="rId12" Type="http://schemas.openxmlformats.org/officeDocument/2006/relationships/image" Target="../media/image172.png"/><Relationship Id="rId17" Type="http://schemas.openxmlformats.org/officeDocument/2006/relationships/image" Target="../media/image177.png"/><Relationship Id="rId2" Type="http://schemas.openxmlformats.org/officeDocument/2006/relationships/image" Target="../media/image166.png"/><Relationship Id="rId16" Type="http://schemas.openxmlformats.org/officeDocument/2006/relationships/image" Target="../media/image176.png"/><Relationship Id="rId20" Type="http://schemas.openxmlformats.org/officeDocument/2006/relationships/image" Target="../media/image180.png"/><Relationship Id="rId1" Type="http://schemas.openxmlformats.org/officeDocument/2006/relationships/slideLayout" Target="../slideLayouts/slideLayout2.xml"/><Relationship Id="rId6" Type="http://schemas.openxmlformats.org/officeDocument/2006/relationships/image" Target="../media/image129.png"/><Relationship Id="rId11" Type="http://schemas.openxmlformats.org/officeDocument/2006/relationships/image" Target="../media/image171.png"/><Relationship Id="rId5" Type="http://schemas.openxmlformats.org/officeDocument/2006/relationships/image" Target="../media/image128.png"/><Relationship Id="rId15" Type="http://schemas.openxmlformats.org/officeDocument/2006/relationships/image" Target="../media/image175.png"/><Relationship Id="rId10" Type="http://schemas.openxmlformats.org/officeDocument/2006/relationships/image" Target="../media/image170.png"/><Relationship Id="rId19" Type="http://schemas.openxmlformats.org/officeDocument/2006/relationships/image" Target="../media/image179.png"/><Relationship Id="rId4" Type="http://schemas.openxmlformats.org/officeDocument/2006/relationships/image" Target="../media/image127.png"/><Relationship Id="rId9" Type="http://schemas.openxmlformats.org/officeDocument/2006/relationships/image" Target="../media/image169.png"/><Relationship Id="rId14" Type="http://schemas.openxmlformats.org/officeDocument/2006/relationships/image" Target="../media/image174.png"/></Relationships>
</file>

<file path=ppt/slides/_rels/slide81.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38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8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185.png"/><Relationship Id="rId7" Type="http://schemas.openxmlformats.org/officeDocument/2006/relationships/image" Target="../media/image189.png"/><Relationship Id="rId2" Type="http://schemas.openxmlformats.org/officeDocument/2006/relationships/image" Target="../media/image184.png"/><Relationship Id="rId1" Type="http://schemas.openxmlformats.org/officeDocument/2006/relationships/slideLayout" Target="../slideLayouts/slideLayout2.xml"/><Relationship Id="rId6" Type="http://schemas.openxmlformats.org/officeDocument/2006/relationships/image" Target="../media/image188.png"/><Relationship Id="rId5" Type="http://schemas.openxmlformats.org/officeDocument/2006/relationships/image" Target="../media/image187.png"/><Relationship Id="rId4" Type="http://schemas.openxmlformats.org/officeDocument/2006/relationships/image" Target="../media/image186.png"/></Relationships>
</file>

<file path=ppt/slides/_rels/slide85.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2.xml"/><Relationship Id="rId6" Type="http://schemas.openxmlformats.org/officeDocument/2006/relationships/image" Target="../media/image190.png"/><Relationship Id="rId5" Type="http://schemas.openxmlformats.org/officeDocument/2006/relationships/image" Target="../media/image189.png"/><Relationship Id="rId4" Type="http://schemas.openxmlformats.org/officeDocument/2006/relationships/image" Target="../media/image188.png"/></Relationships>
</file>

<file path=ppt/slides/_rels/slide86.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image" Target="../media/image19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4485249" y="2532184"/>
            <a:ext cx="9608234" cy="1415772"/>
          </a:xfrm>
          <a:prstGeom prst="rect">
            <a:avLst/>
          </a:prstGeom>
          <a:noFill/>
        </p:spPr>
        <p:txBody>
          <a:bodyPr wrap="square" rtlCol="0">
            <a:spAutoFit/>
          </a:bodyPr>
          <a:lstStyle/>
          <a:p>
            <a:pPr algn="just"/>
            <a:r>
              <a:rPr lang="en-IN" sz="4400" b="1" i="0" dirty="0">
                <a:solidFill>
                  <a:srgbClr val="FF0000"/>
                </a:solidFill>
                <a:effectLst/>
                <a:latin typeface="Myriad Pro"/>
              </a:rPr>
              <a:t>ADDERS</a:t>
            </a:r>
            <a:endParaRPr lang="en-IN" sz="4400" dirty="0">
              <a:solidFill>
                <a:srgbClr val="FF0000"/>
              </a:solidFill>
            </a:endParaRPr>
          </a:p>
          <a:p>
            <a:pPr algn="just"/>
            <a:endParaRPr lang="en-IN" sz="2400" dirty="0">
              <a:solidFill>
                <a:srgbClr val="FF0000"/>
              </a:solidFill>
            </a:endParaRPr>
          </a:p>
          <a:p>
            <a:pPr algn="just"/>
            <a:endParaRPr lang="en-IN" dirty="0"/>
          </a:p>
        </p:txBody>
      </p:sp>
    </p:spTree>
    <p:extLst>
      <p:ext uri="{BB962C8B-B14F-4D97-AF65-F5344CB8AC3E}">
        <p14:creationId xmlns:p14="http://schemas.microsoft.com/office/powerpoint/2010/main" val="1204272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Slide Number Placeholder 4">
            <a:extLst>
              <a:ext uri="{FF2B5EF4-FFF2-40B4-BE49-F238E27FC236}">
                <a16:creationId xmlns:a16="http://schemas.microsoft.com/office/drawing/2014/main" id="{978A6F0C-61F7-1A43-A867-AB7C7730BB3B}"/>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FA6BED6C-4076-4EA0-88A3-2D4AFC891B76}" type="slidenum">
              <a:rPr lang="en-US" altLang="en-US" sz="1400"/>
              <a:pPr/>
              <a:t>2</a:t>
            </a:fld>
            <a:endParaRPr lang="en-US" altLang="en-US" sz="1400"/>
          </a:p>
        </p:txBody>
      </p:sp>
      <p:sp>
        <p:nvSpPr>
          <p:cNvPr id="11268" name="Rectangle 2">
            <a:extLst>
              <a:ext uri="{FF2B5EF4-FFF2-40B4-BE49-F238E27FC236}">
                <a16:creationId xmlns:a16="http://schemas.microsoft.com/office/drawing/2014/main" id="{B8390C04-A7A4-1BFB-90B9-D9DA77C743BF}"/>
              </a:ext>
            </a:extLst>
          </p:cNvPr>
          <p:cNvSpPr>
            <a:spLocks noGrp="1" noChangeArrowheads="1"/>
          </p:cNvSpPr>
          <p:nvPr>
            <p:ph type="title"/>
          </p:nvPr>
        </p:nvSpPr>
        <p:spPr>
          <a:xfrm>
            <a:off x="838200" y="86519"/>
            <a:ext cx="10515600" cy="1325563"/>
          </a:xfrm>
          <a:noFill/>
        </p:spPr>
        <p:txBody>
          <a:bodyPr/>
          <a:lstStyle/>
          <a:p>
            <a:r>
              <a:rPr lang="en-US" altLang="en-US" dirty="0"/>
              <a:t>Circuits for Binary Addition</a:t>
            </a:r>
          </a:p>
        </p:txBody>
      </p:sp>
      <p:sp>
        <p:nvSpPr>
          <p:cNvPr id="11269" name="Rectangle 3">
            <a:extLst>
              <a:ext uri="{FF2B5EF4-FFF2-40B4-BE49-F238E27FC236}">
                <a16:creationId xmlns:a16="http://schemas.microsoft.com/office/drawing/2014/main" id="{EB65B78F-82D3-1331-DDD7-A24315A2FDB9}"/>
              </a:ext>
            </a:extLst>
          </p:cNvPr>
          <p:cNvSpPr>
            <a:spLocks noChangeArrowheads="1"/>
          </p:cNvSpPr>
          <p:nvPr/>
        </p:nvSpPr>
        <p:spPr bwMode="auto">
          <a:xfrm>
            <a:off x="838200" y="1450577"/>
            <a:ext cx="12827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i="1" dirty="0">
                <a:latin typeface="Arial" panose="020B0604020202020204" pitchFamily="34" charset="0"/>
              </a:rPr>
              <a:t>Half Adder</a:t>
            </a:r>
          </a:p>
        </p:txBody>
      </p:sp>
      <p:pic>
        <p:nvPicPr>
          <p:cNvPr id="11271" name="Picture 5">
            <a:extLst>
              <a:ext uri="{FF2B5EF4-FFF2-40B4-BE49-F238E27FC236}">
                <a16:creationId xmlns:a16="http://schemas.microsoft.com/office/drawing/2014/main" id="{67F95A2C-94A6-3545-DE97-2EFE905D9F3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6800" y="2057400"/>
            <a:ext cx="6451600" cy="237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72" name="Rectangle 6">
            <a:extLst>
              <a:ext uri="{FF2B5EF4-FFF2-40B4-BE49-F238E27FC236}">
                <a16:creationId xmlns:a16="http://schemas.microsoft.com/office/drawing/2014/main" id="{EF8246B8-0783-DA0A-580A-193CB8CC83BB}"/>
              </a:ext>
            </a:extLst>
          </p:cNvPr>
          <p:cNvSpPr>
            <a:spLocks noChangeArrowheads="1"/>
          </p:cNvSpPr>
          <p:nvPr/>
        </p:nvSpPr>
        <p:spPr bwMode="auto">
          <a:xfrm>
            <a:off x="5918200" y="5575301"/>
            <a:ext cx="24638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a:latin typeface="Arial" panose="020B0604020202020204" pitchFamily="34" charset="0"/>
              </a:rPr>
              <a:t>Half-adder Schematic</a:t>
            </a:r>
          </a:p>
        </p:txBody>
      </p:sp>
      <p:pic>
        <p:nvPicPr>
          <p:cNvPr id="11273" name="Picture 7">
            <a:extLst>
              <a:ext uri="{FF2B5EF4-FFF2-40B4-BE49-F238E27FC236}">
                <a16:creationId xmlns:a16="http://schemas.microsoft.com/office/drawing/2014/main" id="{8FCEE221-6C7E-ECEA-4CBF-E99AAAE0CC7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5850" y="4565650"/>
            <a:ext cx="2425700" cy="153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74" name="Line 8">
            <a:extLst>
              <a:ext uri="{FF2B5EF4-FFF2-40B4-BE49-F238E27FC236}">
                <a16:creationId xmlns:a16="http://schemas.microsoft.com/office/drawing/2014/main" id="{5986EA73-BC07-CD17-B500-AB81F0C07258}"/>
              </a:ext>
            </a:extLst>
          </p:cNvPr>
          <p:cNvSpPr>
            <a:spLocks noChangeShapeType="1"/>
          </p:cNvSpPr>
          <p:nvPr/>
        </p:nvSpPr>
        <p:spPr bwMode="auto">
          <a:xfrm>
            <a:off x="3352800" y="6096000"/>
            <a:ext cx="4572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75" name="Line 9">
            <a:extLst>
              <a:ext uri="{FF2B5EF4-FFF2-40B4-BE49-F238E27FC236}">
                <a16:creationId xmlns:a16="http://schemas.microsoft.com/office/drawing/2014/main" id="{B174A5FA-08F1-4F92-415B-12A2090E3250}"/>
              </a:ext>
            </a:extLst>
          </p:cNvPr>
          <p:cNvSpPr>
            <a:spLocks noChangeShapeType="1"/>
          </p:cNvSpPr>
          <p:nvPr/>
        </p:nvSpPr>
        <p:spPr bwMode="auto">
          <a:xfrm>
            <a:off x="5867400" y="2438400"/>
            <a:ext cx="0" cy="11430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Footer Placeholder 3">
            <a:extLst>
              <a:ext uri="{FF2B5EF4-FFF2-40B4-BE49-F238E27FC236}">
                <a16:creationId xmlns:a16="http://schemas.microsoft.com/office/drawing/2014/main" id="{3553B75C-91D8-8283-4267-83261D008AA4}"/>
              </a:ext>
            </a:extLst>
          </p:cNvPr>
          <p:cNvSpPr>
            <a:spLocks noGrp="1"/>
          </p:cNvSpPr>
          <p:nvPr>
            <p:ph type="ftr" sz="quarter" idx="11"/>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US" altLang="en-US" sz="1400"/>
          </a:p>
        </p:txBody>
      </p:sp>
      <p:sp>
        <p:nvSpPr>
          <p:cNvPr id="13315" name="Slide Number Placeholder 4">
            <a:extLst>
              <a:ext uri="{FF2B5EF4-FFF2-40B4-BE49-F238E27FC236}">
                <a16:creationId xmlns:a16="http://schemas.microsoft.com/office/drawing/2014/main" id="{6F995771-EAD4-18A3-72D1-5F5C316222D3}"/>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E8B16041-7E95-42D9-A819-4046C81ED4D6}" type="slidenum">
              <a:rPr lang="en-US" altLang="en-US" sz="1400"/>
              <a:pPr/>
              <a:t>3</a:t>
            </a:fld>
            <a:endParaRPr lang="en-US" altLang="en-US" sz="1400"/>
          </a:p>
        </p:txBody>
      </p:sp>
      <p:sp>
        <p:nvSpPr>
          <p:cNvPr id="13316" name="Rectangle 2">
            <a:extLst>
              <a:ext uri="{FF2B5EF4-FFF2-40B4-BE49-F238E27FC236}">
                <a16:creationId xmlns:a16="http://schemas.microsoft.com/office/drawing/2014/main" id="{0E6D746F-389A-9B92-F1DE-DF5A061F88B6}"/>
              </a:ext>
            </a:extLst>
          </p:cNvPr>
          <p:cNvSpPr>
            <a:spLocks noGrp="1" noChangeArrowheads="1"/>
          </p:cNvSpPr>
          <p:nvPr>
            <p:ph type="title"/>
          </p:nvPr>
        </p:nvSpPr>
        <p:spPr>
          <a:noFill/>
        </p:spPr>
        <p:txBody>
          <a:bodyPr/>
          <a:lstStyle/>
          <a:p>
            <a:r>
              <a:rPr lang="en-US" altLang="en-US"/>
              <a:t>Full Adder</a:t>
            </a:r>
          </a:p>
        </p:txBody>
      </p:sp>
      <p:pic>
        <p:nvPicPr>
          <p:cNvPr id="13317" name="Picture 3">
            <a:extLst>
              <a:ext uri="{FF2B5EF4-FFF2-40B4-BE49-F238E27FC236}">
                <a16:creationId xmlns:a16="http://schemas.microsoft.com/office/drawing/2014/main" id="{3E2D1C7B-D589-EC2E-BC99-B399063C43B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3300" y="1130300"/>
            <a:ext cx="5575300" cy="334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18" name="Rectangle 4">
            <a:extLst>
              <a:ext uri="{FF2B5EF4-FFF2-40B4-BE49-F238E27FC236}">
                <a16:creationId xmlns:a16="http://schemas.microsoft.com/office/drawing/2014/main" id="{818C3111-2018-5462-4E37-383093060B9E}"/>
              </a:ext>
            </a:extLst>
          </p:cNvPr>
          <p:cNvSpPr>
            <a:spLocks noChangeArrowheads="1"/>
          </p:cNvSpPr>
          <p:nvPr/>
        </p:nvSpPr>
        <p:spPr bwMode="auto">
          <a:xfrm>
            <a:off x="3517900" y="4762500"/>
            <a:ext cx="4764088"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a:latin typeface="Arial" panose="020B0604020202020204" pitchFamily="34" charset="0"/>
              </a:rPr>
              <a:t>S = CI xor A xor B</a:t>
            </a:r>
          </a:p>
          <a:p>
            <a:pPr>
              <a:lnSpc>
                <a:spcPct val="85000"/>
              </a:lnSpc>
            </a:pPr>
            <a:endParaRPr lang="en-US" altLang="en-US" sz="1800" b="1">
              <a:latin typeface="Arial" panose="020B0604020202020204" pitchFamily="34" charset="0"/>
            </a:endParaRPr>
          </a:p>
          <a:p>
            <a:pPr>
              <a:lnSpc>
                <a:spcPct val="85000"/>
              </a:lnSpc>
            </a:pPr>
            <a:r>
              <a:rPr lang="en-US" altLang="en-US" sz="1800" b="1">
                <a:latin typeface="Arial" panose="020B0604020202020204" pitchFamily="34" charset="0"/>
              </a:rPr>
              <a:t>CO = B CI  +  A CI  +  A B = CI (A + B) + A B</a:t>
            </a:r>
          </a:p>
        </p:txBody>
      </p:sp>
      <p:sp>
        <p:nvSpPr>
          <p:cNvPr id="13319" name="Line 5">
            <a:extLst>
              <a:ext uri="{FF2B5EF4-FFF2-40B4-BE49-F238E27FC236}">
                <a16:creationId xmlns:a16="http://schemas.microsoft.com/office/drawing/2014/main" id="{7B94D9B9-78EC-4873-1FDB-23B8C94E64B1}"/>
              </a:ext>
            </a:extLst>
          </p:cNvPr>
          <p:cNvSpPr>
            <a:spLocks noChangeShapeType="1"/>
          </p:cNvSpPr>
          <p:nvPr/>
        </p:nvSpPr>
        <p:spPr bwMode="auto">
          <a:xfrm>
            <a:off x="3581400" y="1447800"/>
            <a:ext cx="2286000" cy="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extLst>
      <p:ext uri="{BB962C8B-B14F-4D97-AF65-F5344CB8AC3E}">
        <p14:creationId xmlns:p14="http://schemas.microsoft.com/office/powerpoint/2010/main" val="201715273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Slide Number Placeholder 4">
            <a:extLst>
              <a:ext uri="{FF2B5EF4-FFF2-40B4-BE49-F238E27FC236}">
                <a16:creationId xmlns:a16="http://schemas.microsoft.com/office/drawing/2014/main" id="{0D77E13F-1870-6357-F3BE-E58630B10692}"/>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FFC9F909-E723-441E-9AE4-8CFDE533214E}" type="slidenum">
              <a:rPr lang="en-US" altLang="en-US" sz="1400"/>
              <a:pPr/>
              <a:t>4</a:t>
            </a:fld>
            <a:endParaRPr lang="en-US" altLang="en-US" sz="1400"/>
          </a:p>
        </p:txBody>
      </p:sp>
      <p:sp>
        <p:nvSpPr>
          <p:cNvPr id="14340" name="Rectangle 2">
            <a:extLst>
              <a:ext uri="{FF2B5EF4-FFF2-40B4-BE49-F238E27FC236}">
                <a16:creationId xmlns:a16="http://schemas.microsoft.com/office/drawing/2014/main" id="{9CF2123C-87F4-9882-8AF0-12861018BA05}"/>
              </a:ext>
            </a:extLst>
          </p:cNvPr>
          <p:cNvSpPr>
            <a:spLocks noGrp="1" noChangeArrowheads="1"/>
          </p:cNvSpPr>
          <p:nvPr>
            <p:ph type="title"/>
          </p:nvPr>
        </p:nvSpPr>
        <p:spPr>
          <a:xfrm>
            <a:off x="683789" y="71438"/>
            <a:ext cx="10515600" cy="1325563"/>
          </a:xfrm>
          <a:noFill/>
        </p:spPr>
        <p:txBody>
          <a:bodyPr/>
          <a:lstStyle/>
          <a:p>
            <a:r>
              <a:rPr lang="en-US" altLang="en-US" dirty="0"/>
              <a:t>Full Adder Circuit</a:t>
            </a:r>
          </a:p>
        </p:txBody>
      </p:sp>
      <p:sp>
        <p:nvSpPr>
          <p:cNvPr id="14341" name="Arc 3">
            <a:extLst>
              <a:ext uri="{FF2B5EF4-FFF2-40B4-BE49-F238E27FC236}">
                <a16:creationId xmlns:a16="http://schemas.microsoft.com/office/drawing/2014/main" id="{9E4A1C6D-9441-BFAA-38D3-C007209C3093}"/>
              </a:ext>
            </a:extLst>
          </p:cNvPr>
          <p:cNvSpPr>
            <a:spLocks/>
          </p:cNvSpPr>
          <p:nvPr/>
        </p:nvSpPr>
        <p:spPr bwMode="auto">
          <a:xfrm>
            <a:off x="3538539" y="1639889"/>
            <a:ext cx="128587" cy="231775"/>
          </a:xfrm>
          <a:custGeom>
            <a:avLst/>
            <a:gdLst>
              <a:gd name="T0" fmla="*/ 0 w 21631"/>
              <a:gd name="T1" fmla="*/ 0 h 21600"/>
              <a:gd name="T2" fmla="*/ 764394 w 21631"/>
              <a:gd name="T3" fmla="*/ 2485068 h 21600"/>
              <a:gd name="T4" fmla="*/ 1094 w 21631"/>
              <a:gd name="T5" fmla="*/ 2487021 h 21600"/>
              <a:gd name="T6" fmla="*/ 0 60000 65536"/>
              <a:gd name="T7" fmla="*/ 0 60000 65536"/>
              <a:gd name="T8" fmla="*/ 0 60000 65536"/>
            </a:gdLst>
            <a:ahLst/>
            <a:cxnLst>
              <a:cxn ang="T6">
                <a:pos x="T0" y="T1"/>
              </a:cxn>
              <a:cxn ang="T7">
                <a:pos x="T2" y="T3"/>
              </a:cxn>
              <a:cxn ang="T8">
                <a:pos x="T4" y="T5"/>
              </a:cxn>
            </a:cxnLst>
            <a:rect l="0" t="0" r="r" b="b"/>
            <a:pathLst>
              <a:path w="21631" h="21600" fill="none" extrusionOk="0">
                <a:moveTo>
                  <a:pt x="0" y="0"/>
                </a:moveTo>
                <a:cubicBezTo>
                  <a:pt x="10" y="0"/>
                  <a:pt x="20" y="-1"/>
                  <a:pt x="31" y="0"/>
                </a:cubicBezTo>
                <a:cubicBezTo>
                  <a:pt x="11953" y="0"/>
                  <a:pt x="21621" y="9660"/>
                  <a:pt x="21630" y="21583"/>
                </a:cubicBezTo>
              </a:path>
              <a:path w="21631" h="21600" stroke="0" extrusionOk="0">
                <a:moveTo>
                  <a:pt x="0" y="0"/>
                </a:moveTo>
                <a:cubicBezTo>
                  <a:pt x="10" y="0"/>
                  <a:pt x="20" y="-1"/>
                  <a:pt x="31" y="0"/>
                </a:cubicBezTo>
                <a:cubicBezTo>
                  <a:pt x="11953" y="0"/>
                  <a:pt x="21621" y="9660"/>
                  <a:pt x="21630" y="21583"/>
                </a:cubicBezTo>
                <a:lnTo>
                  <a:pt x="31" y="21600"/>
                </a:lnTo>
                <a:lnTo>
                  <a:pt x="0" y="0"/>
                </a:lnTo>
                <a:close/>
              </a:path>
            </a:pathLst>
          </a:custGeom>
          <a:solidFill>
            <a:srgbClr val="FFFFFF"/>
          </a:solidFill>
          <a:ln w="19050">
            <a:solidFill>
              <a:srgbClr val="000000"/>
            </a:solidFill>
            <a:round/>
            <a:headEnd/>
            <a:tailEnd/>
          </a:ln>
        </p:spPr>
        <p:txBody>
          <a:bodyPr/>
          <a:lstStyle/>
          <a:p>
            <a:endParaRPr lang="en-IN"/>
          </a:p>
        </p:txBody>
      </p:sp>
      <p:sp>
        <p:nvSpPr>
          <p:cNvPr id="14342" name="Arc 4">
            <a:extLst>
              <a:ext uri="{FF2B5EF4-FFF2-40B4-BE49-F238E27FC236}">
                <a16:creationId xmlns:a16="http://schemas.microsoft.com/office/drawing/2014/main" id="{1DF1BD43-02AC-A1FC-4B5B-CB256AF29A31}"/>
              </a:ext>
            </a:extLst>
          </p:cNvPr>
          <p:cNvSpPr>
            <a:spLocks/>
          </p:cNvSpPr>
          <p:nvPr/>
        </p:nvSpPr>
        <p:spPr bwMode="auto">
          <a:xfrm>
            <a:off x="3538539" y="1851026"/>
            <a:ext cx="128587" cy="231775"/>
          </a:xfrm>
          <a:custGeom>
            <a:avLst/>
            <a:gdLst>
              <a:gd name="T0" fmla="*/ 764394 w 21631"/>
              <a:gd name="T1" fmla="*/ 0 h 21600"/>
              <a:gd name="T2" fmla="*/ 0 w 21631"/>
              <a:gd name="T3" fmla="*/ 2487021 h 21600"/>
              <a:gd name="T4" fmla="*/ 1094 w 21631"/>
              <a:gd name="T5" fmla="*/ 0 h 21600"/>
              <a:gd name="T6" fmla="*/ 0 60000 65536"/>
              <a:gd name="T7" fmla="*/ 0 60000 65536"/>
              <a:gd name="T8" fmla="*/ 0 60000 65536"/>
            </a:gdLst>
            <a:ahLst/>
            <a:cxnLst>
              <a:cxn ang="T6">
                <a:pos x="T0" y="T1"/>
              </a:cxn>
              <a:cxn ang="T7">
                <a:pos x="T2" y="T3"/>
              </a:cxn>
              <a:cxn ang="T8">
                <a:pos x="T4" y="T5"/>
              </a:cxn>
            </a:cxnLst>
            <a:rect l="0" t="0" r="r" b="b"/>
            <a:pathLst>
              <a:path w="21631" h="21600" fill="none" extrusionOk="0">
                <a:moveTo>
                  <a:pt x="21631" y="0"/>
                </a:moveTo>
                <a:cubicBezTo>
                  <a:pt x="21631" y="11929"/>
                  <a:pt x="11960" y="21600"/>
                  <a:pt x="31" y="21600"/>
                </a:cubicBezTo>
                <a:cubicBezTo>
                  <a:pt x="20" y="21600"/>
                  <a:pt x="10" y="21599"/>
                  <a:pt x="0" y="21599"/>
                </a:cubicBezTo>
              </a:path>
              <a:path w="21631" h="21600" stroke="0" extrusionOk="0">
                <a:moveTo>
                  <a:pt x="21631" y="0"/>
                </a:moveTo>
                <a:cubicBezTo>
                  <a:pt x="21631" y="11929"/>
                  <a:pt x="11960" y="21600"/>
                  <a:pt x="31" y="21600"/>
                </a:cubicBezTo>
                <a:cubicBezTo>
                  <a:pt x="20" y="21600"/>
                  <a:pt x="10" y="21599"/>
                  <a:pt x="0" y="21599"/>
                </a:cubicBezTo>
                <a:lnTo>
                  <a:pt x="31" y="0"/>
                </a:lnTo>
                <a:lnTo>
                  <a:pt x="21631" y="0"/>
                </a:lnTo>
                <a:close/>
              </a:path>
            </a:pathLst>
          </a:custGeom>
          <a:solidFill>
            <a:srgbClr val="FFFFFF"/>
          </a:solidFill>
          <a:ln w="19050">
            <a:solidFill>
              <a:srgbClr val="000000"/>
            </a:solidFill>
            <a:round/>
            <a:headEnd/>
            <a:tailEnd/>
          </a:ln>
        </p:spPr>
        <p:txBody>
          <a:bodyPr/>
          <a:lstStyle/>
          <a:p>
            <a:endParaRPr lang="en-IN"/>
          </a:p>
        </p:txBody>
      </p:sp>
      <p:sp>
        <p:nvSpPr>
          <p:cNvPr id="14343" name="Line 5">
            <a:extLst>
              <a:ext uri="{FF2B5EF4-FFF2-40B4-BE49-F238E27FC236}">
                <a16:creationId xmlns:a16="http://schemas.microsoft.com/office/drawing/2014/main" id="{00AC743F-6553-C725-BB25-124C446BA0FF}"/>
              </a:ext>
            </a:extLst>
          </p:cNvPr>
          <p:cNvSpPr>
            <a:spLocks noChangeShapeType="1"/>
          </p:cNvSpPr>
          <p:nvPr/>
        </p:nvSpPr>
        <p:spPr bwMode="auto">
          <a:xfrm>
            <a:off x="3576639" y="1751014"/>
            <a:ext cx="60325"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44" name="Line 6">
            <a:extLst>
              <a:ext uri="{FF2B5EF4-FFF2-40B4-BE49-F238E27FC236}">
                <a16:creationId xmlns:a16="http://schemas.microsoft.com/office/drawing/2014/main" id="{F977741C-694B-4CC8-E0E5-00F4EA58F95F}"/>
              </a:ext>
            </a:extLst>
          </p:cNvPr>
          <p:cNvSpPr>
            <a:spLocks noChangeShapeType="1"/>
          </p:cNvSpPr>
          <p:nvPr/>
        </p:nvSpPr>
        <p:spPr bwMode="auto">
          <a:xfrm>
            <a:off x="3576639" y="1951039"/>
            <a:ext cx="60325"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45" name="Arc 7">
            <a:extLst>
              <a:ext uri="{FF2B5EF4-FFF2-40B4-BE49-F238E27FC236}">
                <a16:creationId xmlns:a16="http://schemas.microsoft.com/office/drawing/2014/main" id="{131A1A24-B313-80E2-3BF0-011A0E8C2AD3}"/>
              </a:ext>
            </a:extLst>
          </p:cNvPr>
          <p:cNvSpPr>
            <a:spLocks/>
          </p:cNvSpPr>
          <p:nvPr/>
        </p:nvSpPr>
        <p:spPr bwMode="auto">
          <a:xfrm>
            <a:off x="3656014" y="1639889"/>
            <a:ext cx="109537" cy="211137"/>
          </a:xfrm>
          <a:custGeom>
            <a:avLst/>
            <a:gdLst>
              <a:gd name="T0" fmla="*/ 0 w 21600"/>
              <a:gd name="T1" fmla="*/ 0 h 21600"/>
              <a:gd name="T2" fmla="*/ 555479 w 21600"/>
              <a:gd name="T3" fmla="*/ 2063835 h 21600"/>
              <a:gd name="T4" fmla="*/ 0 w 21600"/>
              <a:gd name="T5" fmla="*/ 206383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9050">
            <a:solidFill>
              <a:srgbClr val="000000"/>
            </a:solidFill>
            <a:round/>
            <a:headEnd/>
            <a:tailEnd/>
          </a:ln>
        </p:spPr>
        <p:txBody>
          <a:bodyPr/>
          <a:lstStyle/>
          <a:p>
            <a:endParaRPr lang="en-IN"/>
          </a:p>
        </p:txBody>
      </p:sp>
      <p:sp>
        <p:nvSpPr>
          <p:cNvPr id="14346" name="Arc 8">
            <a:extLst>
              <a:ext uri="{FF2B5EF4-FFF2-40B4-BE49-F238E27FC236}">
                <a16:creationId xmlns:a16="http://schemas.microsoft.com/office/drawing/2014/main" id="{EA2438F5-672D-E4E7-3F02-AA42C30CB205}"/>
              </a:ext>
            </a:extLst>
          </p:cNvPr>
          <p:cNvSpPr>
            <a:spLocks/>
          </p:cNvSpPr>
          <p:nvPr/>
        </p:nvSpPr>
        <p:spPr bwMode="auto">
          <a:xfrm>
            <a:off x="3656014" y="1639889"/>
            <a:ext cx="738187" cy="231775"/>
          </a:xfrm>
          <a:custGeom>
            <a:avLst/>
            <a:gdLst>
              <a:gd name="T0" fmla="*/ 0 w 21600"/>
              <a:gd name="T1" fmla="*/ 0 h 21600"/>
              <a:gd name="T2" fmla="*/ 25227780 w 21600"/>
              <a:gd name="T3" fmla="*/ 2480572 h 21600"/>
              <a:gd name="T4" fmla="*/ 0 w 21600"/>
              <a:gd name="T5" fmla="*/ 248702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07" y="0"/>
                  <a:pt x="21569" y="9636"/>
                  <a:pt x="21599" y="21544"/>
                </a:cubicBezTo>
              </a:path>
              <a:path w="21600" h="21600" stroke="0" extrusionOk="0">
                <a:moveTo>
                  <a:pt x="-1" y="0"/>
                </a:moveTo>
                <a:cubicBezTo>
                  <a:pt x="11907" y="0"/>
                  <a:pt x="21569" y="9636"/>
                  <a:pt x="21599" y="21544"/>
                </a:cubicBezTo>
                <a:lnTo>
                  <a:pt x="0" y="21600"/>
                </a:lnTo>
                <a:lnTo>
                  <a:pt x="-1" y="0"/>
                </a:lnTo>
                <a:close/>
              </a:path>
            </a:pathLst>
          </a:custGeom>
          <a:solidFill>
            <a:srgbClr val="FFFFFF"/>
          </a:solidFill>
          <a:ln w="19050">
            <a:solidFill>
              <a:srgbClr val="000000"/>
            </a:solidFill>
            <a:round/>
            <a:headEnd/>
            <a:tailEnd/>
          </a:ln>
        </p:spPr>
        <p:txBody>
          <a:bodyPr/>
          <a:lstStyle/>
          <a:p>
            <a:endParaRPr lang="en-IN"/>
          </a:p>
        </p:txBody>
      </p:sp>
      <p:sp>
        <p:nvSpPr>
          <p:cNvPr id="14347" name="Arc 9">
            <a:extLst>
              <a:ext uri="{FF2B5EF4-FFF2-40B4-BE49-F238E27FC236}">
                <a16:creationId xmlns:a16="http://schemas.microsoft.com/office/drawing/2014/main" id="{D616E0C8-85D2-F5F5-4929-F8B7CAAB9A24}"/>
              </a:ext>
            </a:extLst>
          </p:cNvPr>
          <p:cNvSpPr>
            <a:spLocks/>
          </p:cNvSpPr>
          <p:nvPr/>
        </p:nvSpPr>
        <p:spPr bwMode="auto">
          <a:xfrm>
            <a:off x="3695700" y="1851026"/>
            <a:ext cx="700088" cy="231775"/>
          </a:xfrm>
          <a:custGeom>
            <a:avLst/>
            <a:gdLst>
              <a:gd name="T0" fmla="*/ 22690889 w 21600"/>
              <a:gd name="T1" fmla="*/ 0 h 21600"/>
              <a:gd name="T2" fmla="*/ 0 w 21600"/>
              <a:gd name="T3" fmla="*/ 248702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9050">
            <a:solidFill>
              <a:srgbClr val="000000"/>
            </a:solidFill>
            <a:round/>
            <a:headEnd/>
            <a:tailEnd/>
          </a:ln>
        </p:spPr>
        <p:txBody>
          <a:bodyPr/>
          <a:lstStyle/>
          <a:p>
            <a:endParaRPr lang="en-IN"/>
          </a:p>
        </p:txBody>
      </p:sp>
      <p:sp>
        <p:nvSpPr>
          <p:cNvPr id="14348" name="Arc 10">
            <a:extLst>
              <a:ext uri="{FF2B5EF4-FFF2-40B4-BE49-F238E27FC236}">
                <a16:creationId xmlns:a16="http://schemas.microsoft.com/office/drawing/2014/main" id="{80B67AD6-CF78-5453-A58E-202DD41AFE01}"/>
              </a:ext>
            </a:extLst>
          </p:cNvPr>
          <p:cNvSpPr>
            <a:spLocks/>
          </p:cNvSpPr>
          <p:nvPr/>
        </p:nvSpPr>
        <p:spPr bwMode="auto">
          <a:xfrm>
            <a:off x="3656014" y="1851026"/>
            <a:ext cx="109537" cy="231775"/>
          </a:xfrm>
          <a:custGeom>
            <a:avLst/>
            <a:gdLst>
              <a:gd name="T0" fmla="*/ 555479 w 21600"/>
              <a:gd name="T1" fmla="*/ 0 h 21600"/>
              <a:gd name="T2" fmla="*/ 0 w 21600"/>
              <a:gd name="T3" fmla="*/ 248702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9050">
            <a:solidFill>
              <a:srgbClr val="000000"/>
            </a:solidFill>
            <a:round/>
            <a:headEnd/>
            <a:tailEnd/>
          </a:ln>
        </p:spPr>
        <p:txBody>
          <a:bodyPr/>
          <a:lstStyle/>
          <a:p>
            <a:endParaRPr lang="en-IN"/>
          </a:p>
        </p:txBody>
      </p:sp>
      <p:sp>
        <p:nvSpPr>
          <p:cNvPr id="14349" name="Arc 11">
            <a:extLst>
              <a:ext uri="{FF2B5EF4-FFF2-40B4-BE49-F238E27FC236}">
                <a16:creationId xmlns:a16="http://schemas.microsoft.com/office/drawing/2014/main" id="{564B231C-FB63-69F3-A6BF-9F7D7E92ECA5}"/>
              </a:ext>
            </a:extLst>
          </p:cNvPr>
          <p:cNvSpPr>
            <a:spLocks/>
          </p:cNvSpPr>
          <p:nvPr/>
        </p:nvSpPr>
        <p:spPr bwMode="auto">
          <a:xfrm>
            <a:off x="4719639" y="2039939"/>
            <a:ext cx="128587" cy="231775"/>
          </a:xfrm>
          <a:custGeom>
            <a:avLst/>
            <a:gdLst>
              <a:gd name="T0" fmla="*/ 0 w 21600"/>
              <a:gd name="T1" fmla="*/ 0 h 21600"/>
              <a:gd name="T2" fmla="*/ 765492 w 21600"/>
              <a:gd name="T3" fmla="*/ 2487021 h 21600"/>
              <a:gd name="T4" fmla="*/ 0 w 21600"/>
              <a:gd name="T5" fmla="*/ 248702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9050">
            <a:solidFill>
              <a:srgbClr val="000000"/>
            </a:solidFill>
            <a:round/>
            <a:headEnd/>
            <a:tailEnd/>
          </a:ln>
        </p:spPr>
        <p:txBody>
          <a:bodyPr/>
          <a:lstStyle/>
          <a:p>
            <a:endParaRPr lang="en-IN"/>
          </a:p>
        </p:txBody>
      </p:sp>
      <p:sp>
        <p:nvSpPr>
          <p:cNvPr id="14350" name="Arc 12">
            <a:extLst>
              <a:ext uri="{FF2B5EF4-FFF2-40B4-BE49-F238E27FC236}">
                <a16:creationId xmlns:a16="http://schemas.microsoft.com/office/drawing/2014/main" id="{6687C5D0-7B31-24DD-252E-D59ADF37FC22}"/>
              </a:ext>
            </a:extLst>
          </p:cNvPr>
          <p:cNvSpPr>
            <a:spLocks/>
          </p:cNvSpPr>
          <p:nvPr/>
        </p:nvSpPr>
        <p:spPr bwMode="auto">
          <a:xfrm>
            <a:off x="4719639" y="2251075"/>
            <a:ext cx="128587" cy="230188"/>
          </a:xfrm>
          <a:custGeom>
            <a:avLst/>
            <a:gdLst>
              <a:gd name="T0" fmla="*/ 765492 w 21600"/>
              <a:gd name="T1" fmla="*/ 0 h 21600"/>
              <a:gd name="T2" fmla="*/ 0 w 21600"/>
              <a:gd name="T3" fmla="*/ 2453079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9050">
            <a:solidFill>
              <a:srgbClr val="000000"/>
            </a:solidFill>
            <a:round/>
            <a:headEnd/>
            <a:tailEnd/>
          </a:ln>
        </p:spPr>
        <p:txBody>
          <a:bodyPr/>
          <a:lstStyle/>
          <a:p>
            <a:endParaRPr lang="en-IN"/>
          </a:p>
        </p:txBody>
      </p:sp>
      <p:sp>
        <p:nvSpPr>
          <p:cNvPr id="14351" name="Line 13">
            <a:extLst>
              <a:ext uri="{FF2B5EF4-FFF2-40B4-BE49-F238E27FC236}">
                <a16:creationId xmlns:a16="http://schemas.microsoft.com/office/drawing/2014/main" id="{1199B67E-4769-4F49-6F4F-733E3E4D6D48}"/>
              </a:ext>
            </a:extLst>
          </p:cNvPr>
          <p:cNvSpPr>
            <a:spLocks noChangeShapeType="1"/>
          </p:cNvSpPr>
          <p:nvPr/>
        </p:nvSpPr>
        <p:spPr bwMode="auto">
          <a:xfrm>
            <a:off x="4759325" y="2151064"/>
            <a:ext cx="58738"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52" name="Line 14">
            <a:extLst>
              <a:ext uri="{FF2B5EF4-FFF2-40B4-BE49-F238E27FC236}">
                <a16:creationId xmlns:a16="http://schemas.microsoft.com/office/drawing/2014/main" id="{8BA4F8BE-1552-752E-E0B8-5BD93DE52373}"/>
              </a:ext>
            </a:extLst>
          </p:cNvPr>
          <p:cNvSpPr>
            <a:spLocks noChangeShapeType="1"/>
          </p:cNvSpPr>
          <p:nvPr/>
        </p:nvSpPr>
        <p:spPr bwMode="auto">
          <a:xfrm>
            <a:off x="4759325" y="2351089"/>
            <a:ext cx="58738"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53" name="Arc 15">
            <a:extLst>
              <a:ext uri="{FF2B5EF4-FFF2-40B4-BE49-F238E27FC236}">
                <a16:creationId xmlns:a16="http://schemas.microsoft.com/office/drawing/2014/main" id="{B91F3D11-F19F-36D1-EBFA-B25687D6F86B}"/>
              </a:ext>
            </a:extLst>
          </p:cNvPr>
          <p:cNvSpPr>
            <a:spLocks/>
          </p:cNvSpPr>
          <p:nvPr/>
        </p:nvSpPr>
        <p:spPr bwMode="auto">
          <a:xfrm>
            <a:off x="4838700" y="2039939"/>
            <a:ext cx="109538" cy="211137"/>
          </a:xfrm>
          <a:custGeom>
            <a:avLst/>
            <a:gdLst>
              <a:gd name="T0" fmla="*/ 0 w 21633"/>
              <a:gd name="T1" fmla="*/ 0 h 21600"/>
              <a:gd name="T2" fmla="*/ 554642 w 21633"/>
              <a:gd name="T3" fmla="*/ 2063835 h 21600"/>
              <a:gd name="T4" fmla="*/ 846 w 21633"/>
              <a:gd name="T5" fmla="*/ 2063835 h 21600"/>
              <a:gd name="T6" fmla="*/ 0 60000 65536"/>
              <a:gd name="T7" fmla="*/ 0 60000 65536"/>
              <a:gd name="T8" fmla="*/ 0 60000 65536"/>
            </a:gdLst>
            <a:ahLst/>
            <a:cxnLst>
              <a:cxn ang="T6">
                <a:pos x="T0" y="T1"/>
              </a:cxn>
              <a:cxn ang="T7">
                <a:pos x="T2" y="T3"/>
              </a:cxn>
              <a:cxn ang="T8">
                <a:pos x="T4" y="T5"/>
              </a:cxn>
            </a:cxnLst>
            <a:rect l="0" t="0" r="r" b="b"/>
            <a:pathLst>
              <a:path w="21633" h="21600" fill="none" extrusionOk="0">
                <a:moveTo>
                  <a:pt x="0" y="0"/>
                </a:moveTo>
                <a:cubicBezTo>
                  <a:pt x="11" y="0"/>
                  <a:pt x="22" y="-1"/>
                  <a:pt x="33" y="0"/>
                </a:cubicBezTo>
                <a:cubicBezTo>
                  <a:pt x="11962" y="0"/>
                  <a:pt x="21633" y="9670"/>
                  <a:pt x="21633" y="21600"/>
                </a:cubicBezTo>
              </a:path>
              <a:path w="21633" h="21600" stroke="0" extrusionOk="0">
                <a:moveTo>
                  <a:pt x="0" y="0"/>
                </a:moveTo>
                <a:cubicBezTo>
                  <a:pt x="11" y="0"/>
                  <a:pt x="22" y="-1"/>
                  <a:pt x="33" y="0"/>
                </a:cubicBezTo>
                <a:cubicBezTo>
                  <a:pt x="11962" y="0"/>
                  <a:pt x="21633" y="9670"/>
                  <a:pt x="21633" y="21600"/>
                </a:cubicBezTo>
                <a:lnTo>
                  <a:pt x="33" y="21600"/>
                </a:lnTo>
                <a:lnTo>
                  <a:pt x="0" y="0"/>
                </a:lnTo>
                <a:close/>
              </a:path>
            </a:pathLst>
          </a:custGeom>
          <a:solidFill>
            <a:srgbClr val="FFFFFF"/>
          </a:solidFill>
          <a:ln w="19050">
            <a:solidFill>
              <a:srgbClr val="000000"/>
            </a:solidFill>
            <a:round/>
            <a:headEnd/>
            <a:tailEnd/>
          </a:ln>
        </p:spPr>
        <p:txBody>
          <a:bodyPr/>
          <a:lstStyle/>
          <a:p>
            <a:endParaRPr lang="en-IN"/>
          </a:p>
        </p:txBody>
      </p:sp>
      <p:sp>
        <p:nvSpPr>
          <p:cNvPr id="14354" name="Arc 16">
            <a:extLst>
              <a:ext uri="{FF2B5EF4-FFF2-40B4-BE49-F238E27FC236}">
                <a16:creationId xmlns:a16="http://schemas.microsoft.com/office/drawing/2014/main" id="{7D7EC4F4-CE73-F723-FC06-FF603AED4E72}"/>
              </a:ext>
            </a:extLst>
          </p:cNvPr>
          <p:cNvSpPr>
            <a:spLocks/>
          </p:cNvSpPr>
          <p:nvPr/>
        </p:nvSpPr>
        <p:spPr bwMode="auto">
          <a:xfrm>
            <a:off x="4838701" y="2039939"/>
            <a:ext cx="739775" cy="231775"/>
          </a:xfrm>
          <a:custGeom>
            <a:avLst/>
            <a:gdLst>
              <a:gd name="T0" fmla="*/ 0 w 21617"/>
              <a:gd name="T1" fmla="*/ 0 h 21600"/>
              <a:gd name="T2" fmla="*/ 25316512 w 21617"/>
              <a:gd name="T3" fmla="*/ 2487021 h 21600"/>
              <a:gd name="T4" fmla="*/ 19917 w 21617"/>
              <a:gd name="T5" fmla="*/ 2487021 h 21600"/>
              <a:gd name="T6" fmla="*/ 0 60000 65536"/>
              <a:gd name="T7" fmla="*/ 0 60000 65536"/>
              <a:gd name="T8" fmla="*/ 0 60000 65536"/>
            </a:gdLst>
            <a:ahLst/>
            <a:cxnLst>
              <a:cxn ang="T6">
                <a:pos x="T0" y="T1"/>
              </a:cxn>
              <a:cxn ang="T7">
                <a:pos x="T2" y="T3"/>
              </a:cxn>
              <a:cxn ang="T8">
                <a:pos x="T4" y="T5"/>
              </a:cxn>
            </a:cxnLst>
            <a:rect l="0" t="0" r="r" b="b"/>
            <a:pathLst>
              <a:path w="21617" h="21600" fill="none" extrusionOk="0">
                <a:moveTo>
                  <a:pt x="0" y="0"/>
                </a:moveTo>
                <a:cubicBezTo>
                  <a:pt x="5" y="0"/>
                  <a:pt x="11" y="-1"/>
                  <a:pt x="17" y="0"/>
                </a:cubicBezTo>
                <a:cubicBezTo>
                  <a:pt x="11946" y="0"/>
                  <a:pt x="21617" y="9670"/>
                  <a:pt x="21617" y="21600"/>
                </a:cubicBezTo>
              </a:path>
              <a:path w="21617" h="21600" stroke="0" extrusionOk="0">
                <a:moveTo>
                  <a:pt x="0" y="0"/>
                </a:moveTo>
                <a:cubicBezTo>
                  <a:pt x="5" y="0"/>
                  <a:pt x="11" y="-1"/>
                  <a:pt x="17" y="0"/>
                </a:cubicBezTo>
                <a:cubicBezTo>
                  <a:pt x="11946" y="0"/>
                  <a:pt x="21617" y="9670"/>
                  <a:pt x="21617" y="21600"/>
                </a:cubicBezTo>
                <a:lnTo>
                  <a:pt x="17" y="21600"/>
                </a:lnTo>
                <a:lnTo>
                  <a:pt x="0" y="0"/>
                </a:lnTo>
                <a:close/>
              </a:path>
            </a:pathLst>
          </a:custGeom>
          <a:solidFill>
            <a:srgbClr val="FFFFFF"/>
          </a:solidFill>
          <a:ln w="19050">
            <a:solidFill>
              <a:srgbClr val="000000"/>
            </a:solidFill>
            <a:round/>
            <a:headEnd/>
            <a:tailEnd/>
          </a:ln>
        </p:spPr>
        <p:txBody>
          <a:bodyPr/>
          <a:lstStyle/>
          <a:p>
            <a:endParaRPr lang="en-IN"/>
          </a:p>
        </p:txBody>
      </p:sp>
      <p:sp>
        <p:nvSpPr>
          <p:cNvPr id="14355" name="Arc 17">
            <a:extLst>
              <a:ext uri="{FF2B5EF4-FFF2-40B4-BE49-F238E27FC236}">
                <a16:creationId xmlns:a16="http://schemas.microsoft.com/office/drawing/2014/main" id="{BB1996C7-2AD1-D29C-1983-FBEBAF19AB16}"/>
              </a:ext>
            </a:extLst>
          </p:cNvPr>
          <p:cNvSpPr>
            <a:spLocks/>
          </p:cNvSpPr>
          <p:nvPr/>
        </p:nvSpPr>
        <p:spPr bwMode="auto">
          <a:xfrm>
            <a:off x="4876800" y="2251075"/>
            <a:ext cx="700088" cy="230188"/>
          </a:xfrm>
          <a:custGeom>
            <a:avLst/>
            <a:gdLst>
              <a:gd name="T0" fmla="*/ 22690889 w 21600"/>
              <a:gd name="T1" fmla="*/ 0 h 21600"/>
              <a:gd name="T2" fmla="*/ 0 w 21600"/>
              <a:gd name="T3" fmla="*/ 2453079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9050">
            <a:solidFill>
              <a:srgbClr val="000000"/>
            </a:solidFill>
            <a:round/>
            <a:headEnd/>
            <a:tailEnd/>
          </a:ln>
        </p:spPr>
        <p:txBody>
          <a:bodyPr/>
          <a:lstStyle/>
          <a:p>
            <a:endParaRPr lang="en-IN"/>
          </a:p>
        </p:txBody>
      </p:sp>
      <p:sp>
        <p:nvSpPr>
          <p:cNvPr id="14356" name="Arc 18">
            <a:extLst>
              <a:ext uri="{FF2B5EF4-FFF2-40B4-BE49-F238E27FC236}">
                <a16:creationId xmlns:a16="http://schemas.microsoft.com/office/drawing/2014/main" id="{54A586A6-FDC0-D77A-06A2-DC1CB1D6B045}"/>
              </a:ext>
            </a:extLst>
          </p:cNvPr>
          <p:cNvSpPr>
            <a:spLocks/>
          </p:cNvSpPr>
          <p:nvPr/>
        </p:nvSpPr>
        <p:spPr bwMode="auto">
          <a:xfrm>
            <a:off x="4838700" y="2251075"/>
            <a:ext cx="109538" cy="230188"/>
          </a:xfrm>
          <a:custGeom>
            <a:avLst/>
            <a:gdLst>
              <a:gd name="T0" fmla="*/ 554540 w 21637"/>
              <a:gd name="T1" fmla="*/ 0 h 21600"/>
              <a:gd name="T2" fmla="*/ 0 w 21637"/>
              <a:gd name="T3" fmla="*/ 2453079 h 21600"/>
              <a:gd name="T4" fmla="*/ 947 w 21637"/>
              <a:gd name="T5" fmla="*/ 0 h 21600"/>
              <a:gd name="T6" fmla="*/ 0 60000 65536"/>
              <a:gd name="T7" fmla="*/ 0 60000 65536"/>
              <a:gd name="T8" fmla="*/ 0 60000 65536"/>
            </a:gdLst>
            <a:ahLst/>
            <a:cxnLst>
              <a:cxn ang="T6">
                <a:pos x="T0" y="T1"/>
              </a:cxn>
              <a:cxn ang="T7">
                <a:pos x="T2" y="T3"/>
              </a:cxn>
              <a:cxn ang="T8">
                <a:pos x="T4" y="T5"/>
              </a:cxn>
            </a:cxnLst>
            <a:rect l="0" t="0" r="r" b="b"/>
            <a:pathLst>
              <a:path w="21637" h="21600" fill="none" extrusionOk="0">
                <a:moveTo>
                  <a:pt x="21637" y="0"/>
                </a:moveTo>
                <a:cubicBezTo>
                  <a:pt x="21637" y="11929"/>
                  <a:pt x="11966" y="21600"/>
                  <a:pt x="37" y="21600"/>
                </a:cubicBezTo>
                <a:cubicBezTo>
                  <a:pt x="24" y="21600"/>
                  <a:pt x="12" y="21599"/>
                  <a:pt x="0" y="21599"/>
                </a:cubicBezTo>
              </a:path>
              <a:path w="21637" h="21600" stroke="0" extrusionOk="0">
                <a:moveTo>
                  <a:pt x="21637" y="0"/>
                </a:moveTo>
                <a:cubicBezTo>
                  <a:pt x="21637" y="11929"/>
                  <a:pt x="11966" y="21600"/>
                  <a:pt x="37" y="21600"/>
                </a:cubicBezTo>
                <a:cubicBezTo>
                  <a:pt x="24" y="21600"/>
                  <a:pt x="12" y="21599"/>
                  <a:pt x="0" y="21599"/>
                </a:cubicBezTo>
                <a:lnTo>
                  <a:pt x="37" y="0"/>
                </a:lnTo>
                <a:lnTo>
                  <a:pt x="21637" y="0"/>
                </a:lnTo>
                <a:close/>
              </a:path>
            </a:pathLst>
          </a:custGeom>
          <a:solidFill>
            <a:srgbClr val="FFFFFF"/>
          </a:solidFill>
          <a:ln w="19050">
            <a:solidFill>
              <a:srgbClr val="000000"/>
            </a:solidFill>
            <a:round/>
            <a:headEnd/>
            <a:tailEnd/>
          </a:ln>
        </p:spPr>
        <p:txBody>
          <a:bodyPr/>
          <a:lstStyle/>
          <a:p>
            <a:endParaRPr lang="en-IN"/>
          </a:p>
        </p:txBody>
      </p:sp>
      <p:sp>
        <p:nvSpPr>
          <p:cNvPr id="14357" name="Arc 19">
            <a:extLst>
              <a:ext uri="{FF2B5EF4-FFF2-40B4-BE49-F238E27FC236}">
                <a16:creationId xmlns:a16="http://schemas.microsoft.com/office/drawing/2014/main" id="{6071031F-B0E0-A5F6-4228-CF233E21C1D3}"/>
              </a:ext>
            </a:extLst>
          </p:cNvPr>
          <p:cNvSpPr>
            <a:spLocks/>
          </p:cNvSpPr>
          <p:nvPr/>
        </p:nvSpPr>
        <p:spPr bwMode="auto">
          <a:xfrm>
            <a:off x="6708775" y="1439864"/>
            <a:ext cx="109538" cy="211137"/>
          </a:xfrm>
          <a:custGeom>
            <a:avLst/>
            <a:gdLst>
              <a:gd name="T0" fmla="*/ 0 w 21600"/>
              <a:gd name="T1" fmla="*/ 0 h 21600"/>
              <a:gd name="T2" fmla="*/ 555490 w 21600"/>
              <a:gd name="T3" fmla="*/ 2062212 h 21600"/>
              <a:gd name="T4" fmla="*/ 0 w 21600"/>
              <a:gd name="T5" fmla="*/ 206383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2" y="0"/>
                  <a:pt x="21590" y="9660"/>
                  <a:pt x="21599" y="21583"/>
                </a:cubicBezTo>
              </a:path>
              <a:path w="21600" h="21600" stroke="0" extrusionOk="0">
                <a:moveTo>
                  <a:pt x="-1" y="0"/>
                </a:moveTo>
                <a:cubicBezTo>
                  <a:pt x="11922" y="0"/>
                  <a:pt x="21590" y="9660"/>
                  <a:pt x="21599" y="21583"/>
                </a:cubicBezTo>
                <a:lnTo>
                  <a:pt x="0" y="21600"/>
                </a:lnTo>
                <a:lnTo>
                  <a:pt x="-1" y="0"/>
                </a:lnTo>
                <a:close/>
              </a:path>
            </a:pathLst>
          </a:custGeom>
          <a:solidFill>
            <a:srgbClr val="FFFFFF"/>
          </a:solidFill>
          <a:ln w="19050">
            <a:solidFill>
              <a:srgbClr val="000000"/>
            </a:solidFill>
            <a:round/>
            <a:headEnd/>
            <a:tailEnd/>
          </a:ln>
        </p:spPr>
        <p:txBody>
          <a:bodyPr/>
          <a:lstStyle/>
          <a:p>
            <a:endParaRPr lang="en-IN"/>
          </a:p>
        </p:txBody>
      </p:sp>
      <p:sp>
        <p:nvSpPr>
          <p:cNvPr id="14358" name="Arc 20">
            <a:extLst>
              <a:ext uri="{FF2B5EF4-FFF2-40B4-BE49-F238E27FC236}">
                <a16:creationId xmlns:a16="http://schemas.microsoft.com/office/drawing/2014/main" id="{FCE3BB58-CC84-256E-5E41-98DB25D8A50D}"/>
              </a:ext>
            </a:extLst>
          </p:cNvPr>
          <p:cNvSpPr>
            <a:spLocks/>
          </p:cNvSpPr>
          <p:nvPr/>
        </p:nvSpPr>
        <p:spPr bwMode="auto">
          <a:xfrm>
            <a:off x="6708776" y="1439864"/>
            <a:ext cx="739775" cy="230187"/>
          </a:xfrm>
          <a:custGeom>
            <a:avLst/>
            <a:gdLst>
              <a:gd name="T0" fmla="*/ 0 w 21600"/>
              <a:gd name="T1" fmla="*/ 0 h 21600"/>
              <a:gd name="T2" fmla="*/ 25336438 w 21600"/>
              <a:gd name="T3" fmla="*/ 2453058 h 21600"/>
              <a:gd name="T4" fmla="*/ 0 w 21600"/>
              <a:gd name="T5" fmla="*/ 2453058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9050">
            <a:solidFill>
              <a:srgbClr val="000000"/>
            </a:solidFill>
            <a:round/>
            <a:headEnd/>
            <a:tailEnd/>
          </a:ln>
        </p:spPr>
        <p:txBody>
          <a:bodyPr/>
          <a:lstStyle/>
          <a:p>
            <a:endParaRPr lang="en-IN"/>
          </a:p>
        </p:txBody>
      </p:sp>
      <p:sp>
        <p:nvSpPr>
          <p:cNvPr id="14359" name="Arc 21">
            <a:extLst>
              <a:ext uri="{FF2B5EF4-FFF2-40B4-BE49-F238E27FC236}">
                <a16:creationId xmlns:a16="http://schemas.microsoft.com/office/drawing/2014/main" id="{59D63F45-6791-BBFD-D231-210D5C4CCEFD}"/>
              </a:ext>
            </a:extLst>
          </p:cNvPr>
          <p:cNvSpPr>
            <a:spLocks/>
          </p:cNvSpPr>
          <p:nvPr/>
        </p:nvSpPr>
        <p:spPr bwMode="auto">
          <a:xfrm>
            <a:off x="6748464" y="1651001"/>
            <a:ext cx="700087" cy="231775"/>
          </a:xfrm>
          <a:custGeom>
            <a:avLst/>
            <a:gdLst>
              <a:gd name="T0" fmla="*/ 22672980 w 21617"/>
              <a:gd name="T1" fmla="*/ 0 h 21653"/>
              <a:gd name="T2" fmla="*/ 0 w 21617"/>
              <a:gd name="T3" fmla="*/ 2480933 h 21653"/>
              <a:gd name="T4" fmla="*/ 17845 w 21617"/>
              <a:gd name="T5" fmla="*/ 6069 h 21653"/>
              <a:gd name="T6" fmla="*/ 0 60000 65536"/>
              <a:gd name="T7" fmla="*/ 0 60000 65536"/>
              <a:gd name="T8" fmla="*/ 0 60000 65536"/>
            </a:gdLst>
            <a:ahLst/>
            <a:cxnLst>
              <a:cxn ang="T6">
                <a:pos x="T0" y="T1"/>
              </a:cxn>
              <a:cxn ang="T7">
                <a:pos x="T2" y="T3"/>
              </a:cxn>
              <a:cxn ang="T8">
                <a:pos x="T4" y="T5"/>
              </a:cxn>
            </a:cxnLst>
            <a:rect l="0" t="0" r="r" b="b"/>
            <a:pathLst>
              <a:path w="21617" h="21653" fill="none" extrusionOk="0">
                <a:moveTo>
                  <a:pt x="21616" y="0"/>
                </a:moveTo>
                <a:cubicBezTo>
                  <a:pt x="21616" y="17"/>
                  <a:pt x="21617" y="35"/>
                  <a:pt x="21617" y="53"/>
                </a:cubicBezTo>
                <a:cubicBezTo>
                  <a:pt x="21617" y="11982"/>
                  <a:pt x="11946" y="21653"/>
                  <a:pt x="17" y="21653"/>
                </a:cubicBezTo>
                <a:cubicBezTo>
                  <a:pt x="11" y="21653"/>
                  <a:pt x="5" y="21652"/>
                  <a:pt x="0" y="21652"/>
                </a:cubicBezTo>
              </a:path>
              <a:path w="21617" h="21653" stroke="0" extrusionOk="0">
                <a:moveTo>
                  <a:pt x="21616" y="0"/>
                </a:moveTo>
                <a:cubicBezTo>
                  <a:pt x="21616" y="17"/>
                  <a:pt x="21617" y="35"/>
                  <a:pt x="21617" y="53"/>
                </a:cubicBezTo>
                <a:cubicBezTo>
                  <a:pt x="21617" y="11982"/>
                  <a:pt x="11946" y="21653"/>
                  <a:pt x="17" y="21653"/>
                </a:cubicBezTo>
                <a:cubicBezTo>
                  <a:pt x="11" y="21653"/>
                  <a:pt x="5" y="21652"/>
                  <a:pt x="0" y="21652"/>
                </a:cubicBezTo>
                <a:lnTo>
                  <a:pt x="17" y="53"/>
                </a:lnTo>
                <a:lnTo>
                  <a:pt x="21616" y="0"/>
                </a:lnTo>
                <a:close/>
              </a:path>
            </a:pathLst>
          </a:custGeom>
          <a:solidFill>
            <a:srgbClr val="FFFFFF"/>
          </a:solidFill>
          <a:ln w="19050">
            <a:solidFill>
              <a:srgbClr val="000000"/>
            </a:solidFill>
            <a:round/>
            <a:headEnd/>
            <a:tailEnd/>
          </a:ln>
        </p:spPr>
        <p:txBody>
          <a:bodyPr/>
          <a:lstStyle/>
          <a:p>
            <a:endParaRPr lang="en-IN"/>
          </a:p>
        </p:txBody>
      </p:sp>
      <p:sp>
        <p:nvSpPr>
          <p:cNvPr id="14360" name="Arc 22">
            <a:extLst>
              <a:ext uri="{FF2B5EF4-FFF2-40B4-BE49-F238E27FC236}">
                <a16:creationId xmlns:a16="http://schemas.microsoft.com/office/drawing/2014/main" id="{A6D53EFE-6A2B-F9F0-336C-849D9E286A44}"/>
              </a:ext>
            </a:extLst>
          </p:cNvPr>
          <p:cNvSpPr>
            <a:spLocks/>
          </p:cNvSpPr>
          <p:nvPr/>
        </p:nvSpPr>
        <p:spPr bwMode="auto">
          <a:xfrm>
            <a:off x="6708775" y="1651001"/>
            <a:ext cx="109538" cy="231775"/>
          </a:xfrm>
          <a:custGeom>
            <a:avLst/>
            <a:gdLst>
              <a:gd name="T0" fmla="*/ 555490 w 21600"/>
              <a:gd name="T1" fmla="*/ 0 h 21617"/>
              <a:gd name="T2" fmla="*/ 0 w 21600"/>
              <a:gd name="T3" fmla="*/ 2485065 h 21617"/>
              <a:gd name="T4" fmla="*/ 0 w 21600"/>
              <a:gd name="T5" fmla="*/ 1951 h 21617"/>
              <a:gd name="T6" fmla="*/ 0 60000 65536"/>
              <a:gd name="T7" fmla="*/ 0 60000 65536"/>
              <a:gd name="T8" fmla="*/ 0 60000 65536"/>
            </a:gdLst>
            <a:ahLst/>
            <a:cxnLst>
              <a:cxn ang="T6">
                <a:pos x="T0" y="T1"/>
              </a:cxn>
              <a:cxn ang="T7">
                <a:pos x="T2" y="T3"/>
              </a:cxn>
              <a:cxn ang="T8">
                <a:pos x="T4" y="T5"/>
              </a:cxn>
            </a:cxnLst>
            <a:rect l="0" t="0" r="r" b="b"/>
            <a:pathLst>
              <a:path w="21600" h="21617" fill="none" extrusionOk="0">
                <a:moveTo>
                  <a:pt x="21599" y="0"/>
                </a:moveTo>
                <a:cubicBezTo>
                  <a:pt x="21599" y="5"/>
                  <a:pt x="21600" y="11"/>
                  <a:pt x="21600" y="17"/>
                </a:cubicBezTo>
                <a:cubicBezTo>
                  <a:pt x="21600" y="11946"/>
                  <a:pt x="11929" y="21616"/>
                  <a:pt x="0" y="21617"/>
                </a:cubicBezTo>
              </a:path>
              <a:path w="21600" h="21617" stroke="0" extrusionOk="0">
                <a:moveTo>
                  <a:pt x="21599" y="0"/>
                </a:moveTo>
                <a:cubicBezTo>
                  <a:pt x="21599" y="5"/>
                  <a:pt x="21600" y="11"/>
                  <a:pt x="21600" y="17"/>
                </a:cubicBezTo>
                <a:cubicBezTo>
                  <a:pt x="21600" y="11946"/>
                  <a:pt x="11929" y="21616"/>
                  <a:pt x="0" y="21617"/>
                </a:cubicBezTo>
                <a:lnTo>
                  <a:pt x="0" y="17"/>
                </a:lnTo>
                <a:lnTo>
                  <a:pt x="21599" y="0"/>
                </a:lnTo>
                <a:close/>
              </a:path>
            </a:pathLst>
          </a:custGeom>
          <a:solidFill>
            <a:srgbClr val="FFFFFF"/>
          </a:solidFill>
          <a:ln w="19050">
            <a:solidFill>
              <a:srgbClr val="000000"/>
            </a:solidFill>
            <a:round/>
            <a:headEnd/>
            <a:tailEnd/>
          </a:ln>
        </p:spPr>
        <p:txBody>
          <a:bodyPr/>
          <a:lstStyle/>
          <a:p>
            <a:endParaRPr lang="en-IN"/>
          </a:p>
        </p:txBody>
      </p:sp>
      <p:sp>
        <p:nvSpPr>
          <p:cNvPr id="14361" name="Line 23">
            <a:extLst>
              <a:ext uri="{FF2B5EF4-FFF2-40B4-BE49-F238E27FC236}">
                <a16:creationId xmlns:a16="http://schemas.microsoft.com/office/drawing/2014/main" id="{5489F370-F007-1726-B696-F865A197F3CC}"/>
              </a:ext>
            </a:extLst>
          </p:cNvPr>
          <p:cNvSpPr>
            <a:spLocks noChangeShapeType="1"/>
          </p:cNvSpPr>
          <p:nvPr/>
        </p:nvSpPr>
        <p:spPr bwMode="auto">
          <a:xfrm>
            <a:off x="6746875" y="1549400"/>
            <a:ext cx="39688"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62" name="Line 24">
            <a:extLst>
              <a:ext uri="{FF2B5EF4-FFF2-40B4-BE49-F238E27FC236}">
                <a16:creationId xmlns:a16="http://schemas.microsoft.com/office/drawing/2014/main" id="{F390EF6C-2EE7-31B6-A232-AA26295AADC4}"/>
              </a:ext>
            </a:extLst>
          </p:cNvPr>
          <p:cNvSpPr>
            <a:spLocks noChangeShapeType="1"/>
          </p:cNvSpPr>
          <p:nvPr/>
        </p:nvSpPr>
        <p:spPr bwMode="auto">
          <a:xfrm>
            <a:off x="6746875" y="1751014"/>
            <a:ext cx="39688"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63" name="Line 25">
            <a:extLst>
              <a:ext uri="{FF2B5EF4-FFF2-40B4-BE49-F238E27FC236}">
                <a16:creationId xmlns:a16="http://schemas.microsoft.com/office/drawing/2014/main" id="{77E783FE-978D-5F52-B63C-9F4FB5895D44}"/>
              </a:ext>
            </a:extLst>
          </p:cNvPr>
          <p:cNvSpPr>
            <a:spLocks noChangeShapeType="1"/>
          </p:cNvSpPr>
          <p:nvPr/>
        </p:nvSpPr>
        <p:spPr bwMode="auto">
          <a:xfrm>
            <a:off x="7831139" y="1509714"/>
            <a:ext cx="471487"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64" name="Line 26">
            <a:extLst>
              <a:ext uri="{FF2B5EF4-FFF2-40B4-BE49-F238E27FC236}">
                <a16:creationId xmlns:a16="http://schemas.microsoft.com/office/drawing/2014/main" id="{174CA6FB-823D-7516-A57D-751787A286AA}"/>
              </a:ext>
            </a:extLst>
          </p:cNvPr>
          <p:cNvSpPr>
            <a:spLocks noChangeShapeType="1"/>
          </p:cNvSpPr>
          <p:nvPr/>
        </p:nvSpPr>
        <p:spPr bwMode="auto">
          <a:xfrm>
            <a:off x="7831139" y="1990725"/>
            <a:ext cx="492125"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65" name="Line 27">
            <a:extLst>
              <a:ext uri="{FF2B5EF4-FFF2-40B4-BE49-F238E27FC236}">
                <a16:creationId xmlns:a16="http://schemas.microsoft.com/office/drawing/2014/main" id="{4C10C961-B6A3-C8C8-ECA6-D51D0963C555}"/>
              </a:ext>
            </a:extLst>
          </p:cNvPr>
          <p:cNvSpPr>
            <a:spLocks noChangeShapeType="1"/>
          </p:cNvSpPr>
          <p:nvPr/>
        </p:nvSpPr>
        <p:spPr bwMode="auto">
          <a:xfrm flipV="1">
            <a:off x="7831139" y="1509713"/>
            <a:ext cx="1587" cy="481012"/>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66" name="Arc 28">
            <a:extLst>
              <a:ext uri="{FF2B5EF4-FFF2-40B4-BE49-F238E27FC236}">
                <a16:creationId xmlns:a16="http://schemas.microsoft.com/office/drawing/2014/main" id="{3C689C06-2F7E-1EEA-D820-8D80C4FAD59F}"/>
              </a:ext>
            </a:extLst>
          </p:cNvPr>
          <p:cNvSpPr>
            <a:spLocks/>
          </p:cNvSpPr>
          <p:nvPr/>
        </p:nvSpPr>
        <p:spPr bwMode="auto">
          <a:xfrm>
            <a:off x="8304214" y="1509713"/>
            <a:ext cx="236537" cy="260350"/>
          </a:xfrm>
          <a:custGeom>
            <a:avLst/>
            <a:gdLst>
              <a:gd name="T0" fmla="*/ 0 w 21619"/>
              <a:gd name="T1" fmla="*/ 0 h 21600"/>
              <a:gd name="T2" fmla="*/ 2587990 w 21619"/>
              <a:gd name="T3" fmla="*/ 3138061 h 21600"/>
              <a:gd name="T4" fmla="*/ 2276 w 21619"/>
              <a:gd name="T5" fmla="*/ 3138061 h 21600"/>
              <a:gd name="T6" fmla="*/ 0 60000 65536"/>
              <a:gd name="T7" fmla="*/ 0 60000 65536"/>
              <a:gd name="T8" fmla="*/ 0 60000 65536"/>
            </a:gdLst>
            <a:ahLst/>
            <a:cxnLst>
              <a:cxn ang="T6">
                <a:pos x="T0" y="T1"/>
              </a:cxn>
              <a:cxn ang="T7">
                <a:pos x="T2" y="T3"/>
              </a:cxn>
              <a:cxn ang="T8">
                <a:pos x="T4" y="T5"/>
              </a:cxn>
            </a:cxnLst>
            <a:rect l="0" t="0" r="r" b="b"/>
            <a:pathLst>
              <a:path w="21619" h="21600" fill="none" extrusionOk="0">
                <a:moveTo>
                  <a:pt x="0" y="0"/>
                </a:moveTo>
                <a:cubicBezTo>
                  <a:pt x="6" y="0"/>
                  <a:pt x="12" y="-1"/>
                  <a:pt x="19" y="0"/>
                </a:cubicBezTo>
                <a:cubicBezTo>
                  <a:pt x="11948" y="0"/>
                  <a:pt x="21619" y="9670"/>
                  <a:pt x="21619" y="21600"/>
                </a:cubicBezTo>
              </a:path>
              <a:path w="21619" h="21600" stroke="0" extrusionOk="0">
                <a:moveTo>
                  <a:pt x="0" y="0"/>
                </a:moveTo>
                <a:cubicBezTo>
                  <a:pt x="6" y="0"/>
                  <a:pt x="12" y="-1"/>
                  <a:pt x="19" y="0"/>
                </a:cubicBezTo>
                <a:cubicBezTo>
                  <a:pt x="11948" y="0"/>
                  <a:pt x="21619" y="9670"/>
                  <a:pt x="21619" y="21600"/>
                </a:cubicBezTo>
                <a:lnTo>
                  <a:pt x="19" y="216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367" name="Arc 29">
            <a:extLst>
              <a:ext uri="{FF2B5EF4-FFF2-40B4-BE49-F238E27FC236}">
                <a16:creationId xmlns:a16="http://schemas.microsoft.com/office/drawing/2014/main" id="{9C503A01-4C89-0268-DFAC-271BBCA0F6BC}"/>
              </a:ext>
            </a:extLst>
          </p:cNvPr>
          <p:cNvSpPr>
            <a:spLocks/>
          </p:cNvSpPr>
          <p:nvPr/>
        </p:nvSpPr>
        <p:spPr bwMode="auto">
          <a:xfrm>
            <a:off x="8304213" y="1519239"/>
            <a:ext cx="227012" cy="250825"/>
          </a:xfrm>
          <a:custGeom>
            <a:avLst/>
            <a:gdLst>
              <a:gd name="T0" fmla="*/ 0 w 21619"/>
              <a:gd name="T1" fmla="*/ 0 h 21600"/>
              <a:gd name="T2" fmla="*/ 2383757 w 21619"/>
              <a:gd name="T3" fmla="*/ 2912647 h 21600"/>
              <a:gd name="T4" fmla="*/ 2100 w 21619"/>
              <a:gd name="T5" fmla="*/ 2912647 h 21600"/>
              <a:gd name="T6" fmla="*/ 0 60000 65536"/>
              <a:gd name="T7" fmla="*/ 0 60000 65536"/>
              <a:gd name="T8" fmla="*/ 0 60000 65536"/>
            </a:gdLst>
            <a:ahLst/>
            <a:cxnLst>
              <a:cxn ang="T6">
                <a:pos x="T0" y="T1"/>
              </a:cxn>
              <a:cxn ang="T7">
                <a:pos x="T2" y="T3"/>
              </a:cxn>
              <a:cxn ang="T8">
                <a:pos x="T4" y="T5"/>
              </a:cxn>
            </a:cxnLst>
            <a:rect l="0" t="0" r="r" b="b"/>
            <a:pathLst>
              <a:path w="21619" h="21600" fill="none" extrusionOk="0">
                <a:moveTo>
                  <a:pt x="0" y="0"/>
                </a:moveTo>
                <a:cubicBezTo>
                  <a:pt x="6" y="0"/>
                  <a:pt x="12" y="-1"/>
                  <a:pt x="19" y="0"/>
                </a:cubicBezTo>
                <a:cubicBezTo>
                  <a:pt x="11948" y="0"/>
                  <a:pt x="21619" y="9670"/>
                  <a:pt x="21619" y="21600"/>
                </a:cubicBezTo>
              </a:path>
              <a:path w="21619" h="21600" stroke="0" extrusionOk="0">
                <a:moveTo>
                  <a:pt x="0" y="0"/>
                </a:moveTo>
                <a:cubicBezTo>
                  <a:pt x="6" y="0"/>
                  <a:pt x="12" y="-1"/>
                  <a:pt x="19" y="0"/>
                </a:cubicBezTo>
                <a:cubicBezTo>
                  <a:pt x="11948" y="0"/>
                  <a:pt x="21619" y="9670"/>
                  <a:pt x="21619" y="21600"/>
                </a:cubicBezTo>
                <a:lnTo>
                  <a:pt x="19" y="21600"/>
                </a:lnTo>
                <a:lnTo>
                  <a:pt x="0" y="0"/>
                </a:lnTo>
                <a:close/>
              </a:path>
            </a:pathLst>
          </a:custGeom>
          <a:solidFill>
            <a:srgbClr val="FFFFFF"/>
          </a:solidFill>
          <a:ln w="19050">
            <a:solidFill>
              <a:srgbClr val="000000"/>
            </a:solidFill>
            <a:round/>
            <a:headEnd/>
            <a:tailEnd/>
          </a:ln>
        </p:spPr>
        <p:txBody>
          <a:bodyPr/>
          <a:lstStyle/>
          <a:p>
            <a:endParaRPr lang="en-IN"/>
          </a:p>
        </p:txBody>
      </p:sp>
      <p:sp>
        <p:nvSpPr>
          <p:cNvPr id="14368" name="Arc 30">
            <a:extLst>
              <a:ext uri="{FF2B5EF4-FFF2-40B4-BE49-F238E27FC236}">
                <a16:creationId xmlns:a16="http://schemas.microsoft.com/office/drawing/2014/main" id="{23A7B169-7298-5896-3D6C-D159158ACA92}"/>
              </a:ext>
            </a:extLst>
          </p:cNvPr>
          <p:cNvSpPr>
            <a:spLocks/>
          </p:cNvSpPr>
          <p:nvPr/>
        </p:nvSpPr>
        <p:spPr bwMode="auto">
          <a:xfrm>
            <a:off x="8304214" y="1751014"/>
            <a:ext cx="236537" cy="261937"/>
          </a:xfrm>
          <a:custGeom>
            <a:avLst/>
            <a:gdLst>
              <a:gd name="T0" fmla="*/ 2587990 w 21619"/>
              <a:gd name="T1" fmla="*/ 0 h 21600"/>
              <a:gd name="T2" fmla="*/ 0 w 21619"/>
              <a:gd name="T3" fmla="*/ 3176435 h 21600"/>
              <a:gd name="T4" fmla="*/ 2276 w 21619"/>
              <a:gd name="T5" fmla="*/ 0 h 21600"/>
              <a:gd name="T6" fmla="*/ 0 60000 65536"/>
              <a:gd name="T7" fmla="*/ 0 60000 65536"/>
              <a:gd name="T8" fmla="*/ 0 60000 65536"/>
            </a:gdLst>
            <a:ahLst/>
            <a:cxnLst>
              <a:cxn ang="T6">
                <a:pos x="T0" y="T1"/>
              </a:cxn>
              <a:cxn ang="T7">
                <a:pos x="T2" y="T3"/>
              </a:cxn>
              <a:cxn ang="T8">
                <a:pos x="T4" y="T5"/>
              </a:cxn>
            </a:cxnLst>
            <a:rect l="0" t="0" r="r" b="b"/>
            <a:pathLst>
              <a:path w="21619" h="21600" fill="none" extrusionOk="0">
                <a:moveTo>
                  <a:pt x="21619" y="0"/>
                </a:moveTo>
                <a:cubicBezTo>
                  <a:pt x="21619" y="11929"/>
                  <a:pt x="11948" y="21600"/>
                  <a:pt x="19" y="21600"/>
                </a:cubicBezTo>
                <a:cubicBezTo>
                  <a:pt x="12" y="21600"/>
                  <a:pt x="6" y="21599"/>
                  <a:pt x="0" y="21599"/>
                </a:cubicBezTo>
              </a:path>
              <a:path w="21619" h="21600" stroke="0" extrusionOk="0">
                <a:moveTo>
                  <a:pt x="21619" y="0"/>
                </a:moveTo>
                <a:cubicBezTo>
                  <a:pt x="21619" y="11929"/>
                  <a:pt x="11948" y="21600"/>
                  <a:pt x="19" y="21600"/>
                </a:cubicBezTo>
                <a:cubicBezTo>
                  <a:pt x="12" y="21600"/>
                  <a:pt x="6" y="21599"/>
                  <a:pt x="0" y="21599"/>
                </a:cubicBezTo>
                <a:lnTo>
                  <a:pt x="19" y="0"/>
                </a:lnTo>
                <a:lnTo>
                  <a:pt x="2161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369" name="Arc 31">
            <a:extLst>
              <a:ext uri="{FF2B5EF4-FFF2-40B4-BE49-F238E27FC236}">
                <a16:creationId xmlns:a16="http://schemas.microsoft.com/office/drawing/2014/main" id="{187BC7C9-6777-898F-EB8B-3C117FBA1E5C}"/>
              </a:ext>
            </a:extLst>
          </p:cNvPr>
          <p:cNvSpPr>
            <a:spLocks/>
          </p:cNvSpPr>
          <p:nvPr/>
        </p:nvSpPr>
        <p:spPr bwMode="auto">
          <a:xfrm>
            <a:off x="8304213" y="1751013"/>
            <a:ext cx="227012" cy="252412"/>
          </a:xfrm>
          <a:custGeom>
            <a:avLst/>
            <a:gdLst>
              <a:gd name="T0" fmla="*/ 2383757 w 21619"/>
              <a:gd name="T1" fmla="*/ 0 h 21600"/>
              <a:gd name="T2" fmla="*/ 0 w 21619"/>
              <a:gd name="T3" fmla="*/ 2949621 h 21600"/>
              <a:gd name="T4" fmla="*/ 2100 w 21619"/>
              <a:gd name="T5" fmla="*/ 0 h 21600"/>
              <a:gd name="T6" fmla="*/ 0 60000 65536"/>
              <a:gd name="T7" fmla="*/ 0 60000 65536"/>
              <a:gd name="T8" fmla="*/ 0 60000 65536"/>
            </a:gdLst>
            <a:ahLst/>
            <a:cxnLst>
              <a:cxn ang="T6">
                <a:pos x="T0" y="T1"/>
              </a:cxn>
              <a:cxn ang="T7">
                <a:pos x="T2" y="T3"/>
              </a:cxn>
              <a:cxn ang="T8">
                <a:pos x="T4" y="T5"/>
              </a:cxn>
            </a:cxnLst>
            <a:rect l="0" t="0" r="r" b="b"/>
            <a:pathLst>
              <a:path w="21619" h="21600" fill="none" extrusionOk="0">
                <a:moveTo>
                  <a:pt x="21619" y="0"/>
                </a:moveTo>
                <a:cubicBezTo>
                  <a:pt x="21619" y="11929"/>
                  <a:pt x="11948" y="21600"/>
                  <a:pt x="19" y="21600"/>
                </a:cubicBezTo>
                <a:cubicBezTo>
                  <a:pt x="12" y="21600"/>
                  <a:pt x="6" y="21599"/>
                  <a:pt x="0" y="21599"/>
                </a:cubicBezTo>
              </a:path>
              <a:path w="21619" h="21600" stroke="0" extrusionOk="0">
                <a:moveTo>
                  <a:pt x="21619" y="0"/>
                </a:moveTo>
                <a:cubicBezTo>
                  <a:pt x="21619" y="11929"/>
                  <a:pt x="11948" y="21600"/>
                  <a:pt x="19" y="21600"/>
                </a:cubicBezTo>
                <a:cubicBezTo>
                  <a:pt x="12" y="21600"/>
                  <a:pt x="6" y="21599"/>
                  <a:pt x="0" y="21599"/>
                </a:cubicBezTo>
                <a:lnTo>
                  <a:pt x="19" y="0"/>
                </a:lnTo>
                <a:lnTo>
                  <a:pt x="21619" y="0"/>
                </a:lnTo>
                <a:close/>
              </a:path>
            </a:pathLst>
          </a:custGeom>
          <a:solidFill>
            <a:srgbClr val="FFFFFF"/>
          </a:solidFill>
          <a:ln w="19050">
            <a:solidFill>
              <a:srgbClr val="000000"/>
            </a:solidFill>
            <a:round/>
            <a:headEnd/>
            <a:tailEnd/>
          </a:ln>
        </p:spPr>
        <p:txBody>
          <a:bodyPr/>
          <a:lstStyle/>
          <a:p>
            <a:endParaRPr lang="en-IN"/>
          </a:p>
        </p:txBody>
      </p:sp>
      <p:sp>
        <p:nvSpPr>
          <p:cNvPr id="14370" name="Line 32">
            <a:extLst>
              <a:ext uri="{FF2B5EF4-FFF2-40B4-BE49-F238E27FC236}">
                <a16:creationId xmlns:a16="http://schemas.microsoft.com/office/drawing/2014/main" id="{E5941FE8-E606-9B02-2EA0-37F122B4C682}"/>
              </a:ext>
            </a:extLst>
          </p:cNvPr>
          <p:cNvSpPr>
            <a:spLocks noChangeShapeType="1"/>
          </p:cNvSpPr>
          <p:nvPr/>
        </p:nvSpPr>
        <p:spPr bwMode="auto">
          <a:xfrm>
            <a:off x="7831139" y="2311400"/>
            <a:ext cx="471487"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71" name="Line 33">
            <a:extLst>
              <a:ext uri="{FF2B5EF4-FFF2-40B4-BE49-F238E27FC236}">
                <a16:creationId xmlns:a16="http://schemas.microsoft.com/office/drawing/2014/main" id="{A7876C83-E14C-7994-09FC-A9C38E24499A}"/>
              </a:ext>
            </a:extLst>
          </p:cNvPr>
          <p:cNvSpPr>
            <a:spLocks noChangeShapeType="1"/>
          </p:cNvSpPr>
          <p:nvPr/>
        </p:nvSpPr>
        <p:spPr bwMode="auto">
          <a:xfrm>
            <a:off x="7831139" y="2792414"/>
            <a:ext cx="492125"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72" name="Line 34">
            <a:extLst>
              <a:ext uri="{FF2B5EF4-FFF2-40B4-BE49-F238E27FC236}">
                <a16:creationId xmlns:a16="http://schemas.microsoft.com/office/drawing/2014/main" id="{9D48B496-32DC-74E9-5E18-7242A30EA02F}"/>
              </a:ext>
            </a:extLst>
          </p:cNvPr>
          <p:cNvSpPr>
            <a:spLocks noChangeShapeType="1"/>
          </p:cNvSpPr>
          <p:nvPr/>
        </p:nvSpPr>
        <p:spPr bwMode="auto">
          <a:xfrm flipV="1">
            <a:off x="7831139" y="2311401"/>
            <a:ext cx="1587" cy="48101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73" name="Arc 35">
            <a:extLst>
              <a:ext uri="{FF2B5EF4-FFF2-40B4-BE49-F238E27FC236}">
                <a16:creationId xmlns:a16="http://schemas.microsoft.com/office/drawing/2014/main" id="{9C3B3194-CEBA-51F4-DFF1-617856F4DE3C}"/>
              </a:ext>
            </a:extLst>
          </p:cNvPr>
          <p:cNvSpPr>
            <a:spLocks/>
          </p:cNvSpPr>
          <p:nvPr/>
        </p:nvSpPr>
        <p:spPr bwMode="auto">
          <a:xfrm>
            <a:off x="8304214" y="2311400"/>
            <a:ext cx="236537" cy="260350"/>
          </a:xfrm>
          <a:custGeom>
            <a:avLst/>
            <a:gdLst>
              <a:gd name="T0" fmla="*/ 0 w 21619"/>
              <a:gd name="T1" fmla="*/ 0 h 21600"/>
              <a:gd name="T2" fmla="*/ 2587990 w 21619"/>
              <a:gd name="T3" fmla="*/ 3138061 h 21600"/>
              <a:gd name="T4" fmla="*/ 2276 w 21619"/>
              <a:gd name="T5" fmla="*/ 3138061 h 21600"/>
              <a:gd name="T6" fmla="*/ 0 60000 65536"/>
              <a:gd name="T7" fmla="*/ 0 60000 65536"/>
              <a:gd name="T8" fmla="*/ 0 60000 65536"/>
            </a:gdLst>
            <a:ahLst/>
            <a:cxnLst>
              <a:cxn ang="T6">
                <a:pos x="T0" y="T1"/>
              </a:cxn>
              <a:cxn ang="T7">
                <a:pos x="T2" y="T3"/>
              </a:cxn>
              <a:cxn ang="T8">
                <a:pos x="T4" y="T5"/>
              </a:cxn>
            </a:cxnLst>
            <a:rect l="0" t="0" r="r" b="b"/>
            <a:pathLst>
              <a:path w="21619" h="21600" fill="none" extrusionOk="0">
                <a:moveTo>
                  <a:pt x="0" y="0"/>
                </a:moveTo>
                <a:cubicBezTo>
                  <a:pt x="6" y="0"/>
                  <a:pt x="12" y="-1"/>
                  <a:pt x="19" y="0"/>
                </a:cubicBezTo>
                <a:cubicBezTo>
                  <a:pt x="11948" y="0"/>
                  <a:pt x="21619" y="9670"/>
                  <a:pt x="21619" y="21600"/>
                </a:cubicBezTo>
              </a:path>
              <a:path w="21619" h="21600" stroke="0" extrusionOk="0">
                <a:moveTo>
                  <a:pt x="0" y="0"/>
                </a:moveTo>
                <a:cubicBezTo>
                  <a:pt x="6" y="0"/>
                  <a:pt x="12" y="-1"/>
                  <a:pt x="19" y="0"/>
                </a:cubicBezTo>
                <a:cubicBezTo>
                  <a:pt x="11948" y="0"/>
                  <a:pt x="21619" y="9670"/>
                  <a:pt x="21619" y="21600"/>
                </a:cubicBezTo>
                <a:lnTo>
                  <a:pt x="19" y="216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374" name="Arc 36">
            <a:extLst>
              <a:ext uri="{FF2B5EF4-FFF2-40B4-BE49-F238E27FC236}">
                <a16:creationId xmlns:a16="http://schemas.microsoft.com/office/drawing/2014/main" id="{8BE68298-B2EF-19FB-A41C-B907354C6D60}"/>
              </a:ext>
            </a:extLst>
          </p:cNvPr>
          <p:cNvSpPr>
            <a:spLocks/>
          </p:cNvSpPr>
          <p:nvPr/>
        </p:nvSpPr>
        <p:spPr bwMode="auto">
          <a:xfrm>
            <a:off x="8304213" y="2320926"/>
            <a:ext cx="227012" cy="250825"/>
          </a:xfrm>
          <a:custGeom>
            <a:avLst/>
            <a:gdLst>
              <a:gd name="T0" fmla="*/ 0 w 21619"/>
              <a:gd name="T1" fmla="*/ 0 h 21600"/>
              <a:gd name="T2" fmla="*/ 2383757 w 21619"/>
              <a:gd name="T3" fmla="*/ 2912647 h 21600"/>
              <a:gd name="T4" fmla="*/ 2100 w 21619"/>
              <a:gd name="T5" fmla="*/ 2912647 h 21600"/>
              <a:gd name="T6" fmla="*/ 0 60000 65536"/>
              <a:gd name="T7" fmla="*/ 0 60000 65536"/>
              <a:gd name="T8" fmla="*/ 0 60000 65536"/>
            </a:gdLst>
            <a:ahLst/>
            <a:cxnLst>
              <a:cxn ang="T6">
                <a:pos x="T0" y="T1"/>
              </a:cxn>
              <a:cxn ang="T7">
                <a:pos x="T2" y="T3"/>
              </a:cxn>
              <a:cxn ang="T8">
                <a:pos x="T4" y="T5"/>
              </a:cxn>
            </a:cxnLst>
            <a:rect l="0" t="0" r="r" b="b"/>
            <a:pathLst>
              <a:path w="21619" h="21600" fill="none" extrusionOk="0">
                <a:moveTo>
                  <a:pt x="0" y="0"/>
                </a:moveTo>
                <a:cubicBezTo>
                  <a:pt x="6" y="0"/>
                  <a:pt x="12" y="-1"/>
                  <a:pt x="19" y="0"/>
                </a:cubicBezTo>
                <a:cubicBezTo>
                  <a:pt x="11948" y="0"/>
                  <a:pt x="21619" y="9670"/>
                  <a:pt x="21619" y="21600"/>
                </a:cubicBezTo>
              </a:path>
              <a:path w="21619" h="21600" stroke="0" extrusionOk="0">
                <a:moveTo>
                  <a:pt x="0" y="0"/>
                </a:moveTo>
                <a:cubicBezTo>
                  <a:pt x="6" y="0"/>
                  <a:pt x="12" y="-1"/>
                  <a:pt x="19" y="0"/>
                </a:cubicBezTo>
                <a:cubicBezTo>
                  <a:pt x="11948" y="0"/>
                  <a:pt x="21619" y="9670"/>
                  <a:pt x="21619" y="21600"/>
                </a:cubicBezTo>
                <a:lnTo>
                  <a:pt x="19" y="21600"/>
                </a:lnTo>
                <a:lnTo>
                  <a:pt x="0" y="0"/>
                </a:lnTo>
                <a:close/>
              </a:path>
            </a:pathLst>
          </a:custGeom>
          <a:solidFill>
            <a:srgbClr val="FFFFFF"/>
          </a:solidFill>
          <a:ln w="19050">
            <a:solidFill>
              <a:srgbClr val="000000"/>
            </a:solidFill>
            <a:round/>
            <a:headEnd/>
            <a:tailEnd/>
          </a:ln>
        </p:spPr>
        <p:txBody>
          <a:bodyPr/>
          <a:lstStyle/>
          <a:p>
            <a:endParaRPr lang="en-IN"/>
          </a:p>
        </p:txBody>
      </p:sp>
      <p:sp>
        <p:nvSpPr>
          <p:cNvPr id="14375" name="Arc 37">
            <a:extLst>
              <a:ext uri="{FF2B5EF4-FFF2-40B4-BE49-F238E27FC236}">
                <a16:creationId xmlns:a16="http://schemas.microsoft.com/office/drawing/2014/main" id="{42CB9C8D-9ECC-7F35-81DA-60C3890C2390}"/>
              </a:ext>
            </a:extLst>
          </p:cNvPr>
          <p:cNvSpPr>
            <a:spLocks/>
          </p:cNvSpPr>
          <p:nvPr/>
        </p:nvSpPr>
        <p:spPr bwMode="auto">
          <a:xfrm>
            <a:off x="8304214" y="2551113"/>
            <a:ext cx="236537" cy="260350"/>
          </a:xfrm>
          <a:custGeom>
            <a:avLst/>
            <a:gdLst>
              <a:gd name="T0" fmla="*/ 2587990 w 21619"/>
              <a:gd name="T1" fmla="*/ 0 h 21600"/>
              <a:gd name="T2" fmla="*/ 0 w 21619"/>
              <a:gd name="T3" fmla="*/ 3138061 h 21600"/>
              <a:gd name="T4" fmla="*/ 2276 w 21619"/>
              <a:gd name="T5" fmla="*/ 0 h 21600"/>
              <a:gd name="T6" fmla="*/ 0 60000 65536"/>
              <a:gd name="T7" fmla="*/ 0 60000 65536"/>
              <a:gd name="T8" fmla="*/ 0 60000 65536"/>
            </a:gdLst>
            <a:ahLst/>
            <a:cxnLst>
              <a:cxn ang="T6">
                <a:pos x="T0" y="T1"/>
              </a:cxn>
              <a:cxn ang="T7">
                <a:pos x="T2" y="T3"/>
              </a:cxn>
              <a:cxn ang="T8">
                <a:pos x="T4" y="T5"/>
              </a:cxn>
            </a:cxnLst>
            <a:rect l="0" t="0" r="r" b="b"/>
            <a:pathLst>
              <a:path w="21619" h="21600" fill="none" extrusionOk="0">
                <a:moveTo>
                  <a:pt x="21619" y="0"/>
                </a:moveTo>
                <a:cubicBezTo>
                  <a:pt x="21619" y="11929"/>
                  <a:pt x="11948" y="21600"/>
                  <a:pt x="19" y="21600"/>
                </a:cubicBezTo>
                <a:cubicBezTo>
                  <a:pt x="12" y="21600"/>
                  <a:pt x="6" y="21599"/>
                  <a:pt x="0" y="21599"/>
                </a:cubicBezTo>
              </a:path>
              <a:path w="21619" h="21600" stroke="0" extrusionOk="0">
                <a:moveTo>
                  <a:pt x="21619" y="0"/>
                </a:moveTo>
                <a:cubicBezTo>
                  <a:pt x="21619" y="11929"/>
                  <a:pt x="11948" y="21600"/>
                  <a:pt x="19" y="21600"/>
                </a:cubicBezTo>
                <a:cubicBezTo>
                  <a:pt x="12" y="21600"/>
                  <a:pt x="6" y="21599"/>
                  <a:pt x="0" y="21599"/>
                </a:cubicBezTo>
                <a:lnTo>
                  <a:pt x="19" y="0"/>
                </a:lnTo>
                <a:lnTo>
                  <a:pt x="2161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376" name="Arc 38">
            <a:extLst>
              <a:ext uri="{FF2B5EF4-FFF2-40B4-BE49-F238E27FC236}">
                <a16:creationId xmlns:a16="http://schemas.microsoft.com/office/drawing/2014/main" id="{841ADB22-C624-B8B6-317F-3BB7D9595F5A}"/>
              </a:ext>
            </a:extLst>
          </p:cNvPr>
          <p:cNvSpPr>
            <a:spLocks/>
          </p:cNvSpPr>
          <p:nvPr/>
        </p:nvSpPr>
        <p:spPr bwMode="auto">
          <a:xfrm>
            <a:off x="8304213" y="2551114"/>
            <a:ext cx="227012" cy="250825"/>
          </a:xfrm>
          <a:custGeom>
            <a:avLst/>
            <a:gdLst>
              <a:gd name="T0" fmla="*/ 2383757 w 21619"/>
              <a:gd name="T1" fmla="*/ 0 h 21600"/>
              <a:gd name="T2" fmla="*/ 0 w 21619"/>
              <a:gd name="T3" fmla="*/ 2912647 h 21600"/>
              <a:gd name="T4" fmla="*/ 2100 w 21619"/>
              <a:gd name="T5" fmla="*/ 0 h 21600"/>
              <a:gd name="T6" fmla="*/ 0 60000 65536"/>
              <a:gd name="T7" fmla="*/ 0 60000 65536"/>
              <a:gd name="T8" fmla="*/ 0 60000 65536"/>
            </a:gdLst>
            <a:ahLst/>
            <a:cxnLst>
              <a:cxn ang="T6">
                <a:pos x="T0" y="T1"/>
              </a:cxn>
              <a:cxn ang="T7">
                <a:pos x="T2" y="T3"/>
              </a:cxn>
              <a:cxn ang="T8">
                <a:pos x="T4" y="T5"/>
              </a:cxn>
            </a:cxnLst>
            <a:rect l="0" t="0" r="r" b="b"/>
            <a:pathLst>
              <a:path w="21619" h="21600" fill="none" extrusionOk="0">
                <a:moveTo>
                  <a:pt x="21619" y="0"/>
                </a:moveTo>
                <a:cubicBezTo>
                  <a:pt x="21619" y="11929"/>
                  <a:pt x="11948" y="21600"/>
                  <a:pt x="19" y="21600"/>
                </a:cubicBezTo>
                <a:cubicBezTo>
                  <a:pt x="12" y="21600"/>
                  <a:pt x="6" y="21599"/>
                  <a:pt x="0" y="21599"/>
                </a:cubicBezTo>
              </a:path>
              <a:path w="21619" h="21600" stroke="0" extrusionOk="0">
                <a:moveTo>
                  <a:pt x="21619" y="0"/>
                </a:moveTo>
                <a:cubicBezTo>
                  <a:pt x="21619" y="11929"/>
                  <a:pt x="11948" y="21600"/>
                  <a:pt x="19" y="21600"/>
                </a:cubicBezTo>
                <a:cubicBezTo>
                  <a:pt x="12" y="21600"/>
                  <a:pt x="6" y="21599"/>
                  <a:pt x="0" y="21599"/>
                </a:cubicBezTo>
                <a:lnTo>
                  <a:pt x="19" y="0"/>
                </a:lnTo>
                <a:lnTo>
                  <a:pt x="21619" y="0"/>
                </a:lnTo>
                <a:close/>
              </a:path>
            </a:pathLst>
          </a:custGeom>
          <a:solidFill>
            <a:srgbClr val="FFFFFF"/>
          </a:solidFill>
          <a:ln w="19050">
            <a:solidFill>
              <a:srgbClr val="000000"/>
            </a:solidFill>
            <a:round/>
            <a:headEnd/>
            <a:tailEnd/>
          </a:ln>
        </p:spPr>
        <p:txBody>
          <a:bodyPr/>
          <a:lstStyle/>
          <a:p>
            <a:endParaRPr lang="en-IN"/>
          </a:p>
        </p:txBody>
      </p:sp>
      <p:sp>
        <p:nvSpPr>
          <p:cNvPr id="14377" name="Arc 39">
            <a:extLst>
              <a:ext uri="{FF2B5EF4-FFF2-40B4-BE49-F238E27FC236}">
                <a16:creationId xmlns:a16="http://schemas.microsoft.com/office/drawing/2014/main" id="{D571D7A2-E4A1-40D3-2338-05985ED368CB}"/>
              </a:ext>
            </a:extLst>
          </p:cNvPr>
          <p:cNvSpPr>
            <a:spLocks/>
          </p:cNvSpPr>
          <p:nvPr/>
        </p:nvSpPr>
        <p:spPr bwMode="auto">
          <a:xfrm>
            <a:off x="8974139" y="1939925"/>
            <a:ext cx="109537" cy="211138"/>
          </a:xfrm>
          <a:custGeom>
            <a:avLst/>
            <a:gdLst>
              <a:gd name="T0" fmla="*/ 0 w 21633"/>
              <a:gd name="T1" fmla="*/ 0 h 21600"/>
              <a:gd name="T2" fmla="*/ 554632 w 21633"/>
              <a:gd name="T3" fmla="*/ 2063854 h 21600"/>
              <a:gd name="T4" fmla="*/ 846 w 21633"/>
              <a:gd name="T5" fmla="*/ 2063854 h 21600"/>
              <a:gd name="T6" fmla="*/ 0 60000 65536"/>
              <a:gd name="T7" fmla="*/ 0 60000 65536"/>
              <a:gd name="T8" fmla="*/ 0 60000 65536"/>
            </a:gdLst>
            <a:ahLst/>
            <a:cxnLst>
              <a:cxn ang="T6">
                <a:pos x="T0" y="T1"/>
              </a:cxn>
              <a:cxn ang="T7">
                <a:pos x="T2" y="T3"/>
              </a:cxn>
              <a:cxn ang="T8">
                <a:pos x="T4" y="T5"/>
              </a:cxn>
            </a:cxnLst>
            <a:rect l="0" t="0" r="r" b="b"/>
            <a:pathLst>
              <a:path w="21633" h="21600" fill="none" extrusionOk="0">
                <a:moveTo>
                  <a:pt x="0" y="0"/>
                </a:moveTo>
                <a:cubicBezTo>
                  <a:pt x="11" y="0"/>
                  <a:pt x="22" y="-1"/>
                  <a:pt x="33" y="0"/>
                </a:cubicBezTo>
                <a:cubicBezTo>
                  <a:pt x="11962" y="0"/>
                  <a:pt x="21633" y="9670"/>
                  <a:pt x="21633" y="21600"/>
                </a:cubicBezTo>
              </a:path>
              <a:path w="21633" h="21600" stroke="0" extrusionOk="0">
                <a:moveTo>
                  <a:pt x="0" y="0"/>
                </a:moveTo>
                <a:cubicBezTo>
                  <a:pt x="11" y="0"/>
                  <a:pt x="22" y="-1"/>
                  <a:pt x="33" y="0"/>
                </a:cubicBezTo>
                <a:cubicBezTo>
                  <a:pt x="11962" y="0"/>
                  <a:pt x="21633" y="9670"/>
                  <a:pt x="21633" y="21600"/>
                </a:cubicBezTo>
                <a:lnTo>
                  <a:pt x="33" y="21600"/>
                </a:lnTo>
                <a:lnTo>
                  <a:pt x="0" y="0"/>
                </a:lnTo>
                <a:close/>
              </a:path>
            </a:pathLst>
          </a:custGeom>
          <a:solidFill>
            <a:srgbClr val="FFFFFF"/>
          </a:solidFill>
          <a:ln w="19050">
            <a:solidFill>
              <a:srgbClr val="000000"/>
            </a:solidFill>
            <a:round/>
            <a:headEnd/>
            <a:tailEnd/>
          </a:ln>
        </p:spPr>
        <p:txBody>
          <a:bodyPr/>
          <a:lstStyle/>
          <a:p>
            <a:endParaRPr lang="en-IN"/>
          </a:p>
        </p:txBody>
      </p:sp>
      <p:sp>
        <p:nvSpPr>
          <p:cNvPr id="14378" name="Arc 40">
            <a:extLst>
              <a:ext uri="{FF2B5EF4-FFF2-40B4-BE49-F238E27FC236}">
                <a16:creationId xmlns:a16="http://schemas.microsoft.com/office/drawing/2014/main" id="{05237ABD-7C69-44D9-45AD-A16BDB33A005}"/>
              </a:ext>
            </a:extLst>
          </p:cNvPr>
          <p:cNvSpPr>
            <a:spLocks/>
          </p:cNvSpPr>
          <p:nvPr/>
        </p:nvSpPr>
        <p:spPr bwMode="auto">
          <a:xfrm>
            <a:off x="8974139" y="1939926"/>
            <a:ext cx="739775" cy="231775"/>
          </a:xfrm>
          <a:custGeom>
            <a:avLst/>
            <a:gdLst>
              <a:gd name="T0" fmla="*/ 0 w 21617"/>
              <a:gd name="T1" fmla="*/ 0 h 21600"/>
              <a:gd name="T2" fmla="*/ 25316512 w 21617"/>
              <a:gd name="T3" fmla="*/ 2487021 h 21600"/>
              <a:gd name="T4" fmla="*/ 19917 w 21617"/>
              <a:gd name="T5" fmla="*/ 2487021 h 21600"/>
              <a:gd name="T6" fmla="*/ 0 60000 65536"/>
              <a:gd name="T7" fmla="*/ 0 60000 65536"/>
              <a:gd name="T8" fmla="*/ 0 60000 65536"/>
            </a:gdLst>
            <a:ahLst/>
            <a:cxnLst>
              <a:cxn ang="T6">
                <a:pos x="T0" y="T1"/>
              </a:cxn>
              <a:cxn ang="T7">
                <a:pos x="T2" y="T3"/>
              </a:cxn>
              <a:cxn ang="T8">
                <a:pos x="T4" y="T5"/>
              </a:cxn>
            </a:cxnLst>
            <a:rect l="0" t="0" r="r" b="b"/>
            <a:pathLst>
              <a:path w="21617" h="21600" fill="none" extrusionOk="0">
                <a:moveTo>
                  <a:pt x="0" y="0"/>
                </a:moveTo>
                <a:cubicBezTo>
                  <a:pt x="5" y="0"/>
                  <a:pt x="11" y="-1"/>
                  <a:pt x="17" y="0"/>
                </a:cubicBezTo>
                <a:cubicBezTo>
                  <a:pt x="11946" y="0"/>
                  <a:pt x="21617" y="9670"/>
                  <a:pt x="21617" y="21600"/>
                </a:cubicBezTo>
              </a:path>
              <a:path w="21617" h="21600" stroke="0" extrusionOk="0">
                <a:moveTo>
                  <a:pt x="0" y="0"/>
                </a:moveTo>
                <a:cubicBezTo>
                  <a:pt x="5" y="0"/>
                  <a:pt x="11" y="-1"/>
                  <a:pt x="17" y="0"/>
                </a:cubicBezTo>
                <a:cubicBezTo>
                  <a:pt x="11946" y="0"/>
                  <a:pt x="21617" y="9670"/>
                  <a:pt x="21617" y="21600"/>
                </a:cubicBezTo>
                <a:lnTo>
                  <a:pt x="17" y="21600"/>
                </a:lnTo>
                <a:lnTo>
                  <a:pt x="0" y="0"/>
                </a:lnTo>
                <a:close/>
              </a:path>
            </a:pathLst>
          </a:custGeom>
          <a:solidFill>
            <a:srgbClr val="FFFFFF"/>
          </a:solidFill>
          <a:ln w="19050">
            <a:solidFill>
              <a:srgbClr val="000000"/>
            </a:solidFill>
            <a:round/>
            <a:headEnd/>
            <a:tailEnd/>
          </a:ln>
        </p:spPr>
        <p:txBody>
          <a:bodyPr/>
          <a:lstStyle/>
          <a:p>
            <a:endParaRPr lang="en-IN"/>
          </a:p>
        </p:txBody>
      </p:sp>
      <p:sp>
        <p:nvSpPr>
          <p:cNvPr id="14379" name="Arc 41">
            <a:extLst>
              <a:ext uri="{FF2B5EF4-FFF2-40B4-BE49-F238E27FC236}">
                <a16:creationId xmlns:a16="http://schemas.microsoft.com/office/drawing/2014/main" id="{AB64295C-EABC-E685-B64F-59ED9C0A129A}"/>
              </a:ext>
            </a:extLst>
          </p:cNvPr>
          <p:cNvSpPr>
            <a:spLocks/>
          </p:cNvSpPr>
          <p:nvPr/>
        </p:nvSpPr>
        <p:spPr bwMode="auto">
          <a:xfrm>
            <a:off x="9012239" y="2151064"/>
            <a:ext cx="700087" cy="231775"/>
          </a:xfrm>
          <a:custGeom>
            <a:avLst/>
            <a:gdLst>
              <a:gd name="T0" fmla="*/ 22690824 w 21600"/>
              <a:gd name="T1" fmla="*/ 0 h 21600"/>
              <a:gd name="T2" fmla="*/ 0 w 21600"/>
              <a:gd name="T3" fmla="*/ 248702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9050">
            <a:solidFill>
              <a:srgbClr val="000000"/>
            </a:solidFill>
            <a:round/>
            <a:headEnd/>
            <a:tailEnd/>
          </a:ln>
        </p:spPr>
        <p:txBody>
          <a:bodyPr/>
          <a:lstStyle/>
          <a:p>
            <a:endParaRPr lang="en-IN"/>
          </a:p>
        </p:txBody>
      </p:sp>
      <p:sp>
        <p:nvSpPr>
          <p:cNvPr id="14380" name="Arc 42">
            <a:extLst>
              <a:ext uri="{FF2B5EF4-FFF2-40B4-BE49-F238E27FC236}">
                <a16:creationId xmlns:a16="http://schemas.microsoft.com/office/drawing/2014/main" id="{B80338D7-1D1F-5E50-520A-01AA3721C62F}"/>
              </a:ext>
            </a:extLst>
          </p:cNvPr>
          <p:cNvSpPr>
            <a:spLocks/>
          </p:cNvSpPr>
          <p:nvPr/>
        </p:nvSpPr>
        <p:spPr bwMode="auto">
          <a:xfrm>
            <a:off x="8974139" y="2151064"/>
            <a:ext cx="109537" cy="231775"/>
          </a:xfrm>
          <a:custGeom>
            <a:avLst/>
            <a:gdLst>
              <a:gd name="T0" fmla="*/ 554529 w 21637"/>
              <a:gd name="T1" fmla="*/ 0 h 21600"/>
              <a:gd name="T2" fmla="*/ 0 w 21637"/>
              <a:gd name="T3" fmla="*/ 2487021 h 21600"/>
              <a:gd name="T4" fmla="*/ 947 w 21637"/>
              <a:gd name="T5" fmla="*/ 0 h 21600"/>
              <a:gd name="T6" fmla="*/ 0 60000 65536"/>
              <a:gd name="T7" fmla="*/ 0 60000 65536"/>
              <a:gd name="T8" fmla="*/ 0 60000 65536"/>
            </a:gdLst>
            <a:ahLst/>
            <a:cxnLst>
              <a:cxn ang="T6">
                <a:pos x="T0" y="T1"/>
              </a:cxn>
              <a:cxn ang="T7">
                <a:pos x="T2" y="T3"/>
              </a:cxn>
              <a:cxn ang="T8">
                <a:pos x="T4" y="T5"/>
              </a:cxn>
            </a:cxnLst>
            <a:rect l="0" t="0" r="r" b="b"/>
            <a:pathLst>
              <a:path w="21637" h="21600" fill="none" extrusionOk="0">
                <a:moveTo>
                  <a:pt x="21637" y="0"/>
                </a:moveTo>
                <a:cubicBezTo>
                  <a:pt x="21637" y="11929"/>
                  <a:pt x="11966" y="21600"/>
                  <a:pt x="37" y="21600"/>
                </a:cubicBezTo>
                <a:cubicBezTo>
                  <a:pt x="24" y="21600"/>
                  <a:pt x="12" y="21599"/>
                  <a:pt x="0" y="21599"/>
                </a:cubicBezTo>
              </a:path>
              <a:path w="21637" h="21600" stroke="0" extrusionOk="0">
                <a:moveTo>
                  <a:pt x="21637" y="0"/>
                </a:moveTo>
                <a:cubicBezTo>
                  <a:pt x="21637" y="11929"/>
                  <a:pt x="11966" y="21600"/>
                  <a:pt x="37" y="21600"/>
                </a:cubicBezTo>
                <a:cubicBezTo>
                  <a:pt x="24" y="21600"/>
                  <a:pt x="12" y="21599"/>
                  <a:pt x="0" y="21599"/>
                </a:cubicBezTo>
                <a:lnTo>
                  <a:pt x="37" y="0"/>
                </a:lnTo>
                <a:lnTo>
                  <a:pt x="21637" y="0"/>
                </a:lnTo>
                <a:close/>
              </a:path>
            </a:pathLst>
          </a:custGeom>
          <a:solidFill>
            <a:srgbClr val="FFFFFF"/>
          </a:solidFill>
          <a:ln w="19050">
            <a:solidFill>
              <a:srgbClr val="000000"/>
            </a:solidFill>
            <a:round/>
            <a:headEnd/>
            <a:tailEnd/>
          </a:ln>
        </p:spPr>
        <p:txBody>
          <a:bodyPr/>
          <a:lstStyle/>
          <a:p>
            <a:endParaRPr lang="en-IN"/>
          </a:p>
        </p:txBody>
      </p:sp>
      <p:sp>
        <p:nvSpPr>
          <p:cNvPr id="14381" name="Line 43">
            <a:extLst>
              <a:ext uri="{FF2B5EF4-FFF2-40B4-BE49-F238E27FC236}">
                <a16:creationId xmlns:a16="http://schemas.microsoft.com/office/drawing/2014/main" id="{70BBC9EE-ED92-62ED-6CFE-E914140E83CB}"/>
              </a:ext>
            </a:extLst>
          </p:cNvPr>
          <p:cNvSpPr>
            <a:spLocks noChangeShapeType="1"/>
          </p:cNvSpPr>
          <p:nvPr/>
        </p:nvSpPr>
        <p:spPr bwMode="auto">
          <a:xfrm>
            <a:off x="9012239" y="2051050"/>
            <a:ext cx="39687"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82" name="Line 44">
            <a:extLst>
              <a:ext uri="{FF2B5EF4-FFF2-40B4-BE49-F238E27FC236}">
                <a16:creationId xmlns:a16="http://schemas.microsoft.com/office/drawing/2014/main" id="{471E299A-0BA6-6073-AA5B-A9757F04FF08}"/>
              </a:ext>
            </a:extLst>
          </p:cNvPr>
          <p:cNvSpPr>
            <a:spLocks noChangeShapeType="1"/>
          </p:cNvSpPr>
          <p:nvPr/>
        </p:nvSpPr>
        <p:spPr bwMode="auto">
          <a:xfrm>
            <a:off x="9012239" y="2251075"/>
            <a:ext cx="39687"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83" name="Line 45">
            <a:extLst>
              <a:ext uri="{FF2B5EF4-FFF2-40B4-BE49-F238E27FC236}">
                <a16:creationId xmlns:a16="http://schemas.microsoft.com/office/drawing/2014/main" id="{EC61AB50-965A-E701-558C-31BDCCA64B01}"/>
              </a:ext>
            </a:extLst>
          </p:cNvPr>
          <p:cNvSpPr>
            <a:spLocks noChangeShapeType="1"/>
          </p:cNvSpPr>
          <p:nvPr/>
        </p:nvSpPr>
        <p:spPr bwMode="auto">
          <a:xfrm>
            <a:off x="7634288" y="2451100"/>
            <a:ext cx="19685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84" name="Rectangle 46">
            <a:extLst>
              <a:ext uri="{FF2B5EF4-FFF2-40B4-BE49-F238E27FC236}">
                <a16:creationId xmlns:a16="http://schemas.microsoft.com/office/drawing/2014/main" id="{E66AEE76-676A-CEAC-E7E8-026F79A51ABB}"/>
              </a:ext>
            </a:extLst>
          </p:cNvPr>
          <p:cNvSpPr>
            <a:spLocks noChangeArrowheads="1"/>
          </p:cNvSpPr>
          <p:nvPr/>
        </p:nvSpPr>
        <p:spPr bwMode="auto">
          <a:xfrm>
            <a:off x="6550026" y="2451100"/>
            <a:ext cx="1103313" cy="20638"/>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385" name="Rectangle 47">
            <a:extLst>
              <a:ext uri="{FF2B5EF4-FFF2-40B4-BE49-F238E27FC236}">
                <a16:creationId xmlns:a16="http://schemas.microsoft.com/office/drawing/2014/main" id="{B4A96514-8AEA-9BF5-1BBD-9ED946B80614}"/>
              </a:ext>
            </a:extLst>
          </p:cNvPr>
          <p:cNvSpPr>
            <a:spLocks noChangeArrowheads="1"/>
          </p:cNvSpPr>
          <p:nvPr/>
        </p:nvSpPr>
        <p:spPr bwMode="auto">
          <a:xfrm>
            <a:off x="6413500" y="2351088"/>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Geneva" charset="0"/>
              </a:rPr>
              <a:t>A</a:t>
            </a:r>
            <a:endParaRPr lang="en-US" altLang="en-US" sz="2800" b="1"/>
          </a:p>
        </p:txBody>
      </p:sp>
      <p:sp>
        <p:nvSpPr>
          <p:cNvPr id="14386" name="Line 48">
            <a:extLst>
              <a:ext uri="{FF2B5EF4-FFF2-40B4-BE49-F238E27FC236}">
                <a16:creationId xmlns:a16="http://schemas.microsoft.com/office/drawing/2014/main" id="{E370F53E-2DD6-4675-C980-53D9056F8B66}"/>
              </a:ext>
            </a:extLst>
          </p:cNvPr>
          <p:cNvSpPr>
            <a:spLocks noChangeShapeType="1"/>
          </p:cNvSpPr>
          <p:nvPr/>
        </p:nvSpPr>
        <p:spPr bwMode="auto">
          <a:xfrm>
            <a:off x="6550025" y="1549400"/>
            <a:ext cx="19685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87" name="Rectangle 49">
            <a:extLst>
              <a:ext uri="{FF2B5EF4-FFF2-40B4-BE49-F238E27FC236}">
                <a16:creationId xmlns:a16="http://schemas.microsoft.com/office/drawing/2014/main" id="{CD369AA0-14D8-297A-4822-BA514C226D91}"/>
              </a:ext>
            </a:extLst>
          </p:cNvPr>
          <p:cNvSpPr>
            <a:spLocks noChangeArrowheads="1"/>
          </p:cNvSpPr>
          <p:nvPr/>
        </p:nvSpPr>
        <p:spPr bwMode="auto">
          <a:xfrm>
            <a:off x="6413500" y="1449388"/>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Geneva" charset="0"/>
              </a:rPr>
              <a:t>A</a:t>
            </a:r>
            <a:endParaRPr lang="en-US" altLang="en-US" sz="2800" b="1"/>
          </a:p>
        </p:txBody>
      </p:sp>
      <p:sp>
        <p:nvSpPr>
          <p:cNvPr id="14388" name="Line 50">
            <a:extLst>
              <a:ext uri="{FF2B5EF4-FFF2-40B4-BE49-F238E27FC236}">
                <a16:creationId xmlns:a16="http://schemas.microsoft.com/office/drawing/2014/main" id="{991DF2D8-E695-09B9-8631-F4485D87A181}"/>
              </a:ext>
            </a:extLst>
          </p:cNvPr>
          <p:cNvSpPr>
            <a:spLocks noChangeShapeType="1"/>
          </p:cNvSpPr>
          <p:nvPr/>
        </p:nvSpPr>
        <p:spPr bwMode="auto">
          <a:xfrm>
            <a:off x="3400425" y="1751014"/>
            <a:ext cx="19685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89" name="Rectangle 51">
            <a:extLst>
              <a:ext uri="{FF2B5EF4-FFF2-40B4-BE49-F238E27FC236}">
                <a16:creationId xmlns:a16="http://schemas.microsoft.com/office/drawing/2014/main" id="{1C597C20-2C3E-6D09-4294-DE8629E1E0EE}"/>
              </a:ext>
            </a:extLst>
          </p:cNvPr>
          <p:cNvSpPr>
            <a:spLocks noChangeArrowheads="1"/>
          </p:cNvSpPr>
          <p:nvPr/>
        </p:nvSpPr>
        <p:spPr bwMode="auto">
          <a:xfrm>
            <a:off x="3262313" y="1549400"/>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Geneva" charset="0"/>
              </a:rPr>
              <a:t>A</a:t>
            </a:r>
            <a:endParaRPr lang="en-US" altLang="en-US" sz="2800" b="1"/>
          </a:p>
        </p:txBody>
      </p:sp>
      <p:sp>
        <p:nvSpPr>
          <p:cNvPr id="14390" name="Line 52">
            <a:extLst>
              <a:ext uri="{FF2B5EF4-FFF2-40B4-BE49-F238E27FC236}">
                <a16:creationId xmlns:a16="http://schemas.microsoft.com/office/drawing/2014/main" id="{C0466C5B-E65C-C536-5600-6069A98CE4AA}"/>
              </a:ext>
            </a:extLst>
          </p:cNvPr>
          <p:cNvSpPr>
            <a:spLocks noChangeShapeType="1"/>
          </p:cNvSpPr>
          <p:nvPr/>
        </p:nvSpPr>
        <p:spPr bwMode="auto">
          <a:xfrm>
            <a:off x="7634288" y="2651125"/>
            <a:ext cx="19685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91" name="Rectangle 53">
            <a:extLst>
              <a:ext uri="{FF2B5EF4-FFF2-40B4-BE49-F238E27FC236}">
                <a16:creationId xmlns:a16="http://schemas.microsoft.com/office/drawing/2014/main" id="{1393D068-C874-CF5E-AA87-3040C8B51EA2}"/>
              </a:ext>
            </a:extLst>
          </p:cNvPr>
          <p:cNvSpPr>
            <a:spLocks noChangeArrowheads="1"/>
          </p:cNvSpPr>
          <p:nvPr/>
        </p:nvSpPr>
        <p:spPr bwMode="auto">
          <a:xfrm>
            <a:off x="6550026" y="2651125"/>
            <a:ext cx="1103313" cy="20638"/>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392" name="Rectangle 54">
            <a:extLst>
              <a:ext uri="{FF2B5EF4-FFF2-40B4-BE49-F238E27FC236}">
                <a16:creationId xmlns:a16="http://schemas.microsoft.com/office/drawing/2014/main" id="{F4011BE6-C66D-D259-2B97-41F6D40D7714}"/>
              </a:ext>
            </a:extLst>
          </p:cNvPr>
          <p:cNvSpPr>
            <a:spLocks noChangeArrowheads="1"/>
          </p:cNvSpPr>
          <p:nvPr/>
        </p:nvSpPr>
        <p:spPr bwMode="auto">
          <a:xfrm>
            <a:off x="6413500" y="2551113"/>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Geneva" charset="0"/>
              </a:rPr>
              <a:t>B</a:t>
            </a:r>
            <a:endParaRPr lang="en-US" altLang="en-US" sz="2800" b="1"/>
          </a:p>
        </p:txBody>
      </p:sp>
      <p:sp>
        <p:nvSpPr>
          <p:cNvPr id="14393" name="Line 55">
            <a:extLst>
              <a:ext uri="{FF2B5EF4-FFF2-40B4-BE49-F238E27FC236}">
                <a16:creationId xmlns:a16="http://schemas.microsoft.com/office/drawing/2014/main" id="{980E0937-9440-6915-5A6B-EBA2E2909C04}"/>
              </a:ext>
            </a:extLst>
          </p:cNvPr>
          <p:cNvSpPr>
            <a:spLocks noChangeShapeType="1"/>
          </p:cNvSpPr>
          <p:nvPr/>
        </p:nvSpPr>
        <p:spPr bwMode="auto">
          <a:xfrm>
            <a:off x="6550025" y="1751014"/>
            <a:ext cx="19685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94" name="Rectangle 56">
            <a:extLst>
              <a:ext uri="{FF2B5EF4-FFF2-40B4-BE49-F238E27FC236}">
                <a16:creationId xmlns:a16="http://schemas.microsoft.com/office/drawing/2014/main" id="{B0B688C7-30A6-2C9B-912F-B7E57A6FAEAF}"/>
              </a:ext>
            </a:extLst>
          </p:cNvPr>
          <p:cNvSpPr>
            <a:spLocks noChangeArrowheads="1"/>
          </p:cNvSpPr>
          <p:nvPr/>
        </p:nvSpPr>
        <p:spPr bwMode="auto">
          <a:xfrm>
            <a:off x="6413500" y="1649413"/>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Geneva" charset="0"/>
              </a:rPr>
              <a:t>B</a:t>
            </a:r>
            <a:endParaRPr lang="en-US" altLang="en-US" sz="2800" b="1"/>
          </a:p>
        </p:txBody>
      </p:sp>
      <p:sp>
        <p:nvSpPr>
          <p:cNvPr id="14395" name="Line 57">
            <a:extLst>
              <a:ext uri="{FF2B5EF4-FFF2-40B4-BE49-F238E27FC236}">
                <a16:creationId xmlns:a16="http://schemas.microsoft.com/office/drawing/2014/main" id="{12043EE4-BAB6-9B35-E901-B0E43D5DD3C7}"/>
              </a:ext>
            </a:extLst>
          </p:cNvPr>
          <p:cNvSpPr>
            <a:spLocks noChangeShapeType="1"/>
          </p:cNvSpPr>
          <p:nvPr/>
        </p:nvSpPr>
        <p:spPr bwMode="auto">
          <a:xfrm>
            <a:off x="3400425" y="1951039"/>
            <a:ext cx="19685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96" name="Rectangle 58">
            <a:extLst>
              <a:ext uri="{FF2B5EF4-FFF2-40B4-BE49-F238E27FC236}">
                <a16:creationId xmlns:a16="http://schemas.microsoft.com/office/drawing/2014/main" id="{1C4F6189-F36D-D7B5-9D8E-B2DA95C21AD1}"/>
              </a:ext>
            </a:extLst>
          </p:cNvPr>
          <p:cNvSpPr>
            <a:spLocks noChangeArrowheads="1"/>
          </p:cNvSpPr>
          <p:nvPr/>
        </p:nvSpPr>
        <p:spPr bwMode="auto">
          <a:xfrm>
            <a:off x="3262313" y="1849438"/>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Geneva" charset="0"/>
              </a:rPr>
              <a:t>B</a:t>
            </a:r>
            <a:endParaRPr lang="en-US" altLang="en-US" sz="2800" b="1"/>
          </a:p>
        </p:txBody>
      </p:sp>
      <p:sp>
        <p:nvSpPr>
          <p:cNvPr id="14397" name="Line 59">
            <a:extLst>
              <a:ext uri="{FF2B5EF4-FFF2-40B4-BE49-F238E27FC236}">
                <a16:creationId xmlns:a16="http://schemas.microsoft.com/office/drawing/2014/main" id="{9905386A-4825-F8AD-C817-E2CFF5A1C4F2}"/>
              </a:ext>
            </a:extLst>
          </p:cNvPr>
          <p:cNvSpPr>
            <a:spLocks noChangeShapeType="1"/>
          </p:cNvSpPr>
          <p:nvPr/>
        </p:nvSpPr>
        <p:spPr bwMode="auto">
          <a:xfrm>
            <a:off x="4581525" y="2151064"/>
            <a:ext cx="19685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98" name="Line 60">
            <a:extLst>
              <a:ext uri="{FF2B5EF4-FFF2-40B4-BE49-F238E27FC236}">
                <a16:creationId xmlns:a16="http://schemas.microsoft.com/office/drawing/2014/main" id="{28CF9746-9207-C074-93FA-D84418C169DF}"/>
              </a:ext>
            </a:extLst>
          </p:cNvPr>
          <p:cNvSpPr>
            <a:spLocks noChangeShapeType="1"/>
          </p:cNvSpPr>
          <p:nvPr/>
        </p:nvSpPr>
        <p:spPr bwMode="auto">
          <a:xfrm>
            <a:off x="4384675" y="1851025"/>
            <a:ext cx="19685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399" name="Rectangle 61">
            <a:extLst>
              <a:ext uri="{FF2B5EF4-FFF2-40B4-BE49-F238E27FC236}">
                <a16:creationId xmlns:a16="http://schemas.microsoft.com/office/drawing/2014/main" id="{411F89F0-E0E6-5BB3-F0B8-96D83029B70B}"/>
              </a:ext>
            </a:extLst>
          </p:cNvPr>
          <p:cNvSpPr>
            <a:spLocks noChangeArrowheads="1"/>
          </p:cNvSpPr>
          <p:nvPr/>
        </p:nvSpPr>
        <p:spPr bwMode="auto">
          <a:xfrm>
            <a:off x="4581525" y="1851026"/>
            <a:ext cx="19050" cy="32067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00" name="Line 62">
            <a:extLst>
              <a:ext uri="{FF2B5EF4-FFF2-40B4-BE49-F238E27FC236}">
                <a16:creationId xmlns:a16="http://schemas.microsoft.com/office/drawing/2014/main" id="{7AB11014-76C0-CD48-48EB-9D9A522D7232}"/>
              </a:ext>
            </a:extLst>
          </p:cNvPr>
          <p:cNvSpPr>
            <a:spLocks noChangeShapeType="1"/>
          </p:cNvSpPr>
          <p:nvPr/>
        </p:nvSpPr>
        <p:spPr bwMode="auto">
          <a:xfrm>
            <a:off x="7634288" y="1851025"/>
            <a:ext cx="19685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01" name="Rectangle 63">
            <a:extLst>
              <a:ext uri="{FF2B5EF4-FFF2-40B4-BE49-F238E27FC236}">
                <a16:creationId xmlns:a16="http://schemas.microsoft.com/office/drawing/2014/main" id="{B35F6070-D038-E656-65BF-29CCE54FC923}"/>
              </a:ext>
            </a:extLst>
          </p:cNvPr>
          <p:cNvSpPr>
            <a:spLocks noChangeArrowheads="1"/>
          </p:cNvSpPr>
          <p:nvPr/>
        </p:nvSpPr>
        <p:spPr bwMode="auto">
          <a:xfrm>
            <a:off x="7634288" y="1851026"/>
            <a:ext cx="19050" cy="21907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02" name="Rectangle 64">
            <a:extLst>
              <a:ext uri="{FF2B5EF4-FFF2-40B4-BE49-F238E27FC236}">
                <a16:creationId xmlns:a16="http://schemas.microsoft.com/office/drawing/2014/main" id="{93304694-3E4B-6C04-8068-1C0D90FAB038}"/>
              </a:ext>
            </a:extLst>
          </p:cNvPr>
          <p:cNvSpPr>
            <a:spLocks noChangeArrowheads="1"/>
          </p:cNvSpPr>
          <p:nvPr/>
        </p:nvSpPr>
        <p:spPr bwMode="auto">
          <a:xfrm>
            <a:off x="6550026" y="2051050"/>
            <a:ext cx="1103313" cy="1905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03" name="Rectangle 65">
            <a:extLst>
              <a:ext uri="{FF2B5EF4-FFF2-40B4-BE49-F238E27FC236}">
                <a16:creationId xmlns:a16="http://schemas.microsoft.com/office/drawing/2014/main" id="{95A85A21-48D4-F8E7-A373-82E55613E9CA}"/>
              </a:ext>
            </a:extLst>
          </p:cNvPr>
          <p:cNvSpPr>
            <a:spLocks noChangeArrowheads="1"/>
          </p:cNvSpPr>
          <p:nvPr/>
        </p:nvSpPr>
        <p:spPr bwMode="auto">
          <a:xfrm>
            <a:off x="6315075" y="1949450"/>
            <a:ext cx="17953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Geneva" charset="0"/>
              </a:rPr>
              <a:t>CI</a:t>
            </a:r>
            <a:endParaRPr lang="en-US" altLang="en-US" sz="2800" b="1"/>
          </a:p>
        </p:txBody>
      </p:sp>
      <p:sp>
        <p:nvSpPr>
          <p:cNvPr id="14404" name="Line 66">
            <a:extLst>
              <a:ext uri="{FF2B5EF4-FFF2-40B4-BE49-F238E27FC236}">
                <a16:creationId xmlns:a16="http://schemas.microsoft.com/office/drawing/2014/main" id="{7BA420A2-C9B1-2EB9-F96A-2823E0D2EAE5}"/>
              </a:ext>
            </a:extLst>
          </p:cNvPr>
          <p:cNvSpPr>
            <a:spLocks noChangeShapeType="1"/>
          </p:cNvSpPr>
          <p:nvPr/>
        </p:nvSpPr>
        <p:spPr bwMode="auto">
          <a:xfrm>
            <a:off x="4581525" y="2351089"/>
            <a:ext cx="19685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05" name="Rectangle 67">
            <a:extLst>
              <a:ext uri="{FF2B5EF4-FFF2-40B4-BE49-F238E27FC236}">
                <a16:creationId xmlns:a16="http://schemas.microsoft.com/office/drawing/2014/main" id="{A8A73ECC-013C-DC04-E081-11FFC0372D5C}"/>
              </a:ext>
            </a:extLst>
          </p:cNvPr>
          <p:cNvSpPr>
            <a:spLocks noChangeArrowheads="1"/>
          </p:cNvSpPr>
          <p:nvPr/>
        </p:nvSpPr>
        <p:spPr bwMode="auto">
          <a:xfrm>
            <a:off x="3400425" y="2351089"/>
            <a:ext cx="1200150" cy="20637"/>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06" name="Rectangle 68">
            <a:extLst>
              <a:ext uri="{FF2B5EF4-FFF2-40B4-BE49-F238E27FC236}">
                <a16:creationId xmlns:a16="http://schemas.microsoft.com/office/drawing/2014/main" id="{82A20ECB-1DE6-A2C1-D45D-A5611D408312}"/>
              </a:ext>
            </a:extLst>
          </p:cNvPr>
          <p:cNvSpPr>
            <a:spLocks noChangeArrowheads="1"/>
          </p:cNvSpPr>
          <p:nvPr/>
        </p:nvSpPr>
        <p:spPr bwMode="auto">
          <a:xfrm>
            <a:off x="3163888" y="2251075"/>
            <a:ext cx="17953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Geneva" charset="0"/>
              </a:rPr>
              <a:t>CI</a:t>
            </a:r>
            <a:endParaRPr lang="en-US" altLang="en-US" sz="2800" b="1"/>
          </a:p>
        </p:txBody>
      </p:sp>
      <p:sp>
        <p:nvSpPr>
          <p:cNvPr id="14407" name="Line 69">
            <a:extLst>
              <a:ext uri="{FF2B5EF4-FFF2-40B4-BE49-F238E27FC236}">
                <a16:creationId xmlns:a16="http://schemas.microsoft.com/office/drawing/2014/main" id="{13152A7D-8A5D-3A63-F670-70A48B07DEB8}"/>
              </a:ext>
            </a:extLst>
          </p:cNvPr>
          <p:cNvSpPr>
            <a:spLocks noChangeShapeType="1"/>
          </p:cNvSpPr>
          <p:nvPr/>
        </p:nvSpPr>
        <p:spPr bwMode="auto">
          <a:xfrm>
            <a:off x="5565775" y="2251075"/>
            <a:ext cx="19685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08" name="Rectangle 70">
            <a:extLst>
              <a:ext uri="{FF2B5EF4-FFF2-40B4-BE49-F238E27FC236}">
                <a16:creationId xmlns:a16="http://schemas.microsoft.com/office/drawing/2014/main" id="{C5EEC7ED-9291-A3A2-3A02-7778316F3508}"/>
              </a:ext>
            </a:extLst>
          </p:cNvPr>
          <p:cNvSpPr>
            <a:spLocks noChangeArrowheads="1"/>
          </p:cNvSpPr>
          <p:nvPr/>
        </p:nvSpPr>
        <p:spPr bwMode="auto">
          <a:xfrm>
            <a:off x="5762626" y="2251075"/>
            <a:ext cx="119063" cy="20638"/>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09" name="Rectangle 71">
            <a:extLst>
              <a:ext uri="{FF2B5EF4-FFF2-40B4-BE49-F238E27FC236}">
                <a16:creationId xmlns:a16="http://schemas.microsoft.com/office/drawing/2014/main" id="{59F91461-8362-A932-41A3-A935946BC442}"/>
              </a:ext>
            </a:extLst>
          </p:cNvPr>
          <p:cNvSpPr>
            <a:spLocks noChangeArrowheads="1"/>
          </p:cNvSpPr>
          <p:nvPr/>
        </p:nvSpPr>
        <p:spPr bwMode="auto">
          <a:xfrm>
            <a:off x="5821363" y="2049463"/>
            <a:ext cx="120226"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Geneva" charset="0"/>
              </a:rPr>
              <a:t>S</a:t>
            </a:r>
            <a:endParaRPr lang="en-US" altLang="en-US" sz="2800" b="1"/>
          </a:p>
        </p:txBody>
      </p:sp>
      <p:sp>
        <p:nvSpPr>
          <p:cNvPr id="14410" name="Line 72">
            <a:extLst>
              <a:ext uri="{FF2B5EF4-FFF2-40B4-BE49-F238E27FC236}">
                <a16:creationId xmlns:a16="http://schemas.microsoft.com/office/drawing/2014/main" id="{AE602156-DD26-4F50-C73A-31E71089BCFF}"/>
              </a:ext>
            </a:extLst>
          </p:cNvPr>
          <p:cNvSpPr>
            <a:spLocks noChangeShapeType="1"/>
          </p:cNvSpPr>
          <p:nvPr/>
        </p:nvSpPr>
        <p:spPr bwMode="auto">
          <a:xfrm>
            <a:off x="7437438" y="1649414"/>
            <a:ext cx="19685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11" name="Line 73">
            <a:extLst>
              <a:ext uri="{FF2B5EF4-FFF2-40B4-BE49-F238E27FC236}">
                <a16:creationId xmlns:a16="http://schemas.microsoft.com/office/drawing/2014/main" id="{B95F6744-FD86-3B32-CFC0-82949EFE143F}"/>
              </a:ext>
            </a:extLst>
          </p:cNvPr>
          <p:cNvSpPr>
            <a:spLocks noChangeShapeType="1"/>
          </p:cNvSpPr>
          <p:nvPr/>
        </p:nvSpPr>
        <p:spPr bwMode="auto">
          <a:xfrm>
            <a:off x="7634288" y="1649414"/>
            <a:ext cx="19685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12" name="Line 74">
            <a:extLst>
              <a:ext uri="{FF2B5EF4-FFF2-40B4-BE49-F238E27FC236}">
                <a16:creationId xmlns:a16="http://schemas.microsoft.com/office/drawing/2014/main" id="{B9F41708-33A5-1978-2F20-0FB67F112A1A}"/>
              </a:ext>
            </a:extLst>
          </p:cNvPr>
          <p:cNvSpPr>
            <a:spLocks noChangeShapeType="1"/>
          </p:cNvSpPr>
          <p:nvPr/>
        </p:nvSpPr>
        <p:spPr bwMode="auto">
          <a:xfrm>
            <a:off x="8815388" y="2051050"/>
            <a:ext cx="19685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13" name="Line 75">
            <a:extLst>
              <a:ext uri="{FF2B5EF4-FFF2-40B4-BE49-F238E27FC236}">
                <a16:creationId xmlns:a16="http://schemas.microsoft.com/office/drawing/2014/main" id="{CB26DB2A-2B57-7170-EF82-C772DE25F55A}"/>
              </a:ext>
            </a:extLst>
          </p:cNvPr>
          <p:cNvSpPr>
            <a:spLocks noChangeShapeType="1"/>
          </p:cNvSpPr>
          <p:nvPr/>
        </p:nvSpPr>
        <p:spPr bwMode="auto">
          <a:xfrm>
            <a:off x="8520113" y="1751014"/>
            <a:ext cx="19685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14" name="Rectangle 76">
            <a:extLst>
              <a:ext uri="{FF2B5EF4-FFF2-40B4-BE49-F238E27FC236}">
                <a16:creationId xmlns:a16="http://schemas.microsoft.com/office/drawing/2014/main" id="{2968FF0A-19AD-8179-F2E5-6A2E5DF1FEB5}"/>
              </a:ext>
            </a:extLst>
          </p:cNvPr>
          <p:cNvSpPr>
            <a:spLocks noChangeArrowheads="1"/>
          </p:cNvSpPr>
          <p:nvPr/>
        </p:nvSpPr>
        <p:spPr bwMode="auto">
          <a:xfrm>
            <a:off x="8716964" y="1751013"/>
            <a:ext cx="117475" cy="1905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15" name="Rectangle 77">
            <a:extLst>
              <a:ext uri="{FF2B5EF4-FFF2-40B4-BE49-F238E27FC236}">
                <a16:creationId xmlns:a16="http://schemas.microsoft.com/office/drawing/2014/main" id="{4F26FBED-4CEB-FC11-1B38-392DB6CACF6C}"/>
              </a:ext>
            </a:extLst>
          </p:cNvPr>
          <p:cNvSpPr>
            <a:spLocks noChangeArrowheads="1"/>
          </p:cNvSpPr>
          <p:nvPr/>
        </p:nvSpPr>
        <p:spPr bwMode="auto">
          <a:xfrm>
            <a:off x="8815388" y="1751014"/>
            <a:ext cx="19050" cy="319087"/>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16" name="Line 78">
            <a:extLst>
              <a:ext uri="{FF2B5EF4-FFF2-40B4-BE49-F238E27FC236}">
                <a16:creationId xmlns:a16="http://schemas.microsoft.com/office/drawing/2014/main" id="{8B18535D-8F43-466E-953B-63B4E328DD24}"/>
              </a:ext>
            </a:extLst>
          </p:cNvPr>
          <p:cNvSpPr>
            <a:spLocks noChangeShapeType="1"/>
          </p:cNvSpPr>
          <p:nvPr/>
        </p:nvSpPr>
        <p:spPr bwMode="auto">
          <a:xfrm>
            <a:off x="8815388" y="2251075"/>
            <a:ext cx="196850"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17" name="Line 79">
            <a:extLst>
              <a:ext uri="{FF2B5EF4-FFF2-40B4-BE49-F238E27FC236}">
                <a16:creationId xmlns:a16="http://schemas.microsoft.com/office/drawing/2014/main" id="{63E5423F-267E-A90D-99C4-24179E254C7D}"/>
              </a:ext>
            </a:extLst>
          </p:cNvPr>
          <p:cNvSpPr>
            <a:spLocks noChangeShapeType="1"/>
          </p:cNvSpPr>
          <p:nvPr/>
        </p:nvSpPr>
        <p:spPr bwMode="auto">
          <a:xfrm>
            <a:off x="8520113" y="2551114"/>
            <a:ext cx="19685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18" name="Rectangle 80">
            <a:extLst>
              <a:ext uri="{FF2B5EF4-FFF2-40B4-BE49-F238E27FC236}">
                <a16:creationId xmlns:a16="http://schemas.microsoft.com/office/drawing/2014/main" id="{042FAA95-93F9-6C63-5882-2B144E4FC8EB}"/>
              </a:ext>
            </a:extLst>
          </p:cNvPr>
          <p:cNvSpPr>
            <a:spLocks noChangeArrowheads="1"/>
          </p:cNvSpPr>
          <p:nvPr/>
        </p:nvSpPr>
        <p:spPr bwMode="auto">
          <a:xfrm>
            <a:off x="8815388" y="2251076"/>
            <a:ext cx="19050" cy="32067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19" name="Rectangle 81">
            <a:extLst>
              <a:ext uri="{FF2B5EF4-FFF2-40B4-BE49-F238E27FC236}">
                <a16:creationId xmlns:a16="http://schemas.microsoft.com/office/drawing/2014/main" id="{BA2D727A-FBF9-0B2A-46AA-70D87CB601EF}"/>
              </a:ext>
            </a:extLst>
          </p:cNvPr>
          <p:cNvSpPr>
            <a:spLocks noChangeArrowheads="1"/>
          </p:cNvSpPr>
          <p:nvPr/>
        </p:nvSpPr>
        <p:spPr bwMode="auto">
          <a:xfrm>
            <a:off x="8716964" y="2551114"/>
            <a:ext cx="117475" cy="20637"/>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20" name="Line 82">
            <a:extLst>
              <a:ext uri="{FF2B5EF4-FFF2-40B4-BE49-F238E27FC236}">
                <a16:creationId xmlns:a16="http://schemas.microsoft.com/office/drawing/2014/main" id="{203D4C90-8A76-3B17-6A49-4172FF50338D}"/>
              </a:ext>
            </a:extLst>
          </p:cNvPr>
          <p:cNvSpPr>
            <a:spLocks noChangeShapeType="1"/>
          </p:cNvSpPr>
          <p:nvPr/>
        </p:nvSpPr>
        <p:spPr bwMode="auto">
          <a:xfrm>
            <a:off x="9701213" y="2151064"/>
            <a:ext cx="196850" cy="1587"/>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21" name="Rectangle 83">
            <a:extLst>
              <a:ext uri="{FF2B5EF4-FFF2-40B4-BE49-F238E27FC236}">
                <a16:creationId xmlns:a16="http://schemas.microsoft.com/office/drawing/2014/main" id="{A3E39FBD-086C-3D5C-5F85-65BC301EDEE6}"/>
              </a:ext>
            </a:extLst>
          </p:cNvPr>
          <p:cNvSpPr>
            <a:spLocks noChangeArrowheads="1"/>
          </p:cNvSpPr>
          <p:nvPr/>
        </p:nvSpPr>
        <p:spPr bwMode="auto">
          <a:xfrm>
            <a:off x="9858375" y="1949450"/>
            <a:ext cx="26930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Geneva" charset="0"/>
              </a:rPr>
              <a:t>CO</a:t>
            </a:r>
            <a:endParaRPr lang="en-US" altLang="en-US" sz="2800" b="1"/>
          </a:p>
        </p:txBody>
      </p:sp>
      <p:sp>
        <p:nvSpPr>
          <p:cNvPr id="14422" name="Rectangle 84">
            <a:extLst>
              <a:ext uri="{FF2B5EF4-FFF2-40B4-BE49-F238E27FC236}">
                <a16:creationId xmlns:a16="http://schemas.microsoft.com/office/drawing/2014/main" id="{048A31C9-0ED3-0DF4-5EB8-73113061A8D7}"/>
              </a:ext>
            </a:extLst>
          </p:cNvPr>
          <p:cNvSpPr>
            <a:spLocks noChangeArrowheads="1"/>
          </p:cNvSpPr>
          <p:nvPr/>
        </p:nvSpPr>
        <p:spPr bwMode="auto">
          <a:xfrm>
            <a:off x="2730500" y="3390901"/>
            <a:ext cx="4090988"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a:latin typeface="Arial" panose="020B0604020202020204" pitchFamily="34" charset="0"/>
              </a:rPr>
              <a:t>Alternative Implementation:  5 Gates</a:t>
            </a:r>
          </a:p>
        </p:txBody>
      </p:sp>
      <p:sp>
        <p:nvSpPr>
          <p:cNvPr id="14423" name="Rectangle 85">
            <a:extLst>
              <a:ext uri="{FF2B5EF4-FFF2-40B4-BE49-F238E27FC236}">
                <a16:creationId xmlns:a16="http://schemas.microsoft.com/office/drawing/2014/main" id="{B5A7D434-C903-6C26-DF99-13A60F552314}"/>
              </a:ext>
            </a:extLst>
          </p:cNvPr>
          <p:cNvSpPr>
            <a:spLocks noChangeArrowheads="1"/>
          </p:cNvSpPr>
          <p:nvPr/>
        </p:nvSpPr>
        <p:spPr bwMode="auto">
          <a:xfrm>
            <a:off x="4043363" y="3873501"/>
            <a:ext cx="1058862" cy="1008063"/>
          </a:xfrm>
          <a:prstGeom prst="rect">
            <a:avLst/>
          </a:prstGeom>
          <a:noFill/>
          <a:ln w="206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24" name="Rectangle 86">
            <a:extLst>
              <a:ext uri="{FF2B5EF4-FFF2-40B4-BE49-F238E27FC236}">
                <a16:creationId xmlns:a16="http://schemas.microsoft.com/office/drawing/2014/main" id="{015D2A56-0DAC-94E8-1D1A-731A9AC6227C}"/>
              </a:ext>
            </a:extLst>
          </p:cNvPr>
          <p:cNvSpPr>
            <a:spLocks noChangeArrowheads="1"/>
          </p:cNvSpPr>
          <p:nvPr/>
        </p:nvSpPr>
        <p:spPr bwMode="auto">
          <a:xfrm>
            <a:off x="4240214" y="4032251"/>
            <a:ext cx="5546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Half </a:t>
            </a:r>
            <a:endParaRPr lang="en-US" altLang="en-US" sz="2800" b="1"/>
          </a:p>
        </p:txBody>
      </p:sp>
      <p:sp>
        <p:nvSpPr>
          <p:cNvPr id="14425" name="Rectangle 87">
            <a:extLst>
              <a:ext uri="{FF2B5EF4-FFF2-40B4-BE49-F238E27FC236}">
                <a16:creationId xmlns:a16="http://schemas.microsoft.com/office/drawing/2014/main" id="{CA85FEB3-78DF-447B-5168-4709D8368647}"/>
              </a:ext>
            </a:extLst>
          </p:cNvPr>
          <p:cNvSpPr>
            <a:spLocks noChangeArrowheads="1"/>
          </p:cNvSpPr>
          <p:nvPr/>
        </p:nvSpPr>
        <p:spPr bwMode="auto">
          <a:xfrm>
            <a:off x="4116389" y="4325939"/>
            <a:ext cx="74219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Adder</a:t>
            </a:r>
            <a:endParaRPr lang="en-US" altLang="en-US" sz="2800" b="1"/>
          </a:p>
        </p:txBody>
      </p:sp>
      <p:grpSp>
        <p:nvGrpSpPr>
          <p:cNvPr id="14426" name="Group 88">
            <a:extLst>
              <a:ext uri="{FF2B5EF4-FFF2-40B4-BE49-F238E27FC236}">
                <a16:creationId xmlns:a16="http://schemas.microsoft.com/office/drawing/2014/main" id="{14CC4D4A-2C9B-E334-0C5E-55445ACB1FCD}"/>
              </a:ext>
            </a:extLst>
          </p:cNvPr>
          <p:cNvGrpSpPr>
            <a:grpSpLocks/>
          </p:cNvGrpSpPr>
          <p:nvPr/>
        </p:nvGrpSpPr>
        <p:grpSpPr bwMode="auto">
          <a:xfrm>
            <a:off x="3390900" y="4052888"/>
            <a:ext cx="642938" cy="125412"/>
            <a:chOff x="1176" y="2553"/>
            <a:chExt cx="405" cy="79"/>
          </a:xfrm>
        </p:grpSpPr>
        <p:sp>
          <p:nvSpPr>
            <p:cNvPr id="14474" name="Freeform 89">
              <a:extLst>
                <a:ext uri="{FF2B5EF4-FFF2-40B4-BE49-F238E27FC236}">
                  <a16:creationId xmlns:a16="http://schemas.microsoft.com/office/drawing/2014/main" id="{7569CC18-9954-E0C6-A4BA-A4E6FCDC8BCE}"/>
                </a:ext>
              </a:extLst>
            </p:cNvPr>
            <p:cNvSpPr>
              <a:spLocks/>
            </p:cNvSpPr>
            <p:nvPr/>
          </p:nvSpPr>
          <p:spPr bwMode="auto">
            <a:xfrm>
              <a:off x="1424" y="2553"/>
              <a:ext cx="157" cy="79"/>
            </a:xfrm>
            <a:custGeom>
              <a:avLst/>
              <a:gdLst>
                <a:gd name="T0" fmla="*/ 157 w 157"/>
                <a:gd name="T1" fmla="*/ 40 h 79"/>
                <a:gd name="T2" fmla="*/ 0 w 157"/>
                <a:gd name="T3" fmla="*/ 79 h 79"/>
                <a:gd name="T4" fmla="*/ 0 w 157"/>
                <a:gd name="T5" fmla="*/ 40 h 79"/>
                <a:gd name="T6" fmla="*/ 0 w 157"/>
                <a:gd name="T7" fmla="*/ 0 h 79"/>
                <a:gd name="T8" fmla="*/ 157 w 157"/>
                <a:gd name="T9" fmla="*/ 4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7" h="79">
                  <a:moveTo>
                    <a:pt x="157" y="40"/>
                  </a:moveTo>
                  <a:lnTo>
                    <a:pt x="0" y="79"/>
                  </a:lnTo>
                  <a:lnTo>
                    <a:pt x="0" y="40"/>
                  </a:lnTo>
                  <a:lnTo>
                    <a:pt x="0" y="0"/>
                  </a:lnTo>
                  <a:lnTo>
                    <a:pt x="157"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475" name="Line 90">
              <a:extLst>
                <a:ext uri="{FF2B5EF4-FFF2-40B4-BE49-F238E27FC236}">
                  <a16:creationId xmlns:a16="http://schemas.microsoft.com/office/drawing/2014/main" id="{8A569214-CC4E-A36E-B887-6B28FEC543D3}"/>
                </a:ext>
              </a:extLst>
            </p:cNvPr>
            <p:cNvSpPr>
              <a:spLocks noChangeShapeType="1"/>
            </p:cNvSpPr>
            <p:nvPr/>
          </p:nvSpPr>
          <p:spPr bwMode="auto">
            <a:xfrm>
              <a:off x="1176" y="2593"/>
              <a:ext cx="248"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14427" name="Group 91">
            <a:extLst>
              <a:ext uri="{FF2B5EF4-FFF2-40B4-BE49-F238E27FC236}">
                <a16:creationId xmlns:a16="http://schemas.microsoft.com/office/drawing/2014/main" id="{4088215C-BE2D-B50C-C30F-198CD3F65398}"/>
              </a:ext>
            </a:extLst>
          </p:cNvPr>
          <p:cNvGrpSpPr>
            <a:grpSpLocks/>
          </p:cNvGrpSpPr>
          <p:nvPr/>
        </p:nvGrpSpPr>
        <p:grpSpPr bwMode="auto">
          <a:xfrm>
            <a:off x="3411538" y="4576763"/>
            <a:ext cx="622300" cy="125412"/>
            <a:chOff x="1189" y="2883"/>
            <a:chExt cx="392" cy="79"/>
          </a:xfrm>
        </p:grpSpPr>
        <p:sp>
          <p:nvSpPr>
            <p:cNvPr id="14472" name="Freeform 92">
              <a:extLst>
                <a:ext uri="{FF2B5EF4-FFF2-40B4-BE49-F238E27FC236}">
                  <a16:creationId xmlns:a16="http://schemas.microsoft.com/office/drawing/2014/main" id="{C8B0403A-702A-160E-8BE4-6487F3588452}"/>
                </a:ext>
              </a:extLst>
            </p:cNvPr>
            <p:cNvSpPr>
              <a:spLocks/>
            </p:cNvSpPr>
            <p:nvPr/>
          </p:nvSpPr>
          <p:spPr bwMode="auto">
            <a:xfrm>
              <a:off x="1424" y="2883"/>
              <a:ext cx="157" cy="79"/>
            </a:xfrm>
            <a:custGeom>
              <a:avLst/>
              <a:gdLst>
                <a:gd name="T0" fmla="*/ 157 w 157"/>
                <a:gd name="T1" fmla="*/ 39 h 79"/>
                <a:gd name="T2" fmla="*/ 0 w 157"/>
                <a:gd name="T3" fmla="*/ 79 h 79"/>
                <a:gd name="T4" fmla="*/ 0 w 157"/>
                <a:gd name="T5" fmla="*/ 39 h 79"/>
                <a:gd name="T6" fmla="*/ 0 w 157"/>
                <a:gd name="T7" fmla="*/ 0 h 79"/>
                <a:gd name="T8" fmla="*/ 157 w 157"/>
                <a:gd name="T9" fmla="*/ 39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7" h="79">
                  <a:moveTo>
                    <a:pt x="157" y="39"/>
                  </a:moveTo>
                  <a:lnTo>
                    <a:pt x="0" y="79"/>
                  </a:lnTo>
                  <a:lnTo>
                    <a:pt x="0" y="39"/>
                  </a:lnTo>
                  <a:lnTo>
                    <a:pt x="0" y="0"/>
                  </a:lnTo>
                  <a:lnTo>
                    <a:pt x="157"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473" name="Line 93">
              <a:extLst>
                <a:ext uri="{FF2B5EF4-FFF2-40B4-BE49-F238E27FC236}">
                  <a16:creationId xmlns:a16="http://schemas.microsoft.com/office/drawing/2014/main" id="{66308416-FB3A-5B65-A8F3-418B57176761}"/>
                </a:ext>
              </a:extLst>
            </p:cNvPr>
            <p:cNvSpPr>
              <a:spLocks noChangeShapeType="1"/>
            </p:cNvSpPr>
            <p:nvPr/>
          </p:nvSpPr>
          <p:spPr bwMode="auto">
            <a:xfrm>
              <a:off x="1189" y="2922"/>
              <a:ext cx="235"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14428" name="Rectangle 94">
            <a:extLst>
              <a:ext uri="{FF2B5EF4-FFF2-40B4-BE49-F238E27FC236}">
                <a16:creationId xmlns:a16="http://schemas.microsoft.com/office/drawing/2014/main" id="{B516EB0F-9D90-0430-AE8C-913C75F9A648}"/>
              </a:ext>
            </a:extLst>
          </p:cNvPr>
          <p:cNvSpPr>
            <a:spLocks noChangeArrowheads="1"/>
          </p:cNvSpPr>
          <p:nvPr/>
        </p:nvSpPr>
        <p:spPr bwMode="auto">
          <a:xfrm>
            <a:off x="3100388" y="3927476"/>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A</a:t>
            </a:r>
            <a:endParaRPr lang="en-US" altLang="en-US" sz="2800" b="1"/>
          </a:p>
        </p:txBody>
      </p:sp>
      <p:sp>
        <p:nvSpPr>
          <p:cNvPr id="14429" name="Rectangle 95">
            <a:extLst>
              <a:ext uri="{FF2B5EF4-FFF2-40B4-BE49-F238E27FC236}">
                <a16:creationId xmlns:a16="http://schemas.microsoft.com/office/drawing/2014/main" id="{9534D72A-850B-56BF-5F5A-8A55BC90E776}"/>
              </a:ext>
            </a:extLst>
          </p:cNvPr>
          <p:cNvSpPr>
            <a:spLocks noChangeArrowheads="1"/>
          </p:cNvSpPr>
          <p:nvPr/>
        </p:nvSpPr>
        <p:spPr bwMode="auto">
          <a:xfrm>
            <a:off x="3100388" y="4471989"/>
            <a:ext cx="18594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B</a:t>
            </a:r>
            <a:endParaRPr lang="en-US" altLang="en-US" sz="2800" b="1"/>
          </a:p>
        </p:txBody>
      </p:sp>
      <p:sp>
        <p:nvSpPr>
          <p:cNvPr id="14430" name="Rectangle 96">
            <a:extLst>
              <a:ext uri="{FF2B5EF4-FFF2-40B4-BE49-F238E27FC236}">
                <a16:creationId xmlns:a16="http://schemas.microsoft.com/office/drawing/2014/main" id="{C8DAE6F8-2FA7-6C7B-078D-7621FE1C7932}"/>
              </a:ext>
            </a:extLst>
          </p:cNvPr>
          <p:cNvSpPr>
            <a:spLocks noChangeArrowheads="1"/>
          </p:cNvSpPr>
          <p:nvPr/>
        </p:nvSpPr>
        <p:spPr bwMode="auto">
          <a:xfrm>
            <a:off x="6799263" y="3873501"/>
            <a:ext cx="1058862" cy="1008063"/>
          </a:xfrm>
          <a:prstGeom prst="rect">
            <a:avLst/>
          </a:prstGeom>
          <a:noFill/>
          <a:ln w="206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31" name="Rectangle 97">
            <a:extLst>
              <a:ext uri="{FF2B5EF4-FFF2-40B4-BE49-F238E27FC236}">
                <a16:creationId xmlns:a16="http://schemas.microsoft.com/office/drawing/2014/main" id="{58ABAC80-9FE2-A3A7-F7CC-76EB25C02244}"/>
              </a:ext>
            </a:extLst>
          </p:cNvPr>
          <p:cNvSpPr>
            <a:spLocks noChangeArrowheads="1"/>
          </p:cNvSpPr>
          <p:nvPr/>
        </p:nvSpPr>
        <p:spPr bwMode="auto">
          <a:xfrm>
            <a:off x="6956426" y="4032251"/>
            <a:ext cx="5546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Half </a:t>
            </a:r>
            <a:endParaRPr lang="en-US" altLang="en-US" sz="2800" b="1"/>
          </a:p>
        </p:txBody>
      </p:sp>
      <p:sp>
        <p:nvSpPr>
          <p:cNvPr id="14432" name="Rectangle 98">
            <a:extLst>
              <a:ext uri="{FF2B5EF4-FFF2-40B4-BE49-F238E27FC236}">
                <a16:creationId xmlns:a16="http://schemas.microsoft.com/office/drawing/2014/main" id="{D71D9F87-A771-E78C-8903-569BF1AED5B7}"/>
              </a:ext>
            </a:extLst>
          </p:cNvPr>
          <p:cNvSpPr>
            <a:spLocks noChangeArrowheads="1"/>
          </p:cNvSpPr>
          <p:nvPr/>
        </p:nvSpPr>
        <p:spPr bwMode="auto">
          <a:xfrm>
            <a:off x="6831014" y="4325939"/>
            <a:ext cx="74219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Adder</a:t>
            </a:r>
            <a:endParaRPr lang="en-US" altLang="en-US" sz="2800" b="1"/>
          </a:p>
        </p:txBody>
      </p:sp>
      <p:grpSp>
        <p:nvGrpSpPr>
          <p:cNvPr id="14433" name="Group 99">
            <a:extLst>
              <a:ext uri="{FF2B5EF4-FFF2-40B4-BE49-F238E27FC236}">
                <a16:creationId xmlns:a16="http://schemas.microsoft.com/office/drawing/2014/main" id="{5C85D6C5-0600-F85D-97B3-E1A03B301F87}"/>
              </a:ext>
            </a:extLst>
          </p:cNvPr>
          <p:cNvGrpSpPr>
            <a:grpSpLocks/>
          </p:cNvGrpSpPr>
          <p:nvPr/>
        </p:nvGrpSpPr>
        <p:grpSpPr bwMode="auto">
          <a:xfrm>
            <a:off x="5111750" y="4052888"/>
            <a:ext cx="1677988" cy="125412"/>
            <a:chOff x="2260" y="2553"/>
            <a:chExt cx="1057" cy="79"/>
          </a:xfrm>
        </p:grpSpPr>
        <p:sp>
          <p:nvSpPr>
            <p:cNvPr id="14470" name="Freeform 100">
              <a:extLst>
                <a:ext uri="{FF2B5EF4-FFF2-40B4-BE49-F238E27FC236}">
                  <a16:creationId xmlns:a16="http://schemas.microsoft.com/office/drawing/2014/main" id="{0BA49B97-CE85-28CF-807A-BA0B8C4C20B2}"/>
                </a:ext>
              </a:extLst>
            </p:cNvPr>
            <p:cNvSpPr>
              <a:spLocks/>
            </p:cNvSpPr>
            <p:nvPr/>
          </p:nvSpPr>
          <p:spPr bwMode="auto">
            <a:xfrm>
              <a:off x="3161" y="2553"/>
              <a:ext cx="156" cy="79"/>
            </a:xfrm>
            <a:custGeom>
              <a:avLst/>
              <a:gdLst>
                <a:gd name="T0" fmla="*/ 156 w 156"/>
                <a:gd name="T1" fmla="*/ 40 h 79"/>
                <a:gd name="T2" fmla="*/ 0 w 156"/>
                <a:gd name="T3" fmla="*/ 79 h 79"/>
                <a:gd name="T4" fmla="*/ 0 w 156"/>
                <a:gd name="T5" fmla="*/ 40 h 79"/>
                <a:gd name="T6" fmla="*/ 0 w 156"/>
                <a:gd name="T7" fmla="*/ 0 h 79"/>
                <a:gd name="T8" fmla="*/ 156 w 156"/>
                <a:gd name="T9" fmla="*/ 4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6" h="79">
                  <a:moveTo>
                    <a:pt x="156" y="40"/>
                  </a:moveTo>
                  <a:lnTo>
                    <a:pt x="0" y="79"/>
                  </a:lnTo>
                  <a:lnTo>
                    <a:pt x="0" y="40"/>
                  </a:lnTo>
                  <a:lnTo>
                    <a:pt x="0" y="0"/>
                  </a:lnTo>
                  <a:lnTo>
                    <a:pt x="156"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471" name="Line 101">
              <a:extLst>
                <a:ext uri="{FF2B5EF4-FFF2-40B4-BE49-F238E27FC236}">
                  <a16:creationId xmlns:a16="http://schemas.microsoft.com/office/drawing/2014/main" id="{0A9A6947-91CD-F42D-0EBF-8988C237BDD5}"/>
                </a:ext>
              </a:extLst>
            </p:cNvPr>
            <p:cNvSpPr>
              <a:spLocks noChangeShapeType="1"/>
            </p:cNvSpPr>
            <p:nvPr/>
          </p:nvSpPr>
          <p:spPr bwMode="auto">
            <a:xfrm>
              <a:off x="2260" y="2593"/>
              <a:ext cx="90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14434" name="Group 102">
            <a:extLst>
              <a:ext uri="{FF2B5EF4-FFF2-40B4-BE49-F238E27FC236}">
                <a16:creationId xmlns:a16="http://schemas.microsoft.com/office/drawing/2014/main" id="{983F24D3-92CF-CD44-8EB2-B4799EBC68F2}"/>
              </a:ext>
            </a:extLst>
          </p:cNvPr>
          <p:cNvGrpSpPr>
            <a:grpSpLocks/>
          </p:cNvGrpSpPr>
          <p:nvPr/>
        </p:nvGrpSpPr>
        <p:grpSpPr bwMode="auto">
          <a:xfrm>
            <a:off x="6169026" y="4576763"/>
            <a:ext cx="620713" cy="125412"/>
            <a:chOff x="2926" y="2883"/>
            <a:chExt cx="391" cy="79"/>
          </a:xfrm>
        </p:grpSpPr>
        <p:sp>
          <p:nvSpPr>
            <p:cNvPr id="14468" name="Freeform 103">
              <a:extLst>
                <a:ext uri="{FF2B5EF4-FFF2-40B4-BE49-F238E27FC236}">
                  <a16:creationId xmlns:a16="http://schemas.microsoft.com/office/drawing/2014/main" id="{063173DC-5071-26CA-1DF5-41DB239E0E7C}"/>
                </a:ext>
              </a:extLst>
            </p:cNvPr>
            <p:cNvSpPr>
              <a:spLocks/>
            </p:cNvSpPr>
            <p:nvPr/>
          </p:nvSpPr>
          <p:spPr bwMode="auto">
            <a:xfrm>
              <a:off x="3161" y="2883"/>
              <a:ext cx="156" cy="79"/>
            </a:xfrm>
            <a:custGeom>
              <a:avLst/>
              <a:gdLst>
                <a:gd name="T0" fmla="*/ 156 w 156"/>
                <a:gd name="T1" fmla="*/ 39 h 79"/>
                <a:gd name="T2" fmla="*/ 0 w 156"/>
                <a:gd name="T3" fmla="*/ 79 h 79"/>
                <a:gd name="T4" fmla="*/ 0 w 156"/>
                <a:gd name="T5" fmla="*/ 39 h 79"/>
                <a:gd name="T6" fmla="*/ 0 w 156"/>
                <a:gd name="T7" fmla="*/ 0 h 79"/>
                <a:gd name="T8" fmla="*/ 156 w 156"/>
                <a:gd name="T9" fmla="*/ 39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6" h="79">
                  <a:moveTo>
                    <a:pt x="156" y="39"/>
                  </a:moveTo>
                  <a:lnTo>
                    <a:pt x="0" y="79"/>
                  </a:lnTo>
                  <a:lnTo>
                    <a:pt x="0" y="39"/>
                  </a:lnTo>
                  <a:lnTo>
                    <a:pt x="0" y="0"/>
                  </a:lnTo>
                  <a:lnTo>
                    <a:pt x="156"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469" name="Line 104">
              <a:extLst>
                <a:ext uri="{FF2B5EF4-FFF2-40B4-BE49-F238E27FC236}">
                  <a16:creationId xmlns:a16="http://schemas.microsoft.com/office/drawing/2014/main" id="{9D87D33D-75DB-C0A2-FD1E-973682CEA8DA}"/>
                </a:ext>
              </a:extLst>
            </p:cNvPr>
            <p:cNvSpPr>
              <a:spLocks noChangeShapeType="1"/>
            </p:cNvSpPr>
            <p:nvPr/>
          </p:nvSpPr>
          <p:spPr bwMode="auto">
            <a:xfrm>
              <a:off x="2926" y="2922"/>
              <a:ext cx="235"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14435" name="Rectangle 105">
            <a:extLst>
              <a:ext uri="{FF2B5EF4-FFF2-40B4-BE49-F238E27FC236}">
                <a16:creationId xmlns:a16="http://schemas.microsoft.com/office/drawing/2014/main" id="{63DB8A49-C07D-40B9-C09B-E6380E36FD41}"/>
              </a:ext>
            </a:extLst>
          </p:cNvPr>
          <p:cNvSpPr>
            <a:spLocks noChangeArrowheads="1"/>
          </p:cNvSpPr>
          <p:nvPr/>
        </p:nvSpPr>
        <p:spPr bwMode="auto">
          <a:xfrm>
            <a:off x="5484814" y="3822701"/>
            <a:ext cx="65255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A + B</a:t>
            </a:r>
            <a:endParaRPr lang="en-US" altLang="en-US" sz="2800" b="1"/>
          </a:p>
        </p:txBody>
      </p:sp>
      <p:sp>
        <p:nvSpPr>
          <p:cNvPr id="14436" name="Oval 106">
            <a:extLst>
              <a:ext uri="{FF2B5EF4-FFF2-40B4-BE49-F238E27FC236}">
                <a16:creationId xmlns:a16="http://schemas.microsoft.com/office/drawing/2014/main" id="{845BD939-59D0-9F10-AF4C-26EBA8B337ED}"/>
              </a:ext>
            </a:extLst>
          </p:cNvPr>
          <p:cNvSpPr>
            <a:spLocks noChangeArrowheads="1"/>
          </p:cNvSpPr>
          <p:nvPr/>
        </p:nvSpPr>
        <p:spPr bwMode="auto">
          <a:xfrm>
            <a:off x="5741989" y="3916364"/>
            <a:ext cx="147637" cy="147637"/>
          </a:xfrm>
          <a:prstGeom prst="ellipse">
            <a:avLst/>
          </a:prstGeom>
          <a:noFill/>
          <a:ln w="206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37" name="Line 107">
            <a:extLst>
              <a:ext uri="{FF2B5EF4-FFF2-40B4-BE49-F238E27FC236}">
                <a16:creationId xmlns:a16="http://schemas.microsoft.com/office/drawing/2014/main" id="{54A0864B-F3F6-EAD8-C51F-3739BDFA0BB1}"/>
              </a:ext>
            </a:extLst>
          </p:cNvPr>
          <p:cNvSpPr>
            <a:spLocks noChangeShapeType="1"/>
          </p:cNvSpPr>
          <p:nvPr/>
        </p:nvSpPr>
        <p:spPr bwMode="auto">
          <a:xfrm>
            <a:off x="6148389" y="4638675"/>
            <a:ext cx="1587" cy="482600"/>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38" name="Line 108">
            <a:extLst>
              <a:ext uri="{FF2B5EF4-FFF2-40B4-BE49-F238E27FC236}">
                <a16:creationId xmlns:a16="http://schemas.microsoft.com/office/drawing/2014/main" id="{AA392710-4CFA-060E-307B-2FACB239A76A}"/>
              </a:ext>
            </a:extLst>
          </p:cNvPr>
          <p:cNvSpPr>
            <a:spLocks noChangeShapeType="1"/>
          </p:cNvSpPr>
          <p:nvPr/>
        </p:nvSpPr>
        <p:spPr bwMode="auto">
          <a:xfrm flipH="1">
            <a:off x="3432176" y="5121275"/>
            <a:ext cx="27162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39" name="Rectangle 109">
            <a:extLst>
              <a:ext uri="{FF2B5EF4-FFF2-40B4-BE49-F238E27FC236}">
                <a16:creationId xmlns:a16="http://schemas.microsoft.com/office/drawing/2014/main" id="{2D00D6CE-FA1E-BD88-55EC-5CB759430A7F}"/>
              </a:ext>
            </a:extLst>
          </p:cNvPr>
          <p:cNvSpPr>
            <a:spLocks noChangeArrowheads="1"/>
          </p:cNvSpPr>
          <p:nvPr/>
        </p:nvSpPr>
        <p:spPr bwMode="auto">
          <a:xfrm>
            <a:off x="3038475" y="4932364"/>
            <a:ext cx="25648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CI</a:t>
            </a:r>
            <a:endParaRPr lang="en-US" altLang="en-US" sz="2800" b="1"/>
          </a:p>
        </p:txBody>
      </p:sp>
      <p:grpSp>
        <p:nvGrpSpPr>
          <p:cNvPr id="14440" name="Group 110">
            <a:extLst>
              <a:ext uri="{FF2B5EF4-FFF2-40B4-BE49-F238E27FC236}">
                <a16:creationId xmlns:a16="http://schemas.microsoft.com/office/drawing/2014/main" id="{A7575675-EA6D-9842-C7DB-F516EDC01A52}"/>
              </a:ext>
            </a:extLst>
          </p:cNvPr>
          <p:cNvGrpSpPr>
            <a:grpSpLocks/>
          </p:cNvGrpSpPr>
          <p:nvPr/>
        </p:nvGrpSpPr>
        <p:grpSpPr bwMode="auto">
          <a:xfrm>
            <a:off x="7867651" y="4052888"/>
            <a:ext cx="1679575" cy="125412"/>
            <a:chOff x="3996" y="2553"/>
            <a:chExt cx="1058" cy="79"/>
          </a:xfrm>
        </p:grpSpPr>
        <p:sp>
          <p:nvSpPr>
            <p:cNvPr id="14466" name="Freeform 111">
              <a:extLst>
                <a:ext uri="{FF2B5EF4-FFF2-40B4-BE49-F238E27FC236}">
                  <a16:creationId xmlns:a16="http://schemas.microsoft.com/office/drawing/2014/main" id="{957B9EEE-33B2-417D-348F-9947A9FDE793}"/>
                </a:ext>
              </a:extLst>
            </p:cNvPr>
            <p:cNvSpPr>
              <a:spLocks/>
            </p:cNvSpPr>
            <p:nvPr/>
          </p:nvSpPr>
          <p:spPr bwMode="auto">
            <a:xfrm>
              <a:off x="4897" y="2553"/>
              <a:ext cx="157" cy="79"/>
            </a:xfrm>
            <a:custGeom>
              <a:avLst/>
              <a:gdLst>
                <a:gd name="T0" fmla="*/ 157 w 157"/>
                <a:gd name="T1" fmla="*/ 40 h 79"/>
                <a:gd name="T2" fmla="*/ 0 w 157"/>
                <a:gd name="T3" fmla="*/ 79 h 79"/>
                <a:gd name="T4" fmla="*/ 0 w 157"/>
                <a:gd name="T5" fmla="*/ 40 h 79"/>
                <a:gd name="T6" fmla="*/ 0 w 157"/>
                <a:gd name="T7" fmla="*/ 0 h 79"/>
                <a:gd name="T8" fmla="*/ 157 w 157"/>
                <a:gd name="T9" fmla="*/ 4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7" h="79">
                  <a:moveTo>
                    <a:pt x="157" y="40"/>
                  </a:moveTo>
                  <a:lnTo>
                    <a:pt x="0" y="79"/>
                  </a:lnTo>
                  <a:lnTo>
                    <a:pt x="0" y="40"/>
                  </a:lnTo>
                  <a:lnTo>
                    <a:pt x="0" y="0"/>
                  </a:lnTo>
                  <a:lnTo>
                    <a:pt x="157"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467" name="Line 112">
              <a:extLst>
                <a:ext uri="{FF2B5EF4-FFF2-40B4-BE49-F238E27FC236}">
                  <a16:creationId xmlns:a16="http://schemas.microsoft.com/office/drawing/2014/main" id="{33AEAE1B-0C74-FB3D-0D41-64B07F717C13}"/>
                </a:ext>
              </a:extLst>
            </p:cNvPr>
            <p:cNvSpPr>
              <a:spLocks noChangeShapeType="1"/>
            </p:cNvSpPr>
            <p:nvPr/>
          </p:nvSpPr>
          <p:spPr bwMode="auto">
            <a:xfrm>
              <a:off x="3996" y="2593"/>
              <a:ext cx="901"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14441" name="Rectangle 113">
            <a:extLst>
              <a:ext uri="{FF2B5EF4-FFF2-40B4-BE49-F238E27FC236}">
                <a16:creationId xmlns:a16="http://schemas.microsoft.com/office/drawing/2014/main" id="{8E159358-7694-4742-0314-F2E272DE0F27}"/>
              </a:ext>
            </a:extLst>
          </p:cNvPr>
          <p:cNvSpPr>
            <a:spLocks noChangeArrowheads="1"/>
          </p:cNvSpPr>
          <p:nvPr/>
        </p:nvSpPr>
        <p:spPr bwMode="auto">
          <a:xfrm>
            <a:off x="8013700" y="3822701"/>
            <a:ext cx="119917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A + B + CI</a:t>
            </a:r>
            <a:endParaRPr lang="en-US" altLang="en-US" sz="2800" b="1"/>
          </a:p>
        </p:txBody>
      </p:sp>
      <p:sp>
        <p:nvSpPr>
          <p:cNvPr id="14442" name="Oval 114">
            <a:extLst>
              <a:ext uri="{FF2B5EF4-FFF2-40B4-BE49-F238E27FC236}">
                <a16:creationId xmlns:a16="http://schemas.microsoft.com/office/drawing/2014/main" id="{2C7FBD67-6451-1219-B162-2F7F0DE3FC4A}"/>
              </a:ext>
            </a:extLst>
          </p:cNvPr>
          <p:cNvSpPr>
            <a:spLocks noChangeArrowheads="1"/>
          </p:cNvSpPr>
          <p:nvPr/>
        </p:nvSpPr>
        <p:spPr bwMode="auto">
          <a:xfrm>
            <a:off x="8270875" y="3937000"/>
            <a:ext cx="147638" cy="127000"/>
          </a:xfrm>
          <a:prstGeom prst="ellipse">
            <a:avLst/>
          </a:prstGeom>
          <a:noFill/>
          <a:ln w="206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43" name="Oval 115">
            <a:extLst>
              <a:ext uri="{FF2B5EF4-FFF2-40B4-BE49-F238E27FC236}">
                <a16:creationId xmlns:a16="http://schemas.microsoft.com/office/drawing/2014/main" id="{6EBED24C-6705-9AD9-C00F-18CA8CF0FFF8}"/>
              </a:ext>
            </a:extLst>
          </p:cNvPr>
          <p:cNvSpPr>
            <a:spLocks noChangeArrowheads="1"/>
          </p:cNvSpPr>
          <p:nvPr/>
        </p:nvSpPr>
        <p:spPr bwMode="auto">
          <a:xfrm>
            <a:off x="8728075" y="3916364"/>
            <a:ext cx="146050" cy="147637"/>
          </a:xfrm>
          <a:prstGeom prst="ellipse">
            <a:avLst/>
          </a:prstGeom>
          <a:noFill/>
          <a:ln w="206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44" name="Rectangle 116">
            <a:extLst>
              <a:ext uri="{FF2B5EF4-FFF2-40B4-BE49-F238E27FC236}">
                <a16:creationId xmlns:a16="http://schemas.microsoft.com/office/drawing/2014/main" id="{359F8076-B587-B499-81F6-A0DA529986AA}"/>
              </a:ext>
            </a:extLst>
          </p:cNvPr>
          <p:cNvSpPr>
            <a:spLocks noChangeArrowheads="1"/>
          </p:cNvSpPr>
          <p:nvPr/>
        </p:nvSpPr>
        <p:spPr bwMode="auto">
          <a:xfrm>
            <a:off x="4945063" y="3989388"/>
            <a:ext cx="12824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500" b="1">
                <a:solidFill>
                  <a:srgbClr val="000000"/>
                </a:solidFill>
                <a:latin typeface="Arial" panose="020B0604020202020204" pitchFamily="34" charset="0"/>
              </a:rPr>
              <a:t>S</a:t>
            </a:r>
            <a:endParaRPr lang="en-US" altLang="en-US" sz="2800" b="1"/>
          </a:p>
        </p:txBody>
      </p:sp>
      <p:sp>
        <p:nvSpPr>
          <p:cNvPr id="14445" name="Rectangle 117">
            <a:extLst>
              <a:ext uri="{FF2B5EF4-FFF2-40B4-BE49-F238E27FC236}">
                <a16:creationId xmlns:a16="http://schemas.microsoft.com/office/drawing/2014/main" id="{3628BF9C-F49D-92D5-6191-6D319BDB31BD}"/>
              </a:ext>
            </a:extLst>
          </p:cNvPr>
          <p:cNvSpPr>
            <a:spLocks noChangeArrowheads="1"/>
          </p:cNvSpPr>
          <p:nvPr/>
        </p:nvSpPr>
        <p:spPr bwMode="auto">
          <a:xfrm>
            <a:off x="7702550" y="3989388"/>
            <a:ext cx="128240"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500" b="1">
                <a:solidFill>
                  <a:srgbClr val="000000"/>
                </a:solidFill>
                <a:latin typeface="Arial" panose="020B0604020202020204" pitchFamily="34" charset="0"/>
              </a:rPr>
              <a:t>S</a:t>
            </a:r>
            <a:endParaRPr lang="en-US" altLang="en-US" sz="2800" b="1"/>
          </a:p>
        </p:txBody>
      </p:sp>
      <p:sp>
        <p:nvSpPr>
          <p:cNvPr id="14446" name="Rectangle 118">
            <a:extLst>
              <a:ext uri="{FF2B5EF4-FFF2-40B4-BE49-F238E27FC236}">
                <a16:creationId xmlns:a16="http://schemas.microsoft.com/office/drawing/2014/main" id="{52953846-8CF3-5C3F-7EEF-1C782374C80D}"/>
              </a:ext>
            </a:extLst>
          </p:cNvPr>
          <p:cNvSpPr>
            <a:spLocks noChangeArrowheads="1"/>
          </p:cNvSpPr>
          <p:nvPr/>
        </p:nvSpPr>
        <p:spPr bwMode="auto">
          <a:xfrm>
            <a:off x="7556501" y="4492625"/>
            <a:ext cx="28854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500" b="1">
                <a:solidFill>
                  <a:srgbClr val="000000"/>
                </a:solidFill>
                <a:latin typeface="Arial" panose="020B0604020202020204" pitchFamily="34" charset="0"/>
              </a:rPr>
              <a:t>CO</a:t>
            </a:r>
            <a:endParaRPr lang="en-US" altLang="en-US" sz="2800" b="1"/>
          </a:p>
        </p:txBody>
      </p:sp>
      <p:sp>
        <p:nvSpPr>
          <p:cNvPr id="14447" name="Line 119">
            <a:extLst>
              <a:ext uri="{FF2B5EF4-FFF2-40B4-BE49-F238E27FC236}">
                <a16:creationId xmlns:a16="http://schemas.microsoft.com/office/drawing/2014/main" id="{34E87A77-41F5-4B9C-3337-8017CC02E0A5}"/>
              </a:ext>
            </a:extLst>
          </p:cNvPr>
          <p:cNvSpPr>
            <a:spLocks noChangeShapeType="1"/>
          </p:cNvSpPr>
          <p:nvPr/>
        </p:nvSpPr>
        <p:spPr bwMode="auto">
          <a:xfrm>
            <a:off x="5091113" y="4638675"/>
            <a:ext cx="684212"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48" name="Rectangle 120">
            <a:extLst>
              <a:ext uri="{FF2B5EF4-FFF2-40B4-BE49-F238E27FC236}">
                <a16:creationId xmlns:a16="http://schemas.microsoft.com/office/drawing/2014/main" id="{AC603EF1-FF9E-EBE3-1220-84B7A8B94294}"/>
              </a:ext>
            </a:extLst>
          </p:cNvPr>
          <p:cNvSpPr>
            <a:spLocks noChangeArrowheads="1"/>
          </p:cNvSpPr>
          <p:nvPr/>
        </p:nvSpPr>
        <p:spPr bwMode="auto">
          <a:xfrm>
            <a:off x="4800601" y="4492625"/>
            <a:ext cx="288541"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500" b="1">
                <a:solidFill>
                  <a:srgbClr val="000000"/>
                </a:solidFill>
                <a:latin typeface="Arial" panose="020B0604020202020204" pitchFamily="34" charset="0"/>
              </a:rPr>
              <a:t>CO</a:t>
            </a:r>
            <a:endParaRPr lang="en-US" altLang="en-US" sz="2800" b="1"/>
          </a:p>
        </p:txBody>
      </p:sp>
      <p:sp>
        <p:nvSpPr>
          <p:cNvPr id="14449" name="Rectangle 121">
            <a:extLst>
              <a:ext uri="{FF2B5EF4-FFF2-40B4-BE49-F238E27FC236}">
                <a16:creationId xmlns:a16="http://schemas.microsoft.com/office/drawing/2014/main" id="{8191A379-CAF9-4981-E769-08896C662973}"/>
              </a:ext>
            </a:extLst>
          </p:cNvPr>
          <p:cNvSpPr>
            <a:spLocks noChangeArrowheads="1"/>
          </p:cNvSpPr>
          <p:nvPr/>
        </p:nvSpPr>
        <p:spPr bwMode="auto">
          <a:xfrm>
            <a:off x="7950200" y="4305301"/>
            <a:ext cx="114948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CI (A + B)</a:t>
            </a:r>
            <a:endParaRPr lang="en-US" altLang="en-US" sz="2800" b="1"/>
          </a:p>
        </p:txBody>
      </p:sp>
      <p:sp>
        <p:nvSpPr>
          <p:cNvPr id="14450" name="Line 122">
            <a:extLst>
              <a:ext uri="{FF2B5EF4-FFF2-40B4-BE49-F238E27FC236}">
                <a16:creationId xmlns:a16="http://schemas.microsoft.com/office/drawing/2014/main" id="{285719B3-3CE5-5AC8-957E-9852767EE27A}"/>
              </a:ext>
            </a:extLst>
          </p:cNvPr>
          <p:cNvSpPr>
            <a:spLocks noChangeShapeType="1"/>
          </p:cNvSpPr>
          <p:nvPr/>
        </p:nvSpPr>
        <p:spPr bwMode="auto">
          <a:xfrm>
            <a:off x="7867651" y="4618039"/>
            <a:ext cx="269875" cy="158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51" name="Rectangle 123">
            <a:extLst>
              <a:ext uri="{FF2B5EF4-FFF2-40B4-BE49-F238E27FC236}">
                <a16:creationId xmlns:a16="http://schemas.microsoft.com/office/drawing/2014/main" id="{80A55D2B-5842-8318-C7B4-6DE88ED7F749}"/>
              </a:ext>
            </a:extLst>
          </p:cNvPr>
          <p:cNvSpPr>
            <a:spLocks noChangeArrowheads="1"/>
          </p:cNvSpPr>
          <p:nvPr/>
        </p:nvSpPr>
        <p:spPr bwMode="auto">
          <a:xfrm>
            <a:off x="5235576" y="4346576"/>
            <a:ext cx="4329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A B</a:t>
            </a:r>
            <a:endParaRPr lang="en-US" altLang="en-US" sz="2800" b="1"/>
          </a:p>
        </p:txBody>
      </p:sp>
      <p:sp>
        <p:nvSpPr>
          <p:cNvPr id="14452" name="Oval 124">
            <a:extLst>
              <a:ext uri="{FF2B5EF4-FFF2-40B4-BE49-F238E27FC236}">
                <a16:creationId xmlns:a16="http://schemas.microsoft.com/office/drawing/2014/main" id="{E9F4A1F4-A16E-4FB4-67E0-128865E7D856}"/>
              </a:ext>
            </a:extLst>
          </p:cNvPr>
          <p:cNvSpPr>
            <a:spLocks noChangeArrowheads="1"/>
          </p:cNvSpPr>
          <p:nvPr/>
        </p:nvSpPr>
        <p:spPr bwMode="auto">
          <a:xfrm>
            <a:off x="8623300" y="4397376"/>
            <a:ext cx="127000" cy="149225"/>
          </a:xfrm>
          <a:prstGeom prst="ellipse">
            <a:avLst/>
          </a:prstGeom>
          <a:noFill/>
          <a:ln w="2063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4453" name="Rectangle 125">
            <a:extLst>
              <a:ext uri="{FF2B5EF4-FFF2-40B4-BE49-F238E27FC236}">
                <a16:creationId xmlns:a16="http://schemas.microsoft.com/office/drawing/2014/main" id="{A78CF9D1-2A0D-46FA-FBD8-06AD65AAD8EC}"/>
              </a:ext>
            </a:extLst>
          </p:cNvPr>
          <p:cNvSpPr>
            <a:spLocks noChangeArrowheads="1"/>
          </p:cNvSpPr>
          <p:nvPr/>
        </p:nvSpPr>
        <p:spPr bwMode="auto">
          <a:xfrm>
            <a:off x="8437563" y="5130801"/>
            <a:ext cx="539750" cy="587375"/>
          </a:xfrm>
          <a:prstGeom prst="rect">
            <a:avLst/>
          </a:prstGeom>
          <a:noFill/>
          <a:ln w="206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grpSp>
        <p:nvGrpSpPr>
          <p:cNvPr id="14454" name="Group 126">
            <a:extLst>
              <a:ext uri="{FF2B5EF4-FFF2-40B4-BE49-F238E27FC236}">
                <a16:creationId xmlns:a16="http://schemas.microsoft.com/office/drawing/2014/main" id="{7AACF4A7-F41B-C9A8-6D39-04C338E562D3}"/>
              </a:ext>
            </a:extLst>
          </p:cNvPr>
          <p:cNvGrpSpPr>
            <a:grpSpLocks/>
          </p:cNvGrpSpPr>
          <p:nvPr/>
        </p:nvGrpSpPr>
        <p:grpSpPr bwMode="auto">
          <a:xfrm>
            <a:off x="8986839" y="5329238"/>
            <a:ext cx="560387" cy="127000"/>
            <a:chOff x="4701" y="3357"/>
            <a:chExt cx="353" cy="80"/>
          </a:xfrm>
        </p:grpSpPr>
        <p:sp>
          <p:nvSpPr>
            <p:cNvPr id="14464" name="Freeform 127">
              <a:extLst>
                <a:ext uri="{FF2B5EF4-FFF2-40B4-BE49-F238E27FC236}">
                  <a16:creationId xmlns:a16="http://schemas.microsoft.com/office/drawing/2014/main" id="{D0AD7486-489B-F481-86F4-B6B04C3358ED}"/>
                </a:ext>
              </a:extLst>
            </p:cNvPr>
            <p:cNvSpPr>
              <a:spLocks/>
            </p:cNvSpPr>
            <p:nvPr/>
          </p:nvSpPr>
          <p:spPr bwMode="auto">
            <a:xfrm>
              <a:off x="4897" y="3357"/>
              <a:ext cx="157" cy="80"/>
            </a:xfrm>
            <a:custGeom>
              <a:avLst/>
              <a:gdLst>
                <a:gd name="T0" fmla="*/ 157 w 157"/>
                <a:gd name="T1" fmla="*/ 40 h 80"/>
                <a:gd name="T2" fmla="*/ 0 w 157"/>
                <a:gd name="T3" fmla="*/ 80 h 80"/>
                <a:gd name="T4" fmla="*/ 0 w 157"/>
                <a:gd name="T5" fmla="*/ 40 h 80"/>
                <a:gd name="T6" fmla="*/ 0 w 157"/>
                <a:gd name="T7" fmla="*/ 0 h 80"/>
                <a:gd name="T8" fmla="*/ 157 w 157"/>
                <a:gd name="T9" fmla="*/ 40 h 8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7" h="80">
                  <a:moveTo>
                    <a:pt x="157" y="40"/>
                  </a:moveTo>
                  <a:lnTo>
                    <a:pt x="0" y="80"/>
                  </a:lnTo>
                  <a:lnTo>
                    <a:pt x="0" y="40"/>
                  </a:lnTo>
                  <a:lnTo>
                    <a:pt x="0" y="0"/>
                  </a:lnTo>
                  <a:lnTo>
                    <a:pt x="157"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4465" name="Line 128">
              <a:extLst>
                <a:ext uri="{FF2B5EF4-FFF2-40B4-BE49-F238E27FC236}">
                  <a16:creationId xmlns:a16="http://schemas.microsoft.com/office/drawing/2014/main" id="{9AE34863-0B86-80BE-FEA6-528EB7FBBB01}"/>
                </a:ext>
              </a:extLst>
            </p:cNvPr>
            <p:cNvSpPr>
              <a:spLocks noChangeShapeType="1"/>
            </p:cNvSpPr>
            <p:nvPr/>
          </p:nvSpPr>
          <p:spPr bwMode="auto">
            <a:xfrm>
              <a:off x="4701" y="3397"/>
              <a:ext cx="196" cy="1"/>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14455" name="Line 129">
            <a:extLst>
              <a:ext uri="{FF2B5EF4-FFF2-40B4-BE49-F238E27FC236}">
                <a16:creationId xmlns:a16="http://schemas.microsoft.com/office/drawing/2014/main" id="{814729D8-5993-07CE-B2E5-408113664606}"/>
              </a:ext>
            </a:extLst>
          </p:cNvPr>
          <p:cNvSpPr>
            <a:spLocks noChangeShapeType="1"/>
          </p:cNvSpPr>
          <p:nvPr/>
        </p:nvSpPr>
        <p:spPr bwMode="auto">
          <a:xfrm>
            <a:off x="5775325" y="4638676"/>
            <a:ext cx="1588" cy="963613"/>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56" name="Line 130">
            <a:extLst>
              <a:ext uri="{FF2B5EF4-FFF2-40B4-BE49-F238E27FC236}">
                <a16:creationId xmlns:a16="http://schemas.microsoft.com/office/drawing/2014/main" id="{18EC76AE-C026-BED4-65C0-20E4D0E94094}"/>
              </a:ext>
            </a:extLst>
          </p:cNvPr>
          <p:cNvSpPr>
            <a:spLocks noChangeShapeType="1"/>
          </p:cNvSpPr>
          <p:nvPr/>
        </p:nvSpPr>
        <p:spPr bwMode="auto">
          <a:xfrm>
            <a:off x="5775326" y="5602289"/>
            <a:ext cx="2652713" cy="158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57" name="Line 131">
            <a:extLst>
              <a:ext uri="{FF2B5EF4-FFF2-40B4-BE49-F238E27FC236}">
                <a16:creationId xmlns:a16="http://schemas.microsoft.com/office/drawing/2014/main" id="{B606E824-D8E7-E15A-4B0B-C1B9E33DBD25}"/>
              </a:ext>
            </a:extLst>
          </p:cNvPr>
          <p:cNvSpPr>
            <a:spLocks noChangeShapeType="1"/>
          </p:cNvSpPr>
          <p:nvPr/>
        </p:nvSpPr>
        <p:spPr bwMode="auto">
          <a:xfrm>
            <a:off x="8137525" y="4618039"/>
            <a:ext cx="1588" cy="585787"/>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58" name="Line 132">
            <a:extLst>
              <a:ext uri="{FF2B5EF4-FFF2-40B4-BE49-F238E27FC236}">
                <a16:creationId xmlns:a16="http://schemas.microsoft.com/office/drawing/2014/main" id="{3A2C89B9-AB3F-2F67-DFF8-9ECA5896E9D6}"/>
              </a:ext>
            </a:extLst>
          </p:cNvPr>
          <p:cNvSpPr>
            <a:spLocks noChangeShapeType="1"/>
          </p:cNvSpPr>
          <p:nvPr/>
        </p:nvSpPr>
        <p:spPr bwMode="auto">
          <a:xfrm>
            <a:off x="8137526" y="5203825"/>
            <a:ext cx="290513" cy="1588"/>
          </a:xfrm>
          <a:prstGeom prst="line">
            <a:avLst/>
          </a:prstGeom>
          <a:noFill/>
          <a:ln w="20638">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4459" name="Rectangle 133">
            <a:extLst>
              <a:ext uri="{FF2B5EF4-FFF2-40B4-BE49-F238E27FC236}">
                <a16:creationId xmlns:a16="http://schemas.microsoft.com/office/drawing/2014/main" id="{00DB8914-29F7-0B9B-C01B-164F9E5F5C5C}"/>
              </a:ext>
            </a:extLst>
          </p:cNvPr>
          <p:cNvSpPr>
            <a:spLocks noChangeArrowheads="1"/>
          </p:cNvSpPr>
          <p:nvPr/>
        </p:nvSpPr>
        <p:spPr bwMode="auto">
          <a:xfrm>
            <a:off x="9547225" y="3948114"/>
            <a:ext cx="17152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S</a:t>
            </a:r>
            <a:endParaRPr lang="en-US" altLang="en-US" sz="2800" b="1"/>
          </a:p>
        </p:txBody>
      </p:sp>
      <p:sp>
        <p:nvSpPr>
          <p:cNvPr id="14460" name="Rectangle 134">
            <a:extLst>
              <a:ext uri="{FF2B5EF4-FFF2-40B4-BE49-F238E27FC236}">
                <a16:creationId xmlns:a16="http://schemas.microsoft.com/office/drawing/2014/main" id="{F0CF4228-9A3D-406E-98C5-7D15C15D337C}"/>
              </a:ext>
            </a:extLst>
          </p:cNvPr>
          <p:cNvSpPr>
            <a:spLocks noChangeArrowheads="1"/>
          </p:cNvSpPr>
          <p:nvPr/>
        </p:nvSpPr>
        <p:spPr bwMode="auto">
          <a:xfrm>
            <a:off x="9588501" y="5226051"/>
            <a:ext cx="38472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b="1">
                <a:solidFill>
                  <a:srgbClr val="000000"/>
                </a:solidFill>
                <a:latin typeface="Arial" panose="020B0604020202020204" pitchFamily="34" charset="0"/>
              </a:rPr>
              <a:t>CO</a:t>
            </a:r>
            <a:endParaRPr lang="en-US" altLang="en-US" sz="2800" b="1"/>
          </a:p>
        </p:txBody>
      </p:sp>
      <p:sp>
        <p:nvSpPr>
          <p:cNvPr id="14461" name="Rectangle 135">
            <a:extLst>
              <a:ext uri="{FF2B5EF4-FFF2-40B4-BE49-F238E27FC236}">
                <a16:creationId xmlns:a16="http://schemas.microsoft.com/office/drawing/2014/main" id="{C53583A3-5513-EF6C-8CBF-02A7D067EC82}"/>
              </a:ext>
            </a:extLst>
          </p:cNvPr>
          <p:cNvSpPr>
            <a:spLocks noChangeArrowheads="1"/>
          </p:cNvSpPr>
          <p:nvPr/>
        </p:nvSpPr>
        <p:spPr bwMode="auto">
          <a:xfrm>
            <a:off x="4368800" y="5854701"/>
            <a:ext cx="41275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a:latin typeface="Arial" panose="020B0604020202020204" pitchFamily="34" charset="0"/>
              </a:rPr>
              <a:t>A B + CI (A xor B) = A B + B CI + A CI</a:t>
            </a:r>
          </a:p>
        </p:txBody>
      </p:sp>
      <p:sp>
        <p:nvSpPr>
          <p:cNvPr id="14462" name="Rectangle 136">
            <a:extLst>
              <a:ext uri="{FF2B5EF4-FFF2-40B4-BE49-F238E27FC236}">
                <a16:creationId xmlns:a16="http://schemas.microsoft.com/office/drawing/2014/main" id="{B471AB90-9906-CD0B-7204-14AC1FD71490}"/>
              </a:ext>
            </a:extLst>
          </p:cNvPr>
          <p:cNvSpPr>
            <a:spLocks noChangeArrowheads="1"/>
          </p:cNvSpPr>
          <p:nvPr/>
        </p:nvSpPr>
        <p:spPr bwMode="auto">
          <a:xfrm>
            <a:off x="2743200" y="1104901"/>
            <a:ext cx="32766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a:latin typeface="Arial" panose="020B0604020202020204" pitchFamily="34" charset="0"/>
              </a:rPr>
              <a:t>Standard Approach:  6 Gates</a:t>
            </a:r>
          </a:p>
        </p:txBody>
      </p:sp>
      <p:sp>
        <p:nvSpPr>
          <p:cNvPr id="14463" name="Rectangle 137">
            <a:extLst>
              <a:ext uri="{FF2B5EF4-FFF2-40B4-BE49-F238E27FC236}">
                <a16:creationId xmlns:a16="http://schemas.microsoft.com/office/drawing/2014/main" id="{47996287-45B4-D0D4-AFD0-91629BEE6593}"/>
              </a:ext>
            </a:extLst>
          </p:cNvPr>
          <p:cNvSpPr>
            <a:spLocks noChangeArrowheads="1"/>
          </p:cNvSpPr>
          <p:nvPr/>
        </p:nvSpPr>
        <p:spPr bwMode="auto">
          <a:xfrm>
            <a:off x="8537575" y="5254626"/>
            <a:ext cx="3175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90000"/>
              </a:lnSpc>
            </a:pPr>
            <a:r>
              <a:rPr lang="en-US" altLang="en-US" sz="1800" b="1">
                <a:latin typeface="Arial" panose="020B0604020202020204" pitchFamily="34" charset="0"/>
              </a:rPr>
              <a:t>+</a:t>
            </a:r>
          </a:p>
        </p:txBody>
      </p:sp>
    </p:spTree>
    <p:extLst>
      <p:ext uri="{BB962C8B-B14F-4D97-AF65-F5344CB8AC3E}">
        <p14:creationId xmlns:p14="http://schemas.microsoft.com/office/powerpoint/2010/main" val="414570273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4">
            <a:extLst>
              <a:ext uri="{FF2B5EF4-FFF2-40B4-BE49-F238E27FC236}">
                <a16:creationId xmlns:a16="http://schemas.microsoft.com/office/drawing/2014/main" id="{9EBAAAE8-5D88-7BD8-4858-85AF130ADBC0}"/>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3C1EB830-2BEE-446D-89B9-E390C88E4F0F}" type="slidenum">
              <a:rPr lang="en-US" altLang="en-US" sz="1400"/>
              <a:pPr/>
              <a:t>5</a:t>
            </a:fld>
            <a:endParaRPr lang="en-US" altLang="en-US" sz="1400"/>
          </a:p>
        </p:txBody>
      </p:sp>
      <p:pic>
        <p:nvPicPr>
          <p:cNvPr id="12293" name="Picture 3">
            <a:extLst>
              <a:ext uri="{FF2B5EF4-FFF2-40B4-BE49-F238E27FC236}">
                <a16:creationId xmlns:a16="http://schemas.microsoft.com/office/drawing/2014/main" id="{53AC0B91-515F-6E8C-33D1-D7174F09787C}"/>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2134" y="2468253"/>
            <a:ext cx="6767732" cy="4070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294" name="Rectangle 4">
            <a:extLst>
              <a:ext uri="{FF2B5EF4-FFF2-40B4-BE49-F238E27FC236}">
                <a16:creationId xmlns:a16="http://schemas.microsoft.com/office/drawing/2014/main" id="{CD402251-6F13-DDD2-18EF-7344DC489C5F}"/>
              </a:ext>
            </a:extLst>
          </p:cNvPr>
          <p:cNvSpPr>
            <a:spLocks noChangeArrowheads="1"/>
          </p:cNvSpPr>
          <p:nvPr/>
        </p:nvSpPr>
        <p:spPr bwMode="auto">
          <a:xfrm>
            <a:off x="709245" y="0"/>
            <a:ext cx="10510911" cy="679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lnSpc>
                <a:spcPct val="85000"/>
              </a:lnSpc>
            </a:pPr>
            <a:r>
              <a:rPr lang="en-US" altLang="en-US" sz="2400" b="1" dirty="0">
                <a:solidFill>
                  <a:srgbClr val="FF0000"/>
                </a:solidFill>
                <a:latin typeface="Arial" panose="020B0604020202020204" pitchFamily="34" charset="0"/>
              </a:rPr>
              <a:t>Cascaded 4 BIT </a:t>
            </a:r>
          </a:p>
          <a:p>
            <a:pPr algn="ctr">
              <a:lnSpc>
                <a:spcPct val="85000"/>
              </a:lnSpc>
            </a:pPr>
            <a:r>
              <a:rPr lang="en-US" altLang="en-US" sz="2400" b="1" dirty="0">
                <a:solidFill>
                  <a:srgbClr val="FF0000"/>
                </a:solidFill>
                <a:latin typeface="Arial" panose="020B0604020202020204" pitchFamily="34" charset="0"/>
              </a:rPr>
              <a:t>Parallel Adders / Ripple Adder</a:t>
            </a:r>
          </a:p>
        </p:txBody>
      </p:sp>
      <p:sp>
        <p:nvSpPr>
          <p:cNvPr id="7" name="TextBox 6">
            <a:extLst>
              <a:ext uri="{FF2B5EF4-FFF2-40B4-BE49-F238E27FC236}">
                <a16:creationId xmlns:a16="http://schemas.microsoft.com/office/drawing/2014/main" id="{40BCB8E3-6772-B1EC-3F1C-1F6FB83D40B0}"/>
              </a:ext>
            </a:extLst>
          </p:cNvPr>
          <p:cNvSpPr txBox="1"/>
          <p:nvPr/>
        </p:nvSpPr>
        <p:spPr>
          <a:xfrm>
            <a:off x="422029" y="679160"/>
            <a:ext cx="11085341" cy="1477328"/>
          </a:xfrm>
          <a:prstGeom prst="rect">
            <a:avLst/>
          </a:prstGeom>
          <a:noFill/>
        </p:spPr>
        <p:txBody>
          <a:bodyPr wrap="square">
            <a:spAutoFit/>
          </a:bodyPr>
          <a:lstStyle/>
          <a:p>
            <a:r>
              <a:rPr lang="en-US" sz="1800" dirty="0">
                <a:solidFill>
                  <a:srgbClr val="000000"/>
                </a:solidFill>
                <a:effectLst/>
                <a:latin typeface="Times New Roman" panose="02020603050405020304" pitchFamily="18" charset="0"/>
                <a:ea typeface="Times New Roman" panose="02020603050405020304" pitchFamily="18" charset="0"/>
              </a:rPr>
              <a:t>Parallel</a:t>
            </a:r>
            <a:r>
              <a:rPr lang="en-US" sz="1800" spc="2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adders</a:t>
            </a:r>
            <a:r>
              <a:rPr lang="en-US" sz="1800" spc="2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are</a:t>
            </a:r>
            <a:r>
              <a:rPr lang="en-US" sz="1800" spc="2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digital</a:t>
            </a:r>
            <a:r>
              <a:rPr lang="en-US" sz="1800" spc="2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circuits</a:t>
            </a:r>
            <a:r>
              <a:rPr lang="en-US" sz="1800" spc="2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that</a:t>
            </a:r>
            <a:r>
              <a:rPr lang="en-US" sz="1800" spc="2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a:t>
            </a:r>
            <a:r>
              <a:rPr lang="en-US" sz="1800" spc="30" dirty="0">
                <a:solidFill>
                  <a:srgbClr val="000000"/>
                </a:solidFill>
                <a:effectLst/>
                <a:latin typeface="Times New Roman" panose="02020603050405020304" pitchFamily="18" charset="0"/>
                <a:ea typeface="Times New Roman" panose="02020603050405020304" pitchFamily="18" charset="0"/>
              </a:rPr>
              <a:t>o</a:t>
            </a:r>
            <a:r>
              <a:rPr lang="en-US" sz="1800" dirty="0">
                <a:solidFill>
                  <a:srgbClr val="000000"/>
                </a:solidFill>
                <a:effectLst/>
                <a:latin typeface="Times New Roman" panose="02020603050405020304" pitchFamily="18" charset="0"/>
                <a:ea typeface="Times New Roman" panose="02020603050405020304" pitchFamily="18" charset="0"/>
              </a:rPr>
              <a:t>mpute</a:t>
            </a:r>
            <a:r>
              <a:rPr lang="en-US" sz="1800" spc="27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2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addit</a:t>
            </a:r>
            <a:r>
              <a:rPr lang="en-US" sz="1800" spc="5" dirty="0">
                <a:solidFill>
                  <a:srgbClr val="000000"/>
                </a:solidFill>
                <a:effectLst/>
                <a:latin typeface="Times New Roman" panose="02020603050405020304" pitchFamily="18" charset="0"/>
                <a:ea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rPr>
              <a:t>on</a:t>
            </a:r>
            <a:r>
              <a:rPr lang="en-US" sz="1800" spc="2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of</a:t>
            </a:r>
            <a:r>
              <a:rPr lang="en-US" sz="1800" spc="2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variab</a:t>
            </a:r>
            <a:r>
              <a:rPr lang="en-US" sz="1800" spc="5" dirty="0">
                <a:solidFill>
                  <a:srgbClr val="000000"/>
                </a:solidFill>
                <a:effectLst/>
                <a:latin typeface="Times New Roman" panose="02020603050405020304" pitchFamily="18" charset="0"/>
                <a:ea typeface="Times New Roman" panose="02020603050405020304" pitchFamily="18" charset="0"/>
              </a:rPr>
              <a:t>l</a:t>
            </a:r>
            <a:r>
              <a:rPr lang="en-US" sz="1800" dirty="0">
                <a:solidFill>
                  <a:srgbClr val="000000"/>
                </a:solidFill>
                <a:effectLst/>
                <a:latin typeface="Times New Roman" panose="02020603050405020304" pitchFamily="18" charset="0"/>
                <a:ea typeface="Times New Roman" panose="02020603050405020304" pitchFamily="18" charset="0"/>
              </a:rPr>
              <a:t>e</a:t>
            </a:r>
            <a:r>
              <a:rPr lang="en-US" sz="1800" spc="27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b</a:t>
            </a:r>
            <a:r>
              <a:rPr lang="en-US" sz="1800" dirty="0">
                <a:solidFill>
                  <a:srgbClr val="000000"/>
                </a:solidFill>
                <a:effectLst/>
                <a:latin typeface="Times New Roman" panose="02020603050405020304" pitchFamily="18" charset="0"/>
                <a:ea typeface="Times New Roman" panose="02020603050405020304" pitchFamily="18" charset="0"/>
              </a:rPr>
              <a:t>i</a:t>
            </a:r>
            <a:r>
              <a:rPr lang="en-US" sz="1800" spc="5" dirty="0">
                <a:solidFill>
                  <a:srgbClr val="000000"/>
                </a:solidFill>
                <a:effectLst/>
                <a:latin typeface="Times New Roman" panose="02020603050405020304" pitchFamily="18" charset="0"/>
                <a:ea typeface="Times New Roman" panose="02020603050405020304" pitchFamily="18" charset="0"/>
              </a:rPr>
              <a:t>n</a:t>
            </a:r>
            <a:r>
              <a:rPr lang="en-US" sz="1800" dirty="0">
                <a:solidFill>
                  <a:srgbClr val="000000"/>
                </a:solidFill>
                <a:effectLst/>
                <a:latin typeface="Times New Roman" panose="02020603050405020304" pitchFamily="18" charset="0"/>
                <a:ea typeface="Times New Roman" panose="02020603050405020304" pitchFamily="18" charset="0"/>
              </a:rPr>
              <a:t>ary strings</a:t>
            </a:r>
            <a:r>
              <a:rPr lang="en-US" sz="1800" spc="3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of</a:t>
            </a:r>
            <a:r>
              <a:rPr lang="en-US" sz="1800" spc="3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e</a:t>
            </a:r>
            <a:r>
              <a:rPr lang="en-US" sz="1800" spc="5" dirty="0">
                <a:solidFill>
                  <a:srgbClr val="000000"/>
                </a:solidFill>
                <a:effectLst/>
                <a:latin typeface="Times New Roman" panose="02020603050405020304" pitchFamily="18" charset="0"/>
                <a:ea typeface="Times New Roman" panose="02020603050405020304" pitchFamily="18" charset="0"/>
              </a:rPr>
              <a:t>q</a:t>
            </a:r>
            <a:r>
              <a:rPr lang="en-US" sz="1800" dirty="0">
                <a:solidFill>
                  <a:srgbClr val="000000"/>
                </a:solidFill>
                <a:effectLst/>
                <a:latin typeface="Times New Roman" panose="02020603050405020304" pitchFamily="18" charset="0"/>
                <a:ea typeface="Times New Roman" panose="02020603050405020304" pitchFamily="18" charset="0"/>
              </a:rPr>
              <a:t>ui</a:t>
            </a:r>
            <a:r>
              <a:rPr lang="en-US" sz="1800" spc="5" dirty="0">
                <a:solidFill>
                  <a:srgbClr val="000000"/>
                </a:solidFill>
                <a:effectLst/>
                <a:latin typeface="Times New Roman" panose="02020603050405020304" pitchFamily="18" charset="0"/>
                <a:ea typeface="Times New Roman" panose="02020603050405020304" pitchFamily="18" charset="0"/>
              </a:rPr>
              <a:t>v</a:t>
            </a:r>
            <a:r>
              <a:rPr lang="en-US" sz="1800" dirty="0">
                <a:solidFill>
                  <a:srgbClr val="000000"/>
                </a:solidFill>
                <a:effectLst/>
                <a:latin typeface="Times New Roman" panose="02020603050405020304" pitchFamily="18" charset="0"/>
                <a:ea typeface="Times New Roman" panose="02020603050405020304" pitchFamily="18" charset="0"/>
              </a:rPr>
              <a:t>alent</a:t>
            </a:r>
            <a:r>
              <a:rPr lang="en-US" sz="1800" spc="32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o</a:t>
            </a:r>
            <a:r>
              <a:rPr lang="en-US" sz="1800" dirty="0">
                <a:solidFill>
                  <a:srgbClr val="000000"/>
                </a:solidFill>
                <a:effectLst/>
                <a:latin typeface="Times New Roman" panose="02020603050405020304" pitchFamily="18" charset="0"/>
                <a:ea typeface="Times New Roman" panose="02020603050405020304" pitchFamily="18" charset="0"/>
              </a:rPr>
              <a:t>r</a:t>
            </a:r>
            <a:r>
              <a:rPr lang="en-US" sz="1800" spc="32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di</a:t>
            </a:r>
            <a:r>
              <a:rPr lang="en-US" sz="1800" dirty="0">
                <a:solidFill>
                  <a:srgbClr val="000000"/>
                </a:solidFill>
                <a:effectLst/>
                <a:latin typeface="Times New Roman" panose="02020603050405020304" pitchFamily="18" charset="0"/>
                <a:ea typeface="Times New Roman" panose="02020603050405020304" pitchFamily="18" charset="0"/>
              </a:rPr>
              <a:t>ffere</a:t>
            </a:r>
            <a:r>
              <a:rPr lang="en-US" sz="1800" spc="5" dirty="0">
                <a:solidFill>
                  <a:srgbClr val="000000"/>
                </a:solidFill>
                <a:effectLst/>
                <a:latin typeface="Times New Roman" panose="02020603050405020304" pitchFamily="18" charset="0"/>
                <a:ea typeface="Times New Roman" panose="02020603050405020304" pitchFamily="18" charset="0"/>
              </a:rPr>
              <a:t>nt</a:t>
            </a:r>
            <a:r>
              <a:rPr lang="en-US" sz="1800" spc="30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size</a:t>
            </a:r>
            <a:r>
              <a:rPr lang="en-US" sz="1800" spc="32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rPr>
              <a:t>n</a:t>
            </a:r>
            <a:r>
              <a:rPr lang="en-US" sz="1800" spc="3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paralle</a:t>
            </a:r>
            <a:r>
              <a:rPr lang="en-US" sz="1800" spc="5" dirty="0">
                <a:solidFill>
                  <a:srgbClr val="000000"/>
                </a:solidFill>
                <a:effectLst/>
                <a:latin typeface="Times New Roman" panose="02020603050405020304" pitchFamily="18" charset="0"/>
                <a:ea typeface="Times New Roman" panose="02020603050405020304" pitchFamily="18" charset="0"/>
              </a:rPr>
              <a:t>l</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spc="30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3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schematic</a:t>
            </a:r>
            <a:r>
              <a:rPr lang="en-US" sz="1800" spc="3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diagram</a:t>
            </a:r>
            <a:r>
              <a:rPr lang="en-US" sz="1800" spc="32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o</a:t>
            </a:r>
            <a:r>
              <a:rPr lang="en-US" sz="1800" dirty="0">
                <a:solidFill>
                  <a:srgbClr val="000000"/>
                </a:solidFill>
                <a:effectLst/>
                <a:latin typeface="Times New Roman" panose="02020603050405020304" pitchFamily="18" charset="0"/>
                <a:ea typeface="Times New Roman" panose="02020603050405020304" pitchFamily="18" charset="0"/>
              </a:rPr>
              <a:t>f</a:t>
            </a:r>
            <a:r>
              <a:rPr lang="en-US" sz="1800" spc="3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 parallel</a:t>
            </a:r>
            <a:r>
              <a:rPr lang="en-US" sz="1800" spc="17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adder</a:t>
            </a:r>
            <a:r>
              <a:rPr lang="en-US" sz="1800" spc="17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a:t>
            </a:r>
            <a:r>
              <a:rPr lang="en-US" sz="1800" spc="1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shown,</a:t>
            </a:r>
            <a:r>
              <a:rPr lang="en-US" sz="1800" spc="1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to</a:t>
            </a:r>
            <a:r>
              <a:rPr lang="en-US" sz="1800" spc="1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add</a:t>
            </a:r>
            <a:r>
              <a:rPr lang="en-US" sz="1800" spc="180" dirty="0">
                <a:solidFill>
                  <a:srgbClr val="000000"/>
                </a:solidFill>
                <a:effectLst/>
                <a:latin typeface="Times New Roman" panose="02020603050405020304" pitchFamily="18" charset="0"/>
                <a:ea typeface="Times New Roman" panose="02020603050405020304" pitchFamily="18" charset="0"/>
              </a:rPr>
              <a:t> </a:t>
            </a:r>
            <a:r>
              <a:rPr lang="en-US" sz="1800" spc="175" dirty="0">
                <a:solidFill>
                  <a:srgbClr val="000000"/>
                </a:solidFill>
                <a:effectLst/>
                <a:latin typeface="Times New Roman" panose="02020603050405020304" pitchFamily="18" charset="0"/>
                <a:ea typeface="Times New Roman" panose="02020603050405020304" pitchFamily="18" charset="0"/>
              </a:rPr>
              <a:t>two 4 bit </a:t>
            </a:r>
            <a:r>
              <a:rPr lang="en-US" sz="1800" spc="5" dirty="0">
                <a:solidFill>
                  <a:srgbClr val="000000"/>
                </a:solidFill>
                <a:effectLst/>
                <a:latin typeface="Times New Roman" panose="02020603050405020304" pitchFamily="18" charset="0"/>
                <a:ea typeface="Times New Roman" panose="02020603050405020304" pitchFamily="18" charset="0"/>
              </a:rPr>
              <a:t>b</a:t>
            </a:r>
            <a:r>
              <a:rPr lang="en-US" sz="1800" dirty="0">
                <a:solidFill>
                  <a:srgbClr val="000000"/>
                </a:solidFill>
                <a:effectLst/>
                <a:latin typeface="Times New Roman" panose="02020603050405020304" pitchFamily="18" charset="0"/>
                <a:ea typeface="Times New Roman" panose="02020603050405020304" pitchFamily="18" charset="0"/>
              </a:rPr>
              <a:t>i</a:t>
            </a:r>
            <a:r>
              <a:rPr lang="en-US" sz="1800" spc="5" dirty="0">
                <a:solidFill>
                  <a:srgbClr val="000000"/>
                </a:solidFill>
                <a:effectLst/>
                <a:latin typeface="Times New Roman" panose="02020603050405020304" pitchFamily="18" charset="0"/>
                <a:ea typeface="Times New Roman" panose="02020603050405020304" pitchFamily="18" charset="0"/>
              </a:rPr>
              <a:t>n</a:t>
            </a:r>
            <a:r>
              <a:rPr lang="en-US" sz="1800" dirty="0">
                <a:solidFill>
                  <a:srgbClr val="000000"/>
                </a:solidFill>
                <a:effectLst/>
                <a:latin typeface="Times New Roman" panose="02020603050405020304" pitchFamily="18" charset="0"/>
                <a:ea typeface="Times New Roman" panose="02020603050405020304" pitchFamily="18" charset="0"/>
              </a:rPr>
              <a:t>ary</a:t>
            </a:r>
            <a:r>
              <a:rPr lang="en-US" sz="1800" spc="19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nu</a:t>
            </a:r>
            <a:r>
              <a:rPr lang="en-US" sz="1800" dirty="0">
                <a:solidFill>
                  <a:srgbClr val="000000"/>
                </a:solidFill>
                <a:effectLst/>
                <a:latin typeface="Times New Roman" panose="02020603050405020304" pitchFamily="18" charset="0"/>
                <a:ea typeface="Times New Roman" panose="02020603050405020304" pitchFamily="18" charset="0"/>
              </a:rPr>
              <a:t>m</a:t>
            </a:r>
            <a:r>
              <a:rPr lang="en-US" sz="1800" spc="5" dirty="0">
                <a:solidFill>
                  <a:srgbClr val="000000"/>
                </a:solidFill>
                <a:effectLst/>
                <a:latin typeface="Times New Roman" panose="02020603050405020304" pitchFamily="18" charset="0"/>
                <a:ea typeface="Times New Roman" panose="02020603050405020304" pitchFamily="18" charset="0"/>
              </a:rPr>
              <a:t>b</a:t>
            </a:r>
            <a:r>
              <a:rPr lang="en-US" sz="1800" dirty="0">
                <a:solidFill>
                  <a:srgbClr val="000000"/>
                </a:solidFill>
                <a:effectLst/>
                <a:latin typeface="Times New Roman" panose="02020603050405020304" pitchFamily="18" charset="0"/>
                <a:ea typeface="Times New Roman" panose="02020603050405020304" pitchFamily="18" charset="0"/>
              </a:rPr>
              <a:t>er</a:t>
            </a:r>
            <a:r>
              <a:rPr lang="en-US" sz="1800" spc="5" dirty="0">
                <a:solidFill>
                  <a:srgbClr val="000000"/>
                </a:solidFill>
                <a:effectLst/>
                <a:latin typeface="Times New Roman" panose="02020603050405020304" pitchFamily="18" charset="0"/>
                <a:ea typeface="Times New Roman" panose="02020603050405020304" pitchFamily="18" charset="0"/>
              </a:rPr>
              <a:t>s</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spc="17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17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circuit</a:t>
            </a:r>
            <a:r>
              <a:rPr lang="en-US" sz="1800" spc="1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 laid out</a:t>
            </a:r>
            <a:r>
              <a:rPr lang="en-US" sz="1800" spc="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from</a:t>
            </a:r>
            <a:r>
              <a:rPr lang="en-US" sz="1800" spc="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right</a:t>
            </a:r>
            <a:r>
              <a:rPr lang="en-US" sz="1800" spc="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to</a:t>
            </a:r>
            <a:r>
              <a:rPr lang="en-US" sz="1800" spc="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lef</a:t>
            </a:r>
            <a:r>
              <a:rPr lang="en-US" sz="1800" spc="5" dirty="0">
                <a:solidFill>
                  <a:srgbClr val="000000"/>
                </a:solidFill>
                <a:effectLst/>
                <a:latin typeface="Times New Roman" panose="02020603050405020304" pitchFamily="18" charset="0"/>
                <a:ea typeface="Times New Roman" panose="02020603050405020304" pitchFamily="18" charset="0"/>
              </a:rPr>
              <a:t>t</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si</a:t>
            </a:r>
            <a:r>
              <a:rPr lang="en-US" sz="1800" dirty="0">
                <a:solidFill>
                  <a:srgbClr val="000000"/>
                </a:solidFill>
                <a:effectLst/>
                <a:latin typeface="Times New Roman" panose="02020603050405020304" pitchFamily="18" charset="0"/>
                <a:ea typeface="Times New Roman" panose="02020603050405020304" pitchFamily="18" charset="0"/>
              </a:rPr>
              <a:t>m</a:t>
            </a:r>
            <a:r>
              <a:rPr lang="en-US" sz="1800" spc="5" dirty="0">
                <a:solidFill>
                  <a:srgbClr val="000000"/>
                </a:solidFill>
                <a:effectLst/>
                <a:latin typeface="Times New Roman" panose="02020603050405020304" pitchFamily="18" charset="0"/>
                <a:ea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rPr>
              <a:t>lar</a:t>
            </a:r>
            <a:r>
              <a:rPr lang="en-US" sz="1800" spc="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a:t>
            </a:r>
            <a:r>
              <a:rPr lang="en-US" sz="1800" spc="5" dirty="0">
                <a:solidFill>
                  <a:srgbClr val="000000"/>
                </a:solidFill>
                <a:effectLst/>
                <a:latin typeface="Times New Roman" panose="02020603050405020304" pitchFamily="18" charset="0"/>
                <a:ea typeface="Times New Roman" panose="02020603050405020304" pitchFamily="18" charset="0"/>
              </a:rPr>
              <a:t>o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way</a:t>
            </a:r>
            <a:r>
              <a:rPr lang="en-US" sz="1800" spc="3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we</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a:t>
            </a:r>
            <a:r>
              <a:rPr lang="en-US" sz="1800" spc="5" dirty="0">
                <a:solidFill>
                  <a:srgbClr val="000000"/>
                </a:solidFill>
                <a:effectLst/>
                <a:latin typeface="Times New Roman" panose="02020603050405020304" pitchFamily="18" charset="0"/>
                <a:ea typeface="Times New Roman" panose="02020603050405020304" pitchFamily="18" charset="0"/>
              </a:rPr>
              <a:t>dd </a:t>
            </a:r>
            <a:r>
              <a:rPr lang="en-US" sz="1800" dirty="0">
                <a:solidFill>
                  <a:srgbClr val="000000"/>
                </a:solidFill>
                <a:effectLst/>
                <a:latin typeface="Times New Roman" panose="02020603050405020304" pitchFamily="18" charset="0"/>
                <a:ea typeface="Times New Roman" panose="02020603050405020304" pitchFamily="18" charset="0"/>
              </a:rPr>
              <a:t>b</a:t>
            </a:r>
            <a:r>
              <a:rPr lang="en-US" sz="1800" spc="50" dirty="0">
                <a:solidFill>
                  <a:srgbClr val="000000"/>
                </a:solidFill>
                <a:effectLst/>
                <a:latin typeface="Times New Roman" panose="02020603050405020304" pitchFamily="18" charset="0"/>
                <a:ea typeface="Times New Roman" panose="02020603050405020304" pitchFamily="18" charset="0"/>
              </a:rPr>
              <a:t>i</a:t>
            </a:r>
            <a:r>
              <a:rPr lang="en-US" sz="1800" spc="5" dirty="0">
                <a:solidFill>
                  <a:srgbClr val="000000"/>
                </a:solidFill>
                <a:effectLst/>
                <a:latin typeface="Times New Roman" panose="02020603050405020304" pitchFamily="18" charset="0"/>
                <a:ea typeface="Times New Roman" panose="02020603050405020304" pitchFamily="18" charset="0"/>
              </a:rPr>
              <a:t>n</a:t>
            </a:r>
            <a:r>
              <a:rPr lang="en-US" sz="1800" dirty="0">
                <a:solidFill>
                  <a:srgbClr val="000000"/>
                </a:solidFill>
                <a:effectLst/>
                <a:latin typeface="Times New Roman" panose="02020603050405020304" pitchFamily="18" charset="0"/>
                <a:ea typeface="Times New Roman" panose="02020603050405020304" pitchFamily="18" charset="0"/>
              </a:rPr>
              <a:t>ary</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n</a:t>
            </a:r>
            <a:r>
              <a:rPr lang="en-US" sz="1800" dirty="0">
                <a:solidFill>
                  <a:srgbClr val="000000"/>
                </a:solidFill>
                <a:effectLst/>
                <a:latin typeface="Times New Roman" panose="02020603050405020304" pitchFamily="18" charset="0"/>
                <a:ea typeface="Times New Roman" panose="02020603050405020304" pitchFamily="18" charset="0"/>
              </a:rPr>
              <a:t>um</a:t>
            </a:r>
            <a:r>
              <a:rPr lang="en-US" sz="1800" spc="5" dirty="0">
                <a:solidFill>
                  <a:srgbClr val="000000"/>
                </a:solidFill>
                <a:effectLst/>
                <a:latin typeface="Times New Roman" panose="02020603050405020304" pitchFamily="18" charset="0"/>
                <a:ea typeface="Times New Roman" panose="02020603050405020304" pitchFamily="18" charset="0"/>
              </a:rPr>
              <a:t>b</a:t>
            </a:r>
            <a:r>
              <a:rPr lang="en-US" sz="1800" dirty="0">
                <a:solidFill>
                  <a:srgbClr val="000000"/>
                </a:solidFill>
                <a:effectLst/>
                <a:latin typeface="Times New Roman" panose="02020603050405020304" pitchFamily="18" charset="0"/>
                <a:ea typeface="Times New Roman" panose="02020603050405020304" pitchFamily="18" charset="0"/>
              </a:rPr>
              <a:t>er</a:t>
            </a:r>
            <a:r>
              <a:rPr lang="en-US" sz="1800" spc="5" dirty="0">
                <a:solidFill>
                  <a:srgbClr val="000000"/>
                </a:solidFill>
                <a:effectLst/>
                <a:latin typeface="Times New Roman" panose="02020603050405020304" pitchFamily="18" charset="0"/>
                <a:ea typeface="Times New Roman" panose="02020603050405020304" pitchFamily="18" charset="0"/>
              </a:rPr>
              <a:t>s</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spc="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Therefore,</a:t>
            </a:r>
            <a:r>
              <a:rPr lang="en-US" sz="1800" spc="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 least</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significant</a:t>
            </a:r>
            <a:r>
              <a:rPr lang="en-US" sz="1800" spc="1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column</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a:t>
            </a:r>
            <a:r>
              <a:rPr lang="en-US" sz="1800" spc="10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on</a:t>
            </a:r>
            <a:r>
              <a:rPr lang="en-US" sz="1800" spc="1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1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right,</a:t>
            </a:r>
            <a:r>
              <a:rPr lang="en-US" sz="1800" spc="9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and</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most</a:t>
            </a:r>
            <a:r>
              <a:rPr lang="en-US" sz="1800" spc="10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significant</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column</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on</a:t>
            </a:r>
            <a:r>
              <a:rPr lang="en-US" sz="1800" spc="10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 le</a:t>
            </a:r>
            <a:r>
              <a:rPr lang="en-US" sz="1800" spc="-5" dirty="0">
                <a:solidFill>
                  <a:srgbClr val="000000"/>
                </a:solidFill>
                <a:effectLst/>
                <a:latin typeface="Times New Roman" panose="02020603050405020304" pitchFamily="18" charset="0"/>
                <a:ea typeface="Times New Roman" panose="02020603050405020304" pitchFamily="18" charset="0"/>
              </a:rPr>
              <a:t>f</a:t>
            </a:r>
            <a:r>
              <a:rPr lang="en-US" sz="1800" dirty="0">
                <a:solidFill>
                  <a:srgbClr val="000000"/>
                </a:solidFill>
                <a:effectLst/>
                <a:latin typeface="Times New Roman" panose="02020603050405020304" pitchFamily="18" charset="0"/>
                <a:ea typeface="Times New Roman" panose="02020603050405020304" pitchFamily="18" charset="0"/>
              </a:rPr>
              <a:t>t.</a:t>
            </a:r>
            <a:r>
              <a:rPr lang="en-US" sz="1800" spc="1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boxes</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labeled</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FA/+</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are</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full</a:t>
            </a:r>
            <a:r>
              <a:rPr lang="en-US" sz="1800" spc="13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a:t>
            </a:r>
            <a:r>
              <a:rPr lang="en-US" sz="1800" spc="5" dirty="0">
                <a:solidFill>
                  <a:srgbClr val="000000"/>
                </a:solidFill>
                <a:effectLst/>
                <a:latin typeface="Times New Roman" panose="02020603050405020304" pitchFamily="18" charset="0"/>
                <a:ea typeface="Times New Roman" panose="02020603050405020304" pitchFamily="18" charset="0"/>
              </a:rPr>
              <a:t>dd</a:t>
            </a:r>
            <a:r>
              <a:rPr lang="en-US" sz="1800" dirty="0">
                <a:solidFill>
                  <a:srgbClr val="000000"/>
                </a:solidFill>
                <a:effectLst/>
                <a:latin typeface="Times New Roman" panose="02020603050405020304" pitchFamily="18" charset="0"/>
                <a:ea typeface="Times New Roman" panose="02020603050405020304" pitchFamily="18" charset="0"/>
              </a:rPr>
              <a:t>er</a:t>
            </a:r>
            <a:r>
              <a:rPr lang="en-US" sz="1800" spc="5" dirty="0">
                <a:solidFill>
                  <a:srgbClr val="000000"/>
                </a:solidFill>
                <a:effectLst/>
                <a:latin typeface="Times New Roman" panose="02020603050405020304" pitchFamily="18" charset="0"/>
                <a:ea typeface="Times New Roman" panose="02020603050405020304" pitchFamily="18" charset="0"/>
              </a:rPr>
              <a:t>s</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spc="1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Carry</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out</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from</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each</a:t>
            </a:r>
            <a:r>
              <a:rPr lang="en-US" sz="1800" spc="13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fu</a:t>
            </a:r>
            <a:r>
              <a:rPr lang="en-US" sz="1800" spc="5" dirty="0">
                <a:solidFill>
                  <a:srgbClr val="000000"/>
                </a:solidFill>
                <a:effectLst/>
                <a:latin typeface="Times New Roman" panose="02020603050405020304" pitchFamily="18" charset="0"/>
                <a:ea typeface="Times New Roman" panose="02020603050405020304" pitchFamily="18" charset="0"/>
              </a:rPr>
              <a:t>ll</a:t>
            </a:r>
            <a:r>
              <a:rPr lang="en-US" sz="1800" spc="1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adder</a:t>
            </a:r>
            <a:r>
              <a:rPr lang="en-US" sz="1800" spc="13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a:t>
            </a:r>
            <a:r>
              <a:rPr lang="en-US" sz="1800" spc="5" dirty="0">
                <a:solidFill>
                  <a:srgbClr val="000000"/>
                </a:solidFill>
                <a:effectLst/>
                <a:latin typeface="Times New Roman" panose="02020603050405020304" pitchFamily="18" charset="0"/>
                <a:ea typeface="Times New Roman" panose="02020603050405020304" pitchFamily="18" charset="0"/>
              </a:rPr>
              <a:t>s</a:t>
            </a:r>
            <a:r>
              <a:rPr lang="en-US" sz="1800" dirty="0">
                <a:solidFill>
                  <a:srgbClr val="000000"/>
                </a:solidFill>
                <a:effectLst/>
                <a:latin typeface="Times New Roman" panose="02020603050405020304" pitchFamily="18" charset="0"/>
                <a:ea typeface="Times New Roman" panose="02020603050405020304" pitchFamily="18" charset="0"/>
              </a:rPr>
              <a:t> the</a:t>
            </a:r>
            <a:r>
              <a:rPr lang="en-US" sz="1800" spc="5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Carry-</a:t>
            </a:r>
            <a:r>
              <a:rPr lang="en-US" sz="1800" spc="5" dirty="0">
                <a:solidFill>
                  <a:srgbClr val="000000"/>
                </a:solidFill>
                <a:effectLst/>
                <a:latin typeface="Times New Roman" panose="02020603050405020304" pitchFamily="18" charset="0"/>
                <a:ea typeface="Times New Roman" panose="02020603050405020304" pitchFamily="18" charset="0"/>
              </a:rPr>
              <a:t>in</a:t>
            </a:r>
            <a:r>
              <a:rPr lang="en-US" sz="1800" spc="55"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to</a:t>
            </a:r>
            <a:r>
              <a:rPr lang="en-US" sz="1800" spc="4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6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n</a:t>
            </a:r>
            <a:r>
              <a:rPr lang="en-US" sz="1800" dirty="0">
                <a:solidFill>
                  <a:srgbClr val="000000"/>
                </a:solidFill>
                <a:effectLst/>
                <a:latin typeface="Times New Roman" panose="02020603050405020304" pitchFamily="18" charset="0"/>
                <a:ea typeface="Times New Roman" panose="02020603050405020304" pitchFamily="18" charset="0"/>
              </a:rPr>
              <a:t>e</a:t>
            </a:r>
            <a:r>
              <a:rPr lang="en-US" sz="1800" spc="5" dirty="0">
                <a:solidFill>
                  <a:srgbClr val="000000"/>
                </a:solidFill>
                <a:effectLst/>
                <a:latin typeface="Times New Roman" panose="02020603050405020304" pitchFamily="18" charset="0"/>
                <a:ea typeface="Times New Roman" panose="02020603050405020304" pitchFamily="18" charset="0"/>
              </a:rPr>
              <a:t>xt</a:t>
            </a:r>
            <a:r>
              <a:rPr lang="en-US" sz="1800" spc="4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h</a:t>
            </a:r>
            <a:r>
              <a:rPr lang="en-US" sz="1800" dirty="0">
                <a:solidFill>
                  <a:srgbClr val="000000"/>
                </a:solidFill>
                <a:effectLst/>
                <a:latin typeface="Times New Roman" panose="02020603050405020304" pitchFamily="18" charset="0"/>
                <a:ea typeface="Times New Roman" panose="02020603050405020304" pitchFamily="18" charset="0"/>
              </a:rPr>
              <a:t>i</a:t>
            </a:r>
            <a:r>
              <a:rPr lang="en-US" sz="1800" spc="5" dirty="0">
                <a:solidFill>
                  <a:srgbClr val="000000"/>
                </a:solidFill>
                <a:effectLst/>
                <a:latin typeface="Times New Roman" panose="02020603050405020304" pitchFamily="18" charset="0"/>
                <a:ea typeface="Times New Roman" panose="02020603050405020304" pitchFamily="18" charset="0"/>
              </a:rPr>
              <a:t>g</a:t>
            </a:r>
            <a:r>
              <a:rPr lang="en-US" sz="1800" dirty="0">
                <a:solidFill>
                  <a:srgbClr val="000000"/>
                </a:solidFill>
                <a:effectLst/>
                <a:latin typeface="Times New Roman" panose="02020603050405020304" pitchFamily="18" charset="0"/>
                <a:ea typeface="Times New Roman" panose="02020603050405020304" pitchFamily="18" charset="0"/>
              </a:rPr>
              <a:t>her</a:t>
            </a:r>
            <a:r>
              <a:rPr lang="en-US" sz="1800" spc="6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full</a:t>
            </a:r>
            <a:r>
              <a:rPr lang="en-US" sz="1800" spc="6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ad</a:t>
            </a:r>
            <a:r>
              <a:rPr lang="en-US" sz="1800" spc="5" dirty="0">
                <a:solidFill>
                  <a:srgbClr val="000000"/>
                </a:solidFill>
                <a:effectLst/>
                <a:latin typeface="Times New Roman" panose="02020603050405020304" pitchFamily="18" charset="0"/>
                <a:ea typeface="Times New Roman" panose="02020603050405020304" pitchFamily="18" charset="0"/>
              </a:rPr>
              <a:t>d</a:t>
            </a:r>
            <a:r>
              <a:rPr lang="en-US" sz="1800" dirty="0">
                <a:solidFill>
                  <a:srgbClr val="000000"/>
                </a:solidFill>
                <a:effectLst/>
                <a:latin typeface="Times New Roman" panose="02020603050405020304" pitchFamily="18" charset="0"/>
                <a:ea typeface="Times New Roman" panose="02020603050405020304" pitchFamily="18" charset="0"/>
              </a:rPr>
              <a:t>er.</a:t>
            </a:r>
            <a:r>
              <a:rPr lang="en-US" sz="1800" spc="35" dirty="0">
                <a:solidFill>
                  <a:srgbClr val="000000"/>
                </a:solidFill>
                <a:effectLst/>
                <a:latin typeface="Times New Roman" panose="02020603050405020304" pitchFamily="18" charset="0"/>
                <a:ea typeface="Times New Roman" panose="02020603050405020304" pitchFamily="18" charset="0"/>
              </a:rPr>
              <a:t> </a:t>
            </a:r>
            <a:endParaRPr lang="en-IN"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4">
            <a:extLst>
              <a:ext uri="{FF2B5EF4-FFF2-40B4-BE49-F238E27FC236}">
                <a16:creationId xmlns:a16="http://schemas.microsoft.com/office/drawing/2014/main" id="{9EBAAAE8-5D88-7BD8-4858-85AF130ADBC0}"/>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3C1EB830-2BEE-446D-89B9-E390C88E4F0F}" type="slidenum">
              <a:rPr lang="en-US" altLang="en-US" sz="1400"/>
              <a:pPr/>
              <a:t>6</a:t>
            </a:fld>
            <a:endParaRPr lang="en-US" altLang="en-US" sz="1400"/>
          </a:p>
        </p:txBody>
      </p:sp>
      <p:sp>
        <p:nvSpPr>
          <p:cNvPr id="12294" name="Rectangle 4">
            <a:extLst>
              <a:ext uri="{FF2B5EF4-FFF2-40B4-BE49-F238E27FC236}">
                <a16:creationId xmlns:a16="http://schemas.microsoft.com/office/drawing/2014/main" id="{CD402251-6F13-DDD2-18EF-7344DC489C5F}"/>
              </a:ext>
            </a:extLst>
          </p:cNvPr>
          <p:cNvSpPr>
            <a:spLocks noChangeArrowheads="1"/>
          </p:cNvSpPr>
          <p:nvPr/>
        </p:nvSpPr>
        <p:spPr bwMode="auto">
          <a:xfrm>
            <a:off x="701040" y="165879"/>
            <a:ext cx="10510911" cy="365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lnSpc>
                <a:spcPct val="85000"/>
              </a:lnSpc>
            </a:pPr>
            <a:r>
              <a:rPr lang="en-US" altLang="en-US" sz="2400" b="1" dirty="0">
                <a:solidFill>
                  <a:srgbClr val="FF0000"/>
                </a:solidFill>
                <a:latin typeface="Arial" panose="020B0604020202020204" pitchFamily="34" charset="0"/>
              </a:rPr>
              <a:t>4 BIT Adder / Subtractor</a:t>
            </a:r>
          </a:p>
        </p:txBody>
      </p:sp>
      <p:sp>
        <p:nvSpPr>
          <p:cNvPr id="5" name="TextBox 4">
            <a:extLst>
              <a:ext uri="{FF2B5EF4-FFF2-40B4-BE49-F238E27FC236}">
                <a16:creationId xmlns:a16="http://schemas.microsoft.com/office/drawing/2014/main" id="{80A7DB48-E837-3C2B-7E60-56956A6A4D01}"/>
              </a:ext>
            </a:extLst>
          </p:cNvPr>
          <p:cNvSpPr txBox="1"/>
          <p:nvPr/>
        </p:nvSpPr>
        <p:spPr>
          <a:xfrm>
            <a:off x="281354" y="531107"/>
            <a:ext cx="11910646" cy="1022459"/>
          </a:xfrm>
          <a:prstGeom prst="rect">
            <a:avLst/>
          </a:prstGeom>
          <a:noFill/>
        </p:spPr>
        <p:txBody>
          <a:bodyPr wrap="square">
            <a:spAutoFit/>
          </a:bodyPr>
          <a:lstStyle/>
          <a:p>
            <a:pPr marR="85090" algn="just">
              <a:lnSpc>
                <a:spcPct val="115000"/>
              </a:lnSpc>
              <a:spcAft>
                <a:spcPts val="75"/>
              </a:spcAft>
              <a:tabLst>
                <a:tab pos="6000750" algn="l"/>
              </a:tabLst>
            </a:pP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5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numbers</a:t>
            </a:r>
            <a:r>
              <a:rPr lang="en-US" sz="1800" spc="5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being</a:t>
            </a:r>
            <a:r>
              <a:rPr lang="en-US" sz="1800" spc="1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processe</a:t>
            </a:r>
            <a:r>
              <a:rPr lang="en-US" sz="1800" spc="5" dirty="0">
                <a:solidFill>
                  <a:srgbClr val="000000"/>
                </a:solidFill>
                <a:effectLst/>
                <a:latin typeface="Times New Roman" panose="02020603050405020304" pitchFamily="18" charset="0"/>
                <a:ea typeface="Times New Roman" panose="02020603050405020304" pitchFamily="18" charset="0"/>
              </a:rPr>
              <a:t>d</a:t>
            </a:r>
            <a:r>
              <a:rPr lang="en-US" sz="1800" spc="6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are</a:t>
            </a:r>
            <a:r>
              <a:rPr lang="en-US" sz="1800" spc="6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a:t>
            </a:r>
            <a:r>
              <a:rPr lang="en-US" sz="1800" spc="5" dirty="0">
                <a:solidFill>
                  <a:srgbClr val="000000"/>
                </a:solidFill>
                <a:effectLst/>
                <a:latin typeface="Times New Roman" panose="02020603050405020304" pitchFamily="18" charset="0"/>
                <a:ea typeface="Times New Roman" panose="02020603050405020304" pitchFamily="18" charset="0"/>
              </a:rPr>
              <a:t>4</a:t>
            </a:r>
            <a:r>
              <a:rPr lang="en-US" sz="1800" spc="5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A3 A2</a:t>
            </a:r>
            <a:r>
              <a:rPr lang="en-US" sz="1800" spc="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A1and</a:t>
            </a:r>
            <a:r>
              <a:rPr lang="en-US" sz="1800" spc="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B4</a:t>
            </a:r>
            <a:r>
              <a:rPr lang="en-US" sz="1800" spc="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B3</a:t>
            </a:r>
            <a:r>
              <a:rPr lang="en-US" sz="1800" spc="9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B2</a:t>
            </a:r>
            <a:r>
              <a:rPr lang="en-US" sz="1800" spc="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B1,</a:t>
            </a:r>
            <a:r>
              <a:rPr lang="en-US" sz="1800" spc="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while</a:t>
            </a:r>
            <a:r>
              <a:rPr lang="en-US" sz="1800" spc="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answer</a:t>
            </a:r>
            <a:r>
              <a:rPr lang="en-US" sz="1800" spc="9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a:t>
            </a:r>
            <a:r>
              <a:rPr lang="en-US" sz="1800" spc="9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S4</a:t>
            </a:r>
            <a:r>
              <a:rPr lang="en-US" sz="1800" spc="8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S3</a:t>
            </a:r>
            <a:r>
              <a:rPr lang="en-US" sz="1800" spc="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S2</a:t>
            </a:r>
            <a:r>
              <a:rPr lang="en-US" sz="1800" spc="9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S1.</a:t>
            </a:r>
            <a:r>
              <a:rPr lang="en-US" sz="1800" spc="80" dirty="0">
                <a:solidFill>
                  <a:srgbClr val="000000"/>
                </a:solidFill>
                <a:effectLst/>
                <a:latin typeface="Times New Roman" panose="02020603050405020304" pitchFamily="18" charset="0"/>
                <a:ea typeface="Times New Roman" panose="02020603050405020304" pitchFamily="18" charset="0"/>
              </a:rPr>
              <a:t>  4 bit adder is built as described in the previous slide, using 4 numbers of  single bit full adders. Here </a:t>
            </a:r>
            <a:r>
              <a:rPr lang="en-US" sz="1800" spc="80" dirty="0" err="1">
                <a:solidFill>
                  <a:srgbClr val="000000"/>
                </a:solidFill>
                <a:effectLst/>
                <a:latin typeface="Times New Roman" panose="02020603050405020304" pitchFamily="18" charset="0"/>
                <a:ea typeface="Times New Roman" panose="02020603050405020304" pitchFamily="18" charset="0"/>
              </a:rPr>
              <a:t>ExOR</a:t>
            </a:r>
            <a:r>
              <a:rPr lang="en-US" sz="1800" spc="80" dirty="0">
                <a:solidFill>
                  <a:srgbClr val="000000"/>
                </a:solidFill>
                <a:effectLst/>
                <a:latin typeface="Times New Roman" panose="02020603050405020304" pitchFamily="18" charset="0"/>
                <a:ea typeface="Times New Roman" panose="02020603050405020304" pitchFamily="18" charset="0"/>
              </a:rPr>
              <a:t> gate is used, control the circuit to work as an 4 bit adder or 4 bit subtractor. </a:t>
            </a:r>
            <a:endParaRPr lang="en-IN" sz="1200" dirty="0">
              <a:effectLst/>
              <a:latin typeface="Times New Roman" panose="02020603050405020304" pitchFamily="18" charset="0"/>
              <a:ea typeface="Times New Roman" panose="02020603050405020304" pitchFamily="18" charset="0"/>
            </a:endParaRPr>
          </a:p>
        </p:txBody>
      </p:sp>
      <p:pic>
        <p:nvPicPr>
          <p:cNvPr id="7" name="Picture 6">
            <a:extLst>
              <a:ext uri="{FF2B5EF4-FFF2-40B4-BE49-F238E27FC236}">
                <a16:creationId xmlns:a16="http://schemas.microsoft.com/office/drawing/2014/main" id="{103A74E2-89DA-1D7F-B5DF-BA3B872716AD}"/>
              </a:ext>
            </a:extLst>
          </p:cNvPr>
          <p:cNvPicPr>
            <a:picLocks noChangeAspect="1"/>
          </p:cNvPicPr>
          <p:nvPr/>
        </p:nvPicPr>
        <p:blipFill>
          <a:blip r:embed="rId3"/>
          <a:stretch>
            <a:fillRect/>
          </a:stretch>
        </p:blipFill>
        <p:spPr>
          <a:xfrm>
            <a:off x="979463" y="1553566"/>
            <a:ext cx="10233074" cy="5189038"/>
          </a:xfrm>
          <a:prstGeom prst="rect">
            <a:avLst/>
          </a:prstGeom>
        </p:spPr>
      </p:pic>
    </p:spTree>
    <p:extLst>
      <p:ext uri="{BB962C8B-B14F-4D97-AF65-F5344CB8AC3E}">
        <p14:creationId xmlns:p14="http://schemas.microsoft.com/office/powerpoint/2010/main" val="270948910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4">
            <a:extLst>
              <a:ext uri="{FF2B5EF4-FFF2-40B4-BE49-F238E27FC236}">
                <a16:creationId xmlns:a16="http://schemas.microsoft.com/office/drawing/2014/main" id="{9EBAAAE8-5D88-7BD8-4858-85AF130ADBC0}"/>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3C1EB830-2BEE-446D-89B9-E390C88E4F0F}" type="slidenum">
              <a:rPr lang="en-US" altLang="en-US" sz="1400"/>
              <a:pPr/>
              <a:t>7</a:t>
            </a:fld>
            <a:endParaRPr lang="en-US" altLang="en-US" sz="1400"/>
          </a:p>
        </p:txBody>
      </p:sp>
      <p:sp>
        <p:nvSpPr>
          <p:cNvPr id="12294" name="Rectangle 4">
            <a:extLst>
              <a:ext uri="{FF2B5EF4-FFF2-40B4-BE49-F238E27FC236}">
                <a16:creationId xmlns:a16="http://schemas.microsoft.com/office/drawing/2014/main" id="{CD402251-6F13-DDD2-18EF-7344DC489C5F}"/>
              </a:ext>
            </a:extLst>
          </p:cNvPr>
          <p:cNvSpPr>
            <a:spLocks noChangeArrowheads="1"/>
          </p:cNvSpPr>
          <p:nvPr/>
        </p:nvSpPr>
        <p:spPr bwMode="auto">
          <a:xfrm>
            <a:off x="701040" y="165879"/>
            <a:ext cx="10510911" cy="679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lnSpc>
                <a:spcPct val="85000"/>
              </a:lnSpc>
            </a:pPr>
            <a:r>
              <a:rPr lang="en-US" altLang="en-US" sz="2400" b="1" dirty="0">
                <a:solidFill>
                  <a:srgbClr val="FF0000"/>
                </a:solidFill>
                <a:latin typeface="Arial" panose="020B0604020202020204" pitchFamily="34" charset="0"/>
              </a:rPr>
              <a:t>4 BIT Adder / Subtractor Examples:</a:t>
            </a:r>
          </a:p>
          <a:p>
            <a:pPr algn="ctr">
              <a:lnSpc>
                <a:spcPct val="85000"/>
              </a:lnSpc>
            </a:pPr>
            <a:endParaRPr lang="en-US" altLang="en-US" sz="2400" b="1" dirty="0">
              <a:solidFill>
                <a:srgbClr val="FF0000"/>
              </a:solidFill>
              <a:latin typeface="Arial" panose="020B0604020202020204" pitchFamily="34" charset="0"/>
            </a:endParaRPr>
          </a:p>
        </p:txBody>
      </p:sp>
      <p:sp>
        <p:nvSpPr>
          <p:cNvPr id="5" name="TextBox 4">
            <a:extLst>
              <a:ext uri="{FF2B5EF4-FFF2-40B4-BE49-F238E27FC236}">
                <a16:creationId xmlns:a16="http://schemas.microsoft.com/office/drawing/2014/main" id="{80A7DB48-E837-3C2B-7E60-56956A6A4D01}"/>
              </a:ext>
            </a:extLst>
          </p:cNvPr>
          <p:cNvSpPr txBox="1"/>
          <p:nvPr/>
        </p:nvSpPr>
        <p:spPr>
          <a:xfrm>
            <a:off x="281354" y="531107"/>
            <a:ext cx="11910646" cy="5899692"/>
          </a:xfrm>
          <a:prstGeom prst="rect">
            <a:avLst/>
          </a:prstGeom>
          <a:noFill/>
        </p:spPr>
        <p:txBody>
          <a:bodyPr wrap="square">
            <a:spAutoFit/>
          </a:bodyPr>
          <a:lstStyle/>
          <a:p>
            <a:pPr marR="85090" algn="just">
              <a:lnSpc>
                <a:spcPct val="115000"/>
              </a:lnSpc>
              <a:spcAft>
                <a:spcPts val="75"/>
              </a:spcAft>
              <a:tabLst>
                <a:tab pos="6000750" algn="l"/>
              </a:tabLst>
            </a:pPr>
            <a:r>
              <a:rPr lang="en-IN" dirty="0">
                <a:solidFill>
                  <a:srgbClr val="FF0000"/>
                </a:solidFill>
                <a:latin typeface="Times New Roman" panose="02020603050405020304" pitchFamily="18" charset="0"/>
                <a:ea typeface="Times New Roman" panose="02020603050405020304" pitchFamily="18" charset="0"/>
              </a:rPr>
              <a:t>Perform addition of  following numbers, given in binary form</a:t>
            </a:r>
            <a:endParaRPr lang="en-IN" dirty="0">
              <a:solidFill>
                <a:srgbClr val="FF0000"/>
              </a:solidFill>
              <a:effectLst/>
              <a:latin typeface="Times New Roman" panose="02020603050405020304" pitchFamily="18" charset="0"/>
              <a:ea typeface="Times New Roman" panose="02020603050405020304" pitchFamily="18" charset="0"/>
            </a:endParaRPr>
          </a:p>
          <a:p>
            <a:pPr marR="85090" algn="just">
              <a:lnSpc>
                <a:spcPct val="115000"/>
              </a:lnSpc>
              <a:spcAft>
                <a:spcPts val="75"/>
              </a:spcAft>
              <a:tabLst>
                <a:tab pos="6000750" algn="l"/>
              </a:tabLst>
            </a:pPr>
            <a:r>
              <a:rPr lang="en-IN" dirty="0">
                <a:latin typeface="Times New Roman" panose="02020603050405020304" pitchFamily="18" charset="0"/>
                <a:ea typeface="Times New Roman" panose="02020603050405020304" pitchFamily="18" charset="0"/>
              </a:rPr>
              <a:t> 1000</a:t>
            </a:r>
          </a:p>
          <a:p>
            <a:pPr marR="85090" algn="just">
              <a:lnSpc>
                <a:spcPct val="115000"/>
              </a:lnSpc>
              <a:spcAft>
                <a:spcPts val="75"/>
              </a:spcAft>
              <a:tabLst>
                <a:tab pos="6000750" algn="l"/>
              </a:tabLst>
            </a:pPr>
            <a:r>
              <a:rPr lang="en-IN" dirty="0">
                <a:effectLst/>
                <a:latin typeface="Times New Roman" panose="02020603050405020304" pitchFamily="18" charset="0"/>
                <a:ea typeface="Times New Roman" panose="02020603050405020304" pitchFamily="18" charset="0"/>
              </a:rPr>
              <a:t> 1100</a:t>
            </a:r>
          </a:p>
          <a:p>
            <a:pPr marR="85090" algn="just">
              <a:lnSpc>
                <a:spcPct val="115000"/>
              </a:lnSpc>
              <a:spcAft>
                <a:spcPts val="75"/>
              </a:spcAft>
              <a:tabLst>
                <a:tab pos="6000750" algn="l"/>
              </a:tabLst>
            </a:pPr>
            <a:r>
              <a:rPr lang="en-IN" dirty="0">
                <a:latin typeface="Times New Roman" panose="02020603050405020304" pitchFamily="18" charset="0"/>
                <a:ea typeface="Times New Roman" panose="02020603050405020304" pitchFamily="18" charset="0"/>
              </a:rPr>
              <a:t>-------</a:t>
            </a:r>
            <a:endParaRPr lang="en-IN" dirty="0">
              <a:effectLst/>
              <a:latin typeface="Times New Roman" panose="02020603050405020304" pitchFamily="18" charset="0"/>
              <a:ea typeface="Times New Roman" panose="02020603050405020304" pitchFamily="18" charset="0"/>
            </a:endParaRPr>
          </a:p>
          <a:p>
            <a:pPr marR="85090" algn="just">
              <a:lnSpc>
                <a:spcPct val="115000"/>
              </a:lnSpc>
              <a:spcAft>
                <a:spcPts val="75"/>
              </a:spcAft>
              <a:tabLst>
                <a:tab pos="6000750" algn="l"/>
              </a:tabLst>
            </a:pPr>
            <a:r>
              <a:rPr lang="en-IN" dirty="0">
                <a:latin typeface="Times New Roman" panose="02020603050405020304" pitchFamily="18" charset="0"/>
                <a:ea typeface="Times New Roman" panose="02020603050405020304" pitchFamily="18" charset="0"/>
              </a:rPr>
              <a:t>10100</a:t>
            </a:r>
          </a:p>
          <a:p>
            <a:pPr marR="85090" algn="just">
              <a:lnSpc>
                <a:spcPct val="115000"/>
              </a:lnSpc>
              <a:spcAft>
                <a:spcPts val="75"/>
              </a:spcAft>
              <a:tabLst>
                <a:tab pos="6000750" algn="l"/>
              </a:tabLst>
            </a:pPr>
            <a:r>
              <a:rPr lang="en-IN" dirty="0">
                <a:solidFill>
                  <a:srgbClr val="FF0000"/>
                </a:solidFill>
                <a:effectLst/>
                <a:latin typeface="Times New Roman" panose="02020603050405020304" pitchFamily="18" charset="0"/>
                <a:ea typeface="Times New Roman" panose="02020603050405020304" pitchFamily="18" charset="0"/>
              </a:rPr>
              <a:t>Perform addition of  following numbers, given in decimal number system.</a:t>
            </a:r>
          </a:p>
          <a:p>
            <a:pPr marR="85090" algn="just">
              <a:lnSpc>
                <a:spcPct val="115000"/>
              </a:lnSpc>
              <a:spcAft>
                <a:spcPts val="75"/>
              </a:spcAft>
              <a:tabLst>
                <a:tab pos="6000750" algn="l"/>
              </a:tabLst>
            </a:pPr>
            <a:r>
              <a:rPr lang="en-IN" dirty="0">
                <a:latin typeface="Times New Roman" panose="02020603050405020304" pitchFamily="18" charset="0"/>
                <a:ea typeface="Times New Roman" panose="02020603050405020304" pitchFamily="18" charset="0"/>
              </a:rPr>
              <a:t>15     -   1111</a:t>
            </a:r>
          </a:p>
          <a:p>
            <a:pPr marR="85090" algn="just">
              <a:lnSpc>
                <a:spcPct val="115000"/>
              </a:lnSpc>
              <a:spcAft>
                <a:spcPts val="75"/>
              </a:spcAft>
              <a:tabLst>
                <a:tab pos="6000750" algn="l"/>
              </a:tabLst>
            </a:pPr>
            <a:r>
              <a:rPr lang="en-IN" dirty="0">
                <a:effectLst/>
                <a:latin typeface="Times New Roman" panose="02020603050405020304" pitchFamily="18" charset="0"/>
                <a:ea typeface="Times New Roman" panose="02020603050405020304" pitchFamily="18" charset="0"/>
              </a:rPr>
              <a:t>+9    -    1001</a:t>
            </a:r>
          </a:p>
          <a:p>
            <a:pPr marR="85090" algn="just">
              <a:lnSpc>
                <a:spcPct val="115000"/>
              </a:lnSpc>
              <a:spcAft>
                <a:spcPts val="75"/>
              </a:spcAft>
              <a:tabLst>
                <a:tab pos="6000750" algn="l"/>
              </a:tabLst>
            </a:pPr>
            <a:r>
              <a:rPr lang="en-IN" dirty="0">
                <a:latin typeface="Times New Roman" panose="02020603050405020304" pitchFamily="18" charset="0"/>
                <a:ea typeface="Times New Roman" panose="02020603050405020304" pitchFamily="18" charset="0"/>
              </a:rPr>
              <a:t>----    -----------</a:t>
            </a:r>
          </a:p>
          <a:p>
            <a:pPr marL="228600" marR="85090" indent="-228600" algn="just">
              <a:lnSpc>
                <a:spcPct val="115000"/>
              </a:lnSpc>
              <a:spcAft>
                <a:spcPts val="75"/>
              </a:spcAft>
              <a:buAutoNum type="arabicPlain" startAt="24"/>
              <a:tabLst>
                <a:tab pos="6000750" algn="l"/>
              </a:tabLst>
            </a:pPr>
            <a:r>
              <a:rPr lang="en-IN" dirty="0">
                <a:effectLst/>
                <a:latin typeface="Times New Roman" panose="02020603050405020304" pitchFamily="18" charset="0"/>
                <a:ea typeface="Times New Roman" panose="02020603050405020304" pitchFamily="18" charset="0"/>
              </a:rPr>
              <a:t>    1  1000</a:t>
            </a:r>
          </a:p>
          <a:p>
            <a:pPr marR="85090" algn="just">
              <a:lnSpc>
                <a:spcPct val="115000"/>
              </a:lnSpc>
              <a:spcAft>
                <a:spcPts val="75"/>
              </a:spcAft>
              <a:tabLst>
                <a:tab pos="6000750" algn="l"/>
              </a:tabLst>
            </a:pPr>
            <a:r>
              <a:rPr lang="en-IN" dirty="0">
                <a:solidFill>
                  <a:srgbClr val="FF0000"/>
                </a:solidFill>
                <a:effectLst/>
                <a:latin typeface="Times New Roman" panose="02020603050405020304" pitchFamily="18" charset="0"/>
                <a:ea typeface="Times New Roman" panose="02020603050405020304" pitchFamily="18" charset="0"/>
              </a:rPr>
              <a:t>Perform addition of  following numbers given in hexadecimal number system</a:t>
            </a:r>
          </a:p>
          <a:p>
            <a:pPr marR="85090" algn="just">
              <a:lnSpc>
                <a:spcPct val="115000"/>
              </a:lnSpc>
              <a:spcAft>
                <a:spcPts val="75"/>
              </a:spcAft>
              <a:tabLst>
                <a:tab pos="6000750" algn="l"/>
              </a:tabLst>
            </a:pPr>
            <a:r>
              <a:rPr lang="en-IN" dirty="0">
                <a:effectLst/>
                <a:latin typeface="Times New Roman" panose="02020603050405020304" pitchFamily="18" charset="0"/>
                <a:ea typeface="Times New Roman" panose="02020603050405020304" pitchFamily="18" charset="0"/>
              </a:rPr>
              <a:t>A          1010</a:t>
            </a:r>
          </a:p>
          <a:p>
            <a:pPr marL="228600" marR="85090" indent="-228600" algn="just">
              <a:lnSpc>
                <a:spcPct val="115000"/>
              </a:lnSpc>
              <a:spcAft>
                <a:spcPts val="75"/>
              </a:spcAft>
              <a:buAutoNum type="arabicPlain" startAt="9"/>
              <a:tabLst>
                <a:tab pos="6000750" algn="l"/>
              </a:tabLst>
            </a:pPr>
            <a:r>
              <a:rPr lang="en-IN" dirty="0">
                <a:latin typeface="Times New Roman" panose="02020603050405020304" pitchFamily="18" charset="0"/>
                <a:ea typeface="Times New Roman" panose="02020603050405020304" pitchFamily="18" charset="0"/>
              </a:rPr>
              <a:t>       1001</a:t>
            </a:r>
          </a:p>
          <a:p>
            <a:pPr marR="85090" algn="just">
              <a:lnSpc>
                <a:spcPct val="115000"/>
              </a:lnSpc>
              <a:spcAft>
                <a:spcPts val="75"/>
              </a:spcAft>
              <a:tabLst>
                <a:tab pos="6000750" algn="l"/>
              </a:tabLst>
            </a:pPr>
            <a:r>
              <a:rPr lang="en-IN" dirty="0">
                <a:effectLst/>
                <a:latin typeface="Times New Roman" panose="02020603050405020304" pitchFamily="18" charset="0"/>
                <a:ea typeface="Times New Roman" panose="02020603050405020304" pitchFamily="18" charset="0"/>
              </a:rPr>
              <a:t>--      ---------</a:t>
            </a:r>
          </a:p>
          <a:p>
            <a:pPr marR="85090" algn="just">
              <a:lnSpc>
                <a:spcPct val="115000"/>
              </a:lnSpc>
              <a:spcAft>
                <a:spcPts val="75"/>
              </a:spcAft>
              <a:tabLst>
                <a:tab pos="6000750" algn="l"/>
              </a:tabLst>
            </a:pPr>
            <a:r>
              <a:rPr lang="en-IN" dirty="0">
                <a:effectLst/>
                <a:latin typeface="Times New Roman" panose="02020603050405020304" pitchFamily="18" charset="0"/>
                <a:ea typeface="Times New Roman" panose="02020603050405020304" pitchFamily="18" charset="0"/>
              </a:rPr>
              <a:t>1 3      1 0011</a:t>
            </a:r>
          </a:p>
          <a:p>
            <a:pPr marR="85090" algn="just">
              <a:lnSpc>
                <a:spcPct val="115000"/>
              </a:lnSpc>
              <a:spcAft>
                <a:spcPts val="75"/>
              </a:spcAft>
              <a:tabLst>
                <a:tab pos="6000750" algn="l"/>
              </a:tabLst>
            </a:pPr>
            <a:endParaRPr lang="en-IN" sz="1200" dirty="0">
              <a:latin typeface="Times New Roman" panose="02020603050405020304" pitchFamily="18" charset="0"/>
              <a:ea typeface="Times New Roman" panose="02020603050405020304" pitchFamily="18" charset="0"/>
            </a:endParaRPr>
          </a:p>
          <a:p>
            <a:pPr marR="85090" algn="just">
              <a:lnSpc>
                <a:spcPct val="115000"/>
              </a:lnSpc>
              <a:spcAft>
                <a:spcPts val="75"/>
              </a:spcAft>
              <a:tabLst>
                <a:tab pos="6000750" algn="l"/>
              </a:tabLst>
            </a:pPr>
            <a:r>
              <a:rPr lang="en-IN" dirty="0">
                <a:solidFill>
                  <a:srgbClr val="FF0000"/>
                </a:solidFill>
                <a:effectLst/>
                <a:latin typeface="Times New Roman" panose="02020603050405020304" pitchFamily="18" charset="0"/>
                <a:ea typeface="Times New Roman" panose="02020603050405020304" pitchFamily="18" charset="0"/>
              </a:rPr>
              <a:t>Note: for subtraction, take the 2s compliment of second number </a:t>
            </a:r>
            <a:r>
              <a:rPr lang="en-IN" dirty="0">
                <a:solidFill>
                  <a:srgbClr val="FF0000"/>
                </a:solidFill>
                <a:latin typeface="Times New Roman" panose="02020603050405020304" pitchFamily="18" charset="0"/>
                <a:ea typeface="Times New Roman" panose="02020603050405020304" pitchFamily="18" charset="0"/>
              </a:rPr>
              <a:t>and add to the first number. Note, the carry will be the opposite of the actual value</a:t>
            </a:r>
            <a:endParaRPr lang="en-IN" dirty="0">
              <a:solidFill>
                <a:srgbClr val="FF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9228731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4">
            <a:extLst>
              <a:ext uri="{FF2B5EF4-FFF2-40B4-BE49-F238E27FC236}">
                <a16:creationId xmlns:a16="http://schemas.microsoft.com/office/drawing/2014/main" id="{9EBAAAE8-5D88-7BD8-4858-85AF130ADBC0}"/>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3C1EB830-2BEE-446D-89B9-E390C88E4F0F}" type="slidenum">
              <a:rPr lang="en-US" altLang="en-US" sz="1400"/>
              <a:pPr/>
              <a:t>8</a:t>
            </a:fld>
            <a:endParaRPr lang="en-US" altLang="en-US" sz="1400"/>
          </a:p>
        </p:txBody>
      </p:sp>
      <p:sp>
        <p:nvSpPr>
          <p:cNvPr id="12294" name="Rectangle 4">
            <a:extLst>
              <a:ext uri="{FF2B5EF4-FFF2-40B4-BE49-F238E27FC236}">
                <a16:creationId xmlns:a16="http://schemas.microsoft.com/office/drawing/2014/main" id="{CD402251-6F13-DDD2-18EF-7344DC489C5F}"/>
              </a:ext>
            </a:extLst>
          </p:cNvPr>
          <p:cNvSpPr>
            <a:spLocks noChangeArrowheads="1"/>
          </p:cNvSpPr>
          <p:nvPr/>
        </p:nvSpPr>
        <p:spPr bwMode="auto">
          <a:xfrm>
            <a:off x="686972" y="202605"/>
            <a:ext cx="10510911" cy="365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lnSpc>
                <a:spcPct val="85000"/>
              </a:lnSpc>
            </a:pPr>
            <a:r>
              <a:rPr lang="en-US" altLang="en-US" sz="2400" b="1" dirty="0">
                <a:solidFill>
                  <a:srgbClr val="FF0000"/>
                </a:solidFill>
                <a:latin typeface="Arial" panose="020B0604020202020204" pitchFamily="34" charset="0"/>
              </a:rPr>
              <a:t>Application of Adder: used for Excess-3 to BCD Converter, vice versa</a:t>
            </a:r>
          </a:p>
        </p:txBody>
      </p:sp>
      <p:sp>
        <p:nvSpPr>
          <p:cNvPr id="4" name="TextBox 3">
            <a:extLst>
              <a:ext uri="{FF2B5EF4-FFF2-40B4-BE49-F238E27FC236}">
                <a16:creationId xmlns:a16="http://schemas.microsoft.com/office/drawing/2014/main" id="{50E9CBCD-F02F-ED0B-EB5E-A444A0A1FE69}"/>
              </a:ext>
            </a:extLst>
          </p:cNvPr>
          <p:cNvSpPr txBox="1"/>
          <p:nvPr/>
        </p:nvSpPr>
        <p:spPr>
          <a:xfrm>
            <a:off x="506436" y="525138"/>
            <a:ext cx="11685563" cy="2615203"/>
          </a:xfrm>
          <a:prstGeom prst="rect">
            <a:avLst/>
          </a:prstGeom>
          <a:noFill/>
        </p:spPr>
        <p:txBody>
          <a:bodyPr wrap="square">
            <a:spAutoFit/>
          </a:bodyPr>
          <a:lstStyle/>
          <a:p>
            <a:pPr marR="85090">
              <a:lnSpc>
                <a:spcPct val="115000"/>
              </a:lnSpc>
              <a:tabLst>
                <a:tab pos="6000750" algn="l"/>
              </a:tabLst>
            </a:pPr>
            <a:r>
              <a:rPr lang="en-US" sz="1800" b="1" dirty="0">
                <a:effectLst/>
                <a:latin typeface="Times New Roman" panose="02020603050405020304" pitchFamily="18" charset="0"/>
                <a:ea typeface="Times New Roman" panose="02020603050405020304" pitchFamily="18" charset="0"/>
              </a:rPr>
              <a:t>Binary Coded Decimal: </a:t>
            </a:r>
            <a:r>
              <a:rPr lang="en-US" sz="1800" dirty="0">
                <a:effectLst/>
                <a:latin typeface="Times New Roman" panose="02020603050405020304" pitchFamily="18" charset="0"/>
                <a:ea typeface="Times New Roman" panose="02020603050405020304" pitchFamily="18" charset="0"/>
              </a:rPr>
              <a:t>Binary Coded Decimal is a method of using binary digits to represent the decimal digits 0 through 9. It is possible to assign weights to the binary bits according to their positions. The weights in the BCD code are 8, 4, 2 and 1. Ex: (137)</a:t>
            </a:r>
            <a:r>
              <a:rPr lang="en-US" sz="1800" baseline="-25000" dirty="0">
                <a:effectLst/>
                <a:latin typeface="Times New Roman" panose="02020603050405020304" pitchFamily="18" charset="0"/>
                <a:ea typeface="Times New Roman" panose="02020603050405020304" pitchFamily="18" charset="0"/>
              </a:rPr>
              <a:t>10</a:t>
            </a:r>
            <a:r>
              <a:rPr lang="en-US" sz="1800" dirty="0">
                <a:effectLst/>
                <a:latin typeface="Times New Roman" panose="02020603050405020304" pitchFamily="18" charset="0"/>
                <a:ea typeface="Times New Roman" panose="02020603050405020304" pitchFamily="18" charset="0"/>
              </a:rPr>
              <a:t> - BCD equivalent (0001 0011 0111)</a:t>
            </a:r>
            <a:r>
              <a:rPr lang="en-US" sz="1800" baseline="-25000" dirty="0">
                <a:effectLst/>
                <a:latin typeface="Times New Roman" panose="02020603050405020304" pitchFamily="18" charset="0"/>
                <a:ea typeface="Times New Roman" panose="02020603050405020304" pitchFamily="18" charset="0"/>
              </a:rPr>
              <a:t>2.</a:t>
            </a:r>
            <a:endParaRPr lang="en-IN" sz="1200" dirty="0">
              <a:effectLst/>
              <a:latin typeface="Times New Roman" panose="02020603050405020304" pitchFamily="18" charset="0"/>
              <a:ea typeface="Times New Roman" panose="02020603050405020304" pitchFamily="18" charset="0"/>
            </a:endParaRPr>
          </a:p>
          <a:p>
            <a:pPr marR="85090" algn="just">
              <a:lnSpc>
                <a:spcPct val="115000"/>
              </a:lnSpc>
              <a:tabLst>
                <a:tab pos="6000750" algn="l"/>
              </a:tabLst>
            </a:pPr>
            <a:r>
              <a:rPr lang="en-US" sz="1800" b="1" dirty="0">
                <a:effectLst/>
                <a:latin typeface="Times New Roman" panose="02020603050405020304" pitchFamily="18" charset="0"/>
                <a:ea typeface="Times New Roman" panose="02020603050405020304" pitchFamily="18" charset="0"/>
              </a:rPr>
              <a:t>Excess-3 Code: </a:t>
            </a:r>
            <a:r>
              <a:rPr lang="en-US" sz="1800" dirty="0">
                <a:effectLst/>
                <a:latin typeface="Times New Roman" panose="02020603050405020304" pitchFamily="18" charset="0"/>
                <a:ea typeface="Times New Roman" panose="02020603050405020304" pitchFamily="18" charset="0"/>
              </a:rPr>
              <a:t>This is an un-weighted code. Its code assignment is obtained from the corresponding value of BCD after the addition of (0011)</a:t>
            </a:r>
            <a:r>
              <a:rPr lang="en-US" sz="1800" baseline="-25000" dirty="0">
                <a:effectLst/>
                <a:latin typeface="Times New Roman" panose="02020603050405020304" pitchFamily="18" charset="0"/>
                <a:ea typeface="Times New Roman" panose="02020603050405020304" pitchFamily="18" charset="0"/>
              </a:rPr>
              <a:t>2</a:t>
            </a:r>
            <a:r>
              <a:rPr lang="en-US" sz="1800" dirty="0">
                <a:effectLst/>
                <a:latin typeface="Times New Roman" panose="02020603050405020304" pitchFamily="18" charset="0"/>
                <a:ea typeface="Times New Roman" panose="02020603050405020304" pitchFamily="18" charset="0"/>
              </a:rPr>
              <a:t>.</a:t>
            </a:r>
            <a:endParaRPr lang="en-IN" sz="1200" dirty="0">
              <a:effectLst/>
              <a:latin typeface="Times New Roman" panose="02020603050405020304" pitchFamily="18" charset="0"/>
              <a:ea typeface="Times New Roman" panose="02020603050405020304" pitchFamily="18" charset="0"/>
            </a:endParaRPr>
          </a:p>
          <a:p>
            <a:pPr marR="85090" algn="just">
              <a:lnSpc>
                <a:spcPct val="115000"/>
              </a:lnSpc>
              <a:tabLst>
                <a:tab pos="6000750" algn="l"/>
              </a:tabLst>
            </a:pPr>
            <a:r>
              <a:rPr lang="en-US" sz="1800" b="1" dirty="0">
                <a:effectLst/>
                <a:latin typeface="Times New Roman" panose="02020603050405020304" pitchFamily="18" charset="0"/>
                <a:ea typeface="Times New Roman" panose="02020603050405020304" pitchFamily="18" charset="0"/>
              </a:rPr>
              <a:t>BCD to Excess-3 (or) Excess-3 to BCD:  </a:t>
            </a:r>
            <a:r>
              <a:rPr lang="en-US" sz="1800" dirty="0">
                <a:effectLst/>
                <a:latin typeface="Times New Roman" panose="02020603050405020304" pitchFamily="18" charset="0"/>
                <a:ea typeface="Times New Roman" panose="02020603050405020304" pitchFamily="18" charset="0"/>
              </a:rPr>
              <a:t>Since each code uses four bits to represent a decimal digit, there must be four inputs and four output variables. The input variable are designated as B3, B2, B1, B0 and the output variables are designated as E3 , E2, E1, E0 in the truth table. </a:t>
            </a:r>
            <a:endParaRPr lang="en-IN" sz="1200" dirty="0">
              <a:effectLst/>
              <a:latin typeface="Times New Roman" panose="02020603050405020304" pitchFamily="18" charset="0"/>
              <a:ea typeface="Times New Roman" panose="02020603050405020304" pitchFamily="18" charset="0"/>
            </a:endParaRPr>
          </a:p>
        </p:txBody>
      </p:sp>
      <p:pic>
        <p:nvPicPr>
          <p:cNvPr id="6" name="Picture 5">
            <a:extLst>
              <a:ext uri="{FF2B5EF4-FFF2-40B4-BE49-F238E27FC236}">
                <a16:creationId xmlns:a16="http://schemas.microsoft.com/office/drawing/2014/main" id="{3AD8A946-FA8F-02D1-7FD3-86925D781394}"/>
              </a:ext>
            </a:extLst>
          </p:cNvPr>
          <p:cNvPicPr>
            <a:picLocks noChangeAspect="1"/>
          </p:cNvPicPr>
          <p:nvPr/>
        </p:nvPicPr>
        <p:blipFill>
          <a:blip r:embed="rId3"/>
          <a:stretch>
            <a:fillRect/>
          </a:stretch>
        </p:blipFill>
        <p:spPr>
          <a:xfrm>
            <a:off x="2255039" y="3462874"/>
            <a:ext cx="7271703" cy="2873777"/>
          </a:xfrm>
          <a:prstGeom prst="rect">
            <a:avLst/>
          </a:prstGeom>
        </p:spPr>
      </p:pic>
    </p:spTree>
    <p:extLst>
      <p:ext uri="{BB962C8B-B14F-4D97-AF65-F5344CB8AC3E}">
        <p14:creationId xmlns:p14="http://schemas.microsoft.com/office/powerpoint/2010/main" val="254231172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Slide Number Placeholder 4">
            <a:extLst>
              <a:ext uri="{FF2B5EF4-FFF2-40B4-BE49-F238E27FC236}">
                <a16:creationId xmlns:a16="http://schemas.microsoft.com/office/drawing/2014/main" id="{9EBAAAE8-5D88-7BD8-4858-85AF130ADBC0}"/>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3C1EB830-2BEE-446D-89B9-E390C88E4F0F}" type="slidenum">
              <a:rPr lang="en-US" altLang="en-US" sz="1400"/>
              <a:pPr/>
              <a:t>9</a:t>
            </a:fld>
            <a:endParaRPr lang="en-US" altLang="en-US" sz="1400"/>
          </a:p>
        </p:txBody>
      </p:sp>
      <p:sp>
        <p:nvSpPr>
          <p:cNvPr id="12294" name="Rectangle 4">
            <a:extLst>
              <a:ext uri="{FF2B5EF4-FFF2-40B4-BE49-F238E27FC236}">
                <a16:creationId xmlns:a16="http://schemas.microsoft.com/office/drawing/2014/main" id="{CD402251-6F13-DDD2-18EF-7344DC489C5F}"/>
              </a:ext>
            </a:extLst>
          </p:cNvPr>
          <p:cNvSpPr>
            <a:spLocks noChangeArrowheads="1"/>
          </p:cNvSpPr>
          <p:nvPr/>
        </p:nvSpPr>
        <p:spPr bwMode="auto">
          <a:xfrm>
            <a:off x="686972" y="202605"/>
            <a:ext cx="10510911" cy="365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lnSpc>
                <a:spcPct val="85000"/>
              </a:lnSpc>
            </a:pPr>
            <a:r>
              <a:rPr lang="en-US" altLang="en-US" sz="2400" b="1" dirty="0">
                <a:solidFill>
                  <a:srgbClr val="FF0000"/>
                </a:solidFill>
                <a:latin typeface="Arial" panose="020B0604020202020204" pitchFamily="34" charset="0"/>
              </a:rPr>
              <a:t>Application of Adder: used for Excess-3 to BCD Converter, vice versa</a:t>
            </a:r>
          </a:p>
        </p:txBody>
      </p:sp>
      <p:pic>
        <p:nvPicPr>
          <p:cNvPr id="2" name="Picture 1">
            <a:extLst>
              <a:ext uri="{FF2B5EF4-FFF2-40B4-BE49-F238E27FC236}">
                <a16:creationId xmlns:a16="http://schemas.microsoft.com/office/drawing/2014/main" id="{C1314417-2C62-EA71-24C8-0048245A6B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0677" y="778288"/>
            <a:ext cx="8285871" cy="5943187"/>
          </a:xfrm>
          <a:prstGeom prst="rect">
            <a:avLst/>
          </a:prstGeom>
          <a:noFill/>
          <a:ln>
            <a:noFill/>
          </a:ln>
        </p:spPr>
      </p:pic>
      <p:sp>
        <p:nvSpPr>
          <p:cNvPr id="3" name="TextBox 2">
            <a:extLst>
              <a:ext uri="{FF2B5EF4-FFF2-40B4-BE49-F238E27FC236}">
                <a16:creationId xmlns:a16="http://schemas.microsoft.com/office/drawing/2014/main" id="{FDEDA5C3-FDEF-AAE3-67D9-28DDA2D321F2}"/>
              </a:ext>
            </a:extLst>
          </p:cNvPr>
          <p:cNvSpPr txBox="1"/>
          <p:nvPr/>
        </p:nvSpPr>
        <p:spPr>
          <a:xfrm>
            <a:off x="8285871" y="1764722"/>
            <a:ext cx="3550921" cy="3970318"/>
          </a:xfrm>
          <a:prstGeom prst="rect">
            <a:avLst/>
          </a:prstGeom>
          <a:noFill/>
        </p:spPr>
        <p:txBody>
          <a:bodyPr wrap="square" rtlCol="0">
            <a:spAutoFit/>
          </a:bodyPr>
          <a:lstStyle/>
          <a:p>
            <a:r>
              <a:rPr lang="en-IN" sz="2400" dirty="0">
                <a:solidFill>
                  <a:srgbClr val="002060"/>
                </a:solidFill>
              </a:rPr>
              <a:t>During the BCD to Excess 3 conversion: 0011 is applied to B3 B2 B1 B0 INPUTS of 4 bit adder (GND-0,VCC-1).</a:t>
            </a:r>
          </a:p>
          <a:p>
            <a:endParaRPr lang="en-IN" dirty="0">
              <a:solidFill>
                <a:srgbClr val="002060"/>
              </a:solidFill>
            </a:endParaRPr>
          </a:p>
          <a:p>
            <a:endParaRPr lang="en-IN" dirty="0">
              <a:solidFill>
                <a:srgbClr val="002060"/>
              </a:solidFill>
            </a:endParaRPr>
          </a:p>
          <a:p>
            <a:r>
              <a:rPr lang="en-IN" sz="2400" dirty="0">
                <a:solidFill>
                  <a:srgbClr val="002060"/>
                </a:solidFill>
              </a:rPr>
              <a:t>During Excess 3 to BCD conversion, 3 (0011) is subtracted from the number, using twos compliment method.</a:t>
            </a:r>
          </a:p>
        </p:txBody>
      </p:sp>
    </p:spTree>
    <p:extLst>
      <p:ext uri="{BB962C8B-B14F-4D97-AF65-F5344CB8AC3E}">
        <p14:creationId xmlns:p14="http://schemas.microsoft.com/office/powerpoint/2010/main" val="288141607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Slide Number Placeholder 5">
            <a:extLst>
              <a:ext uri="{FF2B5EF4-FFF2-40B4-BE49-F238E27FC236}">
                <a16:creationId xmlns:a16="http://schemas.microsoft.com/office/drawing/2014/main" id="{CF4946B7-45DE-8430-43C2-F6F72985B266}"/>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FAD175E9-9E1C-443F-A711-F8E948C047B4}" type="slidenum">
              <a:rPr lang="en-US" altLang="en-US" sz="1400"/>
              <a:pPr/>
              <a:t>10</a:t>
            </a:fld>
            <a:endParaRPr lang="en-US" altLang="en-US" sz="1400"/>
          </a:p>
        </p:txBody>
      </p:sp>
      <p:sp>
        <p:nvSpPr>
          <p:cNvPr id="16388" name="Rectangle 2">
            <a:extLst>
              <a:ext uri="{FF2B5EF4-FFF2-40B4-BE49-F238E27FC236}">
                <a16:creationId xmlns:a16="http://schemas.microsoft.com/office/drawing/2014/main" id="{CD48901C-5E84-EDB9-047F-A8A732EF13D4}"/>
              </a:ext>
            </a:extLst>
          </p:cNvPr>
          <p:cNvSpPr>
            <a:spLocks noGrp="1" noChangeArrowheads="1"/>
          </p:cNvSpPr>
          <p:nvPr>
            <p:ph type="title"/>
          </p:nvPr>
        </p:nvSpPr>
        <p:spPr>
          <a:xfrm>
            <a:off x="2076157" y="320675"/>
            <a:ext cx="10515600" cy="1325563"/>
          </a:xfrm>
        </p:spPr>
        <p:txBody>
          <a:bodyPr/>
          <a:lstStyle/>
          <a:p>
            <a:r>
              <a:rPr lang="en-US" altLang="en-US" dirty="0">
                <a:solidFill>
                  <a:srgbClr val="FF0000"/>
                </a:solidFill>
              </a:rPr>
              <a:t>Delay Analysis of Ripple Adder</a:t>
            </a:r>
          </a:p>
        </p:txBody>
      </p:sp>
      <p:sp>
        <p:nvSpPr>
          <p:cNvPr id="16389" name="Rectangle 3">
            <a:extLst>
              <a:ext uri="{FF2B5EF4-FFF2-40B4-BE49-F238E27FC236}">
                <a16:creationId xmlns:a16="http://schemas.microsoft.com/office/drawing/2014/main" id="{91B21AD8-D53A-949A-63CB-6FA6AB608125}"/>
              </a:ext>
            </a:extLst>
          </p:cNvPr>
          <p:cNvSpPr>
            <a:spLocks noGrp="1" noChangeArrowheads="1"/>
          </p:cNvSpPr>
          <p:nvPr>
            <p:ph type="body" idx="1"/>
          </p:nvPr>
        </p:nvSpPr>
        <p:spPr/>
        <p:txBody>
          <a:bodyPr/>
          <a:lstStyle/>
          <a:p>
            <a:pPr>
              <a:lnSpc>
                <a:spcPct val="90000"/>
              </a:lnSpc>
            </a:pPr>
            <a:r>
              <a:rPr lang="en-US" altLang="en-US" dirty="0"/>
              <a:t>Carry out of a single stage can be implemented in 2 gate delays</a:t>
            </a:r>
          </a:p>
          <a:p>
            <a:pPr>
              <a:lnSpc>
                <a:spcPct val="90000"/>
              </a:lnSpc>
            </a:pPr>
            <a:r>
              <a:rPr lang="en-US" altLang="en-US" dirty="0"/>
              <a:t>For a 16 bit adder, the 16th bit carry is generated after </a:t>
            </a:r>
            <a:r>
              <a:rPr lang="en-US" altLang="en-US" dirty="0">
                <a:solidFill>
                  <a:srgbClr val="FF0000"/>
                </a:solidFill>
              </a:rPr>
              <a:t>16 * 2 = 32 </a:t>
            </a:r>
            <a:r>
              <a:rPr lang="en-US" altLang="en-US" dirty="0"/>
              <a:t>gate delays.</a:t>
            </a:r>
          </a:p>
          <a:p>
            <a:pPr>
              <a:lnSpc>
                <a:spcPct val="90000"/>
              </a:lnSpc>
            </a:pPr>
            <a:r>
              <a:rPr lang="en-US" altLang="en-US" dirty="0"/>
              <a:t>The sum bit takes one additional gate delay to generate the sum of the 16th bit after 15th bit carry</a:t>
            </a:r>
          </a:p>
          <a:p>
            <a:pPr lvl="1">
              <a:lnSpc>
                <a:spcPct val="90000"/>
              </a:lnSpc>
            </a:pPr>
            <a:r>
              <a:rPr lang="en-US" altLang="en-US" dirty="0"/>
              <a:t>15 * 2 + 1 = 31 gate delays</a:t>
            </a:r>
          </a:p>
          <a:p>
            <a:pPr>
              <a:lnSpc>
                <a:spcPct val="90000"/>
              </a:lnSpc>
            </a:pPr>
            <a:r>
              <a:rPr lang="en-US" altLang="en-US" dirty="0"/>
              <a:t>Takes too long - need to investigate FASTER adders!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Slide Number Placeholder 4">
            <a:extLst>
              <a:ext uri="{FF2B5EF4-FFF2-40B4-BE49-F238E27FC236}">
                <a16:creationId xmlns:a16="http://schemas.microsoft.com/office/drawing/2014/main" id="{6276334E-40A2-3C20-63F1-390D4CD00CB6}"/>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C829F3BE-8DCE-4C91-A556-3CCB0E8D2223}" type="slidenum">
              <a:rPr lang="en-US" altLang="en-US" sz="1400"/>
              <a:pPr/>
              <a:t>11</a:t>
            </a:fld>
            <a:endParaRPr lang="en-US" altLang="en-US" sz="1400"/>
          </a:p>
        </p:txBody>
      </p:sp>
      <p:sp>
        <p:nvSpPr>
          <p:cNvPr id="17413" name="Rectangle 3">
            <a:extLst>
              <a:ext uri="{FF2B5EF4-FFF2-40B4-BE49-F238E27FC236}">
                <a16:creationId xmlns:a16="http://schemas.microsoft.com/office/drawing/2014/main" id="{77998069-8779-18AC-C466-49AEFD0DDE7A}"/>
              </a:ext>
            </a:extLst>
          </p:cNvPr>
          <p:cNvSpPr>
            <a:spLocks noChangeArrowheads="1"/>
          </p:cNvSpPr>
          <p:nvPr/>
        </p:nvSpPr>
        <p:spPr bwMode="auto">
          <a:xfrm>
            <a:off x="761241" y="447671"/>
            <a:ext cx="10589383" cy="365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2400" b="1" dirty="0">
                <a:solidFill>
                  <a:srgbClr val="FF0000"/>
                </a:solidFill>
                <a:latin typeface="Arial" panose="020B0604020202020204" pitchFamily="34" charset="0"/>
              </a:rPr>
              <a:t>Critical delay: the propagation of carry from low to high order stages</a:t>
            </a:r>
          </a:p>
        </p:txBody>
      </p:sp>
      <p:sp>
        <p:nvSpPr>
          <p:cNvPr id="17414" name="Arc 4">
            <a:extLst>
              <a:ext uri="{FF2B5EF4-FFF2-40B4-BE49-F238E27FC236}">
                <a16:creationId xmlns:a16="http://schemas.microsoft.com/office/drawing/2014/main" id="{31620663-D4BD-0A5D-79C5-9A49C090BBE9}"/>
              </a:ext>
            </a:extLst>
          </p:cNvPr>
          <p:cNvSpPr>
            <a:spLocks/>
          </p:cNvSpPr>
          <p:nvPr/>
        </p:nvSpPr>
        <p:spPr bwMode="auto">
          <a:xfrm>
            <a:off x="4618038" y="1574800"/>
            <a:ext cx="100012" cy="192088"/>
          </a:xfrm>
          <a:custGeom>
            <a:avLst/>
            <a:gdLst>
              <a:gd name="T0" fmla="*/ 0 w 21600"/>
              <a:gd name="T1" fmla="*/ 0 h 21600"/>
              <a:gd name="T2" fmla="*/ 463074 w 21600"/>
              <a:gd name="T3" fmla="*/ 1708231 h 21600"/>
              <a:gd name="T4" fmla="*/ 0 w 21600"/>
              <a:gd name="T5" fmla="*/ 170823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17415" name="Arc 5">
            <a:extLst>
              <a:ext uri="{FF2B5EF4-FFF2-40B4-BE49-F238E27FC236}">
                <a16:creationId xmlns:a16="http://schemas.microsoft.com/office/drawing/2014/main" id="{C7AA55EB-7CBF-180D-2FDE-5B8ED0CD7F4A}"/>
              </a:ext>
            </a:extLst>
          </p:cNvPr>
          <p:cNvSpPr>
            <a:spLocks/>
          </p:cNvSpPr>
          <p:nvPr/>
        </p:nvSpPr>
        <p:spPr bwMode="auto">
          <a:xfrm>
            <a:off x="4618039" y="1574800"/>
            <a:ext cx="669925" cy="209550"/>
          </a:xfrm>
          <a:custGeom>
            <a:avLst/>
            <a:gdLst>
              <a:gd name="T0" fmla="*/ 0 w 21600"/>
              <a:gd name="T1" fmla="*/ 0 h 21600"/>
              <a:gd name="T2" fmla="*/ 20777755 w 21600"/>
              <a:gd name="T3" fmla="*/ 2032926 h 21600"/>
              <a:gd name="T4" fmla="*/ 0 w 21600"/>
              <a:gd name="T5" fmla="*/ 203292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17416" name="Arc 6">
            <a:extLst>
              <a:ext uri="{FF2B5EF4-FFF2-40B4-BE49-F238E27FC236}">
                <a16:creationId xmlns:a16="http://schemas.microsoft.com/office/drawing/2014/main" id="{B0635AFC-B891-653E-2702-33561C4308CF}"/>
              </a:ext>
            </a:extLst>
          </p:cNvPr>
          <p:cNvSpPr>
            <a:spLocks/>
          </p:cNvSpPr>
          <p:nvPr/>
        </p:nvSpPr>
        <p:spPr bwMode="auto">
          <a:xfrm>
            <a:off x="4654550" y="1766888"/>
            <a:ext cx="635000" cy="209550"/>
          </a:xfrm>
          <a:custGeom>
            <a:avLst/>
            <a:gdLst>
              <a:gd name="T0" fmla="*/ 18651418 w 21619"/>
              <a:gd name="T1" fmla="*/ 0 h 21600"/>
              <a:gd name="T2" fmla="*/ 0 w 21619"/>
              <a:gd name="T3" fmla="*/ 2032926 h 21600"/>
              <a:gd name="T4" fmla="*/ 16390 w 21619"/>
              <a:gd name="T5" fmla="*/ 0 h 21600"/>
              <a:gd name="T6" fmla="*/ 0 60000 65536"/>
              <a:gd name="T7" fmla="*/ 0 60000 65536"/>
              <a:gd name="T8" fmla="*/ 0 60000 65536"/>
            </a:gdLst>
            <a:ahLst/>
            <a:cxnLst>
              <a:cxn ang="T6">
                <a:pos x="T0" y="T1"/>
              </a:cxn>
              <a:cxn ang="T7">
                <a:pos x="T2" y="T3"/>
              </a:cxn>
              <a:cxn ang="T8">
                <a:pos x="T4" y="T5"/>
              </a:cxn>
            </a:cxnLst>
            <a:rect l="0" t="0" r="r" b="b"/>
            <a:pathLst>
              <a:path w="21619" h="21600" fill="none" extrusionOk="0">
                <a:moveTo>
                  <a:pt x="21619" y="0"/>
                </a:moveTo>
                <a:cubicBezTo>
                  <a:pt x="21619" y="11929"/>
                  <a:pt x="11948" y="21600"/>
                  <a:pt x="19" y="21600"/>
                </a:cubicBezTo>
                <a:cubicBezTo>
                  <a:pt x="12" y="21600"/>
                  <a:pt x="6" y="21599"/>
                  <a:pt x="0" y="21599"/>
                </a:cubicBezTo>
              </a:path>
              <a:path w="21619" h="21600" stroke="0" extrusionOk="0">
                <a:moveTo>
                  <a:pt x="21619" y="0"/>
                </a:moveTo>
                <a:cubicBezTo>
                  <a:pt x="21619" y="11929"/>
                  <a:pt x="11948" y="21600"/>
                  <a:pt x="19" y="21600"/>
                </a:cubicBezTo>
                <a:cubicBezTo>
                  <a:pt x="12" y="21600"/>
                  <a:pt x="6" y="21599"/>
                  <a:pt x="0" y="21599"/>
                </a:cubicBezTo>
                <a:lnTo>
                  <a:pt x="19" y="0"/>
                </a:lnTo>
                <a:lnTo>
                  <a:pt x="21619" y="0"/>
                </a:lnTo>
                <a:close/>
              </a:path>
            </a:pathLst>
          </a:custGeom>
          <a:solidFill>
            <a:srgbClr val="FFFFFF"/>
          </a:solidFill>
          <a:ln w="17463">
            <a:solidFill>
              <a:srgbClr val="000000"/>
            </a:solidFill>
            <a:round/>
            <a:headEnd/>
            <a:tailEnd/>
          </a:ln>
        </p:spPr>
        <p:txBody>
          <a:bodyPr/>
          <a:lstStyle/>
          <a:p>
            <a:endParaRPr lang="en-IN"/>
          </a:p>
        </p:txBody>
      </p:sp>
      <p:sp>
        <p:nvSpPr>
          <p:cNvPr id="17417" name="Arc 7">
            <a:extLst>
              <a:ext uri="{FF2B5EF4-FFF2-40B4-BE49-F238E27FC236}">
                <a16:creationId xmlns:a16="http://schemas.microsoft.com/office/drawing/2014/main" id="{F3B4F717-DFBE-CC77-9F21-E9BE711A8DA8}"/>
              </a:ext>
            </a:extLst>
          </p:cNvPr>
          <p:cNvSpPr>
            <a:spLocks/>
          </p:cNvSpPr>
          <p:nvPr/>
        </p:nvSpPr>
        <p:spPr bwMode="auto">
          <a:xfrm>
            <a:off x="4618038" y="1766888"/>
            <a:ext cx="100012" cy="209550"/>
          </a:xfrm>
          <a:custGeom>
            <a:avLst/>
            <a:gdLst>
              <a:gd name="T0" fmla="*/ 463074 w 21600"/>
              <a:gd name="T1" fmla="*/ 0 h 21600"/>
              <a:gd name="T2" fmla="*/ 0 w 21600"/>
              <a:gd name="T3" fmla="*/ 2032926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17418" name="Line 8">
            <a:extLst>
              <a:ext uri="{FF2B5EF4-FFF2-40B4-BE49-F238E27FC236}">
                <a16:creationId xmlns:a16="http://schemas.microsoft.com/office/drawing/2014/main" id="{EE653881-4F33-A9B6-3508-0BAB3AB0D352}"/>
              </a:ext>
            </a:extLst>
          </p:cNvPr>
          <p:cNvSpPr>
            <a:spLocks noChangeShapeType="1"/>
          </p:cNvSpPr>
          <p:nvPr/>
        </p:nvSpPr>
        <p:spPr bwMode="auto">
          <a:xfrm>
            <a:off x="4652963" y="1676400"/>
            <a:ext cx="36512"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19" name="Line 9">
            <a:extLst>
              <a:ext uri="{FF2B5EF4-FFF2-40B4-BE49-F238E27FC236}">
                <a16:creationId xmlns:a16="http://schemas.microsoft.com/office/drawing/2014/main" id="{09F5D590-A96C-37D5-A372-E2EDB46193C5}"/>
              </a:ext>
            </a:extLst>
          </p:cNvPr>
          <p:cNvSpPr>
            <a:spLocks noChangeShapeType="1"/>
          </p:cNvSpPr>
          <p:nvPr/>
        </p:nvSpPr>
        <p:spPr bwMode="auto">
          <a:xfrm>
            <a:off x="4652963" y="1857375"/>
            <a:ext cx="36512"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20" name="Line 10">
            <a:extLst>
              <a:ext uri="{FF2B5EF4-FFF2-40B4-BE49-F238E27FC236}">
                <a16:creationId xmlns:a16="http://schemas.microsoft.com/office/drawing/2014/main" id="{AF9174CC-7C49-A23F-B4C1-99B778DDBBC7}"/>
              </a:ext>
            </a:extLst>
          </p:cNvPr>
          <p:cNvSpPr>
            <a:spLocks noChangeShapeType="1"/>
          </p:cNvSpPr>
          <p:nvPr/>
        </p:nvSpPr>
        <p:spPr bwMode="auto">
          <a:xfrm>
            <a:off x="5634039" y="1639889"/>
            <a:ext cx="428625"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21" name="Line 11">
            <a:extLst>
              <a:ext uri="{FF2B5EF4-FFF2-40B4-BE49-F238E27FC236}">
                <a16:creationId xmlns:a16="http://schemas.microsoft.com/office/drawing/2014/main" id="{8ACC1363-D6B9-DC18-8792-242F0729B5AA}"/>
              </a:ext>
            </a:extLst>
          </p:cNvPr>
          <p:cNvSpPr>
            <a:spLocks noChangeShapeType="1"/>
          </p:cNvSpPr>
          <p:nvPr/>
        </p:nvSpPr>
        <p:spPr bwMode="auto">
          <a:xfrm>
            <a:off x="5634039" y="2074864"/>
            <a:ext cx="446087"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22" name="Line 12">
            <a:extLst>
              <a:ext uri="{FF2B5EF4-FFF2-40B4-BE49-F238E27FC236}">
                <a16:creationId xmlns:a16="http://schemas.microsoft.com/office/drawing/2014/main" id="{331434A5-3553-8727-4EC4-9FD98DCBC54F}"/>
              </a:ext>
            </a:extLst>
          </p:cNvPr>
          <p:cNvSpPr>
            <a:spLocks noChangeShapeType="1"/>
          </p:cNvSpPr>
          <p:nvPr/>
        </p:nvSpPr>
        <p:spPr bwMode="auto">
          <a:xfrm flipV="1">
            <a:off x="5634039" y="1639889"/>
            <a:ext cx="1587" cy="43497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23" name="Arc 13">
            <a:extLst>
              <a:ext uri="{FF2B5EF4-FFF2-40B4-BE49-F238E27FC236}">
                <a16:creationId xmlns:a16="http://schemas.microsoft.com/office/drawing/2014/main" id="{B856D495-AE8E-1336-E8D2-7BA3FD0C1615}"/>
              </a:ext>
            </a:extLst>
          </p:cNvPr>
          <p:cNvSpPr>
            <a:spLocks/>
          </p:cNvSpPr>
          <p:nvPr/>
        </p:nvSpPr>
        <p:spPr bwMode="auto">
          <a:xfrm>
            <a:off x="6062663" y="1639889"/>
            <a:ext cx="214312" cy="236537"/>
          </a:xfrm>
          <a:custGeom>
            <a:avLst/>
            <a:gdLst>
              <a:gd name="T0" fmla="*/ 0 w 21600"/>
              <a:gd name="T1" fmla="*/ 0 h 21600"/>
              <a:gd name="T2" fmla="*/ 2126372 w 21600"/>
              <a:gd name="T3" fmla="*/ 2587989 h 21600"/>
              <a:gd name="T4" fmla="*/ 0 w 21600"/>
              <a:gd name="T5" fmla="*/ 259026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1" y="0"/>
                  <a:pt x="21589" y="9659"/>
                  <a:pt x="21599" y="21581"/>
                </a:cubicBezTo>
              </a:path>
              <a:path w="21600" h="21600" stroke="0" extrusionOk="0">
                <a:moveTo>
                  <a:pt x="-1" y="0"/>
                </a:moveTo>
                <a:cubicBezTo>
                  <a:pt x="11921" y="0"/>
                  <a:pt x="21589" y="9659"/>
                  <a:pt x="21599" y="21581"/>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7424" name="Arc 14">
            <a:extLst>
              <a:ext uri="{FF2B5EF4-FFF2-40B4-BE49-F238E27FC236}">
                <a16:creationId xmlns:a16="http://schemas.microsoft.com/office/drawing/2014/main" id="{EFDC9233-104D-FFA3-D8E9-F7FB953DF0F7}"/>
              </a:ext>
            </a:extLst>
          </p:cNvPr>
          <p:cNvSpPr>
            <a:spLocks/>
          </p:cNvSpPr>
          <p:nvPr/>
        </p:nvSpPr>
        <p:spPr bwMode="auto">
          <a:xfrm>
            <a:off x="6062664" y="1647825"/>
            <a:ext cx="206375" cy="228600"/>
          </a:xfrm>
          <a:custGeom>
            <a:avLst/>
            <a:gdLst>
              <a:gd name="T0" fmla="*/ 0 w 21600"/>
              <a:gd name="T1" fmla="*/ 0 h 21600"/>
              <a:gd name="T2" fmla="*/ 1971789 w 21600"/>
              <a:gd name="T3" fmla="*/ 2417223 h 21600"/>
              <a:gd name="T4" fmla="*/ 0 w 21600"/>
              <a:gd name="T5" fmla="*/ 241935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1" y="0"/>
                  <a:pt x="21589" y="9659"/>
                  <a:pt x="21599" y="21581"/>
                </a:cubicBezTo>
              </a:path>
              <a:path w="21600" h="21600" stroke="0" extrusionOk="0">
                <a:moveTo>
                  <a:pt x="-1" y="0"/>
                </a:moveTo>
                <a:cubicBezTo>
                  <a:pt x="11921" y="0"/>
                  <a:pt x="21589" y="9659"/>
                  <a:pt x="21599" y="21581"/>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17425" name="Arc 15">
            <a:extLst>
              <a:ext uri="{FF2B5EF4-FFF2-40B4-BE49-F238E27FC236}">
                <a16:creationId xmlns:a16="http://schemas.microsoft.com/office/drawing/2014/main" id="{BEFFE3B0-991E-BA76-AFC4-5067B022CD8F}"/>
              </a:ext>
            </a:extLst>
          </p:cNvPr>
          <p:cNvSpPr>
            <a:spLocks/>
          </p:cNvSpPr>
          <p:nvPr/>
        </p:nvSpPr>
        <p:spPr bwMode="auto">
          <a:xfrm>
            <a:off x="6062663" y="1857375"/>
            <a:ext cx="214312" cy="234950"/>
          </a:xfrm>
          <a:custGeom>
            <a:avLst/>
            <a:gdLst>
              <a:gd name="T0" fmla="*/ 2126372 w 21600"/>
              <a:gd name="T1" fmla="*/ 0 h 21600"/>
              <a:gd name="T2" fmla="*/ 0 w 21600"/>
              <a:gd name="T3" fmla="*/ 2555625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7426" name="Arc 16">
            <a:extLst>
              <a:ext uri="{FF2B5EF4-FFF2-40B4-BE49-F238E27FC236}">
                <a16:creationId xmlns:a16="http://schemas.microsoft.com/office/drawing/2014/main" id="{972D0FD5-CE62-7F81-5822-166B4129204E}"/>
              </a:ext>
            </a:extLst>
          </p:cNvPr>
          <p:cNvSpPr>
            <a:spLocks/>
          </p:cNvSpPr>
          <p:nvPr/>
        </p:nvSpPr>
        <p:spPr bwMode="auto">
          <a:xfrm>
            <a:off x="6062664" y="1857376"/>
            <a:ext cx="206375" cy="227013"/>
          </a:xfrm>
          <a:custGeom>
            <a:avLst/>
            <a:gdLst>
              <a:gd name="T0" fmla="*/ 1971789 w 21600"/>
              <a:gd name="T1" fmla="*/ 0 h 21600"/>
              <a:gd name="T2" fmla="*/ 0 w 21600"/>
              <a:gd name="T3" fmla="*/ 2385875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17427" name="Line 17">
            <a:extLst>
              <a:ext uri="{FF2B5EF4-FFF2-40B4-BE49-F238E27FC236}">
                <a16:creationId xmlns:a16="http://schemas.microsoft.com/office/drawing/2014/main" id="{C530D53D-BC90-D31D-3DFA-CCED349326CE}"/>
              </a:ext>
            </a:extLst>
          </p:cNvPr>
          <p:cNvSpPr>
            <a:spLocks noChangeShapeType="1"/>
          </p:cNvSpPr>
          <p:nvPr/>
        </p:nvSpPr>
        <p:spPr bwMode="auto">
          <a:xfrm>
            <a:off x="5634039" y="2365375"/>
            <a:ext cx="428625"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28" name="Line 18">
            <a:extLst>
              <a:ext uri="{FF2B5EF4-FFF2-40B4-BE49-F238E27FC236}">
                <a16:creationId xmlns:a16="http://schemas.microsoft.com/office/drawing/2014/main" id="{3B6514DE-AE5A-EF64-DC0D-70545C115A0B}"/>
              </a:ext>
            </a:extLst>
          </p:cNvPr>
          <p:cNvSpPr>
            <a:spLocks noChangeShapeType="1"/>
          </p:cNvSpPr>
          <p:nvPr/>
        </p:nvSpPr>
        <p:spPr bwMode="auto">
          <a:xfrm>
            <a:off x="5634039" y="2800350"/>
            <a:ext cx="44608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29" name="Line 19">
            <a:extLst>
              <a:ext uri="{FF2B5EF4-FFF2-40B4-BE49-F238E27FC236}">
                <a16:creationId xmlns:a16="http://schemas.microsoft.com/office/drawing/2014/main" id="{E852668F-16A7-1440-D728-3DA5DCD5C493}"/>
              </a:ext>
            </a:extLst>
          </p:cNvPr>
          <p:cNvSpPr>
            <a:spLocks noChangeShapeType="1"/>
          </p:cNvSpPr>
          <p:nvPr/>
        </p:nvSpPr>
        <p:spPr bwMode="auto">
          <a:xfrm flipV="1">
            <a:off x="5634039" y="2365376"/>
            <a:ext cx="1587" cy="434975"/>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30" name="Arc 20">
            <a:extLst>
              <a:ext uri="{FF2B5EF4-FFF2-40B4-BE49-F238E27FC236}">
                <a16:creationId xmlns:a16="http://schemas.microsoft.com/office/drawing/2014/main" id="{2E05CE90-042F-7A80-376C-F1B3174DFF70}"/>
              </a:ext>
            </a:extLst>
          </p:cNvPr>
          <p:cNvSpPr>
            <a:spLocks/>
          </p:cNvSpPr>
          <p:nvPr/>
        </p:nvSpPr>
        <p:spPr bwMode="auto">
          <a:xfrm>
            <a:off x="6062663" y="2365375"/>
            <a:ext cx="214312" cy="234950"/>
          </a:xfrm>
          <a:custGeom>
            <a:avLst/>
            <a:gdLst>
              <a:gd name="T0" fmla="*/ 0 w 21600"/>
              <a:gd name="T1" fmla="*/ 0 h 21600"/>
              <a:gd name="T2" fmla="*/ 2126372 w 21600"/>
              <a:gd name="T3" fmla="*/ 2555625 h 21600"/>
              <a:gd name="T4" fmla="*/ 0 w 21600"/>
              <a:gd name="T5" fmla="*/ 2555625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7431" name="Arc 21">
            <a:extLst>
              <a:ext uri="{FF2B5EF4-FFF2-40B4-BE49-F238E27FC236}">
                <a16:creationId xmlns:a16="http://schemas.microsoft.com/office/drawing/2014/main" id="{77BBDCFC-B703-9DF2-5602-9333D7BE0875}"/>
              </a:ext>
            </a:extLst>
          </p:cNvPr>
          <p:cNvSpPr>
            <a:spLocks/>
          </p:cNvSpPr>
          <p:nvPr/>
        </p:nvSpPr>
        <p:spPr bwMode="auto">
          <a:xfrm>
            <a:off x="6062664" y="2373313"/>
            <a:ext cx="206375" cy="227012"/>
          </a:xfrm>
          <a:custGeom>
            <a:avLst/>
            <a:gdLst>
              <a:gd name="T0" fmla="*/ 0 w 21600"/>
              <a:gd name="T1" fmla="*/ 0 h 21600"/>
              <a:gd name="T2" fmla="*/ 1971789 w 21600"/>
              <a:gd name="T3" fmla="*/ 2385854 h 21600"/>
              <a:gd name="T4" fmla="*/ 0 w 21600"/>
              <a:gd name="T5" fmla="*/ 2385854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17432" name="Arc 22">
            <a:extLst>
              <a:ext uri="{FF2B5EF4-FFF2-40B4-BE49-F238E27FC236}">
                <a16:creationId xmlns:a16="http://schemas.microsoft.com/office/drawing/2014/main" id="{41B53F95-4E29-213D-0A3F-EC765C0582B1}"/>
              </a:ext>
            </a:extLst>
          </p:cNvPr>
          <p:cNvSpPr>
            <a:spLocks/>
          </p:cNvSpPr>
          <p:nvPr/>
        </p:nvSpPr>
        <p:spPr bwMode="auto">
          <a:xfrm>
            <a:off x="6062663" y="2582864"/>
            <a:ext cx="214312" cy="236537"/>
          </a:xfrm>
          <a:custGeom>
            <a:avLst/>
            <a:gdLst>
              <a:gd name="T0" fmla="*/ 2126372 w 21600"/>
              <a:gd name="T1" fmla="*/ 0 h 21600"/>
              <a:gd name="T2" fmla="*/ 0 w 21600"/>
              <a:gd name="T3" fmla="*/ 2590266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7433" name="Arc 23">
            <a:extLst>
              <a:ext uri="{FF2B5EF4-FFF2-40B4-BE49-F238E27FC236}">
                <a16:creationId xmlns:a16="http://schemas.microsoft.com/office/drawing/2014/main" id="{C03DBF73-00F9-7D54-B8E0-49ABDCE2CB0F}"/>
              </a:ext>
            </a:extLst>
          </p:cNvPr>
          <p:cNvSpPr>
            <a:spLocks/>
          </p:cNvSpPr>
          <p:nvPr/>
        </p:nvSpPr>
        <p:spPr bwMode="auto">
          <a:xfrm>
            <a:off x="6062664" y="2582863"/>
            <a:ext cx="206375" cy="228600"/>
          </a:xfrm>
          <a:custGeom>
            <a:avLst/>
            <a:gdLst>
              <a:gd name="T0" fmla="*/ 1971789 w 21600"/>
              <a:gd name="T1" fmla="*/ 0 h 21600"/>
              <a:gd name="T2" fmla="*/ 0 w 21600"/>
              <a:gd name="T3" fmla="*/ 241935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17434" name="Arc 24">
            <a:extLst>
              <a:ext uri="{FF2B5EF4-FFF2-40B4-BE49-F238E27FC236}">
                <a16:creationId xmlns:a16="http://schemas.microsoft.com/office/drawing/2014/main" id="{89515DD5-8924-7AAF-7CCC-23E64C624F6F}"/>
              </a:ext>
            </a:extLst>
          </p:cNvPr>
          <p:cNvSpPr>
            <a:spLocks/>
          </p:cNvSpPr>
          <p:nvPr/>
        </p:nvSpPr>
        <p:spPr bwMode="auto">
          <a:xfrm>
            <a:off x="6669088" y="2028825"/>
            <a:ext cx="100012" cy="192088"/>
          </a:xfrm>
          <a:custGeom>
            <a:avLst/>
            <a:gdLst>
              <a:gd name="T0" fmla="*/ 0 w 21600"/>
              <a:gd name="T1" fmla="*/ 0 h 21600"/>
              <a:gd name="T2" fmla="*/ 463074 w 21600"/>
              <a:gd name="T3" fmla="*/ 1706809 h 21600"/>
              <a:gd name="T4" fmla="*/ 0 w 21600"/>
              <a:gd name="T5" fmla="*/ 170823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2" y="0"/>
                  <a:pt x="21590" y="9659"/>
                  <a:pt x="21599" y="21582"/>
                </a:cubicBezTo>
              </a:path>
              <a:path w="21600" h="21600" stroke="0" extrusionOk="0">
                <a:moveTo>
                  <a:pt x="-1" y="0"/>
                </a:moveTo>
                <a:cubicBezTo>
                  <a:pt x="11922" y="0"/>
                  <a:pt x="21590" y="9659"/>
                  <a:pt x="21599" y="21582"/>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17435" name="Arc 25">
            <a:extLst>
              <a:ext uri="{FF2B5EF4-FFF2-40B4-BE49-F238E27FC236}">
                <a16:creationId xmlns:a16="http://schemas.microsoft.com/office/drawing/2014/main" id="{938F7C6A-5CC3-AE8F-3CBA-511282CBDC6E}"/>
              </a:ext>
            </a:extLst>
          </p:cNvPr>
          <p:cNvSpPr>
            <a:spLocks/>
          </p:cNvSpPr>
          <p:nvPr/>
        </p:nvSpPr>
        <p:spPr bwMode="auto">
          <a:xfrm>
            <a:off x="6669089" y="2028825"/>
            <a:ext cx="669925" cy="209550"/>
          </a:xfrm>
          <a:custGeom>
            <a:avLst/>
            <a:gdLst>
              <a:gd name="T0" fmla="*/ 0 w 21600"/>
              <a:gd name="T1" fmla="*/ 0 h 21600"/>
              <a:gd name="T2" fmla="*/ 20777755 w 21600"/>
              <a:gd name="T3" fmla="*/ 2032926 h 21600"/>
              <a:gd name="T4" fmla="*/ 0 w 21600"/>
              <a:gd name="T5" fmla="*/ 203292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17436" name="Arc 26">
            <a:extLst>
              <a:ext uri="{FF2B5EF4-FFF2-40B4-BE49-F238E27FC236}">
                <a16:creationId xmlns:a16="http://schemas.microsoft.com/office/drawing/2014/main" id="{72DC9129-7113-887F-EA67-7F5571940C44}"/>
              </a:ext>
            </a:extLst>
          </p:cNvPr>
          <p:cNvSpPr>
            <a:spLocks/>
          </p:cNvSpPr>
          <p:nvPr/>
        </p:nvSpPr>
        <p:spPr bwMode="auto">
          <a:xfrm>
            <a:off x="6705600" y="2219325"/>
            <a:ext cx="635000" cy="209550"/>
          </a:xfrm>
          <a:custGeom>
            <a:avLst/>
            <a:gdLst>
              <a:gd name="T0" fmla="*/ 18651418 w 21619"/>
              <a:gd name="T1" fmla="*/ 0 h 21600"/>
              <a:gd name="T2" fmla="*/ 0 w 21619"/>
              <a:gd name="T3" fmla="*/ 2032926 h 21600"/>
              <a:gd name="T4" fmla="*/ 16390 w 21619"/>
              <a:gd name="T5" fmla="*/ 0 h 21600"/>
              <a:gd name="T6" fmla="*/ 0 60000 65536"/>
              <a:gd name="T7" fmla="*/ 0 60000 65536"/>
              <a:gd name="T8" fmla="*/ 0 60000 65536"/>
            </a:gdLst>
            <a:ahLst/>
            <a:cxnLst>
              <a:cxn ang="T6">
                <a:pos x="T0" y="T1"/>
              </a:cxn>
              <a:cxn ang="T7">
                <a:pos x="T2" y="T3"/>
              </a:cxn>
              <a:cxn ang="T8">
                <a:pos x="T4" y="T5"/>
              </a:cxn>
            </a:cxnLst>
            <a:rect l="0" t="0" r="r" b="b"/>
            <a:pathLst>
              <a:path w="21619" h="21600" fill="none" extrusionOk="0">
                <a:moveTo>
                  <a:pt x="21619" y="0"/>
                </a:moveTo>
                <a:cubicBezTo>
                  <a:pt x="21619" y="11929"/>
                  <a:pt x="11948" y="21600"/>
                  <a:pt x="19" y="21600"/>
                </a:cubicBezTo>
                <a:cubicBezTo>
                  <a:pt x="12" y="21600"/>
                  <a:pt x="6" y="21599"/>
                  <a:pt x="0" y="21599"/>
                </a:cubicBezTo>
              </a:path>
              <a:path w="21619" h="21600" stroke="0" extrusionOk="0">
                <a:moveTo>
                  <a:pt x="21619" y="0"/>
                </a:moveTo>
                <a:cubicBezTo>
                  <a:pt x="21619" y="11929"/>
                  <a:pt x="11948" y="21600"/>
                  <a:pt x="19" y="21600"/>
                </a:cubicBezTo>
                <a:cubicBezTo>
                  <a:pt x="12" y="21600"/>
                  <a:pt x="6" y="21599"/>
                  <a:pt x="0" y="21599"/>
                </a:cubicBezTo>
                <a:lnTo>
                  <a:pt x="19" y="0"/>
                </a:lnTo>
                <a:lnTo>
                  <a:pt x="21619" y="0"/>
                </a:lnTo>
                <a:close/>
              </a:path>
            </a:pathLst>
          </a:custGeom>
          <a:solidFill>
            <a:srgbClr val="FFFFFF"/>
          </a:solidFill>
          <a:ln w="17463">
            <a:solidFill>
              <a:srgbClr val="000000"/>
            </a:solidFill>
            <a:round/>
            <a:headEnd/>
            <a:tailEnd/>
          </a:ln>
        </p:spPr>
        <p:txBody>
          <a:bodyPr/>
          <a:lstStyle/>
          <a:p>
            <a:endParaRPr lang="en-IN"/>
          </a:p>
        </p:txBody>
      </p:sp>
      <p:sp>
        <p:nvSpPr>
          <p:cNvPr id="17437" name="Arc 27">
            <a:extLst>
              <a:ext uri="{FF2B5EF4-FFF2-40B4-BE49-F238E27FC236}">
                <a16:creationId xmlns:a16="http://schemas.microsoft.com/office/drawing/2014/main" id="{7C0683ED-BB9A-1BD5-57C1-1001F906FED0}"/>
              </a:ext>
            </a:extLst>
          </p:cNvPr>
          <p:cNvSpPr>
            <a:spLocks/>
          </p:cNvSpPr>
          <p:nvPr/>
        </p:nvSpPr>
        <p:spPr bwMode="auto">
          <a:xfrm>
            <a:off x="6669088" y="2219325"/>
            <a:ext cx="100012" cy="209550"/>
          </a:xfrm>
          <a:custGeom>
            <a:avLst/>
            <a:gdLst>
              <a:gd name="T0" fmla="*/ 463074 w 21600"/>
              <a:gd name="T1" fmla="*/ 0 h 21600"/>
              <a:gd name="T2" fmla="*/ 0 w 21600"/>
              <a:gd name="T3" fmla="*/ 2032926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17438" name="Line 28">
            <a:extLst>
              <a:ext uri="{FF2B5EF4-FFF2-40B4-BE49-F238E27FC236}">
                <a16:creationId xmlns:a16="http://schemas.microsoft.com/office/drawing/2014/main" id="{DBBA93A5-7D80-48D7-B2E1-9E41F63BC3E1}"/>
              </a:ext>
            </a:extLst>
          </p:cNvPr>
          <p:cNvSpPr>
            <a:spLocks noChangeShapeType="1"/>
          </p:cNvSpPr>
          <p:nvPr/>
        </p:nvSpPr>
        <p:spPr bwMode="auto">
          <a:xfrm>
            <a:off x="6704013" y="2128839"/>
            <a:ext cx="36512"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39" name="Line 29">
            <a:extLst>
              <a:ext uri="{FF2B5EF4-FFF2-40B4-BE49-F238E27FC236}">
                <a16:creationId xmlns:a16="http://schemas.microsoft.com/office/drawing/2014/main" id="{86A13280-2D1F-A1A4-F1F0-6375F6FFA13C}"/>
              </a:ext>
            </a:extLst>
          </p:cNvPr>
          <p:cNvSpPr>
            <a:spLocks noChangeShapeType="1"/>
          </p:cNvSpPr>
          <p:nvPr/>
        </p:nvSpPr>
        <p:spPr bwMode="auto">
          <a:xfrm>
            <a:off x="6704013" y="2309814"/>
            <a:ext cx="36512"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40" name="Line 30">
            <a:extLst>
              <a:ext uri="{FF2B5EF4-FFF2-40B4-BE49-F238E27FC236}">
                <a16:creationId xmlns:a16="http://schemas.microsoft.com/office/drawing/2014/main" id="{835116D5-927A-1411-9C58-C800A3B18006}"/>
              </a:ext>
            </a:extLst>
          </p:cNvPr>
          <p:cNvSpPr>
            <a:spLocks noChangeShapeType="1"/>
          </p:cNvSpPr>
          <p:nvPr/>
        </p:nvSpPr>
        <p:spPr bwMode="auto">
          <a:xfrm>
            <a:off x="5456238" y="2490789"/>
            <a:ext cx="177800"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41" name="Rectangle 31">
            <a:extLst>
              <a:ext uri="{FF2B5EF4-FFF2-40B4-BE49-F238E27FC236}">
                <a16:creationId xmlns:a16="http://schemas.microsoft.com/office/drawing/2014/main" id="{12F8EB56-A6C6-DF8A-8123-C03180B46D12}"/>
              </a:ext>
            </a:extLst>
          </p:cNvPr>
          <p:cNvSpPr>
            <a:spLocks noChangeArrowheads="1"/>
          </p:cNvSpPr>
          <p:nvPr/>
        </p:nvSpPr>
        <p:spPr bwMode="auto">
          <a:xfrm>
            <a:off x="4475164" y="2490788"/>
            <a:ext cx="998537" cy="1905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7442" name="Rectangle 32">
            <a:extLst>
              <a:ext uri="{FF2B5EF4-FFF2-40B4-BE49-F238E27FC236}">
                <a16:creationId xmlns:a16="http://schemas.microsoft.com/office/drawing/2014/main" id="{8A421D4C-9B78-4974-F017-21A5BDB21F91}"/>
              </a:ext>
            </a:extLst>
          </p:cNvPr>
          <p:cNvSpPr>
            <a:spLocks noChangeArrowheads="1"/>
          </p:cNvSpPr>
          <p:nvPr/>
        </p:nvSpPr>
        <p:spPr bwMode="auto">
          <a:xfrm>
            <a:off x="4349750" y="2363789"/>
            <a:ext cx="11060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a:solidFill>
                  <a:srgbClr val="000000"/>
                </a:solidFill>
                <a:latin typeface="Arial" panose="020B0604020202020204" pitchFamily="34" charset="0"/>
              </a:rPr>
              <a:t>A</a:t>
            </a:r>
            <a:endParaRPr lang="en-US" altLang="en-US" sz="2800" b="1"/>
          </a:p>
        </p:txBody>
      </p:sp>
      <p:sp>
        <p:nvSpPr>
          <p:cNvPr id="17443" name="Line 33">
            <a:extLst>
              <a:ext uri="{FF2B5EF4-FFF2-40B4-BE49-F238E27FC236}">
                <a16:creationId xmlns:a16="http://schemas.microsoft.com/office/drawing/2014/main" id="{010B027F-7616-04E9-DDEF-6741CB1FF995}"/>
              </a:ext>
            </a:extLst>
          </p:cNvPr>
          <p:cNvSpPr>
            <a:spLocks noChangeShapeType="1"/>
          </p:cNvSpPr>
          <p:nvPr/>
        </p:nvSpPr>
        <p:spPr bwMode="auto">
          <a:xfrm>
            <a:off x="4475163" y="1676400"/>
            <a:ext cx="177800"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44" name="Rectangle 34">
            <a:extLst>
              <a:ext uri="{FF2B5EF4-FFF2-40B4-BE49-F238E27FC236}">
                <a16:creationId xmlns:a16="http://schemas.microsoft.com/office/drawing/2014/main" id="{808E1A38-87D2-4AAC-B309-BF403734B6EC}"/>
              </a:ext>
            </a:extLst>
          </p:cNvPr>
          <p:cNvSpPr>
            <a:spLocks noChangeArrowheads="1"/>
          </p:cNvSpPr>
          <p:nvPr/>
        </p:nvSpPr>
        <p:spPr bwMode="auto">
          <a:xfrm>
            <a:off x="4349750" y="1549401"/>
            <a:ext cx="11060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a:solidFill>
                  <a:srgbClr val="000000"/>
                </a:solidFill>
                <a:latin typeface="Arial" panose="020B0604020202020204" pitchFamily="34" charset="0"/>
              </a:rPr>
              <a:t>A</a:t>
            </a:r>
            <a:endParaRPr lang="en-US" altLang="en-US" sz="2800" b="1"/>
          </a:p>
        </p:txBody>
      </p:sp>
      <p:sp>
        <p:nvSpPr>
          <p:cNvPr id="17445" name="Line 35">
            <a:extLst>
              <a:ext uri="{FF2B5EF4-FFF2-40B4-BE49-F238E27FC236}">
                <a16:creationId xmlns:a16="http://schemas.microsoft.com/office/drawing/2014/main" id="{B6EA00F4-469D-406C-501B-AA3F8B70A0C3}"/>
              </a:ext>
            </a:extLst>
          </p:cNvPr>
          <p:cNvSpPr>
            <a:spLocks noChangeShapeType="1"/>
          </p:cNvSpPr>
          <p:nvPr/>
        </p:nvSpPr>
        <p:spPr bwMode="auto">
          <a:xfrm>
            <a:off x="5456238" y="2673350"/>
            <a:ext cx="177800"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46" name="Rectangle 36">
            <a:extLst>
              <a:ext uri="{FF2B5EF4-FFF2-40B4-BE49-F238E27FC236}">
                <a16:creationId xmlns:a16="http://schemas.microsoft.com/office/drawing/2014/main" id="{A180C7E9-E657-8322-32D3-103916ABE988}"/>
              </a:ext>
            </a:extLst>
          </p:cNvPr>
          <p:cNvSpPr>
            <a:spLocks noChangeArrowheads="1"/>
          </p:cNvSpPr>
          <p:nvPr/>
        </p:nvSpPr>
        <p:spPr bwMode="auto">
          <a:xfrm>
            <a:off x="4475164" y="2673351"/>
            <a:ext cx="998537" cy="17463"/>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7447" name="Rectangle 37">
            <a:extLst>
              <a:ext uri="{FF2B5EF4-FFF2-40B4-BE49-F238E27FC236}">
                <a16:creationId xmlns:a16="http://schemas.microsoft.com/office/drawing/2014/main" id="{B1A584F1-E4E0-7874-7253-339A92475ED4}"/>
              </a:ext>
            </a:extLst>
          </p:cNvPr>
          <p:cNvSpPr>
            <a:spLocks noChangeArrowheads="1"/>
          </p:cNvSpPr>
          <p:nvPr/>
        </p:nvSpPr>
        <p:spPr bwMode="auto">
          <a:xfrm>
            <a:off x="4349750" y="2544764"/>
            <a:ext cx="11060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a:solidFill>
                  <a:srgbClr val="000000"/>
                </a:solidFill>
                <a:latin typeface="Arial" panose="020B0604020202020204" pitchFamily="34" charset="0"/>
              </a:rPr>
              <a:t>B</a:t>
            </a:r>
            <a:endParaRPr lang="en-US" altLang="en-US" sz="2800" b="1"/>
          </a:p>
        </p:txBody>
      </p:sp>
      <p:sp>
        <p:nvSpPr>
          <p:cNvPr id="17448" name="Line 38">
            <a:extLst>
              <a:ext uri="{FF2B5EF4-FFF2-40B4-BE49-F238E27FC236}">
                <a16:creationId xmlns:a16="http://schemas.microsoft.com/office/drawing/2014/main" id="{3EE4F3B3-45E8-94A1-96BF-C093C840BC54}"/>
              </a:ext>
            </a:extLst>
          </p:cNvPr>
          <p:cNvSpPr>
            <a:spLocks noChangeShapeType="1"/>
          </p:cNvSpPr>
          <p:nvPr/>
        </p:nvSpPr>
        <p:spPr bwMode="auto">
          <a:xfrm>
            <a:off x="4475163" y="1857375"/>
            <a:ext cx="177800"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49" name="Rectangle 39">
            <a:extLst>
              <a:ext uri="{FF2B5EF4-FFF2-40B4-BE49-F238E27FC236}">
                <a16:creationId xmlns:a16="http://schemas.microsoft.com/office/drawing/2014/main" id="{E59F5124-1193-CB45-8C35-B2848A33C3AB}"/>
              </a:ext>
            </a:extLst>
          </p:cNvPr>
          <p:cNvSpPr>
            <a:spLocks noChangeArrowheads="1"/>
          </p:cNvSpPr>
          <p:nvPr/>
        </p:nvSpPr>
        <p:spPr bwMode="auto">
          <a:xfrm>
            <a:off x="4349750" y="1730376"/>
            <a:ext cx="11060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a:solidFill>
                  <a:srgbClr val="000000"/>
                </a:solidFill>
                <a:latin typeface="Arial" panose="020B0604020202020204" pitchFamily="34" charset="0"/>
              </a:rPr>
              <a:t>B</a:t>
            </a:r>
            <a:endParaRPr lang="en-US" altLang="en-US" sz="2800" b="1"/>
          </a:p>
        </p:txBody>
      </p:sp>
      <p:sp>
        <p:nvSpPr>
          <p:cNvPr id="17450" name="Line 40">
            <a:extLst>
              <a:ext uri="{FF2B5EF4-FFF2-40B4-BE49-F238E27FC236}">
                <a16:creationId xmlns:a16="http://schemas.microsoft.com/office/drawing/2014/main" id="{E59DB008-63E7-6C28-CBD3-D7230F0E47C9}"/>
              </a:ext>
            </a:extLst>
          </p:cNvPr>
          <p:cNvSpPr>
            <a:spLocks noChangeShapeType="1"/>
          </p:cNvSpPr>
          <p:nvPr/>
        </p:nvSpPr>
        <p:spPr bwMode="auto">
          <a:xfrm>
            <a:off x="5437188" y="1947864"/>
            <a:ext cx="214312" cy="1587"/>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51" name="Rectangle 41">
            <a:extLst>
              <a:ext uri="{FF2B5EF4-FFF2-40B4-BE49-F238E27FC236}">
                <a16:creationId xmlns:a16="http://schemas.microsoft.com/office/drawing/2014/main" id="{56BCB7FF-F0E3-8A97-145C-498D564310D5}"/>
              </a:ext>
            </a:extLst>
          </p:cNvPr>
          <p:cNvSpPr>
            <a:spLocks noChangeArrowheads="1"/>
          </p:cNvSpPr>
          <p:nvPr/>
        </p:nvSpPr>
        <p:spPr bwMode="auto">
          <a:xfrm>
            <a:off x="5437188" y="1930400"/>
            <a:ext cx="36512" cy="217488"/>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7452" name="Rectangle 42">
            <a:extLst>
              <a:ext uri="{FF2B5EF4-FFF2-40B4-BE49-F238E27FC236}">
                <a16:creationId xmlns:a16="http://schemas.microsoft.com/office/drawing/2014/main" id="{6A64C167-DF05-F133-3328-DFC864B5DAF1}"/>
              </a:ext>
            </a:extLst>
          </p:cNvPr>
          <p:cNvSpPr>
            <a:spLocks noChangeArrowheads="1"/>
          </p:cNvSpPr>
          <p:nvPr/>
        </p:nvSpPr>
        <p:spPr bwMode="auto">
          <a:xfrm>
            <a:off x="4457700" y="2111376"/>
            <a:ext cx="1016000" cy="36513"/>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7453" name="Rectangle 43">
            <a:extLst>
              <a:ext uri="{FF2B5EF4-FFF2-40B4-BE49-F238E27FC236}">
                <a16:creationId xmlns:a16="http://schemas.microsoft.com/office/drawing/2014/main" id="{209024D6-F632-D7F1-71E7-663FA08564C0}"/>
              </a:ext>
            </a:extLst>
          </p:cNvPr>
          <p:cNvSpPr>
            <a:spLocks noChangeArrowheads="1"/>
          </p:cNvSpPr>
          <p:nvPr/>
        </p:nvSpPr>
        <p:spPr bwMode="auto">
          <a:xfrm>
            <a:off x="4260850" y="2001839"/>
            <a:ext cx="166712"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a:solidFill>
                  <a:srgbClr val="000000"/>
                </a:solidFill>
                <a:latin typeface="Arial" panose="020B0604020202020204" pitchFamily="34" charset="0"/>
              </a:rPr>
              <a:t>CI</a:t>
            </a:r>
            <a:endParaRPr lang="en-US" altLang="en-US" sz="2800" b="1"/>
          </a:p>
        </p:txBody>
      </p:sp>
      <p:sp>
        <p:nvSpPr>
          <p:cNvPr id="17454" name="Line 44">
            <a:extLst>
              <a:ext uri="{FF2B5EF4-FFF2-40B4-BE49-F238E27FC236}">
                <a16:creationId xmlns:a16="http://schemas.microsoft.com/office/drawing/2014/main" id="{C10F6FBC-2B90-64DF-224C-3A1540AFABA5}"/>
              </a:ext>
            </a:extLst>
          </p:cNvPr>
          <p:cNvSpPr>
            <a:spLocks noChangeShapeType="1"/>
          </p:cNvSpPr>
          <p:nvPr/>
        </p:nvSpPr>
        <p:spPr bwMode="auto">
          <a:xfrm>
            <a:off x="5276850" y="1766889"/>
            <a:ext cx="179388"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55" name="Line 45">
            <a:extLst>
              <a:ext uri="{FF2B5EF4-FFF2-40B4-BE49-F238E27FC236}">
                <a16:creationId xmlns:a16="http://schemas.microsoft.com/office/drawing/2014/main" id="{1A34FE2E-FC6E-7D88-D07A-3D7135C4CB41}"/>
              </a:ext>
            </a:extLst>
          </p:cNvPr>
          <p:cNvSpPr>
            <a:spLocks noChangeShapeType="1"/>
          </p:cNvSpPr>
          <p:nvPr/>
        </p:nvSpPr>
        <p:spPr bwMode="auto">
          <a:xfrm>
            <a:off x="5456238" y="1766889"/>
            <a:ext cx="177800"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56" name="Line 46">
            <a:extLst>
              <a:ext uri="{FF2B5EF4-FFF2-40B4-BE49-F238E27FC236}">
                <a16:creationId xmlns:a16="http://schemas.microsoft.com/office/drawing/2014/main" id="{73F27786-EA9D-EBBE-D371-EED9650C979E}"/>
              </a:ext>
            </a:extLst>
          </p:cNvPr>
          <p:cNvSpPr>
            <a:spLocks noChangeShapeType="1"/>
          </p:cNvSpPr>
          <p:nvPr/>
        </p:nvSpPr>
        <p:spPr bwMode="auto">
          <a:xfrm>
            <a:off x="6508751" y="2128839"/>
            <a:ext cx="212725" cy="1587"/>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57" name="Line 47">
            <a:extLst>
              <a:ext uri="{FF2B5EF4-FFF2-40B4-BE49-F238E27FC236}">
                <a16:creationId xmlns:a16="http://schemas.microsoft.com/office/drawing/2014/main" id="{DBF2103B-99B1-95D8-A0CA-9F3933EB9FBB}"/>
              </a:ext>
            </a:extLst>
          </p:cNvPr>
          <p:cNvSpPr>
            <a:spLocks noChangeShapeType="1"/>
          </p:cNvSpPr>
          <p:nvPr/>
        </p:nvSpPr>
        <p:spPr bwMode="auto">
          <a:xfrm>
            <a:off x="6257926" y="1857375"/>
            <a:ext cx="214313" cy="1588"/>
          </a:xfrm>
          <a:prstGeom prst="line">
            <a:avLst/>
          </a:prstGeom>
          <a:noFill/>
          <a:ln w="349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58" name="Rectangle 48">
            <a:extLst>
              <a:ext uri="{FF2B5EF4-FFF2-40B4-BE49-F238E27FC236}">
                <a16:creationId xmlns:a16="http://schemas.microsoft.com/office/drawing/2014/main" id="{982D6BD3-79AA-42D4-4AE5-4A5FB3495978}"/>
              </a:ext>
            </a:extLst>
          </p:cNvPr>
          <p:cNvSpPr>
            <a:spLocks noChangeArrowheads="1"/>
          </p:cNvSpPr>
          <p:nvPr/>
        </p:nvSpPr>
        <p:spPr bwMode="auto">
          <a:xfrm>
            <a:off x="6418263" y="1839914"/>
            <a:ext cx="125412" cy="3492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7459" name="Rectangle 49">
            <a:extLst>
              <a:ext uri="{FF2B5EF4-FFF2-40B4-BE49-F238E27FC236}">
                <a16:creationId xmlns:a16="http://schemas.microsoft.com/office/drawing/2014/main" id="{39E684D8-3E8E-B5D2-C2D5-10F7A15033F7}"/>
              </a:ext>
            </a:extLst>
          </p:cNvPr>
          <p:cNvSpPr>
            <a:spLocks noChangeArrowheads="1"/>
          </p:cNvSpPr>
          <p:nvPr/>
        </p:nvSpPr>
        <p:spPr bwMode="auto">
          <a:xfrm>
            <a:off x="6508751" y="1839914"/>
            <a:ext cx="34925" cy="30797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7460" name="Line 50">
            <a:extLst>
              <a:ext uri="{FF2B5EF4-FFF2-40B4-BE49-F238E27FC236}">
                <a16:creationId xmlns:a16="http://schemas.microsoft.com/office/drawing/2014/main" id="{90BD98D6-5CA7-0B7B-D8C1-7F73312C2FAE}"/>
              </a:ext>
            </a:extLst>
          </p:cNvPr>
          <p:cNvSpPr>
            <a:spLocks noChangeShapeType="1"/>
          </p:cNvSpPr>
          <p:nvPr/>
        </p:nvSpPr>
        <p:spPr bwMode="auto">
          <a:xfrm>
            <a:off x="6526213" y="2309814"/>
            <a:ext cx="177800"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61" name="Line 51">
            <a:extLst>
              <a:ext uri="{FF2B5EF4-FFF2-40B4-BE49-F238E27FC236}">
                <a16:creationId xmlns:a16="http://schemas.microsoft.com/office/drawing/2014/main" id="{1C074296-1F56-0C81-B173-88EA91B5E163}"/>
              </a:ext>
            </a:extLst>
          </p:cNvPr>
          <p:cNvSpPr>
            <a:spLocks noChangeShapeType="1"/>
          </p:cNvSpPr>
          <p:nvPr/>
        </p:nvSpPr>
        <p:spPr bwMode="auto">
          <a:xfrm>
            <a:off x="6257925" y="2582864"/>
            <a:ext cx="179388" cy="158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62" name="Rectangle 52">
            <a:extLst>
              <a:ext uri="{FF2B5EF4-FFF2-40B4-BE49-F238E27FC236}">
                <a16:creationId xmlns:a16="http://schemas.microsoft.com/office/drawing/2014/main" id="{CFC7BAB6-58FC-94DD-F927-4CFFF565F38F}"/>
              </a:ext>
            </a:extLst>
          </p:cNvPr>
          <p:cNvSpPr>
            <a:spLocks noChangeArrowheads="1"/>
          </p:cNvSpPr>
          <p:nvPr/>
        </p:nvSpPr>
        <p:spPr bwMode="auto">
          <a:xfrm>
            <a:off x="6526213" y="2309813"/>
            <a:ext cx="17462" cy="290512"/>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7463" name="Rectangle 53">
            <a:extLst>
              <a:ext uri="{FF2B5EF4-FFF2-40B4-BE49-F238E27FC236}">
                <a16:creationId xmlns:a16="http://schemas.microsoft.com/office/drawing/2014/main" id="{3281E08B-282A-6C3B-9982-0F54309586C3}"/>
              </a:ext>
            </a:extLst>
          </p:cNvPr>
          <p:cNvSpPr>
            <a:spLocks noChangeArrowheads="1"/>
          </p:cNvSpPr>
          <p:nvPr/>
        </p:nvSpPr>
        <p:spPr bwMode="auto">
          <a:xfrm>
            <a:off x="6437313" y="2582863"/>
            <a:ext cx="106362" cy="17462"/>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7464" name="Line 54">
            <a:extLst>
              <a:ext uri="{FF2B5EF4-FFF2-40B4-BE49-F238E27FC236}">
                <a16:creationId xmlns:a16="http://schemas.microsoft.com/office/drawing/2014/main" id="{FE5B8FDA-1338-1761-9E7E-7BE28E0899CD}"/>
              </a:ext>
            </a:extLst>
          </p:cNvPr>
          <p:cNvSpPr>
            <a:spLocks noChangeShapeType="1"/>
          </p:cNvSpPr>
          <p:nvPr/>
        </p:nvSpPr>
        <p:spPr bwMode="auto">
          <a:xfrm>
            <a:off x="7327900" y="2219325"/>
            <a:ext cx="179388"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465" name="Rectangle 55">
            <a:extLst>
              <a:ext uri="{FF2B5EF4-FFF2-40B4-BE49-F238E27FC236}">
                <a16:creationId xmlns:a16="http://schemas.microsoft.com/office/drawing/2014/main" id="{F0EEB164-9481-0B41-4B1B-F2F07FEFE4C0}"/>
              </a:ext>
            </a:extLst>
          </p:cNvPr>
          <p:cNvSpPr>
            <a:spLocks noChangeArrowheads="1"/>
          </p:cNvSpPr>
          <p:nvPr/>
        </p:nvSpPr>
        <p:spPr bwMode="auto">
          <a:xfrm>
            <a:off x="7470775" y="2019301"/>
            <a:ext cx="25006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a:solidFill>
                  <a:srgbClr val="000000"/>
                </a:solidFill>
                <a:latin typeface="Arial" panose="020B0604020202020204" pitchFamily="34" charset="0"/>
              </a:rPr>
              <a:t>CO</a:t>
            </a:r>
            <a:endParaRPr lang="en-US" altLang="en-US" sz="2800" b="1"/>
          </a:p>
        </p:txBody>
      </p:sp>
      <p:sp>
        <p:nvSpPr>
          <p:cNvPr id="17466" name="Rectangle 56">
            <a:extLst>
              <a:ext uri="{FF2B5EF4-FFF2-40B4-BE49-F238E27FC236}">
                <a16:creationId xmlns:a16="http://schemas.microsoft.com/office/drawing/2014/main" id="{F916B979-FCEE-2C16-FCD9-EC843960C407}"/>
              </a:ext>
            </a:extLst>
          </p:cNvPr>
          <p:cNvSpPr>
            <a:spLocks noChangeArrowheads="1"/>
          </p:cNvSpPr>
          <p:nvPr/>
        </p:nvSpPr>
        <p:spPr bwMode="auto">
          <a:xfrm>
            <a:off x="3921125" y="1549401"/>
            <a:ext cx="25487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b="1">
                <a:solidFill>
                  <a:srgbClr val="000000"/>
                </a:solidFill>
                <a:latin typeface="Arial" panose="020B0604020202020204" pitchFamily="34" charset="0"/>
              </a:rPr>
              <a:t>@0</a:t>
            </a:r>
            <a:endParaRPr lang="en-US" altLang="en-US" sz="2800" b="1"/>
          </a:p>
        </p:txBody>
      </p:sp>
      <p:sp>
        <p:nvSpPr>
          <p:cNvPr id="17467" name="Rectangle 57">
            <a:extLst>
              <a:ext uri="{FF2B5EF4-FFF2-40B4-BE49-F238E27FC236}">
                <a16:creationId xmlns:a16="http://schemas.microsoft.com/office/drawing/2014/main" id="{0D1948C2-CD9A-4936-09D2-E54BB33C8D68}"/>
              </a:ext>
            </a:extLst>
          </p:cNvPr>
          <p:cNvSpPr>
            <a:spLocks noChangeArrowheads="1"/>
          </p:cNvSpPr>
          <p:nvPr/>
        </p:nvSpPr>
        <p:spPr bwMode="auto">
          <a:xfrm>
            <a:off x="3921125" y="1766889"/>
            <a:ext cx="25487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b="1">
                <a:solidFill>
                  <a:srgbClr val="000000"/>
                </a:solidFill>
                <a:latin typeface="Arial" panose="020B0604020202020204" pitchFamily="34" charset="0"/>
              </a:rPr>
              <a:t>@0</a:t>
            </a:r>
            <a:endParaRPr lang="en-US" altLang="en-US" sz="2800" b="1"/>
          </a:p>
        </p:txBody>
      </p:sp>
      <p:sp>
        <p:nvSpPr>
          <p:cNvPr id="17468" name="Rectangle 58">
            <a:extLst>
              <a:ext uri="{FF2B5EF4-FFF2-40B4-BE49-F238E27FC236}">
                <a16:creationId xmlns:a16="http://schemas.microsoft.com/office/drawing/2014/main" id="{2D6043C9-BE39-EBF5-9AB0-BF69B04609B7}"/>
              </a:ext>
            </a:extLst>
          </p:cNvPr>
          <p:cNvSpPr>
            <a:spLocks noChangeArrowheads="1"/>
          </p:cNvSpPr>
          <p:nvPr/>
        </p:nvSpPr>
        <p:spPr bwMode="auto">
          <a:xfrm>
            <a:off x="3921125" y="2382839"/>
            <a:ext cx="25487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b="1">
                <a:solidFill>
                  <a:srgbClr val="000000"/>
                </a:solidFill>
                <a:latin typeface="Arial" panose="020B0604020202020204" pitchFamily="34" charset="0"/>
              </a:rPr>
              <a:t>@0</a:t>
            </a:r>
            <a:endParaRPr lang="en-US" altLang="en-US" sz="2800" b="1"/>
          </a:p>
        </p:txBody>
      </p:sp>
      <p:sp>
        <p:nvSpPr>
          <p:cNvPr id="17469" name="Rectangle 59">
            <a:extLst>
              <a:ext uri="{FF2B5EF4-FFF2-40B4-BE49-F238E27FC236}">
                <a16:creationId xmlns:a16="http://schemas.microsoft.com/office/drawing/2014/main" id="{A7CE06D0-472C-0C8F-9CC2-09FED5B58C7D}"/>
              </a:ext>
            </a:extLst>
          </p:cNvPr>
          <p:cNvSpPr>
            <a:spLocks noChangeArrowheads="1"/>
          </p:cNvSpPr>
          <p:nvPr/>
        </p:nvSpPr>
        <p:spPr bwMode="auto">
          <a:xfrm>
            <a:off x="3921125" y="2581276"/>
            <a:ext cx="25487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b="1">
                <a:solidFill>
                  <a:srgbClr val="000000"/>
                </a:solidFill>
                <a:latin typeface="Arial" panose="020B0604020202020204" pitchFamily="34" charset="0"/>
              </a:rPr>
              <a:t>@0</a:t>
            </a:r>
            <a:endParaRPr lang="en-US" altLang="en-US" sz="2800" b="1"/>
          </a:p>
        </p:txBody>
      </p:sp>
      <p:sp>
        <p:nvSpPr>
          <p:cNvPr id="17470" name="Rectangle 60">
            <a:extLst>
              <a:ext uri="{FF2B5EF4-FFF2-40B4-BE49-F238E27FC236}">
                <a16:creationId xmlns:a16="http://schemas.microsoft.com/office/drawing/2014/main" id="{B5824D81-70A7-A133-366A-A8EC250C93B4}"/>
              </a:ext>
            </a:extLst>
          </p:cNvPr>
          <p:cNvSpPr>
            <a:spLocks noChangeArrowheads="1"/>
          </p:cNvSpPr>
          <p:nvPr/>
        </p:nvSpPr>
        <p:spPr bwMode="auto">
          <a:xfrm>
            <a:off x="3921126" y="2019301"/>
            <a:ext cx="282129"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b="1">
                <a:solidFill>
                  <a:srgbClr val="000000"/>
                </a:solidFill>
                <a:latin typeface="Arial" panose="020B0604020202020204" pitchFamily="34" charset="0"/>
              </a:rPr>
              <a:t>@N</a:t>
            </a:r>
            <a:endParaRPr lang="en-US" altLang="en-US" sz="2800" b="1"/>
          </a:p>
        </p:txBody>
      </p:sp>
      <p:sp>
        <p:nvSpPr>
          <p:cNvPr id="17471" name="Rectangle 61">
            <a:extLst>
              <a:ext uri="{FF2B5EF4-FFF2-40B4-BE49-F238E27FC236}">
                <a16:creationId xmlns:a16="http://schemas.microsoft.com/office/drawing/2014/main" id="{EA9CC120-A890-8AC4-7B7C-3B33B26FB8B4}"/>
              </a:ext>
            </a:extLst>
          </p:cNvPr>
          <p:cNvSpPr>
            <a:spLocks noChangeArrowheads="1"/>
          </p:cNvSpPr>
          <p:nvPr/>
        </p:nvSpPr>
        <p:spPr bwMode="auto">
          <a:xfrm>
            <a:off x="5348288" y="1566864"/>
            <a:ext cx="25487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b="1">
                <a:solidFill>
                  <a:srgbClr val="000000"/>
                </a:solidFill>
                <a:latin typeface="Arial" panose="020B0604020202020204" pitchFamily="34" charset="0"/>
              </a:rPr>
              <a:t>@1</a:t>
            </a:r>
            <a:endParaRPr lang="en-US" altLang="en-US" sz="2800" b="1"/>
          </a:p>
        </p:txBody>
      </p:sp>
      <p:sp>
        <p:nvSpPr>
          <p:cNvPr id="17472" name="Rectangle 62">
            <a:extLst>
              <a:ext uri="{FF2B5EF4-FFF2-40B4-BE49-F238E27FC236}">
                <a16:creationId xmlns:a16="http://schemas.microsoft.com/office/drawing/2014/main" id="{3D91FD72-FA63-54CC-4DA8-2BFFD54BADE1}"/>
              </a:ext>
            </a:extLst>
          </p:cNvPr>
          <p:cNvSpPr>
            <a:spLocks noChangeArrowheads="1"/>
          </p:cNvSpPr>
          <p:nvPr/>
        </p:nvSpPr>
        <p:spPr bwMode="auto">
          <a:xfrm>
            <a:off x="6400800" y="2636839"/>
            <a:ext cx="254878"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b="1">
                <a:solidFill>
                  <a:srgbClr val="000000"/>
                </a:solidFill>
                <a:latin typeface="Arial" panose="020B0604020202020204" pitchFamily="34" charset="0"/>
              </a:rPr>
              <a:t>@1</a:t>
            </a:r>
            <a:endParaRPr lang="en-US" altLang="en-US" sz="2800" b="1"/>
          </a:p>
        </p:txBody>
      </p:sp>
      <p:sp>
        <p:nvSpPr>
          <p:cNvPr id="17473" name="Rectangle 63">
            <a:extLst>
              <a:ext uri="{FF2B5EF4-FFF2-40B4-BE49-F238E27FC236}">
                <a16:creationId xmlns:a16="http://schemas.microsoft.com/office/drawing/2014/main" id="{5809A44C-8AC8-9D88-821B-3D7F675FCD58}"/>
              </a:ext>
            </a:extLst>
          </p:cNvPr>
          <p:cNvSpPr>
            <a:spLocks noChangeArrowheads="1"/>
          </p:cNvSpPr>
          <p:nvPr/>
        </p:nvSpPr>
        <p:spPr bwMode="auto">
          <a:xfrm>
            <a:off x="6365875" y="1620839"/>
            <a:ext cx="47288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b="1">
                <a:solidFill>
                  <a:srgbClr val="000000"/>
                </a:solidFill>
                <a:latin typeface="Arial" panose="020B0604020202020204" pitchFamily="34" charset="0"/>
              </a:rPr>
              <a:t>@N+1</a:t>
            </a:r>
            <a:endParaRPr lang="en-US" altLang="en-US" sz="2800" b="1"/>
          </a:p>
        </p:txBody>
      </p:sp>
      <p:sp>
        <p:nvSpPr>
          <p:cNvPr id="17474" name="Rectangle 64">
            <a:extLst>
              <a:ext uri="{FF2B5EF4-FFF2-40B4-BE49-F238E27FC236}">
                <a16:creationId xmlns:a16="http://schemas.microsoft.com/office/drawing/2014/main" id="{EFA8C089-F755-EAA5-0FAB-4A0651EE4793}"/>
              </a:ext>
            </a:extLst>
          </p:cNvPr>
          <p:cNvSpPr>
            <a:spLocks noChangeArrowheads="1"/>
          </p:cNvSpPr>
          <p:nvPr/>
        </p:nvSpPr>
        <p:spPr bwMode="auto">
          <a:xfrm>
            <a:off x="7327900" y="2309814"/>
            <a:ext cx="47288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300" b="1">
                <a:solidFill>
                  <a:srgbClr val="000000"/>
                </a:solidFill>
                <a:latin typeface="Arial" panose="020B0604020202020204" pitchFamily="34" charset="0"/>
              </a:rPr>
              <a:t>@N+2</a:t>
            </a:r>
            <a:endParaRPr lang="en-US" altLang="en-US" sz="2800" b="1"/>
          </a:p>
        </p:txBody>
      </p:sp>
      <p:sp>
        <p:nvSpPr>
          <p:cNvPr id="17475" name="Rectangle 65">
            <a:extLst>
              <a:ext uri="{FF2B5EF4-FFF2-40B4-BE49-F238E27FC236}">
                <a16:creationId xmlns:a16="http://schemas.microsoft.com/office/drawing/2014/main" id="{A2D7CE7E-B056-FC9E-BE70-454FCB89E34A}"/>
              </a:ext>
            </a:extLst>
          </p:cNvPr>
          <p:cNvSpPr>
            <a:spLocks noChangeArrowheads="1"/>
          </p:cNvSpPr>
          <p:nvPr/>
        </p:nvSpPr>
        <p:spPr bwMode="auto">
          <a:xfrm>
            <a:off x="2120900" y="1676400"/>
            <a:ext cx="965200" cy="75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gn="ctr">
              <a:lnSpc>
                <a:spcPct val="85000"/>
              </a:lnSpc>
            </a:pPr>
            <a:r>
              <a:rPr lang="en-US" altLang="en-US" sz="1800" b="1">
                <a:latin typeface="Arial" panose="020B0604020202020204" pitchFamily="34" charset="0"/>
              </a:rPr>
              <a:t>late</a:t>
            </a:r>
          </a:p>
          <a:p>
            <a:pPr algn="ctr">
              <a:lnSpc>
                <a:spcPct val="85000"/>
              </a:lnSpc>
            </a:pPr>
            <a:r>
              <a:rPr lang="en-US" altLang="en-US" sz="1800" b="1">
                <a:latin typeface="Arial" panose="020B0604020202020204" pitchFamily="34" charset="0"/>
              </a:rPr>
              <a:t>arriving</a:t>
            </a:r>
          </a:p>
          <a:p>
            <a:pPr algn="ctr">
              <a:lnSpc>
                <a:spcPct val="85000"/>
              </a:lnSpc>
            </a:pPr>
            <a:r>
              <a:rPr lang="en-US" altLang="en-US" sz="1800" b="1">
                <a:latin typeface="Arial" panose="020B0604020202020204" pitchFamily="34" charset="0"/>
              </a:rPr>
              <a:t>signal</a:t>
            </a:r>
          </a:p>
        </p:txBody>
      </p:sp>
      <p:sp>
        <p:nvSpPr>
          <p:cNvPr id="17476" name="Line 66">
            <a:extLst>
              <a:ext uri="{FF2B5EF4-FFF2-40B4-BE49-F238E27FC236}">
                <a16:creationId xmlns:a16="http://schemas.microsoft.com/office/drawing/2014/main" id="{3685B75B-F353-7FAC-D756-5F20844399DB}"/>
              </a:ext>
            </a:extLst>
          </p:cNvPr>
          <p:cNvSpPr>
            <a:spLocks noChangeShapeType="1"/>
          </p:cNvSpPr>
          <p:nvPr/>
        </p:nvSpPr>
        <p:spPr bwMode="auto">
          <a:xfrm>
            <a:off x="3111500" y="2057400"/>
            <a:ext cx="762000" cy="3810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477" name="Rectangle 67">
            <a:extLst>
              <a:ext uri="{FF2B5EF4-FFF2-40B4-BE49-F238E27FC236}">
                <a16:creationId xmlns:a16="http://schemas.microsoft.com/office/drawing/2014/main" id="{E8018A39-498A-2837-0586-DF4BB276293E}"/>
              </a:ext>
            </a:extLst>
          </p:cNvPr>
          <p:cNvSpPr>
            <a:spLocks noChangeArrowheads="1"/>
          </p:cNvSpPr>
          <p:nvPr/>
        </p:nvSpPr>
        <p:spPr bwMode="auto">
          <a:xfrm>
            <a:off x="8585200" y="2311401"/>
            <a:ext cx="18288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a:latin typeface="Arial" panose="020B0604020202020204" pitchFamily="34" charset="0"/>
              </a:rPr>
              <a:t>two gate delays</a:t>
            </a:r>
          </a:p>
          <a:p>
            <a:pPr>
              <a:lnSpc>
                <a:spcPct val="85000"/>
              </a:lnSpc>
            </a:pPr>
            <a:r>
              <a:rPr lang="en-US" altLang="en-US" sz="1800" b="1">
                <a:latin typeface="Arial" panose="020B0604020202020204" pitchFamily="34" charset="0"/>
              </a:rPr>
              <a:t>to compute CO</a:t>
            </a:r>
          </a:p>
        </p:txBody>
      </p:sp>
      <p:sp>
        <p:nvSpPr>
          <p:cNvPr id="17478" name="Line 68">
            <a:extLst>
              <a:ext uri="{FF2B5EF4-FFF2-40B4-BE49-F238E27FC236}">
                <a16:creationId xmlns:a16="http://schemas.microsoft.com/office/drawing/2014/main" id="{C0E0237D-3F15-3597-852B-AE0E50267AC9}"/>
              </a:ext>
            </a:extLst>
          </p:cNvPr>
          <p:cNvSpPr>
            <a:spLocks noChangeShapeType="1"/>
          </p:cNvSpPr>
          <p:nvPr/>
        </p:nvSpPr>
        <p:spPr bwMode="auto">
          <a:xfrm flipH="1" flipV="1">
            <a:off x="7759700" y="2209800"/>
            <a:ext cx="800100" cy="33020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479" name="Rectangle 69">
            <a:extLst>
              <a:ext uri="{FF2B5EF4-FFF2-40B4-BE49-F238E27FC236}">
                <a16:creationId xmlns:a16="http://schemas.microsoft.com/office/drawing/2014/main" id="{EC1A737F-9048-34FB-C088-0AE2B5CFDCC6}"/>
              </a:ext>
            </a:extLst>
          </p:cNvPr>
          <p:cNvSpPr>
            <a:spLocks noChangeArrowheads="1"/>
          </p:cNvSpPr>
          <p:nvPr/>
        </p:nvSpPr>
        <p:spPr bwMode="auto">
          <a:xfrm>
            <a:off x="2222500" y="4229101"/>
            <a:ext cx="9144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a:latin typeface="Arial" panose="020B0604020202020204" pitchFamily="34" charset="0"/>
              </a:rPr>
              <a:t>4 stage</a:t>
            </a:r>
          </a:p>
          <a:p>
            <a:pPr>
              <a:lnSpc>
                <a:spcPct val="85000"/>
              </a:lnSpc>
            </a:pPr>
            <a:r>
              <a:rPr lang="en-US" altLang="en-US" sz="1800" b="1">
                <a:latin typeface="Arial" panose="020B0604020202020204" pitchFamily="34" charset="0"/>
              </a:rPr>
              <a:t>adder</a:t>
            </a:r>
          </a:p>
        </p:txBody>
      </p:sp>
      <p:sp>
        <p:nvSpPr>
          <p:cNvPr id="17480" name="Rectangle 70">
            <a:extLst>
              <a:ext uri="{FF2B5EF4-FFF2-40B4-BE49-F238E27FC236}">
                <a16:creationId xmlns:a16="http://schemas.microsoft.com/office/drawing/2014/main" id="{569519B7-889C-9B8C-30DD-71143F6A6035}"/>
              </a:ext>
            </a:extLst>
          </p:cNvPr>
          <p:cNvSpPr>
            <a:spLocks noChangeArrowheads="1"/>
          </p:cNvSpPr>
          <p:nvPr/>
        </p:nvSpPr>
        <p:spPr bwMode="auto">
          <a:xfrm>
            <a:off x="8534400" y="6083301"/>
            <a:ext cx="16002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a:latin typeface="Arial" panose="020B0604020202020204" pitchFamily="34" charset="0"/>
              </a:rPr>
              <a:t>final sum and</a:t>
            </a:r>
          </a:p>
          <a:p>
            <a:pPr>
              <a:lnSpc>
                <a:spcPct val="85000"/>
              </a:lnSpc>
            </a:pPr>
            <a:r>
              <a:rPr lang="en-US" altLang="en-US" sz="1800" b="1">
                <a:latin typeface="Arial" panose="020B0604020202020204" pitchFamily="34" charset="0"/>
              </a:rPr>
              <a:t>carry</a:t>
            </a:r>
          </a:p>
        </p:txBody>
      </p:sp>
      <p:sp>
        <p:nvSpPr>
          <p:cNvPr id="17481" name="Rectangle 71">
            <a:extLst>
              <a:ext uri="{FF2B5EF4-FFF2-40B4-BE49-F238E27FC236}">
                <a16:creationId xmlns:a16="http://schemas.microsoft.com/office/drawing/2014/main" id="{CBD24A9E-02A6-09C7-0500-916892F3A2BF}"/>
              </a:ext>
            </a:extLst>
          </p:cNvPr>
          <p:cNvSpPr>
            <a:spLocks noChangeArrowheads="1"/>
          </p:cNvSpPr>
          <p:nvPr/>
        </p:nvSpPr>
        <p:spPr bwMode="auto">
          <a:xfrm>
            <a:off x="4725988" y="3746501"/>
            <a:ext cx="531812" cy="620713"/>
          </a:xfrm>
          <a:prstGeom prst="rect">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grpSp>
        <p:nvGrpSpPr>
          <p:cNvPr id="17482" name="Group 72">
            <a:extLst>
              <a:ext uri="{FF2B5EF4-FFF2-40B4-BE49-F238E27FC236}">
                <a16:creationId xmlns:a16="http://schemas.microsoft.com/office/drawing/2014/main" id="{F1411D95-1562-0B15-31B3-5184BE35045E}"/>
              </a:ext>
            </a:extLst>
          </p:cNvPr>
          <p:cNvGrpSpPr>
            <a:grpSpLocks/>
          </p:cNvGrpSpPr>
          <p:nvPr/>
        </p:nvGrpSpPr>
        <p:grpSpPr bwMode="auto">
          <a:xfrm>
            <a:off x="4183064" y="3713170"/>
            <a:ext cx="250825" cy="280988"/>
            <a:chOff x="1675" y="2339"/>
            <a:chExt cx="158" cy="177"/>
          </a:xfrm>
        </p:grpSpPr>
        <p:sp>
          <p:nvSpPr>
            <p:cNvPr id="17590" name="Rectangle 73">
              <a:extLst>
                <a:ext uri="{FF2B5EF4-FFF2-40B4-BE49-F238E27FC236}">
                  <a16:creationId xmlns:a16="http://schemas.microsoft.com/office/drawing/2014/main" id="{5E231470-CFC6-BD89-773C-55BD8713713C}"/>
                </a:ext>
              </a:extLst>
            </p:cNvPr>
            <p:cNvSpPr>
              <a:spLocks noChangeArrowheads="1"/>
            </p:cNvSpPr>
            <p:nvPr/>
          </p:nvSpPr>
          <p:spPr bwMode="auto">
            <a:xfrm>
              <a:off x="1675" y="2339"/>
              <a:ext cx="10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A </a:t>
              </a:r>
              <a:endParaRPr lang="en-US" altLang="en-US" sz="2800" b="1"/>
            </a:p>
          </p:txBody>
        </p:sp>
        <p:sp>
          <p:nvSpPr>
            <p:cNvPr id="17591" name="Rectangle 74">
              <a:extLst>
                <a:ext uri="{FF2B5EF4-FFF2-40B4-BE49-F238E27FC236}">
                  <a16:creationId xmlns:a16="http://schemas.microsoft.com/office/drawing/2014/main" id="{2E46FCA8-C76E-F90E-D639-0C84774C2F83}"/>
                </a:ext>
              </a:extLst>
            </p:cNvPr>
            <p:cNvSpPr>
              <a:spLocks noChangeArrowheads="1"/>
            </p:cNvSpPr>
            <p:nvPr/>
          </p:nvSpPr>
          <p:spPr bwMode="auto">
            <a:xfrm>
              <a:off x="1759" y="2409"/>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0 </a:t>
              </a:r>
              <a:endParaRPr lang="en-US" altLang="en-US" sz="2800" b="1"/>
            </a:p>
          </p:txBody>
        </p:sp>
      </p:grpSp>
      <p:grpSp>
        <p:nvGrpSpPr>
          <p:cNvPr id="17483" name="Group 75">
            <a:extLst>
              <a:ext uri="{FF2B5EF4-FFF2-40B4-BE49-F238E27FC236}">
                <a16:creationId xmlns:a16="http://schemas.microsoft.com/office/drawing/2014/main" id="{2D0812BC-ADFD-6DF7-2D57-C5985EF611E0}"/>
              </a:ext>
            </a:extLst>
          </p:cNvPr>
          <p:cNvGrpSpPr>
            <a:grpSpLocks/>
          </p:cNvGrpSpPr>
          <p:nvPr/>
        </p:nvGrpSpPr>
        <p:grpSpPr bwMode="auto">
          <a:xfrm>
            <a:off x="4183063" y="4044957"/>
            <a:ext cx="228600" cy="280988"/>
            <a:chOff x="1675" y="2548"/>
            <a:chExt cx="144" cy="177"/>
          </a:xfrm>
        </p:grpSpPr>
        <p:sp>
          <p:nvSpPr>
            <p:cNvPr id="17588" name="Rectangle 76">
              <a:extLst>
                <a:ext uri="{FF2B5EF4-FFF2-40B4-BE49-F238E27FC236}">
                  <a16:creationId xmlns:a16="http://schemas.microsoft.com/office/drawing/2014/main" id="{A5BCFD0B-BEAD-B964-4C3E-4708A3D1794D}"/>
                </a:ext>
              </a:extLst>
            </p:cNvPr>
            <p:cNvSpPr>
              <a:spLocks noChangeArrowheads="1"/>
            </p:cNvSpPr>
            <p:nvPr/>
          </p:nvSpPr>
          <p:spPr bwMode="auto">
            <a:xfrm>
              <a:off x="1675" y="2548"/>
              <a:ext cx="10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B </a:t>
              </a:r>
              <a:endParaRPr lang="en-US" altLang="en-US" sz="2800" b="1"/>
            </a:p>
          </p:txBody>
        </p:sp>
        <p:sp>
          <p:nvSpPr>
            <p:cNvPr id="17589" name="Rectangle 77">
              <a:extLst>
                <a:ext uri="{FF2B5EF4-FFF2-40B4-BE49-F238E27FC236}">
                  <a16:creationId xmlns:a16="http://schemas.microsoft.com/office/drawing/2014/main" id="{59F28E6F-416D-C1E0-98D1-571C5A394274}"/>
                </a:ext>
              </a:extLst>
            </p:cNvPr>
            <p:cNvSpPr>
              <a:spLocks noChangeArrowheads="1"/>
            </p:cNvSpPr>
            <p:nvPr/>
          </p:nvSpPr>
          <p:spPr bwMode="auto">
            <a:xfrm>
              <a:off x="1745" y="2618"/>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0 </a:t>
              </a:r>
              <a:endParaRPr lang="en-US" altLang="en-US" sz="2800" b="1"/>
            </a:p>
          </p:txBody>
        </p:sp>
      </p:grpSp>
      <p:grpSp>
        <p:nvGrpSpPr>
          <p:cNvPr id="17484" name="Group 78">
            <a:extLst>
              <a:ext uri="{FF2B5EF4-FFF2-40B4-BE49-F238E27FC236}">
                <a16:creationId xmlns:a16="http://schemas.microsoft.com/office/drawing/2014/main" id="{FD084436-92F3-6AEC-3E11-037BC1C9B705}"/>
              </a:ext>
            </a:extLst>
          </p:cNvPr>
          <p:cNvGrpSpPr>
            <a:grpSpLocks/>
          </p:cNvGrpSpPr>
          <p:nvPr/>
        </p:nvGrpSpPr>
        <p:grpSpPr bwMode="auto">
          <a:xfrm>
            <a:off x="4183063" y="3336931"/>
            <a:ext cx="228600" cy="280988"/>
            <a:chOff x="1675" y="2102"/>
            <a:chExt cx="144" cy="177"/>
          </a:xfrm>
        </p:grpSpPr>
        <p:sp>
          <p:nvSpPr>
            <p:cNvPr id="17586" name="Rectangle 79">
              <a:extLst>
                <a:ext uri="{FF2B5EF4-FFF2-40B4-BE49-F238E27FC236}">
                  <a16:creationId xmlns:a16="http://schemas.microsoft.com/office/drawing/2014/main" id="{2C661020-A4EB-21A3-64DF-A757A29C27D3}"/>
                </a:ext>
              </a:extLst>
            </p:cNvPr>
            <p:cNvSpPr>
              <a:spLocks noChangeArrowheads="1"/>
            </p:cNvSpPr>
            <p:nvPr/>
          </p:nvSpPr>
          <p:spPr bwMode="auto">
            <a:xfrm>
              <a:off x="1675" y="2102"/>
              <a:ext cx="11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C </a:t>
              </a:r>
              <a:endParaRPr lang="en-US" altLang="en-US" sz="2800" b="1"/>
            </a:p>
          </p:txBody>
        </p:sp>
        <p:sp>
          <p:nvSpPr>
            <p:cNvPr id="17587" name="Rectangle 80">
              <a:extLst>
                <a:ext uri="{FF2B5EF4-FFF2-40B4-BE49-F238E27FC236}">
                  <a16:creationId xmlns:a16="http://schemas.microsoft.com/office/drawing/2014/main" id="{6B37A693-E0F7-ED49-A421-7E6726C013CC}"/>
                </a:ext>
              </a:extLst>
            </p:cNvPr>
            <p:cNvSpPr>
              <a:spLocks noChangeArrowheads="1"/>
            </p:cNvSpPr>
            <p:nvPr/>
          </p:nvSpPr>
          <p:spPr bwMode="auto">
            <a:xfrm>
              <a:off x="1745" y="2172"/>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0 </a:t>
              </a:r>
              <a:endParaRPr lang="en-US" altLang="en-US" sz="2800" b="1"/>
            </a:p>
          </p:txBody>
        </p:sp>
      </p:grpSp>
      <p:grpSp>
        <p:nvGrpSpPr>
          <p:cNvPr id="17485" name="Group 81">
            <a:extLst>
              <a:ext uri="{FF2B5EF4-FFF2-40B4-BE49-F238E27FC236}">
                <a16:creationId xmlns:a16="http://schemas.microsoft.com/office/drawing/2014/main" id="{01F01BEA-CF1B-C21C-8606-1CCD3F7643D4}"/>
              </a:ext>
            </a:extLst>
          </p:cNvPr>
          <p:cNvGrpSpPr>
            <a:grpSpLocks/>
          </p:cNvGrpSpPr>
          <p:nvPr/>
        </p:nvGrpSpPr>
        <p:grpSpPr bwMode="auto">
          <a:xfrm>
            <a:off x="5556255" y="3713170"/>
            <a:ext cx="557213" cy="280988"/>
            <a:chOff x="2540" y="2339"/>
            <a:chExt cx="351" cy="177"/>
          </a:xfrm>
        </p:grpSpPr>
        <p:sp>
          <p:nvSpPr>
            <p:cNvPr id="17583" name="Rectangle 82">
              <a:extLst>
                <a:ext uri="{FF2B5EF4-FFF2-40B4-BE49-F238E27FC236}">
                  <a16:creationId xmlns:a16="http://schemas.microsoft.com/office/drawing/2014/main" id="{14AD1BFE-EC6D-067D-7384-1907E033F702}"/>
                </a:ext>
              </a:extLst>
            </p:cNvPr>
            <p:cNvSpPr>
              <a:spLocks noChangeArrowheads="1"/>
            </p:cNvSpPr>
            <p:nvPr/>
          </p:nvSpPr>
          <p:spPr bwMode="auto">
            <a:xfrm>
              <a:off x="2540" y="2339"/>
              <a:ext cx="10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S </a:t>
              </a:r>
              <a:endParaRPr lang="en-US" altLang="en-US" sz="2800" b="1"/>
            </a:p>
          </p:txBody>
        </p:sp>
        <p:sp>
          <p:nvSpPr>
            <p:cNvPr id="17584" name="Rectangle 83">
              <a:extLst>
                <a:ext uri="{FF2B5EF4-FFF2-40B4-BE49-F238E27FC236}">
                  <a16:creationId xmlns:a16="http://schemas.microsoft.com/office/drawing/2014/main" id="{090D5FFB-20F5-901E-A430-9655EEBA9A91}"/>
                </a:ext>
              </a:extLst>
            </p:cNvPr>
            <p:cNvSpPr>
              <a:spLocks noChangeArrowheads="1"/>
            </p:cNvSpPr>
            <p:nvPr/>
          </p:nvSpPr>
          <p:spPr bwMode="auto">
            <a:xfrm>
              <a:off x="2610" y="2409"/>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0 </a:t>
              </a:r>
              <a:endParaRPr lang="en-US" altLang="en-US" sz="2800" b="1"/>
            </a:p>
          </p:txBody>
        </p:sp>
        <p:sp>
          <p:nvSpPr>
            <p:cNvPr id="17585" name="Rectangle 84">
              <a:extLst>
                <a:ext uri="{FF2B5EF4-FFF2-40B4-BE49-F238E27FC236}">
                  <a16:creationId xmlns:a16="http://schemas.microsoft.com/office/drawing/2014/main" id="{002808BD-1215-F24B-E04F-36FE4086D910}"/>
                </a:ext>
              </a:extLst>
            </p:cNvPr>
            <p:cNvSpPr>
              <a:spLocks noChangeArrowheads="1"/>
            </p:cNvSpPr>
            <p:nvPr/>
          </p:nvSpPr>
          <p:spPr bwMode="auto">
            <a:xfrm>
              <a:off x="2651" y="2339"/>
              <a:ext cx="24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 @2 </a:t>
              </a:r>
              <a:endParaRPr lang="en-US" altLang="en-US" sz="2800" b="1"/>
            </a:p>
          </p:txBody>
        </p:sp>
      </p:grpSp>
      <p:sp>
        <p:nvSpPr>
          <p:cNvPr id="17486" name="Rectangle 85">
            <a:extLst>
              <a:ext uri="{FF2B5EF4-FFF2-40B4-BE49-F238E27FC236}">
                <a16:creationId xmlns:a16="http://schemas.microsoft.com/office/drawing/2014/main" id="{CAEDD0A6-1F9C-E329-27BD-E9CF19CCC7CA}"/>
              </a:ext>
            </a:extLst>
          </p:cNvPr>
          <p:cNvSpPr>
            <a:spLocks noChangeArrowheads="1"/>
          </p:cNvSpPr>
          <p:nvPr/>
        </p:nvSpPr>
        <p:spPr bwMode="auto">
          <a:xfrm>
            <a:off x="5257801" y="4454526"/>
            <a:ext cx="530225" cy="620713"/>
          </a:xfrm>
          <a:prstGeom prst="rect">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grpSp>
        <p:nvGrpSpPr>
          <p:cNvPr id="17487" name="Group 86">
            <a:extLst>
              <a:ext uri="{FF2B5EF4-FFF2-40B4-BE49-F238E27FC236}">
                <a16:creationId xmlns:a16="http://schemas.microsoft.com/office/drawing/2014/main" id="{4DA87708-0D73-FFEC-F077-9DCCF483068A}"/>
              </a:ext>
            </a:extLst>
          </p:cNvPr>
          <p:cNvGrpSpPr>
            <a:grpSpLocks/>
          </p:cNvGrpSpPr>
          <p:nvPr/>
        </p:nvGrpSpPr>
        <p:grpSpPr bwMode="auto">
          <a:xfrm>
            <a:off x="4737101" y="4421196"/>
            <a:ext cx="249238" cy="280988"/>
            <a:chOff x="2024" y="2785"/>
            <a:chExt cx="157" cy="177"/>
          </a:xfrm>
        </p:grpSpPr>
        <p:sp>
          <p:nvSpPr>
            <p:cNvPr id="17581" name="Rectangle 87">
              <a:extLst>
                <a:ext uri="{FF2B5EF4-FFF2-40B4-BE49-F238E27FC236}">
                  <a16:creationId xmlns:a16="http://schemas.microsoft.com/office/drawing/2014/main" id="{3C42D628-609C-CEA2-F0B8-634AC6F2BCE2}"/>
                </a:ext>
              </a:extLst>
            </p:cNvPr>
            <p:cNvSpPr>
              <a:spLocks noChangeArrowheads="1"/>
            </p:cNvSpPr>
            <p:nvPr/>
          </p:nvSpPr>
          <p:spPr bwMode="auto">
            <a:xfrm>
              <a:off x="2024" y="2785"/>
              <a:ext cx="10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A </a:t>
              </a:r>
              <a:endParaRPr lang="en-US" altLang="en-US" sz="2800" b="1"/>
            </a:p>
          </p:txBody>
        </p:sp>
        <p:sp>
          <p:nvSpPr>
            <p:cNvPr id="17582" name="Rectangle 88">
              <a:extLst>
                <a:ext uri="{FF2B5EF4-FFF2-40B4-BE49-F238E27FC236}">
                  <a16:creationId xmlns:a16="http://schemas.microsoft.com/office/drawing/2014/main" id="{DB9F34C4-87CB-14C3-1A18-07F756AF17B4}"/>
                </a:ext>
              </a:extLst>
            </p:cNvPr>
            <p:cNvSpPr>
              <a:spLocks noChangeArrowheads="1"/>
            </p:cNvSpPr>
            <p:nvPr/>
          </p:nvSpPr>
          <p:spPr bwMode="auto">
            <a:xfrm>
              <a:off x="2107" y="2855"/>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1 </a:t>
              </a:r>
              <a:endParaRPr lang="en-US" altLang="en-US" sz="2800" b="1"/>
            </a:p>
          </p:txBody>
        </p:sp>
      </p:grpSp>
      <p:grpSp>
        <p:nvGrpSpPr>
          <p:cNvPr id="17488" name="Group 89">
            <a:extLst>
              <a:ext uri="{FF2B5EF4-FFF2-40B4-BE49-F238E27FC236}">
                <a16:creationId xmlns:a16="http://schemas.microsoft.com/office/drawing/2014/main" id="{99A2C8C7-BCC5-07F1-33D3-04271CD3AF0F}"/>
              </a:ext>
            </a:extLst>
          </p:cNvPr>
          <p:cNvGrpSpPr>
            <a:grpSpLocks/>
          </p:cNvGrpSpPr>
          <p:nvPr/>
        </p:nvGrpSpPr>
        <p:grpSpPr bwMode="auto">
          <a:xfrm>
            <a:off x="4737102" y="4730758"/>
            <a:ext cx="227013" cy="280988"/>
            <a:chOff x="2024" y="2980"/>
            <a:chExt cx="143" cy="177"/>
          </a:xfrm>
        </p:grpSpPr>
        <p:sp>
          <p:nvSpPr>
            <p:cNvPr id="17579" name="Rectangle 90">
              <a:extLst>
                <a:ext uri="{FF2B5EF4-FFF2-40B4-BE49-F238E27FC236}">
                  <a16:creationId xmlns:a16="http://schemas.microsoft.com/office/drawing/2014/main" id="{D073E100-7EDC-A44F-5AA4-F48772FC6218}"/>
                </a:ext>
              </a:extLst>
            </p:cNvPr>
            <p:cNvSpPr>
              <a:spLocks noChangeArrowheads="1"/>
            </p:cNvSpPr>
            <p:nvPr/>
          </p:nvSpPr>
          <p:spPr bwMode="auto">
            <a:xfrm>
              <a:off x="2024" y="2980"/>
              <a:ext cx="10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B </a:t>
              </a:r>
              <a:endParaRPr lang="en-US" altLang="en-US" sz="2800" b="1"/>
            </a:p>
          </p:txBody>
        </p:sp>
        <p:sp>
          <p:nvSpPr>
            <p:cNvPr id="17580" name="Rectangle 91">
              <a:extLst>
                <a:ext uri="{FF2B5EF4-FFF2-40B4-BE49-F238E27FC236}">
                  <a16:creationId xmlns:a16="http://schemas.microsoft.com/office/drawing/2014/main" id="{C4EC5EF1-DBEF-26BB-35FE-D57B714CBBBE}"/>
                </a:ext>
              </a:extLst>
            </p:cNvPr>
            <p:cNvSpPr>
              <a:spLocks noChangeArrowheads="1"/>
            </p:cNvSpPr>
            <p:nvPr/>
          </p:nvSpPr>
          <p:spPr bwMode="auto">
            <a:xfrm>
              <a:off x="2093" y="3050"/>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1 </a:t>
              </a:r>
              <a:endParaRPr lang="en-US" altLang="en-US" sz="2800" b="1"/>
            </a:p>
          </p:txBody>
        </p:sp>
      </p:grpSp>
      <p:grpSp>
        <p:nvGrpSpPr>
          <p:cNvPr id="17489" name="Group 92">
            <a:extLst>
              <a:ext uri="{FF2B5EF4-FFF2-40B4-BE49-F238E27FC236}">
                <a16:creationId xmlns:a16="http://schemas.microsoft.com/office/drawing/2014/main" id="{0E5BC197-B4CA-65D4-43AE-79C48C483D85}"/>
              </a:ext>
            </a:extLst>
          </p:cNvPr>
          <p:cNvGrpSpPr>
            <a:grpSpLocks/>
          </p:cNvGrpSpPr>
          <p:nvPr/>
        </p:nvGrpSpPr>
        <p:grpSpPr bwMode="auto">
          <a:xfrm>
            <a:off x="5556253" y="4067182"/>
            <a:ext cx="579438" cy="280988"/>
            <a:chOff x="2540" y="2562"/>
            <a:chExt cx="365" cy="177"/>
          </a:xfrm>
        </p:grpSpPr>
        <p:sp>
          <p:nvSpPr>
            <p:cNvPr id="17576" name="Rectangle 93">
              <a:extLst>
                <a:ext uri="{FF2B5EF4-FFF2-40B4-BE49-F238E27FC236}">
                  <a16:creationId xmlns:a16="http://schemas.microsoft.com/office/drawing/2014/main" id="{2CFF31A5-F33A-D12D-4626-9A8044868F8E}"/>
                </a:ext>
              </a:extLst>
            </p:cNvPr>
            <p:cNvSpPr>
              <a:spLocks noChangeArrowheads="1"/>
            </p:cNvSpPr>
            <p:nvPr/>
          </p:nvSpPr>
          <p:spPr bwMode="auto">
            <a:xfrm>
              <a:off x="2540" y="2562"/>
              <a:ext cx="11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C </a:t>
              </a:r>
              <a:endParaRPr lang="en-US" altLang="en-US" sz="2800" b="1"/>
            </a:p>
          </p:txBody>
        </p:sp>
        <p:sp>
          <p:nvSpPr>
            <p:cNvPr id="17577" name="Rectangle 94">
              <a:extLst>
                <a:ext uri="{FF2B5EF4-FFF2-40B4-BE49-F238E27FC236}">
                  <a16:creationId xmlns:a16="http://schemas.microsoft.com/office/drawing/2014/main" id="{1746BFE8-D37C-B21A-CE56-04EE38B66FD9}"/>
                </a:ext>
              </a:extLst>
            </p:cNvPr>
            <p:cNvSpPr>
              <a:spLocks noChangeArrowheads="1"/>
            </p:cNvSpPr>
            <p:nvPr/>
          </p:nvSpPr>
          <p:spPr bwMode="auto">
            <a:xfrm>
              <a:off x="2610" y="2632"/>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1 </a:t>
              </a:r>
              <a:endParaRPr lang="en-US" altLang="en-US" sz="2800" b="1"/>
            </a:p>
          </p:txBody>
        </p:sp>
        <p:sp>
          <p:nvSpPr>
            <p:cNvPr id="17578" name="Rectangle 95">
              <a:extLst>
                <a:ext uri="{FF2B5EF4-FFF2-40B4-BE49-F238E27FC236}">
                  <a16:creationId xmlns:a16="http://schemas.microsoft.com/office/drawing/2014/main" id="{70B9318A-A61B-08F9-6535-A6DB5D70D666}"/>
                </a:ext>
              </a:extLst>
            </p:cNvPr>
            <p:cNvSpPr>
              <a:spLocks noChangeArrowheads="1"/>
            </p:cNvSpPr>
            <p:nvPr/>
          </p:nvSpPr>
          <p:spPr bwMode="auto">
            <a:xfrm>
              <a:off x="2665" y="2562"/>
              <a:ext cx="24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 @2 </a:t>
              </a:r>
              <a:endParaRPr lang="en-US" altLang="en-US" sz="2800" b="1"/>
            </a:p>
          </p:txBody>
        </p:sp>
      </p:grpSp>
      <p:grpSp>
        <p:nvGrpSpPr>
          <p:cNvPr id="17490" name="Group 96">
            <a:extLst>
              <a:ext uri="{FF2B5EF4-FFF2-40B4-BE49-F238E27FC236}">
                <a16:creationId xmlns:a16="http://schemas.microsoft.com/office/drawing/2014/main" id="{06C2232D-F86C-A4AE-EFA1-09C5B02047C3}"/>
              </a:ext>
            </a:extLst>
          </p:cNvPr>
          <p:cNvGrpSpPr>
            <a:grpSpLocks/>
          </p:cNvGrpSpPr>
          <p:nvPr/>
        </p:nvGrpSpPr>
        <p:grpSpPr bwMode="auto">
          <a:xfrm>
            <a:off x="6088068" y="4443421"/>
            <a:ext cx="557213" cy="280988"/>
            <a:chOff x="2875" y="2799"/>
            <a:chExt cx="351" cy="177"/>
          </a:xfrm>
        </p:grpSpPr>
        <p:sp>
          <p:nvSpPr>
            <p:cNvPr id="17573" name="Rectangle 97">
              <a:extLst>
                <a:ext uri="{FF2B5EF4-FFF2-40B4-BE49-F238E27FC236}">
                  <a16:creationId xmlns:a16="http://schemas.microsoft.com/office/drawing/2014/main" id="{E45E5171-919B-5576-9B41-F74A33C919EE}"/>
                </a:ext>
              </a:extLst>
            </p:cNvPr>
            <p:cNvSpPr>
              <a:spLocks noChangeArrowheads="1"/>
            </p:cNvSpPr>
            <p:nvPr/>
          </p:nvSpPr>
          <p:spPr bwMode="auto">
            <a:xfrm>
              <a:off x="2875" y="2799"/>
              <a:ext cx="10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S </a:t>
              </a:r>
              <a:endParaRPr lang="en-US" altLang="en-US" sz="2800" b="1"/>
            </a:p>
          </p:txBody>
        </p:sp>
        <p:sp>
          <p:nvSpPr>
            <p:cNvPr id="17574" name="Rectangle 98">
              <a:extLst>
                <a:ext uri="{FF2B5EF4-FFF2-40B4-BE49-F238E27FC236}">
                  <a16:creationId xmlns:a16="http://schemas.microsoft.com/office/drawing/2014/main" id="{2ED53F28-0BFB-6665-E5EA-3F60A850116A}"/>
                </a:ext>
              </a:extLst>
            </p:cNvPr>
            <p:cNvSpPr>
              <a:spLocks noChangeArrowheads="1"/>
            </p:cNvSpPr>
            <p:nvPr/>
          </p:nvSpPr>
          <p:spPr bwMode="auto">
            <a:xfrm>
              <a:off x="2944" y="2869"/>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1 </a:t>
              </a:r>
              <a:endParaRPr lang="en-US" altLang="en-US" sz="2800" b="1"/>
            </a:p>
          </p:txBody>
        </p:sp>
        <p:sp>
          <p:nvSpPr>
            <p:cNvPr id="17575" name="Rectangle 99">
              <a:extLst>
                <a:ext uri="{FF2B5EF4-FFF2-40B4-BE49-F238E27FC236}">
                  <a16:creationId xmlns:a16="http://schemas.microsoft.com/office/drawing/2014/main" id="{AE84B3B5-23AD-E298-A2E5-683F7A6243B7}"/>
                </a:ext>
              </a:extLst>
            </p:cNvPr>
            <p:cNvSpPr>
              <a:spLocks noChangeArrowheads="1"/>
            </p:cNvSpPr>
            <p:nvPr/>
          </p:nvSpPr>
          <p:spPr bwMode="auto">
            <a:xfrm>
              <a:off x="2986" y="2799"/>
              <a:ext cx="24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 @3 </a:t>
              </a:r>
              <a:endParaRPr lang="en-US" altLang="en-US" sz="2800" b="1"/>
            </a:p>
          </p:txBody>
        </p:sp>
      </p:grpSp>
      <p:sp>
        <p:nvSpPr>
          <p:cNvPr id="17491" name="Rectangle 100">
            <a:extLst>
              <a:ext uri="{FF2B5EF4-FFF2-40B4-BE49-F238E27FC236}">
                <a16:creationId xmlns:a16="http://schemas.microsoft.com/office/drawing/2014/main" id="{73EFF1D4-D9DA-52C9-5541-ACCDCA5D91E5}"/>
              </a:ext>
            </a:extLst>
          </p:cNvPr>
          <p:cNvSpPr>
            <a:spLocks noChangeArrowheads="1"/>
          </p:cNvSpPr>
          <p:nvPr/>
        </p:nvSpPr>
        <p:spPr bwMode="auto">
          <a:xfrm>
            <a:off x="5788026" y="5164139"/>
            <a:ext cx="531813" cy="619125"/>
          </a:xfrm>
          <a:prstGeom prst="rect">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grpSp>
        <p:nvGrpSpPr>
          <p:cNvPr id="17492" name="Group 101">
            <a:extLst>
              <a:ext uri="{FF2B5EF4-FFF2-40B4-BE49-F238E27FC236}">
                <a16:creationId xmlns:a16="http://schemas.microsoft.com/office/drawing/2014/main" id="{9FF39BCB-6E95-0C28-5814-026E5E25146B}"/>
              </a:ext>
            </a:extLst>
          </p:cNvPr>
          <p:cNvGrpSpPr>
            <a:grpSpLocks/>
          </p:cNvGrpSpPr>
          <p:nvPr/>
        </p:nvGrpSpPr>
        <p:grpSpPr bwMode="auto">
          <a:xfrm>
            <a:off x="5268913" y="5129222"/>
            <a:ext cx="249237" cy="280988"/>
            <a:chOff x="2359" y="3231"/>
            <a:chExt cx="157" cy="177"/>
          </a:xfrm>
        </p:grpSpPr>
        <p:sp>
          <p:nvSpPr>
            <p:cNvPr id="17571" name="Rectangle 102">
              <a:extLst>
                <a:ext uri="{FF2B5EF4-FFF2-40B4-BE49-F238E27FC236}">
                  <a16:creationId xmlns:a16="http://schemas.microsoft.com/office/drawing/2014/main" id="{B720B372-48EC-E5E0-82EC-B591657FE836}"/>
                </a:ext>
              </a:extLst>
            </p:cNvPr>
            <p:cNvSpPr>
              <a:spLocks noChangeArrowheads="1"/>
            </p:cNvSpPr>
            <p:nvPr/>
          </p:nvSpPr>
          <p:spPr bwMode="auto">
            <a:xfrm>
              <a:off x="2359" y="3231"/>
              <a:ext cx="10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A </a:t>
              </a:r>
              <a:endParaRPr lang="en-US" altLang="en-US" sz="2800" b="1"/>
            </a:p>
          </p:txBody>
        </p:sp>
        <p:sp>
          <p:nvSpPr>
            <p:cNvPr id="17572" name="Rectangle 103">
              <a:extLst>
                <a:ext uri="{FF2B5EF4-FFF2-40B4-BE49-F238E27FC236}">
                  <a16:creationId xmlns:a16="http://schemas.microsoft.com/office/drawing/2014/main" id="{18B97123-25DD-F0CB-7A94-442C28ECEA01}"/>
                </a:ext>
              </a:extLst>
            </p:cNvPr>
            <p:cNvSpPr>
              <a:spLocks noChangeArrowheads="1"/>
            </p:cNvSpPr>
            <p:nvPr/>
          </p:nvSpPr>
          <p:spPr bwMode="auto">
            <a:xfrm>
              <a:off x="2442" y="3301"/>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2 </a:t>
              </a:r>
              <a:endParaRPr lang="en-US" altLang="en-US" sz="2800" b="1"/>
            </a:p>
          </p:txBody>
        </p:sp>
      </p:grpSp>
      <p:grpSp>
        <p:nvGrpSpPr>
          <p:cNvPr id="17493" name="Group 104">
            <a:extLst>
              <a:ext uri="{FF2B5EF4-FFF2-40B4-BE49-F238E27FC236}">
                <a16:creationId xmlns:a16="http://schemas.microsoft.com/office/drawing/2014/main" id="{66155275-F49E-D39D-0A0F-1F5E03D666DA}"/>
              </a:ext>
            </a:extLst>
          </p:cNvPr>
          <p:cNvGrpSpPr>
            <a:grpSpLocks/>
          </p:cNvGrpSpPr>
          <p:nvPr/>
        </p:nvGrpSpPr>
        <p:grpSpPr bwMode="auto">
          <a:xfrm>
            <a:off x="5268911" y="5438785"/>
            <a:ext cx="227012" cy="280988"/>
            <a:chOff x="2359" y="3426"/>
            <a:chExt cx="143" cy="177"/>
          </a:xfrm>
        </p:grpSpPr>
        <p:sp>
          <p:nvSpPr>
            <p:cNvPr id="17569" name="Rectangle 105">
              <a:extLst>
                <a:ext uri="{FF2B5EF4-FFF2-40B4-BE49-F238E27FC236}">
                  <a16:creationId xmlns:a16="http://schemas.microsoft.com/office/drawing/2014/main" id="{F752BF6F-2EA5-233C-8371-6E8401299B8D}"/>
                </a:ext>
              </a:extLst>
            </p:cNvPr>
            <p:cNvSpPr>
              <a:spLocks noChangeArrowheads="1"/>
            </p:cNvSpPr>
            <p:nvPr/>
          </p:nvSpPr>
          <p:spPr bwMode="auto">
            <a:xfrm>
              <a:off x="2359" y="3426"/>
              <a:ext cx="10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B </a:t>
              </a:r>
              <a:endParaRPr lang="en-US" altLang="en-US" sz="2800" b="1"/>
            </a:p>
          </p:txBody>
        </p:sp>
        <p:sp>
          <p:nvSpPr>
            <p:cNvPr id="17570" name="Rectangle 106">
              <a:extLst>
                <a:ext uri="{FF2B5EF4-FFF2-40B4-BE49-F238E27FC236}">
                  <a16:creationId xmlns:a16="http://schemas.microsoft.com/office/drawing/2014/main" id="{C5452E5C-D3B0-F4C4-289F-23D2DE8323EF}"/>
                </a:ext>
              </a:extLst>
            </p:cNvPr>
            <p:cNvSpPr>
              <a:spLocks noChangeArrowheads="1"/>
            </p:cNvSpPr>
            <p:nvPr/>
          </p:nvSpPr>
          <p:spPr bwMode="auto">
            <a:xfrm>
              <a:off x="2428" y="3496"/>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2 </a:t>
              </a:r>
              <a:endParaRPr lang="en-US" altLang="en-US" sz="2800" b="1"/>
            </a:p>
          </p:txBody>
        </p:sp>
      </p:grpSp>
      <p:grpSp>
        <p:nvGrpSpPr>
          <p:cNvPr id="17494" name="Group 107">
            <a:extLst>
              <a:ext uri="{FF2B5EF4-FFF2-40B4-BE49-F238E27FC236}">
                <a16:creationId xmlns:a16="http://schemas.microsoft.com/office/drawing/2014/main" id="{36A41004-BF83-B480-0B8D-2489365AB499}"/>
              </a:ext>
            </a:extLst>
          </p:cNvPr>
          <p:cNvGrpSpPr>
            <a:grpSpLocks/>
          </p:cNvGrpSpPr>
          <p:nvPr/>
        </p:nvGrpSpPr>
        <p:grpSpPr bwMode="auto">
          <a:xfrm>
            <a:off x="6088067" y="4775208"/>
            <a:ext cx="579438" cy="280988"/>
            <a:chOff x="2875" y="3008"/>
            <a:chExt cx="365" cy="177"/>
          </a:xfrm>
        </p:grpSpPr>
        <p:sp>
          <p:nvSpPr>
            <p:cNvPr id="17566" name="Rectangle 108">
              <a:extLst>
                <a:ext uri="{FF2B5EF4-FFF2-40B4-BE49-F238E27FC236}">
                  <a16:creationId xmlns:a16="http://schemas.microsoft.com/office/drawing/2014/main" id="{CD960857-9E5B-267B-2496-E9412E944A05}"/>
                </a:ext>
              </a:extLst>
            </p:cNvPr>
            <p:cNvSpPr>
              <a:spLocks noChangeArrowheads="1"/>
            </p:cNvSpPr>
            <p:nvPr/>
          </p:nvSpPr>
          <p:spPr bwMode="auto">
            <a:xfrm>
              <a:off x="2875" y="3008"/>
              <a:ext cx="11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C </a:t>
              </a:r>
              <a:endParaRPr lang="en-US" altLang="en-US" sz="2800" b="1"/>
            </a:p>
          </p:txBody>
        </p:sp>
        <p:sp>
          <p:nvSpPr>
            <p:cNvPr id="17567" name="Rectangle 109">
              <a:extLst>
                <a:ext uri="{FF2B5EF4-FFF2-40B4-BE49-F238E27FC236}">
                  <a16:creationId xmlns:a16="http://schemas.microsoft.com/office/drawing/2014/main" id="{E25D6EBD-5F74-E8F3-F538-5EF18071F87D}"/>
                </a:ext>
              </a:extLst>
            </p:cNvPr>
            <p:cNvSpPr>
              <a:spLocks noChangeArrowheads="1"/>
            </p:cNvSpPr>
            <p:nvPr/>
          </p:nvSpPr>
          <p:spPr bwMode="auto">
            <a:xfrm>
              <a:off x="2944" y="3078"/>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2 </a:t>
              </a:r>
              <a:endParaRPr lang="en-US" altLang="en-US" sz="2800" b="1"/>
            </a:p>
          </p:txBody>
        </p:sp>
        <p:sp>
          <p:nvSpPr>
            <p:cNvPr id="17568" name="Rectangle 110">
              <a:extLst>
                <a:ext uri="{FF2B5EF4-FFF2-40B4-BE49-F238E27FC236}">
                  <a16:creationId xmlns:a16="http://schemas.microsoft.com/office/drawing/2014/main" id="{530BA6B1-2E62-8BB2-7F54-8BB641030C1A}"/>
                </a:ext>
              </a:extLst>
            </p:cNvPr>
            <p:cNvSpPr>
              <a:spLocks noChangeArrowheads="1"/>
            </p:cNvSpPr>
            <p:nvPr/>
          </p:nvSpPr>
          <p:spPr bwMode="auto">
            <a:xfrm>
              <a:off x="3000" y="3008"/>
              <a:ext cx="24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 @4 </a:t>
              </a:r>
              <a:endParaRPr lang="en-US" altLang="en-US" sz="2800" b="1"/>
            </a:p>
          </p:txBody>
        </p:sp>
      </p:grpSp>
      <p:grpSp>
        <p:nvGrpSpPr>
          <p:cNvPr id="17495" name="Group 111">
            <a:extLst>
              <a:ext uri="{FF2B5EF4-FFF2-40B4-BE49-F238E27FC236}">
                <a16:creationId xmlns:a16="http://schemas.microsoft.com/office/drawing/2014/main" id="{1C326913-F339-F754-BE80-3EF32AD895BA}"/>
              </a:ext>
            </a:extLst>
          </p:cNvPr>
          <p:cNvGrpSpPr>
            <a:grpSpLocks/>
          </p:cNvGrpSpPr>
          <p:nvPr/>
        </p:nvGrpSpPr>
        <p:grpSpPr bwMode="auto">
          <a:xfrm>
            <a:off x="6597656" y="5151447"/>
            <a:ext cx="557213" cy="280988"/>
            <a:chOff x="3196" y="3245"/>
            <a:chExt cx="351" cy="177"/>
          </a:xfrm>
        </p:grpSpPr>
        <p:sp>
          <p:nvSpPr>
            <p:cNvPr id="17563" name="Rectangle 112">
              <a:extLst>
                <a:ext uri="{FF2B5EF4-FFF2-40B4-BE49-F238E27FC236}">
                  <a16:creationId xmlns:a16="http://schemas.microsoft.com/office/drawing/2014/main" id="{2CD1D11E-A4C4-5D38-1569-A21E2A3BECB1}"/>
                </a:ext>
              </a:extLst>
            </p:cNvPr>
            <p:cNvSpPr>
              <a:spLocks noChangeArrowheads="1"/>
            </p:cNvSpPr>
            <p:nvPr/>
          </p:nvSpPr>
          <p:spPr bwMode="auto">
            <a:xfrm>
              <a:off x="3196" y="3245"/>
              <a:ext cx="10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S </a:t>
              </a:r>
              <a:endParaRPr lang="en-US" altLang="en-US" sz="2800" b="1"/>
            </a:p>
          </p:txBody>
        </p:sp>
        <p:sp>
          <p:nvSpPr>
            <p:cNvPr id="17564" name="Rectangle 113">
              <a:extLst>
                <a:ext uri="{FF2B5EF4-FFF2-40B4-BE49-F238E27FC236}">
                  <a16:creationId xmlns:a16="http://schemas.microsoft.com/office/drawing/2014/main" id="{8A8C542A-F1FE-94EE-5CB5-201443315C0F}"/>
                </a:ext>
              </a:extLst>
            </p:cNvPr>
            <p:cNvSpPr>
              <a:spLocks noChangeArrowheads="1"/>
            </p:cNvSpPr>
            <p:nvPr/>
          </p:nvSpPr>
          <p:spPr bwMode="auto">
            <a:xfrm>
              <a:off x="3265" y="3315"/>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2 </a:t>
              </a:r>
              <a:endParaRPr lang="en-US" altLang="en-US" sz="2800" b="1"/>
            </a:p>
          </p:txBody>
        </p:sp>
        <p:sp>
          <p:nvSpPr>
            <p:cNvPr id="17565" name="Rectangle 114">
              <a:extLst>
                <a:ext uri="{FF2B5EF4-FFF2-40B4-BE49-F238E27FC236}">
                  <a16:creationId xmlns:a16="http://schemas.microsoft.com/office/drawing/2014/main" id="{ACEE53DE-4F3B-A6D8-0C94-F71358BDA1A3}"/>
                </a:ext>
              </a:extLst>
            </p:cNvPr>
            <p:cNvSpPr>
              <a:spLocks noChangeArrowheads="1"/>
            </p:cNvSpPr>
            <p:nvPr/>
          </p:nvSpPr>
          <p:spPr bwMode="auto">
            <a:xfrm>
              <a:off x="3307" y="3245"/>
              <a:ext cx="24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 @5 </a:t>
              </a:r>
              <a:endParaRPr lang="en-US" altLang="en-US" sz="2800" b="1"/>
            </a:p>
          </p:txBody>
        </p:sp>
      </p:grpSp>
      <p:sp>
        <p:nvSpPr>
          <p:cNvPr id="17496" name="Rectangle 115">
            <a:extLst>
              <a:ext uri="{FF2B5EF4-FFF2-40B4-BE49-F238E27FC236}">
                <a16:creationId xmlns:a16="http://schemas.microsoft.com/office/drawing/2014/main" id="{581A8284-9BED-0555-F98D-C579FCA98D97}"/>
              </a:ext>
            </a:extLst>
          </p:cNvPr>
          <p:cNvSpPr>
            <a:spLocks noChangeArrowheads="1"/>
          </p:cNvSpPr>
          <p:nvPr/>
        </p:nvSpPr>
        <p:spPr bwMode="auto">
          <a:xfrm>
            <a:off x="6319838" y="5872163"/>
            <a:ext cx="531812" cy="641350"/>
          </a:xfrm>
          <a:prstGeom prst="rect">
            <a:avLst/>
          </a:prstGeom>
          <a:noFill/>
          <a:ln w="222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grpSp>
        <p:nvGrpSpPr>
          <p:cNvPr id="17497" name="Group 116">
            <a:extLst>
              <a:ext uri="{FF2B5EF4-FFF2-40B4-BE49-F238E27FC236}">
                <a16:creationId xmlns:a16="http://schemas.microsoft.com/office/drawing/2014/main" id="{C07DA57A-E18D-EAC7-142E-665A73DD551E}"/>
              </a:ext>
            </a:extLst>
          </p:cNvPr>
          <p:cNvGrpSpPr>
            <a:grpSpLocks/>
          </p:cNvGrpSpPr>
          <p:nvPr/>
        </p:nvGrpSpPr>
        <p:grpSpPr bwMode="auto">
          <a:xfrm>
            <a:off x="5776914" y="5859473"/>
            <a:ext cx="250825" cy="280988"/>
            <a:chOff x="2679" y="3691"/>
            <a:chExt cx="158" cy="177"/>
          </a:xfrm>
        </p:grpSpPr>
        <p:sp>
          <p:nvSpPr>
            <p:cNvPr id="17561" name="Rectangle 117">
              <a:extLst>
                <a:ext uri="{FF2B5EF4-FFF2-40B4-BE49-F238E27FC236}">
                  <a16:creationId xmlns:a16="http://schemas.microsoft.com/office/drawing/2014/main" id="{F20DAA6B-8ADD-3270-1D6C-01C81BCA2F2F}"/>
                </a:ext>
              </a:extLst>
            </p:cNvPr>
            <p:cNvSpPr>
              <a:spLocks noChangeArrowheads="1"/>
            </p:cNvSpPr>
            <p:nvPr/>
          </p:nvSpPr>
          <p:spPr bwMode="auto">
            <a:xfrm>
              <a:off x="2679" y="3691"/>
              <a:ext cx="101"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A </a:t>
              </a:r>
              <a:endParaRPr lang="en-US" altLang="en-US" sz="2800" b="1"/>
            </a:p>
          </p:txBody>
        </p:sp>
        <p:sp>
          <p:nvSpPr>
            <p:cNvPr id="17562" name="Rectangle 118">
              <a:extLst>
                <a:ext uri="{FF2B5EF4-FFF2-40B4-BE49-F238E27FC236}">
                  <a16:creationId xmlns:a16="http://schemas.microsoft.com/office/drawing/2014/main" id="{06D15056-4776-B955-8EF6-89C384AA8E17}"/>
                </a:ext>
              </a:extLst>
            </p:cNvPr>
            <p:cNvSpPr>
              <a:spLocks noChangeArrowheads="1"/>
            </p:cNvSpPr>
            <p:nvPr/>
          </p:nvSpPr>
          <p:spPr bwMode="auto">
            <a:xfrm>
              <a:off x="2763" y="3761"/>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3 </a:t>
              </a:r>
              <a:endParaRPr lang="en-US" altLang="en-US" sz="2800" b="1"/>
            </a:p>
          </p:txBody>
        </p:sp>
      </p:grpSp>
      <p:grpSp>
        <p:nvGrpSpPr>
          <p:cNvPr id="17498" name="Group 119">
            <a:extLst>
              <a:ext uri="{FF2B5EF4-FFF2-40B4-BE49-F238E27FC236}">
                <a16:creationId xmlns:a16="http://schemas.microsoft.com/office/drawing/2014/main" id="{4978E2E1-3F81-89BA-E69F-4A065CC53913}"/>
              </a:ext>
            </a:extLst>
          </p:cNvPr>
          <p:cNvGrpSpPr>
            <a:grpSpLocks/>
          </p:cNvGrpSpPr>
          <p:nvPr/>
        </p:nvGrpSpPr>
        <p:grpSpPr bwMode="auto">
          <a:xfrm>
            <a:off x="5776914" y="6170624"/>
            <a:ext cx="250825" cy="280988"/>
            <a:chOff x="2679" y="3887"/>
            <a:chExt cx="158" cy="177"/>
          </a:xfrm>
        </p:grpSpPr>
        <p:sp>
          <p:nvSpPr>
            <p:cNvPr id="17559" name="Rectangle 120">
              <a:extLst>
                <a:ext uri="{FF2B5EF4-FFF2-40B4-BE49-F238E27FC236}">
                  <a16:creationId xmlns:a16="http://schemas.microsoft.com/office/drawing/2014/main" id="{061F8DB7-B916-2520-47C1-BA3E81B8717C}"/>
                </a:ext>
              </a:extLst>
            </p:cNvPr>
            <p:cNvSpPr>
              <a:spLocks noChangeArrowheads="1"/>
            </p:cNvSpPr>
            <p:nvPr/>
          </p:nvSpPr>
          <p:spPr bwMode="auto">
            <a:xfrm>
              <a:off x="2679" y="3887"/>
              <a:ext cx="10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B </a:t>
              </a:r>
              <a:endParaRPr lang="en-US" altLang="en-US" sz="2800" b="1"/>
            </a:p>
          </p:txBody>
        </p:sp>
        <p:sp>
          <p:nvSpPr>
            <p:cNvPr id="17560" name="Rectangle 121">
              <a:extLst>
                <a:ext uri="{FF2B5EF4-FFF2-40B4-BE49-F238E27FC236}">
                  <a16:creationId xmlns:a16="http://schemas.microsoft.com/office/drawing/2014/main" id="{1BE78AE2-CD8A-A3FA-B748-ECA5AC710D1D}"/>
                </a:ext>
              </a:extLst>
            </p:cNvPr>
            <p:cNvSpPr>
              <a:spLocks noChangeArrowheads="1"/>
            </p:cNvSpPr>
            <p:nvPr/>
          </p:nvSpPr>
          <p:spPr bwMode="auto">
            <a:xfrm>
              <a:off x="2763" y="3957"/>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3 </a:t>
              </a:r>
              <a:endParaRPr lang="en-US" altLang="en-US" sz="2800" b="1"/>
            </a:p>
          </p:txBody>
        </p:sp>
      </p:grpSp>
      <p:grpSp>
        <p:nvGrpSpPr>
          <p:cNvPr id="17499" name="Group 122">
            <a:extLst>
              <a:ext uri="{FF2B5EF4-FFF2-40B4-BE49-F238E27FC236}">
                <a16:creationId xmlns:a16="http://schemas.microsoft.com/office/drawing/2014/main" id="{29632F37-4C51-0394-357F-E5276789E0BD}"/>
              </a:ext>
            </a:extLst>
          </p:cNvPr>
          <p:cNvGrpSpPr>
            <a:grpSpLocks/>
          </p:cNvGrpSpPr>
          <p:nvPr/>
        </p:nvGrpSpPr>
        <p:grpSpPr bwMode="auto">
          <a:xfrm>
            <a:off x="6618293" y="5483235"/>
            <a:ext cx="581025" cy="280988"/>
            <a:chOff x="3209" y="3454"/>
            <a:chExt cx="366" cy="177"/>
          </a:xfrm>
        </p:grpSpPr>
        <p:sp>
          <p:nvSpPr>
            <p:cNvPr id="17556" name="Rectangle 123">
              <a:extLst>
                <a:ext uri="{FF2B5EF4-FFF2-40B4-BE49-F238E27FC236}">
                  <a16:creationId xmlns:a16="http://schemas.microsoft.com/office/drawing/2014/main" id="{1E25F743-CF8E-B0AB-AD75-2F870A54679C}"/>
                </a:ext>
              </a:extLst>
            </p:cNvPr>
            <p:cNvSpPr>
              <a:spLocks noChangeArrowheads="1"/>
            </p:cNvSpPr>
            <p:nvPr/>
          </p:nvSpPr>
          <p:spPr bwMode="auto">
            <a:xfrm>
              <a:off x="3209" y="3454"/>
              <a:ext cx="11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C </a:t>
              </a:r>
              <a:endParaRPr lang="en-US" altLang="en-US" sz="2800" b="1"/>
            </a:p>
          </p:txBody>
        </p:sp>
        <p:sp>
          <p:nvSpPr>
            <p:cNvPr id="17557" name="Rectangle 124">
              <a:extLst>
                <a:ext uri="{FF2B5EF4-FFF2-40B4-BE49-F238E27FC236}">
                  <a16:creationId xmlns:a16="http://schemas.microsoft.com/office/drawing/2014/main" id="{DD6D4C8C-0196-171A-CD03-C5A6FB1B2CFC}"/>
                </a:ext>
              </a:extLst>
            </p:cNvPr>
            <p:cNvSpPr>
              <a:spLocks noChangeArrowheads="1"/>
            </p:cNvSpPr>
            <p:nvPr/>
          </p:nvSpPr>
          <p:spPr bwMode="auto">
            <a:xfrm>
              <a:off x="3279" y="3524"/>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3 </a:t>
              </a:r>
              <a:endParaRPr lang="en-US" altLang="en-US" sz="2800" b="1"/>
            </a:p>
          </p:txBody>
        </p:sp>
        <p:sp>
          <p:nvSpPr>
            <p:cNvPr id="17558" name="Rectangle 125">
              <a:extLst>
                <a:ext uri="{FF2B5EF4-FFF2-40B4-BE49-F238E27FC236}">
                  <a16:creationId xmlns:a16="http://schemas.microsoft.com/office/drawing/2014/main" id="{BF22F96B-7CA9-23FE-376B-E6FE426D70AA}"/>
                </a:ext>
              </a:extLst>
            </p:cNvPr>
            <p:cNvSpPr>
              <a:spLocks noChangeArrowheads="1"/>
            </p:cNvSpPr>
            <p:nvPr/>
          </p:nvSpPr>
          <p:spPr bwMode="auto">
            <a:xfrm>
              <a:off x="3335" y="3454"/>
              <a:ext cx="24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 @6 </a:t>
              </a:r>
              <a:endParaRPr lang="en-US" altLang="en-US" sz="2800" b="1"/>
            </a:p>
          </p:txBody>
        </p:sp>
      </p:grpSp>
      <p:grpSp>
        <p:nvGrpSpPr>
          <p:cNvPr id="17500" name="Group 126">
            <a:extLst>
              <a:ext uri="{FF2B5EF4-FFF2-40B4-BE49-F238E27FC236}">
                <a16:creationId xmlns:a16="http://schemas.microsoft.com/office/drawing/2014/main" id="{3555B0A7-015F-C200-1577-5466335EBC15}"/>
              </a:ext>
            </a:extLst>
          </p:cNvPr>
          <p:cNvGrpSpPr>
            <a:grpSpLocks/>
          </p:cNvGrpSpPr>
          <p:nvPr/>
        </p:nvGrpSpPr>
        <p:grpSpPr bwMode="auto">
          <a:xfrm>
            <a:off x="7127870" y="5881698"/>
            <a:ext cx="558800" cy="280988"/>
            <a:chOff x="3530" y="3705"/>
            <a:chExt cx="352" cy="177"/>
          </a:xfrm>
        </p:grpSpPr>
        <p:sp>
          <p:nvSpPr>
            <p:cNvPr id="17553" name="Rectangle 127">
              <a:extLst>
                <a:ext uri="{FF2B5EF4-FFF2-40B4-BE49-F238E27FC236}">
                  <a16:creationId xmlns:a16="http://schemas.microsoft.com/office/drawing/2014/main" id="{5B8A04E3-58AF-0739-3879-7F15CCB8523A}"/>
                </a:ext>
              </a:extLst>
            </p:cNvPr>
            <p:cNvSpPr>
              <a:spLocks noChangeArrowheads="1"/>
            </p:cNvSpPr>
            <p:nvPr/>
          </p:nvSpPr>
          <p:spPr bwMode="auto">
            <a:xfrm>
              <a:off x="3530" y="3705"/>
              <a:ext cx="10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S </a:t>
              </a:r>
              <a:endParaRPr lang="en-US" altLang="en-US" sz="2800" b="1"/>
            </a:p>
          </p:txBody>
        </p:sp>
        <p:sp>
          <p:nvSpPr>
            <p:cNvPr id="17554" name="Rectangle 128">
              <a:extLst>
                <a:ext uri="{FF2B5EF4-FFF2-40B4-BE49-F238E27FC236}">
                  <a16:creationId xmlns:a16="http://schemas.microsoft.com/office/drawing/2014/main" id="{DAE71918-5DAF-1684-08F8-A3C40D80CC83}"/>
                </a:ext>
              </a:extLst>
            </p:cNvPr>
            <p:cNvSpPr>
              <a:spLocks noChangeArrowheads="1"/>
            </p:cNvSpPr>
            <p:nvPr/>
          </p:nvSpPr>
          <p:spPr bwMode="auto">
            <a:xfrm>
              <a:off x="3600" y="3775"/>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3 </a:t>
              </a:r>
              <a:endParaRPr lang="en-US" altLang="en-US" sz="2800" b="1"/>
            </a:p>
          </p:txBody>
        </p:sp>
        <p:sp>
          <p:nvSpPr>
            <p:cNvPr id="17555" name="Rectangle 129">
              <a:extLst>
                <a:ext uri="{FF2B5EF4-FFF2-40B4-BE49-F238E27FC236}">
                  <a16:creationId xmlns:a16="http://schemas.microsoft.com/office/drawing/2014/main" id="{3A9DD8BC-4A28-63C5-4940-A42632E04BF2}"/>
                </a:ext>
              </a:extLst>
            </p:cNvPr>
            <p:cNvSpPr>
              <a:spLocks noChangeArrowheads="1"/>
            </p:cNvSpPr>
            <p:nvPr/>
          </p:nvSpPr>
          <p:spPr bwMode="auto">
            <a:xfrm>
              <a:off x="3642" y="3705"/>
              <a:ext cx="24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 @7 </a:t>
              </a:r>
              <a:endParaRPr lang="en-US" altLang="en-US" sz="2800" b="1"/>
            </a:p>
          </p:txBody>
        </p:sp>
      </p:grpSp>
      <p:grpSp>
        <p:nvGrpSpPr>
          <p:cNvPr id="17501" name="Group 130">
            <a:extLst>
              <a:ext uri="{FF2B5EF4-FFF2-40B4-BE49-F238E27FC236}">
                <a16:creationId xmlns:a16="http://schemas.microsoft.com/office/drawing/2014/main" id="{1509E866-A8CC-B37C-CB5D-870F7D354B52}"/>
              </a:ext>
            </a:extLst>
          </p:cNvPr>
          <p:cNvGrpSpPr>
            <a:grpSpLocks/>
          </p:cNvGrpSpPr>
          <p:nvPr/>
        </p:nvGrpSpPr>
        <p:grpSpPr bwMode="auto">
          <a:xfrm>
            <a:off x="7127872" y="6192849"/>
            <a:ext cx="581025" cy="280988"/>
            <a:chOff x="3530" y="3901"/>
            <a:chExt cx="366" cy="177"/>
          </a:xfrm>
        </p:grpSpPr>
        <p:sp>
          <p:nvSpPr>
            <p:cNvPr id="17550" name="Rectangle 131">
              <a:extLst>
                <a:ext uri="{FF2B5EF4-FFF2-40B4-BE49-F238E27FC236}">
                  <a16:creationId xmlns:a16="http://schemas.microsoft.com/office/drawing/2014/main" id="{9884493B-24F9-8894-9334-7F5D049A348D}"/>
                </a:ext>
              </a:extLst>
            </p:cNvPr>
            <p:cNvSpPr>
              <a:spLocks noChangeArrowheads="1"/>
            </p:cNvSpPr>
            <p:nvPr/>
          </p:nvSpPr>
          <p:spPr bwMode="auto">
            <a:xfrm>
              <a:off x="3530" y="3901"/>
              <a:ext cx="11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C </a:t>
              </a:r>
              <a:endParaRPr lang="en-US" altLang="en-US" sz="2800" b="1"/>
            </a:p>
          </p:txBody>
        </p:sp>
        <p:sp>
          <p:nvSpPr>
            <p:cNvPr id="17551" name="Rectangle 132">
              <a:extLst>
                <a:ext uri="{FF2B5EF4-FFF2-40B4-BE49-F238E27FC236}">
                  <a16:creationId xmlns:a16="http://schemas.microsoft.com/office/drawing/2014/main" id="{19EFE5BF-C0BE-EBA9-F57F-9EF05D1BF645}"/>
                </a:ext>
              </a:extLst>
            </p:cNvPr>
            <p:cNvSpPr>
              <a:spLocks noChangeArrowheads="1"/>
            </p:cNvSpPr>
            <p:nvPr/>
          </p:nvSpPr>
          <p:spPr bwMode="auto">
            <a:xfrm>
              <a:off x="3600" y="3971"/>
              <a:ext cx="7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100">
                  <a:solidFill>
                    <a:srgbClr val="000000"/>
                  </a:solidFill>
                  <a:latin typeface="Arial" panose="020B0604020202020204" pitchFamily="34" charset="0"/>
                </a:rPr>
                <a:t>4 </a:t>
              </a:r>
              <a:endParaRPr lang="en-US" altLang="en-US" sz="2800" b="1"/>
            </a:p>
          </p:txBody>
        </p:sp>
        <p:sp>
          <p:nvSpPr>
            <p:cNvPr id="17552" name="Rectangle 133">
              <a:extLst>
                <a:ext uri="{FF2B5EF4-FFF2-40B4-BE49-F238E27FC236}">
                  <a16:creationId xmlns:a16="http://schemas.microsoft.com/office/drawing/2014/main" id="{65991031-DD08-B097-E19A-ED63DF40247B}"/>
                </a:ext>
              </a:extLst>
            </p:cNvPr>
            <p:cNvSpPr>
              <a:spLocks noChangeArrowheads="1"/>
            </p:cNvSpPr>
            <p:nvPr/>
          </p:nvSpPr>
          <p:spPr bwMode="auto">
            <a:xfrm>
              <a:off x="3656" y="3901"/>
              <a:ext cx="24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 @8 </a:t>
              </a:r>
              <a:endParaRPr lang="en-US" altLang="en-US" sz="2800" b="1"/>
            </a:p>
          </p:txBody>
        </p:sp>
      </p:grpSp>
      <p:sp>
        <p:nvSpPr>
          <p:cNvPr id="17502" name="Rectangle 134">
            <a:extLst>
              <a:ext uri="{FF2B5EF4-FFF2-40B4-BE49-F238E27FC236}">
                <a16:creationId xmlns:a16="http://schemas.microsoft.com/office/drawing/2014/main" id="{35B1FCF3-F516-EBAE-2C07-B078D8848247}"/>
              </a:ext>
            </a:extLst>
          </p:cNvPr>
          <p:cNvSpPr>
            <a:spLocks noChangeArrowheads="1"/>
          </p:cNvSpPr>
          <p:nvPr/>
        </p:nvSpPr>
        <p:spPr bwMode="auto">
          <a:xfrm>
            <a:off x="4913313" y="3889375"/>
            <a:ext cx="14908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0 </a:t>
            </a:r>
            <a:endParaRPr lang="en-US" altLang="en-US" sz="2800" b="1"/>
          </a:p>
        </p:txBody>
      </p:sp>
      <p:sp>
        <p:nvSpPr>
          <p:cNvPr id="17503" name="Rectangle 135">
            <a:extLst>
              <a:ext uri="{FF2B5EF4-FFF2-40B4-BE49-F238E27FC236}">
                <a16:creationId xmlns:a16="http://schemas.microsoft.com/office/drawing/2014/main" id="{7EF8DEE0-4EF8-B985-F1F6-EE2FC3FE51D7}"/>
              </a:ext>
            </a:extLst>
          </p:cNvPr>
          <p:cNvSpPr>
            <a:spLocks noChangeArrowheads="1"/>
          </p:cNvSpPr>
          <p:nvPr/>
        </p:nvSpPr>
        <p:spPr bwMode="auto">
          <a:xfrm>
            <a:off x="5445125" y="4598988"/>
            <a:ext cx="14908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1 </a:t>
            </a:r>
            <a:endParaRPr lang="en-US" altLang="en-US" sz="2800" b="1"/>
          </a:p>
        </p:txBody>
      </p:sp>
      <p:sp>
        <p:nvSpPr>
          <p:cNvPr id="17504" name="Rectangle 136">
            <a:extLst>
              <a:ext uri="{FF2B5EF4-FFF2-40B4-BE49-F238E27FC236}">
                <a16:creationId xmlns:a16="http://schemas.microsoft.com/office/drawing/2014/main" id="{FC582AD8-76D4-95A8-575F-C3883EE526DC}"/>
              </a:ext>
            </a:extLst>
          </p:cNvPr>
          <p:cNvSpPr>
            <a:spLocks noChangeArrowheads="1"/>
          </p:cNvSpPr>
          <p:nvPr/>
        </p:nvSpPr>
        <p:spPr bwMode="auto">
          <a:xfrm>
            <a:off x="5976938" y="5284788"/>
            <a:ext cx="14908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2 </a:t>
            </a:r>
            <a:endParaRPr lang="en-US" altLang="en-US" sz="2800" b="1"/>
          </a:p>
        </p:txBody>
      </p:sp>
      <p:sp>
        <p:nvSpPr>
          <p:cNvPr id="17505" name="Rectangle 137">
            <a:extLst>
              <a:ext uri="{FF2B5EF4-FFF2-40B4-BE49-F238E27FC236}">
                <a16:creationId xmlns:a16="http://schemas.microsoft.com/office/drawing/2014/main" id="{474B3F9E-BF7D-EF37-0443-7905B1AC0F11}"/>
              </a:ext>
            </a:extLst>
          </p:cNvPr>
          <p:cNvSpPr>
            <a:spLocks noChangeArrowheads="1"/>
          </p:cNvSpPr>
          <p:nvPr/>
        </p:nvSpPr>
        <p:spPr bwMode="auto">
          <a:xfrm>
            <a:off x="6530975" y="6059488"/>
            <a:ext cx="14908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400">
                <a:solidFill>
                  <a:srgbClr val="000000"/>
                </a:solidFill>
                <a:latin typeface="Arial" panose="020B0604020202020204" pitchFamily="34" charset="0"/>
              </a:rPr>
              <a:t>3 </a:t>
            </a:r>
            <a:endParaRPr lang="en-US" altLang="en-US" sz="2800" b="1"/>
          </a:p>
        </p:txBody>
      </p:sp>
      <p:pic>
        <p:nvPicPr>
          <p:cNvPr id="17506" name="Picture 138">
            <a:extLst>
              <a:ext uri="{FF2B5EF4-FFF2-40B4-BE49-F238E27FC236}">
                <a16:creationId xmlns:a16="http://schemas.microsoft.com/office/drawing/2014/main" id="{B49B9E46-8F93-651F-86AB-9509193ABC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7763" y="3624264"/>
            <a:ext cx="44450" cy="6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07" name="Freeform 139">
            <a:extLst>
              <a:ext uri="{FF2B5EF4-FFF2-40B4-BE49-F238E27FC236}">
                <a16:creationId xmlns:a16="http://schemas.microsoft.com/office/drawing/2014/main" id="{232E3D01-3C44-3B1A-EBCC-4CEF2D5D05D1}"/>
              </a:ext>
            </a:extLst>
          </p:cNvPr>
          <p:cNvSpPr>
            <a:spLocks/>
          </p:cNvSpPr>
          <p:nvPr/>
        </p:nvSpPr>
        <p:spPr bwMode="auto">
          <a:xfrm>
            <a:off x="4935539" y="3624264"/>
            <a:ext cx="66675" cy="66675"/>
          </a:xfrm>
          <a:custGeom>
            <a:avLst/>
            <a:gdLst>
              <a:gd name="T0" fmla="*/ 35282188 w 42"/>
              <a:gd name="T1" fmla="*/ 105846563 h 42"/>
              <a:gd name="T2" fmla="*/ 35282188 w 42"/>
              <a:gd name="T3" fmla="*/ 35282188 h 42"/>
              <a:gd name="T4" fmla="*/ 0 w 42"/>
              <a:gd name="T5" fmla="*/ 0 h 42"/>
              <a:gd name="T6" fmla="*/ 35282188 w 42"/>
              <a:gd name="T7" fmla="*/ 0 h 42"/>
              <a:gd name="T8" fmla="*/ 70564375 w 42"/>
              <a:gd name="T9" fmla="*/ 0 h 42"/>
              <a:gd name="T10" fmla="*/ 105846563 w 42"/>
              <a:gd name="T11" fmla="*/ 0 h 42"/>
              <a:gd name="T12" fmla="*/ 70564375 w 42"/>
              <a:gd name="T13" fmla="*/ 35282188 h 42"/>
              <a:gd name="T14" fmla="*/ 70564375 w 42"/>
              <a:gd name="T15" fmla="*/ 105846563 h 42"/>
              <a:gd name="T16" fmla="*/ 35282188 w 42"/>
              <a:gd name="T17" fmla="*/ 105846563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 h="42">
                <a:moveTo>
                  <a:pt x="14" y="42"/>
                </a:moveTo>
                <a:lnTo>
                  <a:pt x="14" y="14"/>
                </a:lnTo>
                <a:lnTo>
                  <a:pt x="0" y="0"/>
                </a:lnTo>
                <a:lnTo>
                  <a:pt x="14" y="0"/>
                </a:lnTo>
                <a:lnTo>
                  <a:pt x="28" y="0"/>
                </a:lnTo>
                <a:lnTo>
                  <a:pt x="42" y="0"/>
                </a:lnTo>
                <a:lnTo>
                  <a:pt x="28" y="14"/>
                </a:lnTo>
                <a:lnTo>
                  <a:pt x="28" y="42"/>
                </a:lnTo>
                <a:lnTo>
                  <a:pt x="14" y="42"/>
                </a:lnTo>
                <a:close/>
              </a:path>
            </a:pathLst>
          </a:custGeom>
          <a:solidFill>
            <a:srgbClr val="000000"/>
          </a:solidFill>
          <a:ln w="22225">
            <a:solidFill>
              <a:srgbClr val="000000"/>
            </a:solidFill>
            <a:prstDash val="solid"/>
            <a:round/>
            <a:headEnd/>
            <a:tailEnd/>
          </a:ln>
        </p:spPr>
        <p:txBody>
          <a:bodyPr/>
          <a:lstStyle/>
          <a:p>
            <a:endParaRPr lang="en-IN"/>
          </a:p>
        </p:txBody>
      </p:sp>
      <p:grpSp>
        <p:nvGrpSpPr>
          <p:cNvPr id="17508" name="Group 140">
            <a:extLst>
              <a:ext uri="{FF2B5EF4-FFF2-40B4-BE49-F238E27FC236}">
                <a16:creationId xmlns:a16="http://schemas.microsoft.com/office/drawing/2014/main" id="{348EF22D-9C34-1CAB-81E2-FB80670EA7BD}"/>
              </a:ext>
            </a:extLst>
          </p:cNvPr>
          <p:cNvGrpSpPr>
            <a:grpSpLocks/>
          </p:cNvGrpSpPr>
          <p:nvPr/>
        </p:nvGrpSpPr>
        <p:grpSpPr bwMode="auto">
          <a:xfrm>
            <a:off x="4425951" y="3824289"/>
            <a:ext cx="244475" cy="66675"/>
            <a:chOff x="1828" y="2409"/>
            <a:chExt cx="154" cy="42"/>
          </a:xfrm>
        </p:grpSpPr>
        <p:sp>
          <p:nvSpPr>
            <p:cNvPr id="17548" name="Freeform 141">
              <a:extLst>
                <a:ext uri="{FF2B5EF4-FFF2-40B4-BE49-F238E27FC236}">
                  <a16:creationId xmlns:a16="http://schemas.microsoft.com/office/drawing/2014/main" id="{DD82787E-9069-1B58-1F43-5A19F8B1A240}"/>
                </a:ext>
              </a:extLst>
            </p:cNvPr>
            <p:cNvSpPr>
              <a:spLocks/>
            </p:cNvSpPr>
            <p:nvPr/>
          </p:nvSpPr>
          <p:spPr bwMode="auto">
            <a:xfrm>
              <a:off x="1940" y="2409"/>
              <a:ext cx="42" cy="42"/>
            </a:xfrm>
            <a:custGeom>
              <a:avLst/>
              <a:gdLst>
                <a:gd name="T0" fmla="*/ 14 w 42"/>
                <a:gd name="T1" fmla="*/ 14 h 42"/>
                <a:gd name="T2" fmla="*/ 14 w 42"/>
                <a:gd name="T3" fmla="*/ 28 h 42"/>
                <a:gd name="T4" fmla="*/ 0 w 42"/>
                <a:gd name="T5" fmla="*/ 42 h 42"/>
                <a:gd name="T6" fmla="*/ 0 w 42"/>
                <a:gd name="T7" fmla="*/ 28 h 42"/>
                <a:gd name="T8" fmla="*/ 0 w 42"/>
                <a:gd name="T9" fmla="*/ 14 h 42"/>
                <a:gd name="T10" fmla="*/ 0 w 42"/>
                <a:gd name="T11" fmla="*/ 0 h 42"/>
                <a:gd name="T12" fmla="*/ 14 w 42"/>
                <a:gd name="T13" fmla="*/ 0 h 42"/>
                <a:gd name="T14" fmla="*/ 42 w 42"/>
                <a:gd name="T15" fmla="*/ 14 h 42"/>
                <a:gd name="T16" fmla="*/ 14 w 42"/>
                <a:gd name="T17" fmla="*/ 14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 h="42">
                  <a:moveTo>
                    <a:pt x="14" y="14"/>
                  </a:moveTo>
                  <a:lnTo>
                    <a:pt x="14" y="28"/>
                  </a:lnTo>
                  <a:lnTo>
                    <a:pt x="0" y="42"/>
                  </a:lnTo>
                  <a:lnTo>
                    <a:pt x="0" y="28"/>
                  </a:lnTo>
                  <a:lnTo>
                    <a:pt x="0" y="14"/>
                  </a:lnTo>
                  <a:lnTo>
                    <a:pt x="0" y="0"/>
                  </a:lnTo>
                  <a:lnTo>
                    <a:pt x="14" y="0"/>
                  </a:lnTo>
                  <a:lnTo>
                    <a:pt x="42" y="14"/>
                  </a:lnTo>
                  <a:lnTo>
                    <a:pt x="14" y="14"/>
                  </a:lnTo>
                  <a:close/>
                </a:path>
              </a:pathLst>
            </a:custGeom>
            <a:solidFill>
              <a:srgbClr val="000000"/>
            </a:solidFill>
            <a:ln w="22225">
              <a:solidFill>
                <a:srgbClr val="000000"/>
              </a:solidFill>
              <a:prstDash val="solid"/>
              <a:round/>
              <a:headEnd/>
              <a:tailEnd/>
            </a:ln>
          </p:spPr>
          <p:txBody>
            <a:bodyPr/>
            <a:lstStyle/>
            <a:p>
              <a:endParaRPr lang="en-IN"/>
            </a:p>
          </p:txBody>
        </p:sp>
        <p:sp>
          <p:nvSpPr>
            <p:cNvPr id="17549" name="Line 142">
              <a:extLst>
                <a:ext uri="{FF2B5EF4-FFF2-40B4-BE49-F238E27FC236}">
                  <a16:creationId xmlns:a16="http://schemas.microsoft.com/office/drawing/2014/main" id="{F0E8AF20-98D8-7627-1049-7D99B1D7E824}"/>
                </a:ext>
              </a:extLst>
            </p:cNvPr>
            <p:cNvSpPr>
              <a:spLocks noChangeShapeType="1"/>
            </p:cNvSpPr>
            <p:nvPr/>
          </p:nvSpPr>
          <p:spPr bwMode="auto">
            <a:xfrm flipH="1">
              <a:off x="1828" y="2423"/>
              <a:ext cx="126" cy="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grpSp>
        <p:nvGrpSpPr>
          <p:cNvPr id="17509" name="Group 143">
            <a:extLst>
              <a:ext uri="{FF2B5EF4-FFF2-40B4-BE49-F238E27FC236}">
                <a16:creationId xmlns:a16="http://schemas.microsoft.com/office/drawing/2014/main" id="{E7DDFEAB-BFFD-6E15-FBBF-83048B346F6B}"/>
              </a:ext>
            </a:extLst>
          </p:cNvPr>
          <p:cNvGrpSpPr>
            <a:grpSpLocks/>
          </p:cNvGrpSpPr>
          <p:nvPr/>
        </p:nvGrpSpPr>
        <p:grpSpPr bwMode="auto">
          <a:xfrm>
            <a:off x="4425951" y="4156076"/>
            <a:ext cx="244475" cy="66675"/>
            <a:chOff x="1828" y="2618"/>
            <a:chExt cx="154" cy="42"/>
          </a:xfrm>
        </p:grpSpPr>
        <p:sp>
          <p:nvSpPr>
            <p:cNvPr id="17546" name="Freeform 144">
              <a:extLst>
                <a:ext uri="{FF2B5EF4-FFF2-40B4-BE49-F238E27FC236}">
                  <a16:creationId xmlns:a16="http://schemas.microsoft.com/office/drawing/2014/main" id="{457BF26F-5FE5-E0FA-0A87-F089681CB59A}"/>
                </a:ext>
              </a:extLst>
            </p:cNvPr>
            <p:cNvSpPr>
              <a:spLocks/>
            </p:cNvSpPr>
            <p:nvPr/>
          </p:nvSpPr>
          <p:spPr bwMode="auto">
            <a:xfrm>
              <a:off x="1940" y="2618"/>
              <a:ext cx="42" cy="42"/>
            </a:xfrm>
            <a:custGeom>
              <a:avLst/>
              <a:gdLst>
                <a:gd name="T0" fmla="*/ 14 w 42"/>
                <a:gd name="T1" fmla="*/ 14 h 42"/>
                <a:gd name="T2" fmla="*/ 0 w 42"/>
                <a:gd name="T3" fmla="*/ 28 h 42"/>
                <a:gd name="T4" fmla="*/ 0 w 42"/>
                <a:gd name="T5" fmla="*/ 42 h 42"/>
                <a:gd name="T6" fmla="*/ 0 w 42"/>
                <a:gd name="T7" fmla="*/ 28 h 42"/>
                <a:gd name="T8" fmla="*/ 0 w 42"/>
                <a:gd name="T9" fmla="*/ 14 h 42"/>
                <a:gd name="T10" fmla="*/ 0 w 42"/>
                <a:gd name="T11" fmla="*/ 0 h 42"/>
                <a:gd name="T12" fmla="*/ 14 w 42"/>
                <a:gd name="T13" fmla="*/ 0 h 42"/>
                <a:gd name="T14" fmla="*/ 42 w 42"/>
                <a:gd name="T15" fmla="*/ 14 h 42"/>
                <a:gd name="T16" fmla="*/ 14 w 42"/>
                <a:gd name="T17" fmla="*/ 14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 h="42">
                  <a:moveTo>
                    <a:pt x="14" y="14"/>
                  </a:moveTo>
                  <a:lnTo>
                    <a:pt x="0" y="28"/>
                  </a:lnTo>
                  <a:lnTo>
                    <a:pt x="0" y="42"/>
                  </a:lnTo>
                  <a:lnTo>
                    <a:pt x="0" y="28"/>
                  </a:lnTo>
                  <a:lnTo>
                    <a:pt x="0" y="14"/>
                  </a:lnTo>
                  <a:lnTo>
                    <a:pt x="0" y="0"/>
                  </a:lnTo>
                  <a:lnTo>
                    <a:pt x="14" y="0"/>
                  </a:lnTo>
                  <a:lnTo>
                    <a:pt x="42" y="14"/>
                  </a:lnTo>
                  <a:lnTo>
                    <a:pt x="14" y="14"/>
                  </a:lnTo>
                  <a:close/>
                </a:path>
              </a:pathLst>
            </a:custGeom>
            <a:solidFill>
              <a:srgbClr val="000000"/>
            </a:solidFill>
            <a:ln w="22225">
              <a:solidFill>
                <a:srgbClr val="000000"/>
              </a:solidFill>
              <a:prstDash val="solid"/>
              <a:round/>
              <a:headEnd/>
              <a:tailEnd/>
            </a:ln>
          </p:spPr>
          <p:txBody>
            <a:bodyPr/>
            <a:lstStyle/>
            <a:p>
              <a:endParaRPr lang="en-IN"/>
            </a:p>
          </p:txBody>
        </p:sp>
        <p:sp>
          <p:nvSpPr>
            <p:cNvPr id="17547" name="Line 145">
              <a:extLst>
                <a:ext uri="{FF2B5EF4-FFF2-40B4-BE49-F238E27FC236}">
                  <a16:creationId xmlns:a16="http://schemas.microsoft.com/office/drawing/2014/main" id="{5BF46B79-1F46-78C8-6B63-63B526E96ABB}"/>
                </a:ext>
              </a:extLst>
            </p:cNvPr>
            <p:cNvSpPr>
              <a:spLocks noChangeShapeType="1"/>
            </p:cNvSpPr>
            <p:nvPr/>
          </p:nvSpPr>
          <p:spPr bwMode="auto">
            <a:xfrm flipH="1">
              <a:off x="1828" y="2632"/>
              <a:ext cx="126" cy="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17510" name="Freeform 146">
            <a:extLst>
              <a:ext uri="{FF2B5EF4-FFF2-40B4-BE49-F238E27FC236}">
                <a16:creationId xmlns:a16="http://schemas.microsoft.com/office/drawing/2014/main" id="{7B1E1217-2A75-F759-87F6-D1696C1556DE}"/>
              </a:ext>
            </a:extLst>
          </p:cNvPr>
          <p:cNvSpPr>
            <a:spLocks/>
          </p:cNvSpPr>
          <p:nvPr/>
        </p:nvSpPr>
        <p:spPr bwMode="auto">
          <a:xfrm>
            <a:off x="4403726" y="3470275"/>
            <a:ext cx="576263" cy="198438"/>
          </a:xfrm>
          <a:custGeom>
            <a:avLst/>
            <a:gdLst>
              <a:gd name="T0" fmla="*/ 0 w 363"/>
              <a:gd name="T1" fmla="*/ 0 h 125"/>
              <a:gd name="T2" fmla="*/ 914818306 w 363"/>
              <a:gd name="T3" fmla="*/ 0 h 125"/>
              <a:gd name="T4" fmla="*/ 914818306 w 363"/>
              <a:gd name="T5" fmla="*/ 315021119 h 125"/>
              <a:gd name="T6" fmla="*/ 0 60000 65536"/>
              <a:gd name="T7" fmla="*/ 0 60000 65536"/>
              <a:gd name="T8" fmla="*/ 0 60000 65536"/>
            </a:gdLst>
            <a:ahLst/>
            <a:cxnLst>
              <a:cxn ang="T6">
                <a:pos x="T0" y="T1"/>
              </a:cxn>
              <a:cxn ang="T7">
                <a:pos x="T2" y="T3"/>
              </a:cxn>
              <a:cxn ang="T8">
                <a:pos x="T4" y="T5"/>
              </a:cxn>
            </a:cxnLst>
            <a:rect l="0" t="0" r="r" b="b"/>
            <a:pathLst>
              <a:path w="363" h="125">
                <a:moveTo>
                  <a:pt x="0" y="0"/>
                </a:moveTo>
                <a:lnTo>
                  <a:pt x="363" y="0"/>
                </a:lnTo>
                <a:lnTo>
                  <a:pt x="363" y="125"/>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7511" name="Freeform 147">
            <a:extLst>
              <a:ext uri="{FF2B5EF4-FFF2-40B4-BE49-F238E27FC236}">
                <a16:creationId xmlns:a16="http://schemas.microsoft.com/office/drawing/2014/main" id="{E8B2EF6B-352B-2609-07A3-407B20BD06DC}"/>
              </a:ext>
            </a:extLst>
          </p:cNvPr>
          <p:cNvSpPr>
            <a:spLocks/>
          </p:cNvSpPr>
          <p:nvPr/>
        </p:nvSpPr>
        <p:spPr bwMode="auto">
          <a:xfrm>
            <a:off x="5400675" y="3846514"/>
            <a:ext cx="88900" cy="66675"/>
          </a:xfrm>
          <a:custGeom>
            <a:avLst/>
            <a:gdLst>
              <a:gd name="T0" fmla="*/ 35282188 w 56"/>
              <a:gd name="T1" fmla="*/ 35282188 h 42"/>
              <a:gd name="T2" fmla="*/ 0 w 56"/>
              <a:gd name="T3" fmla="*/ 70564375 h 42"/>
              <a:gd name="T4" fmla="*/ 0 w 56"/>
              <a:gd name="T5" fmla="*/ 105846563 h 42"/>
              <a:gd name="T6" fmla="*/ 0 w 56"/>
              <a:gd name="T7" fmla="*/ 70564375 h 42"/>
              <a:gd name="T8" fmla="*/ 0 w 56"/>
              <a:gd name="T9" fmla="*/ 35282188 h 42"/>
              <a:gd name="T10" fmla="*/ 0 w 56"/>
              <a:gd name="T11" fmla="*/ 0 h 42"/>
              <a:gd name="T12" fmla="*/ 70564375 w 56"/>
              <a:gd name="T13" fmla="*/ 0 h 42"/>
              <a:gd name="T14" fmla="*/ 141128750 w 56"/>
              <a:gd name="T15" fmla="*/ 35282188 h 42"/>
              <a:gd name="T16" fmla="*/ 35282188 w 56"/>
              <a:gd name="T17" fmla="*/ 35282188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6" h="42">
                <a:moveTo>
                  <a:pt x="14" y="14"/>
                </a:moveTo>
                <a:lnTo>
                  <a:pt x="0" y="28"/>
                </a:lnTo>
                <a:lnTo>
                  <a:pt x="0" y="42"/>
                </a:lnTo>
                <a:lnTo>
                  <a:pt x="0" y="28"/>
                </a:lnTo>
                <a:lnTo>
                  <a:pt x="0" y="14"/>
                </a:lnTo>
                <a:lnTo>
                  <a:pt x="0" y="0"/>
                </a:lnTo>
                <a:lnTo>
                  <a:pt x="28" y="0"/>
                </a:lnTo>
                <a:lnTo>
                  <a:pt x="56" y="14"/>
                </a:lnTo>
                <a:lnTo>
                  <a:pt x="14" y="14"/>
                </a:lnTo>
                <a:close/>
              </a:path>
            </a:pathLst>
          </a:custGeom>
          <a:solidFill>
            <a:srgbClr val="000000"/>
          </a:solidFill>
          <a:ln w="22225">
            <a:solidFill>
              <a:srgbClr val="000000"/>
            </a:solidFill>
            <a:prstDash val="solid"/>
            <a:round/>
            <a:headEnd/>
            <a:tailEnd/>
          </a:ln>
        </p:spPr>
        <p:txBody>
          <a:bodyPr/>
          <a:lstStyle/>
          <a:p>
            <a:endParaRPr lang="en-IN"/>
          </a:p>
        </p:txBody>
      </p:sp>
      <p:sp>
        <p:nvSpPr>
          <p:cNvPr id="17512" name="Line 148">
            <a:extLst>
              <a:ext uri="{FF2B5EF4-FFF2-40B4-BE49-F238E27FC236}">
                <a16:creationId xmlns:a16="http://schemas.microsoft.com/office/drawing/2014/main" id="{E54363DD-CEF7-2A17-1748-987E1E8C6EF1}"/>
              </a:ext>
            </a:extLst>
          </p:cNvPr>
          <p:cNvSpPr>
            <a:spLocks noChangeShapeType="1"/>
          </p:cNvSpPr>
          <p:nvPr/>
        </p:nvSpPr>
        <p:spPr bwMode="auto">
          <a:xfrm flipH="1">
            <a:off x="5246689" y="3868739"/>
            <a:ext cx="198437" cy="15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17513" name="Picture 149">
            <a:extLst>
              <a:ext uri="{FF2B5EF4-FFF2-40B4-BE49-F238E27FC236}">
                <a16:creationId xmlns:a16="http://schemas.microsoft.com/office/drawing/2014/main" id="{910D089C-E3A6-4B7D-E4CD-5929EF8C07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9575" y="4333875"/>
            <a:ext cx="44450" cy="6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14" name="Freeform 150">
            <a:extLst>
              <a:ext uri="{FF2B5EF4-FFF2-40B4-BE49-F238E27FC236}">
                <a16:creationId xmlns:a16="http://schemas.microsoft.com/office/drawing/2014/main" id="{DD02F3B8-761B-5D94-B29F-63598DFAAC51}"/>
              </a:ext>
            </a:extLst>
          </p:cNvPr>
          <p:cNvSpPr>
            <a:spLocks/>
          </p:cNvSpPr>
          <p:nvPr/>
        </p:nvSpPr>
        <p:spPr bwMode="auto">
          <a:xfrm>
            <a:off x="5467351" y="4333875"/>
            <a:ext cx="66675" cy="65088"/>
          </a:xfrm>
          <a:custGeom>
            <a:avLst/>
            <a:gdLst>
              <a:gd name="T0" fmla="*/ 35282188 w 42"/>
              <a:gd name="T1" fmla="*/ 103327994 h 41"/>
              <a:gd name="T2" fmla="*/ 35282188 w 42"/>
              <a:gd name="T3" fmla="*/ 35282459 h 41"/>
              <a:gd name="T4" fmla="*/ 0 w 42"/>
              <a:gd name="T5" fmla="*/ 0 h 41"/>
              <a:gd name="T6" fmla="*/ 35282188 w 42"/>
              <a:gd name="T7" fmla="*/ 0 h 41"/>
              <a:gd name="T8" fmla="*/ 70564375 w 42"/>
              <a:gd name="T9" fmla="*/ 0 h 41"/>
              <a:gd name="T10" fmla="*/ 105846563 w 42"/>
              <a:gd name="T11" fmla="*/ 0 h 41"/>
              <a:gd name="T12" fmla="*/ 70564375 w 42"/>
              <a:gd name="T13" fmla="*/ 35282459 h 41"/>
              <a:gd name="T14" fmla="*/ 70564375 w 42"/>
              <a:gd name="T15" fmla="*/ 103327994 h 41"/>
              <a:gd name="T16" fmla="*/ 35282188 w 42"/>
              <a:gd name="T17" fmla="*/ 103327994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 h="41">
                <a:moveTo>
                  <a:pt x="14" y="41"/>
                </a:moveTo>
                <a:lnTo>
                  <a:pt x="14" y="14"/>
                </a:lnTo>
                <a:lnTo>
                  <a:pt x="0" y="0"/>
                </a:lnTo>
                <a:lnTo>
                  <a:pt x="14" y="0"/>
                </a:lnTo>
                <a:lnTo>
                  <a:pt x="28" y="0"/>
                </a:lnTo>
                <a:lnTo>
                  <a:pt x="42" y="0"/>
                </a:lnTo>
                <a:lnTo>
                  <a:pt x="28" y="14"/>
                </a:lnTo>
                <a:lnTo>
                  <a:pt x="28" y="41"/>
                </a:lnTo>
                <a:lnTo>
                  <a:pt x="14" y="41"/>
                </a:lnTo>
                <a:close/>
              </a:path>
            </a:pathLst>
          </a:custGeom>
          <a:solidFill>
            <a:srgbClr val="000000"/>
          </a:solidFill>
          <a:ln w="22225">
            <a:solidFill>
              <a:srgbClr val="000000"/>
            </a:solidFill>
            <a:prstDash val="solid"/>
            <a:round/>
            <a:headEnd/>
            <a:tailEnd/>
          </a:ln>
        </p:spPr>
        <p:txBody>
          <a:bodyPr/>
          <a:lstStyle/>
          <a:p>
            <a:endParaRPr lang="en-IN"/>
          </a:p>
        </p:txBody>
      </p:sp>
      <p:sp>
        <p:nvSpPr>
          <p:cNvPr id="17515" name="Freeform 151">
            <a:extLst>
              <a:ext uri="{FF2B5EF4-FFF2-40B4-BE49-F238E27FC236}">
                <a16:creationId xmlns:a16="http://schemas.microsoft.com/office/drawing/2014/main" id="{B8966FA4-A65E-7026-7F08-4DC15589E429}"/>
              </a:ext>
            </a:extLst>
          </p:cNvPr>
          <p:cNvSpPr>
            <a:spLocks/>
          </p:cNvSpPr>
          <p:nvPr/>
        </p:nvSpPr>
        <p:spPr bwMode="auto">
          <a:xfrm>
            <a:off x="5246688" y="4178301"/>
            <a:ext cx="265112" cy="200025"/>
          </a:xfrm>
          <a:custGeom>
            <a:avLst/>
            <a:gdLst>
              <a:gd name="T0" fmla="*/ 0 w 167"/>
              <a:gd name="T1" fmla="*/ 0 h 126"/>
              <a:gd name="T2" fmla="*/ 420864506 w 167"/>
              <a:gd name="T3" fmla="*/ 0 h 126"/>
              <a:gd name="T4" fmla="*/ 420864506 w 167"/>
              <a:gd name="T5" fmla="*/ 317539688 h 126"/>
              <a:gd name="T6" fmla="*/ 0 60000 65536"/>
              <a:gd name="T7" fmla="*/ 0 60000 65536"/>
              <a:gd name="T8" fmla="*/ 0 60000 65536"/>
            </a:gdLst>
            <a:ahLst/>
            <a:cxnLst>
              <a:cxn ang="T6">
                <a:pos x="T0" y="T1"/>
              </a:cxn>
              <a:cxn ang="T7">
                <a:pos x="T2" y="T3"/>
              </a:cxn>
              <a:cxn ang="T8">
                <a:pos x="T4" y="T5"/>
              </a:cxn>
            </a:cxnLst>
            <a:rect l="0" t="0" r="r" b="b"/>
            <a:pathLst>
              <a:path w="167" h="126">
                <a:moveTo>
                  <a:pt x="0" y="0"/>
                </a:moveTo>
                <a:lnTo>
                  <a:pt x="167" y="0"/>
                </a:lnTo>
                <a:lnTo>
                  <a:pt x="167" y="126"/>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7516" name="Freeform 152">
            <a:extLst>
              <a:ext uri="{FF2B5EF4-FFF2-40B4-BE49-F238E27FC236}">
                <a16:creationId xmlns:a16="http://schemas.microsoft.com/office/drawing/2014/main" id="{B745ECEA-4119-60FB-BF68-B239D36A5B7A}"/>
              </a:ext>
            </a:extLst>
          </p:cNvPr>
          <p:cNvSpPr>
            <a:spLocks/>
          </p:cNvSpPr>
          <p:nvPr/>
        </p:nvSpPr>
        <p:spPr bwMode="auto">
          <a:xfrm>
            <a:off x="5932488" y="4554539"/>
            <a:ext cx="88900" cy="66675"/>
          </a:xfrm>
          <a:custGeom>
            <a:avLst/>
            <a:gdLst>
              <a:gd name="T0" fmla="*/ 35282188 w 56"/>
              <a:gd name="T1" fmla="*/ 35282188 h 42"/>
              <a:gd name="T2" fmla="*/ 35282188 w 56"/>
              <a:gd name="T3" fmla="*/ 70564375 h 42"/>
              <a:gd name="T4" fmla="*/ 0 w 56"/>
              <a:gd name="T5" fmla="*/ 105846563 h 42"/>
              <a:gd name="T6" fmla="*/ 0 w 56"/>
              <a:gd name="T7" fmla="*/ 70564375 h 42"/>
              <a:gd name="T8" fmla="*/ 0 w 56"/>
              <a:gd name="T9" fmla="*/ 35282188 h 42"/>
              <a:gd name="T10" fmla="*/ 0 w 56"/>
              <a:gd name="T11" fmla="*/ 0 h 42"/>
              <a:gd name="T12" fmla="*/ 70564375 w 56"/>
              <a:gd name="T13" fmla="*/ 0 h 42"/>
              <a:gd name="T14" fmla="*/ 141128750 w 56"/>
              <a:gd name="T15" fmla="*/ 35282188 h 42"/>
              <a:gd name="T16" fmla="*/ 35282188 w 56"/>
              <a:gd name="T17" fmla="*/ 35282188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6" h="42">
                <a:moveTo>
                  <a:pt x="14" y="14"/>
                </a:moveTo>
                <a:lnTo>
                  <a:pt x="14" y="28"/>
                </a:lnTo>
                <a:lnTo>
                  <a:pt x="0" y="42"/>
                </a:lnTo>
                <a:lnTo>
                  <a:pt x="0" y="28"/>
                </a:lnTo>
                <a:lnTo>
                  <a:pt x="0" y="14"/>
                </a:lnTo>
                <a:lnTo>
                  <a:pt x="0" y="0"/>
                </a:lnTo>
                <a:lnTo>
                  <a:pt x="28" y="0"/>
                </a:lnTo>
                <a:lnTo>
                  <a:pt x="56" y="14"/>
                </a:lnTo>
                <a:lnTo>
                  <a:pt x="14" y="14"/>
                </a:lnTo>
                <a:close/>
              </a:path>
            </a:pathLst>
          </a:custGeom>
          <a:solidFill>
            <a:srgbClr val="000000"/>
          </a:solidFill>
          <a:ln w="22225">
            <a:solidFill>
              <a:srgbClr val="000000"/>
            </a:solidFill>
            <a:prstDash val="solid"/>
            <a:round/>
            <a:headEnd/>
            <a:tailEnd/>
          </a:ln>
        </p:spPr>
        <p:txBody>
          <a:bodyPr/>
          <a:lstStyle/>
          <a:p>
            <a:endParaRPr lang="en-IN"/>
          </a:p>
        </p:txBody>
      </p:sp>
      <p:sp>
        <p:nvSpPr>
          <p:cNvPr id="17517" name="Line 153">
            <a:extLst>
              <a:ext uri="{FF2B5EF4-FFF2-40B4-BE49-F238E27FC236}">
                <a16:creationId xmlns:a16="http://schemas.microsoft.com/office/drawing/2014/main" id="{65DB73A0-4C19-F891-46ED-AC7486058CF0}"/>
              </a:ext>
            </a:extLst>
          </p:cNvPr>
          <p:cNvSpPr>
            <a:spLocks noChangeShapeType="1"/>
          </p:cNvSpPr>
          <p:nvPr/>
        </p:nvSpPr>
        <p:spPr bwMode="auto">
          <a:xfrm flipH="1">
            <a:off x="5776914" y="4576764"/>
            <a:ext cx="200025" cy="15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17518" name="Picture 154">
            <a:extLst>
              <a:ext uri="{FF2B5EF4-FFF2-40B4-BE49-F238E27FC236}">
                <a16:creationId xmlns:a16="http://schemas.microsoft.com/office/drawing/2014/main" id="{79A4A0BF-6676-5C30-EFCD-F4D32D041E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5564" y="4532314"/>
            <a:ext cx="66675" cy="6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19" name="Freeform 155">
            <a:extLst>
              <a:ext uri="{FF2B5EF4-FFF2-40B4-BE49-F238E27FC236}">
                <a16:creationId xmlns:a16="http://schemas.microsoft.com/office/drawing/2014/main" id="{03F3E7E4-AAB2-E31F-34F9-27F57A374358}"/>
              </a:ext>
            </a:extLst>
          </p:cNvPr>
          <p:cNvSpPr>
            <a:spLocks/>
          </p:cNvSpPr>
          <p:nvPr/>
        </p:nvSpPr>
        <p:spPr bwMode="auto">
          <a:xfrm>
            <a:off x="5135564" y="4532314"/>
            <a:ext cx="66675" cy="66675"/>
          </a:xfrm>
          <a:custGeom>
            <a:avLst/>
            <a:gdLst>
              <a:gd name="T0" fmla="*/ 105846563 w 42"/>
              <a:gd name="T1" fmla="*/ 35282188 h 42"/>
              <a:gd name="T2" fmla="*/ 35282188 w 42"/>
              <a:gd name="T3" fmla="*/ 70564375 h 42"/>
              <a:gd name="T4" fmla="*/ 0 w 42"/>
              <a:gd name="T5" fmla="*/ 105846563 h 42"/>
              <a:gd name="T6" fmla="*/ 0 w 42"/>
              <a:gd name="T7" fmla="*/ 70564375 h 42"/>
              <a:gd name="T8" fmla="*/ 0 w 42"/>
              <a:gd name="T9" fmla="*/ 35282188 h 42"/>
              <a:gd name="T10" fmla="*/ 0 w 42"/>
              <a:gd name="T11" fmla="*/ 0 h 42"/>
              <a:gd name="T12" fmla="*/ 35282188 w 42"/>
              <a:gd name="T13" fmla="*/ 0 h 42"/>
              <a:gd name="T14" fmla="*/ 105846563 w 42"/>
              <a:gd name="T15" fmla="*/ 35282188 h 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2" h="42">
                <a:moveTo>
                  <a:pt x="42" y="14"/>
                </a:moveTo>
                <a:lnTo>
                  <a:pt x="14" y="28"/>
                </a:lnTo>
                <a:lnTo>
                  <a:pt x="0" y="42"/>
                </a:lnTo>
                <a:lnTo>
                  <a:pt x="0" y="28"/>
                </a:lnTo>
                <a:lnTo>
                  <a:pt x="0" y="14"/>
                </a:lnTo>
                <a:lnTo>
                  <a:pt x="0" y="0"/>
                </a:lnTo>
                <a:lnTo>
                  <a:pt x="14" y="0"/>
                </a:lnTo>
                <a:lnTo>
                  <a:pt x="42" y="14"/>
                </a:lnTo>
                <a:close/>
              </a:path>
            </a:pathLst>
          </a:custGeom>
          <a:solidFill>
            <a:srgbClr val="000000"/>
          </a:solidFill>
          <a:ln w="22225">
            <a:solidFill>
              <a:srgbClr val="000000"/>
            </a:solidFill>
            <a:prstDash val="solid"/>
            <a:round/>
            <a:headEnd/>
            <a:tailEnd/>
          </a:ln>
        </p:spPr>
        <p:txBody>
          <a:bodyPr/>
          <a:lstStyle/>
          <a:p>
            <a:endParaRPr lang="en-IN"/>
          </a:p>
        </p:txBody>
      </p:sp>
      <p:sp>
        <p:nvSpPr>
          <p:cNvPr id="17520" name="Line 156">
            <a:extLst>
              <a:ext uri="{FF2B5EF4-FFF2-40B4-BE49-F238E27FC236}">
                <a16:creationId xmlns:a16="http://schemas.microsoft.com/office/drawing/2014/main" id="{90AC99A8-7FD5-2FBC-B429-EC454E6AFB81}"/>
              </a:ext>
            </a:extLst>
          </p:cNvPr>
          <p:cNvSpPr>
            <a:spLocks noChangeShapeType="1"/>
          </p:cNvSpPr>
          <p:nvPr/>
        </p:nvSpPr>
        <p:spPr bwMode="auto">
          <a:xfrm flipH="1">
            <a:off x="4957763" y="4554539"/>
            <a:ext cx="222250" cy="15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17521" name="Picture 157">
            <a:extLst>
              <a:ext uri="{FF2B5EF4-FFF2-40B4-BE49-F238E27FC236}">
                <a16:creationId xmlns:a16="http://schemas.microsoft.com/office/drawing/2014/main" id="{39E8B13F-83AB-3EF6-B361-BC4D47512A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35563" y="4841876"/>
            <a:ext cx="44450" cy="6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22" name="Freeform 158">
            <a:extLst>
              <a:ext uri="{FF2B5EF4-FFF2-40B4-BE49-F238E27FC236}">
                <a16:creationId xmlns:a16="http://schemas.microsoft.com/office/drawing/2014/main" id="{1781A7BA-67C6-862A-4EC9-4BC41EF6FA63}"/>
              </a:ext>
            </a:extLst>
          </p:cNvPr>
          <p:cNvSpPr>
            <a:spLocks/>
          </p:cNvSpPr>
          <p:nvPr/>
        </p:nvSpPr>
        <p:spPr bwMode="auto">
          <a:xfrm>
            <a:off x="5135564" y="4841876"/>
            <a:ext cx="66675" cy="66675"/>
          </a:xfrm>
          <a:custGeom>
            <a:avLst/>
            <a:gdLst>
              <a:gd name="T0" fmla="*/ 105846563 w 42"/>
              <a:gd name="T1" fmla="*/ 70564375 h 42"/>
              <a:gd name="T2" fmla="*/ 35282188 w 42"/>
              <a:gd name="T3" fmla="*/ 70564375 h 42"/>
              <a:gd name="T4" fmla="*/ 0 w 42"/>
              <a:gd name="T5" fmla="*/ 105846563 h 42"/>
              <a:gd name="T6" fmla="*/ 0 w 42"/>
              <a:gd name="T7" fmla="*/ 70564375 h 42"/>
              <a:gd name="T8" fmla="*/ 0 w 42"/>
              <a:gd name="T9" fmla="*/ 35282188 h 42"/>
              <a:gd name="T10" fmla="*/ 0 w 42"/>
              <a:gd name="T11" fmla="*/ 0 h 42"/>
              <a:gd name="T12" fmla="*/ 35282188 w 42"/>
              <a:gd name="T13" fmla="*/ 35282188 h 42"/>
              <a:gd name="T14" fmla="*/ 105846563 w 42"/>
              <a:gd name="T15" fmla="*/ 70564375 h 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2" h="42">
                <a:moveTo>
                  <a:pt x="42" y="28"/>
                </a:moveTo>
                <a:lnTo>
                  <a:pt x="14" y="28"/>
                </a:lnTo>
                <a:lnTo>
                  <a:pt x="0" y="42"/>
                </a:lnTo>
                <a:lnTo>
                  <a:pt x="0" y="28"/>
                </a:lnTo>
                <a:lnTo>
                  <a:pt x="0" y="14"/>
                </a:lnTo>
                <a:lnTo>
                  <a:pt x="0" y="0"/>
                </a:lnTo>
                <a:lnTo>
                  <a:pt x="14" y="14"/>
                </a:lnTo>
                <a:lnTo>
                  <a:pt x="42" y="28"/>
                </a:lnTo>
                <a:close/>
              </a:path>
            </a:pathLst>
          </a:custGeom>
          <a:solidFill>
            <a:srgbClr val="000000"/>
          </a:solidFill>
          <a:ln w="22225">
            <a:solidFill>
              <a:srgbClr val="000000"/>
            </a:solidFill>
            <a:prstDash val="solid"/>
            <a:round/>
            <a:headEnd/>
            <a:tailEnd/>
          </a:ln>
        </p:spPr>
        <p:txBody>
          <a:bodyPr/>
          <a:lstStyle/>
          <a:p>
            <a:endParaRPr lang="en-IN"/>
          </a:p>
        </p:txBody>
      </p:sp>
      <p:sp>
        <p:nvSpPr>
          <p:cNvPr id="17523" name="Line 159">
            <a:extLst>
              <a:ext uri="{FF2B5EF4-FFF2-40B4-BE49-F238E27FC236}">
                <a16:creationId xmlns:a16="http://schemas.microsoft.com/office/drawing/2014/main" id="{3E64E424-3CAF-7655-7840-8CBC7AD38424}"/>
              </a:ext>
            </a:extLst>
          </p:cNvPr>
          <p:cNvSpPr>
            <a:spLocks noChangeShapeType="1"/>
          </p:cNvSpPr>
          <p:nvPr/>
        </p:nvSpPr>
        <p:spPr bwMode="auto">
          <a:xfrm flipH="1">
            <a:off x="4957763" y="4886325"/>
            <a:ext cx="222250" cy="15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524" name="Rectangle 160">
            <a:extLst>
              <a:ext uri="{FF2B5EF4-FFF2-40B4-BE49-F238E27FC236}">
                <a16:creationId xmlns:a16="http://schemas.microsoft.com/office/drawing/2014/main" id="{458D76F3-1F8C-59F8-2148-B59C89FD0975}"/>
              </a:ext>
            </a:extLst>
          </p:cNvPr>
          <p:cNvSpPr>
            <a:spLocks noChangeArrowheads="1"/>
          </p:cNvSpPr>
          <p:nvPr/>
        </p:nvSpPr>
        <p:spPr bwMode="auto">
          <a:xfrm>
            <a:off x="6021389" y="5064126"/>
            <a:ext cx="22225" cy="66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7525" name="Freeform 161">
            <a:extLst>
              <a:ext uri="{FF2B5EF4-FFF2-40B4-BE49-F238E27FC236}">
                <a16:creationId xmlns:a16="http://schemas.microsoft.com/office/drawing/2014/main" id="{B0FED679-493B-D43B-91F4-0CC8F2B59006}"/>
              </a:ext>
            </a:extLst>
          </p:cNvPr>
          <p:cNvSpPr>
            <a:spLocks/>
          </p:cNvSpPr>
          <p:nvPr/>
        </p:nvSpPr>
        <p:spPr bwMode="auto">
          <a:xfrm>
            <a:off x="5999164" y="5041900"/>
            <a:ext cx="66675" cy="88900"/>
          </a:xfrm>
          <a:custGeom>
            <a:avLst/>
            <a:gdLst>
              <a:gd name="T0" fmla="*/ 35282188 w 42"/>
              <a:gd name="T1" fmla="*/ 141128750 h 56"/>
              <a:gd name="T2" fmla="*/ 35282188 w 42"/>
              <a:gd name="T3" fmla="*/ 70564375 h 56"/>
              <a:gd name="T4" fmla="*/ 0 w 42"/>
              <a:gd name="T5" fmla="*/ 0 h 56"/>
              <a:gd name="T6" fmla="*/ 35282188 w 42"/>
              <a:gd name="T7" fmla="*/ 35282188 h 56"/>
              <a:gd name="T8" fmla="*/ 70564375 w 42"/>
              <a:gd name="T9" fmla="*/ 35282188 h 56"/>
              <a:gd name="T10" fmla="*/ 105846563 w 42"/>
              <a:gd name="T11" fmla="*/ 0 h 56"/>
              <a:gd name="T12" fmla="*/ 70564375 w 42"/>
              <a:gd name="T13" fmla="*/ 70564375 h 56"/>
              <a:gd name="T14" fmla="*/ 70564375 w 42"/>
              <a:gd name="T15" fmla="*/ 141128750 h 56"/>
              <a:gd name="T16" fmla="*/ 35282188 w 42"/>
              <a:gd name="T17" fmla="*/ 14112875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 h="56">
                <a:moveTo>
                  <a:pt x="14" y="56"/>
                </a:moveTo>
                <a:lnTo>
                  <a:pt x="14" y="28"/>
                </a:lnTo>
                <a:lnTo>
                  <a:pt x="0" y="0"/>
                </a:lnTo>
                <a:lnTo>
                  <a:pt x="14" y="14"/>
                </a:lnTo>
                <a:lnTo>
                  <a:pt x="28" y="14"/>
                </a:lnTo>
                <a:lnTo>
                  <a:pt x="42" y="0"/>
                </a:lnTo>
                <a:lnTo>
                  <a:pt x="28" y="28"/>
                </a:lnTo>
                <a:lnTo>
                  <a:pt x="28" y="56"/>
                </a:lnTo>
                <a:lnTo>
                  <a:pt x="14" y="56"/>
                </a:lnTo>
                <a:close/>
              </a:path>
            </a:pathLst>
          </a:custGeom>
          <a:solidFill>
            <a:srgbClr val="000000"/>
          </a:solidFill>
          <a:ln w="22225">
            <a:solidFill>
              <a:srgbClr val="000000"/>
            </a:solidFill>
            <a:prstDash val="solid"/>
            <a:round/>
            <a:headEnd/>
            <a:tailEnd/>
          </a:ln>
        </p:spPr>
        <p:txBody>
          <a:bodyPr/>
          <a:lstStyle/>
          <a:p>
            <a:endParaRPr lang="en-IN"/>
          </a:p>
        </p:txBody>
      </p:sp>
      <p:sp>
        <p:nvSpPr>
          <p:cNvPr id="17526" name="Freeform 162">
            <a:extLst>
              <a:ext uri="{FF2B5EF4-FFF2-40B4-BE49-F238E27FC236}">
                <a16:creationId xmlns:a16="http://schemas.microsoft.com/office/drawing/2014/main" id="{8332426A-BAA3-9AE2-5131-04164954BEA0}"/>
              </a:ext>
            </a:extLst>
          </p:cNvPr>
          <p:cNvSpPr>
            <a:spLocks/>
          </p:cNvSpPr>
          <p:nvPr/>
        </p:nvSpPr>
        <p:spPr bwMode="auto">
          <a:xfrm>
            <a:off x="5776913" y="4908550"/>
            <a:ext cx="266700" cy="177800"/>
          </a:xfrm>
          <a:custGeom>
            <a:avLst/>
            <a:gdLst>
              <a:gd name="T0" fmla="*/ 0 w 168"/>
              <a:gd name="T1" fmla="*/ 0 h 112"/>
              <a:gd name="T2" fmla="*/ 423386250 w 168"/>
              <a:gd name="T3" fmla="*/ 0 h 112"/>
              <a:gd name="T4" fmla="*/ 423386250 w 168"/>
              <a:gd name="T5" fmla="*/ 282257500 h 112"/>
              <a:gd name="T6" fmla="*/ 0 60000 65536"/>
              <a:gd name="T7" fmla="*/ 0 60000 65536"/>
              <a:gd name="T8" fmla="*/ 0 60000 65536"/>
            </a:gdLst>
            <a:ahLst/>
            <a:cxnLst>
              <a:cxn ang="T6">
                <a:pos x="T0" y="T1"/>
              </a:cxn>
              <a:cxn ang="T7">
                <a:pos x="T2" y="T3"/>
              </a:cxn>
              <a:cxn ang="T8">
                <a:pos x="T4" y="T5"/>
              </a:cxn>
            </a:cxnLst>
            <a:rect l="0" t="0" r="r" b="b"/>
            <a:pathLst>
              <a:path w="168" h="112">
                <a:moveTo>
                  <a:pt x="0" y="0"/>
                </a:moveTo>
                <a:lnTo>
                  <a:pt x="168" y="0"/>
                </a:lnTo>
                <a:lnTo>
                  <a:pt x="168" y="112"/>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7527" name="Freeform 163">
            <a:extLst>
              <a:ext uri="{FF2B5EF4-FFF2-40B4-BE49-F238E27FC236}">
                <a16:creationId xmlns:a16="http://schemas.microsoft.com/office/drawing/2014/main" id="{529981A2-F89E-A23B-2FFC-F10BD963B011}"/>
              </a:ext>
            </a:extLst>
          </p:cNvPr>
          <p:cNvSpPr>
            <a:spLocks/>
          </p:cNvSpPr>
          <p:nvPr/>
        </p:nvSpPr>
        <p:spPr bwMode="auto">
          <a:xfrm>
            <a:off x="5667375" y="5262564"/>
            <a:ext cx="65088" cy="66675"/>
          </a:xfrm>
          <a:custGeom>
            <a:avLst/>
            <a:gdLst>
              <a:gd name="T0" fmla="*/ 35282459 w 41"/>
              <a:gd name="T1" fmla="*/ 35282188 h 42"/>
              <a:gd name="T2" fmla="*/ 35282459 w 41"/>
              <a:gd name="T3" fmla="*/ 70564375 h 42"/>
              <a:gd name="T4" fmla="*/ 0 w 41"/>
              <a:gd name="T5" fmla="*/ 105846563 h 42"/>
              <a:gd name="T6" fmla="*/ 0 w 41"/>
              <a:gd name="T7" fmla="*/ 70564375 h 42"/>
              <a:gd name="T8" fmla="*/ 0 w 41"/>
              <a:gd name="T9" fmla="*/ 35282188 h 42"/>
              <a:gd name="T10" fmla="*/ 0 w 41"/>
              <a:gd name="T11" fmla="*/ 0 h 42"/>
              <a:gd name="T12" fmla="*/ 35282459 w 41"/>
              <a:gd name="T13" fmla="*/ 0 h 42"/>
              <a:gd name="T14" fmla="*/ 103327994 w 41"/>
              <a:gd name="T15" fmla="*/ 35282188 h 42"/>
              <a:gd name="T16" fmla="*/ 35282459 w 41"/>
              <a:gd name="T17" fmla="*/ 35282188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1" h="42">
                <a:moveTo>
                  <a:pt x="14" y="14"/>
                </a:moveTo>
                <a:lnTo>
                  <a:pt x="14" y="28"/>
                </a:lnTo>
                <a:lnTo>
                  <a:pt x="0" y="42"/>
                </a:lnTo>
                <a:lnTo>
                  <a:pt x="0" y="28"/>
                </a:lnTo>
                <a:lnTo>
                  <a:pt x="0" y="14"/>
                </a:lnTo>
                <a:lnTo>
                  <a:pt x="0" y="0"/>
                </a:lnTo>
                <a:lnTo>
                  <a:pt x="14" y="0"/>
                </a:lnTo>
                <a:lnTo>
                  <a:pt x="41" y="14"/>
                </a:lnTo>
                <a:lnTo>
                  <a:pt x="14" y="14"/>
                </a:lnTo>
                <a:close/>
              </a:path>
            </a:pathLst>
          </a:custGeom>
          <a:solidFill>
            <a:srgbClr val="000000"/>
          </a:solidFill>
          <a:ln w="22225">
            <a:solidFill>
              <a:srgbClr val="000000"/>
            </a:solidFill>
            <a:prstDash val="solid"/>
            <a:round/>
            <a:headEnd/>
            <a:tailEnd/>
          </a:ln>
        </p:spPr>
        <p:txBody>
          <a:bodyPr/>
          <a:lstStyle/>
          <a:p>
            <a:endParaRPr lang="en-IN"/>
          </a:p>
        </p:txBody>
      </p:sp>
      <p:sp>
        <p:nvSpPr>
          <p:cNvPr id="17528" name="Line 164">
            <a:extLst>
              <a:ext uri="{FF2B5EF4-FFF2-40B4-BE49-F238E27FC236}">
                <a16:creationId xmlns:a16="http://schemas.microsoft.com/office/drawing/2014/main" id="{713B39F1-A08B-1331-9B54-06761D1B14E4}"/>
              </a:ext>
            </a:extLst>
          </p:cNvPr>
          <p:cNvSpPr>
            <a:spLocks noChangeShapeType="1"/>
          </p:cNvSpPr>
          <p:nvPr/>
        </p:nvSpPr>
        <p:spPr bwMode="auto">
          <a:xfrm flipH="1">
            <a:off x="5489576" y="5284789"/>
            <a:ext cx="200025" cy="15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529" name="Freeform 165">
            <a:extLst>
              <a:ext uri="{FF2B5EF4-FFF2-40B4-BE49-F238E27FC236}">
                <a16:creationId xmlns:a16="http://schemas.microsoft.com/office/drawing/2014/main" id="{221A6158-EFA8-A33E-942C-E02147F25940}"/>
              </a:ext>
            </a:extLst>
          </p:cNvPr>
          <p:cNvSpPr>
            <a:spLocks/>
          </p:cNvSpPr>
          <p:nvPr/>
        </p:nvSpPr>
        <p:spPr bwMode="auto">
          <a:xfrm>
            <a:off x="5667375" y="5573714"/>
            <a:ext cx="65088" cy="65087"/>
          </a:xfrm>
          <a:custGeom>
            <a:avLst/>
            <a:gdLst>
              <a:gd name="T0" fmla="*/ 35282459 w 41"/>
              <a:gd name="T1" fmla="*/ 68042902 h 41"/>
              <a:gd name="T2" fmla="*/ 0 w 41"/>
              <a:gd name="T3" fmla="*/ 103324819 h 41"/>
              <a:gd name="T4" fmla="*/ 0 w 41"/>
              <a:gd name="T5" fmla="*/ 68042902 h 41"/>
              <a:gd name="T6" fmla="*/ 0 w 41"/>
              <a:gd name="T7" fmla="*/ 35281916 h 41"/>
              <a:gd name="T8" fmla="*/ 0 w 41"/>
              <a:gd name="T9" fmla="*/ 0 h 41"/>
              <a:gd name="T10" fmla="*/ 35282459 w 41"/>
              <a:gd name="T11" fmla="*/ 35281916 h 41"/>
              <a:gd name="T12" fmla="*/ 103327994 w 41"/>
              <a:gd name="T13" fmla="*/ 35281916 h 41"/>
              <a:gd name="T14" fmla="*/ 103327994 w 41"/>
              <a:gd name="T15" fmla="*/ 68042902 h 41"/>
              <a:gd name="T16" fmla="*/ 35282459 w 41"/>
              <a:gd name="T17" fmla="*/ 68042902 h 4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1" h="41">
                <a:moveTo>
                  <a:pt x="14" y="27"/>
                </a:moveTo>
                <a:lnTo>
                  <a:pt x="0" y="41"/>
                </a:lnTo>
                <a:lnTo>
                  <a:pt x="0" y="27"/>
                </a:lnTo>
                <a:lnTo>
                  <a:pt x="0" y="14"/>
                </a:lnTo>
                <a:lnTo>
                  <a:pt x="0" y="0"/>
                </a:lnTo>
                <a:lnTo>
                  <a:pt x="14" y="14"/>
                </a:lnTo>
                <a:lnTo>
                  <a:pt x="41" y="14"/>
                </a:lnTo>
                <a:lnTo>
                  <a:pt x="41" y="27"/>
                </a:lnTo>
                <a:lnTo>
                  <a:pt x="14" y="27"/>
                </a:lnTo>
                <a:close/>
              </a:path>
            </a:pathLst>
          </a:custGeom>
          <a:solidFill>
            <a:srgbClr val="000000"/>
          </a:solidFill>
          <a:ln w="22225">
            <a:solidFill>
              <a:srgbClr val="000000"/>
            </a:solidFill>
            <a:prstDash val="solid"/>
            <a:round/>
            <a:headEnd/>
            <a:tailEnd/>
          </a:ln>
        </p:spPr>
        <p:txBody>
          <a:bodyPr/>
          <a:lstStyle/>
          <a:p>
            <a:endParaRPr lang="en-IN"/>
          </a:p>
        </p:txBody>
      </p:sp>
      <p:sp>
        <p:nvSpPr>
          <p:cNvPr id="17530" name="Line 166">
            <a:extLst>
              <a:ext uri="{FF2B5EF4-FFF2-40B4-BE49-F238E27FC236}">
                <a16:creationId xmlns:a16="http://schemas.microsoft.com/office/drawing/2014/main" id="{DF758EA0-D6B6-4210-F8EE-FFA604B03237}"/>
              </a:ext>
            </a:extLst>
          </p:cNvPr>
          <p:cNvSpPr>
            <a:spLocks noChangeShapeType="1"/>
          </p:cNvSpPr>
          <p:nvPr/>
        </p:nvSpPr>
        <p:spPr bwMode="auto">
          <a:xfrm flipH="1">
            <a:off x="5489576" y="5616575"/>
            <a:ext cx="200025" cy="15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531" name="Freeform 167">
            <a:extLst>
              <a:ext uri="{FF2B5EF4-FFF2-40B4-BE49-F238E27FC236}">
                <a16:creationId xmlns:a16="http://schemas.microsoft.com/office/drawing/2014/main" id="{3EA03ACB-1304-5BF9-280B-984E87D0DA33}"/>
              </a:ext>
            </a:extLst>
          </p:cNvPr>
          <p:cNvSpPr>
            <a:spLocks/>
          </p:cNvSpPr>
          <p:nvPr/>
        </p:nvSpPr>
        <p:spPr bwMode="auto">
          <a:xfrm>
            <a:off x="6464300" y="5262564"/>
            <a:ext cx="88900" cy="66675"/>
          </a:xfrm>
          <a:custGeom>
            <a:avLst/>
            <a:gdLst>
              <a:gd name="T0" fmla="*/ 35282188 w 56"/>
              <a:gd name="T1" fmla="*/ 35282188 h 42"/>
              <a:gd name="T2" fmla="*/ 35282188 w 56"/>
              <a:gd name="T3" fmla="*/ 70564375 h 42"/>
              <a:gd name="T4" fmla="*/ 0 w 56"/>
              <a:gd name="T5" fmla="*/ 105846563 h 42"/>
              <a:gd name="T6" fmla="*/ 0 w 56"/>
              <a:gd name="T7" fmla="*/ 70564375 h 42"/>
              <a:gd name="T8" fmla="*/ 0 w 56"/>
              <a:gd name="T9" fmla="*/ 35282188 h 42"/>
              <a:gd name="T10" fmla="*/ 0 w 56"/>
              <a:gd name="T11" fmla="*/ 0 h 42"/>
              <a:gd name="T12" fmla="*/ 70564375 w 56"/>
              <a:gd name="T13" fmla="*/ 0 h 42"/>
              <a:gd name="T14" fmla="*/ 141128750 w 56"/>
              <a:gd name="T15" fmla="*/ 35282188 h 42"/>
              <a:gd name="T16" fmla="*/ 35282188 w 56"/>
              <a:gd name="T17" fmla="*/ 35282188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6" h="42">
                <a:moveTo>
                  <a:pt x="14" y="14"/>
                </a:moveTo>
                <a:lnTo>
                  <a:pt x="14" y="28"/>
                </a:lnTo>
                <a:lnTo>
                  <a:pt x="0" y="42"/>
                </a:lnTo>
                <a:lnTo>
                  <a:pt x="0" y="28"/>
                </a:lnTo>
                <a:lnTo>
                  <a:pt x="0" y="14"/>
                </a:lnTo>
                <a:lnTo>
                  <a:pt x="0" y="0"/>
                </a:lnTo>
                <a:lnTo>
                  <a:pt x="28" y="0"/>
                </a:lnTo>
                <a:lnTo>
                  <a:pt x="56" y="14"/>
                </a:lnTo>
                <a:lnTo>
                  <a:pt x="14" y="14"/>
                </a:lnTo>
                <a:close/>
              </a:path>
            </a:pathLst>
          </a:custGeom>
          <a:solidFill>
            <a:srgbClr val="000000"/>
          </a:solidFill>
          <a:ln w="22225">
            <a:solidFill>
              <a:srgbClr val="000000"/>
            </a:solidFill>
            <a:prstDash val="solid"/>
            <a:round/>
            <a:headEnd/>
            <a:tailEnd/>
          </a:ln>
        </p:spPr>
        <p:txBody>
          <a:bodyPr/>
          <a:lstStyle/>
          <a:p>
            <a:endParaRPr lang="en-IN"/>
          </a:p>
        </p:txBody>
      </p:sp>
      <p:sp>
        <p:nvSpPr>
          <p:cNvPr id="17532" name="Line 168">
            <a:extLst>
              <a:ext uri="{FF2B5EF4-FFF2-40B4-BE49-F238E27FC236}">
                <a16:creationId xmlns:a16="http://schemas.microsoft.com/office/drawing/2014/main" id="{AC4C6EB3-CF85-70DF-EA9B-0FE9D594F288}"/>
              </a:ext>
            </a:extLst>
          </p:cNvPr>
          <p:cNvSpPr>
            <a:spLocks noChangeShapeType="1"/>
          </p:cNvSpPr>
          <p:nvPr/>
        </p:nvSpPr>
        <p:spPr bwMode="auto">
          <a:xfrm flipH="1">
            <a:off x="6308726" y="5284789"/>
            <a:ext cx="200025" cy="15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533" name="Rectangle 169">
            <a:extLst>
              <a:ext uri="{FF2B5EF4-FFF2-40B4-BE49-F238E27FC236}">
                <a16:creationId xmlns:a16="http://schemas.microsoft.com/office/drawing/2014/main" id="{3ABE4673-B1FE-986C-D1F4-7432F0760F27}"/>
              </a:ext>
            </a:extLst>
          </p:cNvPr>
          <p:cNvSpPr>
            <a:spLocks noChangeArrowheads="1"/>
          </p:cNvSpPr>
          <p:nvPr/>
        </p:nvSpPr>
        <p:spPr bwMode="auto">
          <a:xfrm>
            <a:off x="6553201" y="5772151"/>
            <a:ext cx="22225" cy="66675"/>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17534" name="Freeform 170">
            <a:extLst>
              <a:ext uri="{FF2B5EF4-FFF2-40B4-BE49-F238E27FC236}">
                <a16:creationId xmlns:a16="http://schemas.microsoft.com/office/drawing/2014/main" id="{E6D3D3C1-9383-D323-8D7F-D597D7D21357}"/>
              </a:ext>
            </a:extLst>
          </p:cNvPr>
          <p:cNvSpPr>
            <a:spLocks/>
          </p:cNvSpPr>
          <p:nvPr/>
        </p:nvSpPr>
        <p:spPr bwMode="auto">
          <a:xfrm>
            <a:off x="6530976" y="5749925"/>
            <a:ext cx="66675" cy="88900"/>
          </a:xfrm>
          <a:custGeom>
            <a:avLst/>
            <a:gdLst>
              <a:gd name="T0" fmla="*/ 35282188 w 42"/>
              <a:gd name="T1" fmla="*/ 141128750 h 56"/>
              <a:gd name="T2" fmla="*/ 35282188 w 42"/>
              <a:gd name="T3" fmla="*/ 70564375 h 56"/>
              <a:gd name="T4" fmla="*/ 0 w 42"/>
              <a:gd name="T5" fmla="*/ 0 h 56"/>
              <a:gd name="T6" fmla="*/ 35282188 w 42"/>
              <a:gd name="T7" fmla="*/ 35282188 h 56"/>
              <a:gd name="T8" fmla="*/ 70564375 w 42"/>
              <a:gd name="T9" fmla="*/ 35282188 h 56"/>
              <a:gd name="T10" fmla="*/ 105846563 w 42"/>
              <a:gd name="T11" fmla="*/ 0 h 56"/>
              <a:gd name="T12" fmla="*/ 70564375 w 42"/>
              <a:gd name="T13" fmla="*/ 70564375 h 56"/>
              <a:gd name="T14" fmla="*/ 70564375 w 42"/>
              <a:gd name="T15" fmla="*/ 141128750 h 56"/>
              <a:gd name="T16" fmla="*/ 35282188 w 42"/>
              <a:gd name="T17" fmla="*/ 141128750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 h="56">
                <a:moveTo>
                  <a:pt x="14" y="56"/>
                </a:moveTo>
                <a:lnTo>
                  <a:pt x="14" y="28"/>
                </a:lnTo>
                <a:lnTo>
                  <a:pt x="0" y="0"/>
                </a:lnTo>
                <a:lnTo>
                  <a:pt x="14" y="14"/>
                </a:lnTo>
                <a:lnTo>
                  <a:pt x="28" y="14"/>
                </a:lnTo>
                <a:lnTo>
                  <a:pt x="42" y="0"/>
                </a:lnTo>
                <a:lnTo>
                  <a:pt x="28" y="28"/>
                </a:lnTo>
                <a:lnTo>
                  <a:pt x="28" y="56"/>
                </a:lnTo>
                <a:lnTo>
                  <a:pt x="14" y="56"/>
                </a:lnTo>
                <a:close/>
              </a:path>
            </a:pathLst>
          </a:custGeom>
          <a:solidFill>
            <a:srgbClr val="000000"/>
          </a:solidFill>
          <a:ln w="22225">
            <a:solidFill>
              <a:srgbClr val="000000"/>
            </a:solidFill>
            <a:prstDash val="solid"/>
            <a:round/>
            <a:headEnd/>
            <a:tailEnd/>
          </a:ln>
        </p:spPr>
        <p:txBody>
          <a:bodyPr/>
          <a:lstStyle/>
          <a:p>
            <a:endParaRPr lang="en-IN"/>
          </a:p>
        </p:txBody>
      </p:sp>
      <p:sp>
        <p:nvSpPr>
          <p:cNvPr id="17535" name="Freeform 171">
            <a:extLst>
              <a:ext uri="{FF2B5EF4-FFF2-40B4-BE49-F238E27FC236}">
                <a16:creationId xmlns:a16="http://schemas.microsoft.com/office/drawing/2014/main" id="{070216F1-ECD9-B8BC-56A1-16C141D99B90}"/>
              </a:ext>
            </a:extLst>
          </p:cNvPr>
          <p:cNvSpPr>
            <a:spLocks/>
          </p:cNvSpPr>
          <p:nvPr/>
        </p:nvSpPr>
        <p:spPr bwMode="auto">
          <a:xfrm>
            <a:off x="6308725" y="5616575"/>
            <a:ext cx="266700" cy="177800"/>
          </a:xfrm>
          <a:custGeom>
            <a:avLst/>
            <a:gdLst>
              <a:gd name="T0" fmla="*/ 0 w 168"/>
              <a:gd name="T1" fmla="*/ 0 h 112"/>
              <a:gd name="T2" fmla="*/ 423386250 w 168"/>
              <a:gd name="T3" fmla="*/ 0 h 112"/>
              <a:gd name="T4" fmla="*/ 423386250 w 168"/>
              <a:gd name="T5" fmla="*/ 282257500 h 112"/>
              <a:gd name="T6" fmla="*/ 0 60000 65536"/>
              <a:gd name="T7" fmla="*/ 0 60000 65536"/>
              <a:gd name="T8" fmla="*/ 0 60000 65536"/>
            </a:gdLst>
            <a:ahLst/>
            <a:cxnLst>
              <a:cxn ang="T6">
                <a:pos x="T0" y="T1"/>
              </a:cxn>
              <a:cxn ang="T7">
                <a:pos x="T2" y="T3"/>
              </a:cxn>
              <a:cxn ang="T8">
                <a:pos x="T4" y="T5"/>
              </a:cxn>
            </a:cxnLst>
            <a:rect l="0" t="0" r="r" b="b"/>
            <a:pathLst>
              <a:path w="168" h="112">
                <a:moveTo>
                  <a:pt x="0" y="0"/>
                </a:moveTo>
                <a:lnTo>
                  <a:pt x="168" y="0"/>
                </a:lnTo>
                <a:lnTo>
                  <a:pt x="168" y="112"/>
                </a:lnTo>
              </a:path>
            </a:pathLst>
          </a:custGeom>
          <a:noFill/>
          <a:ln w="222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7536" name="Freeform 172">
            <a:extLst>
              <a:ext uri="{FF2B5EF4-FFF2-40B4-BE49-F238E27FC236}">
                <a16:creationId xmlns:a16="http://schemas.microsoft.com/office/drawing/2014/main" id="{9DB11B5B-CA68-7682-DB62-46DB29E7452F}"/>
              </a:ext>
            </a:extLst>
          </p:cNvPr>
          <p:cNvSpPr>
            <a:spLocks/>
          </p:cNvSpPr>
          <p:nvPr/>
        </p:nvSpPr>
        <p:spPr bwMode="auto">
          <a:xfrm>
            <a:off x="6996113" y="5972175"/>
            <a:ext cx="87312" cy="65088"/>
          </a:xfrm>
          <a:custGeom>
            <a:avLst/>
            <a:gdLst>
              <a:gd name="T0" fmla="*/ 35281985 w 55"/>
              <a:gd name="T1" fmla="*/ 70564917 h 41"/>
              <a:gd name="T2" fmla="*/ 0 w 55"/>
              <a:gd name="T3" fmla="*/ 103327994 h 41"/>
              <a:gd name="T4" fmla="*/ 0 w 55"/>
              <a:gd name="T5" fmla="*/ 70564917 h 41"/>
              <a:gd name="T6" fmla="*/ 0 w 55"/>
              <a:gd name="T7" fmla="*/ 35282459 h 41"/>
              <a:gd name="T8" fmla="*/ 0 w 55"/>
              <a:gd name="T9" fmla="*/ 0 h 41"/>
              <a:gd name="T10" fmla="*/ 70563971 w 55"/>
              <a:gd name="T11" fmla="*/ 35282459 h 41"/>
              <a:gd name="T12" fmla="*/ 138607006 w 55"/>
              <a:gd name="T13" fmla="*/ 70564917 h 41"/>
              <a:gd name="T14" fmla="*/ 35281985 w 55"/>
              <a:gd name="T15" fmla="*/ 70564917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 h="41">
                <a:moveTo>
                  <a:pt x="14" y="28"/>
                </a:moveTo>
                <a:lnTo>
                  <a:pt x="0" y="41"/>
                </a:lnTo>
                <a:lnTo>
                  <a:pt x="0" y="28"/>
                </a:lnTo>
                <a:lnTo>
                  <a:pt x="0" y="14"/>
                </a:lnTo>
                <a:lnTo>
                  <a:pt x="0" y="0"/>
                </a:lnTo>
                <a:lnTo>
                  <a:pt x="28" y="14"/>
                </a:lnTo>
                <a:lnTo>
                  <a:pt x="55" y="28"/>
                </a:lnTo>
                <a:lnTo>
                  <a:pt x="14" y="28"/>
                </a:lnTo>
                <a:close/>
              </a:path>
            </a:pathLst>
          </a:custGeom>
          <a:solidFill>
            <a:srgbClr val="000000"/>
          </a:solidFill>
          <a:ln w="22225">
            <a:solidFill>
              <a:srgbClr val="000000"/>
            </a:solidFill>
            <a:prstDash val="solid"/>
            <a:round/>
            <a:headEnd/>
            <a:tailEnd/>
          </a:ln>
        </p:spPr>
        <p:txBody>
          <a:bodyPr/>
          <a:lstStyle/>
          <a:p>
            <a:endParaRPr lang="en-IN"/>
          </a:p>
        </p:txBody>
      </p:sp>
      <p:sp>
        <p:nvSpPr>
          <p:cNvPr id="17537" name="Line 173">
            <a:extLst>
              <a:ext uri="{FF2B5EF4-FFF2-40B4-BE49-F238E27FC236}">
                <a16:creationId xmlns:a16="http://schemas.microsoft.com/office/drawing/2014/main" id="{DDF90E0C-DAC0-FE8D-80D9-AFAB78A173AB}"/>
              </a:ext>
            </a:extLst>
          </p:cNvPr>
          <p:cNvSpPr>
            <a:spLocks noChangeShapeType="1"/>
          </p:cNvSpPr>
          <p:nvPr/>
        </p:nvSpPr>
        <p:spPr bwMode="auto">
          <a:xfrm flipH="1">
            <a:off x="6840539" y="6016625"/>
            <a:ext cx="200025" cy="15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7538" name="Freeform 174">
            <a:extLst>
              <a:ext uri="{FF2B5EF4-FFF2-40B4-BE49-F238E27FC236}">
                <a16:creationId xmlns:a16="http://schemas.microsoft.com/office/drawing/2014/main" id="{C50C4816-B21C-71C1-0F3E-97E7E5CEB025}"/>
              </a:ext>
            </a:extLst>
          </p:cNvPr>
          <p:cNvSpPr>
            <a:spLocks/>
          </p:cNvSpPr>
          <p:nvPr/>
        </p:nvSpPr>
        <p:spPr bwMode="auto">
          <a:xfrm>
            <a:off x="6996113" y="6303964"/>
            <a:ext cx="87312" cy="66675"/>
          </a:xfrm>
          <a:custGeom>
            <a:avLst/>
            <a:gdLst>
              <a:gd name="T0" fmla="*/ 35281985 w 55"/>
              <a:gd name="T1" fmla="*/ 70564375 h 42"/>
              <a:gd name="T2" fmla="*/ 0 w 55"/>
              <a:gd name="T3" fmla="*/ 105846563 h 42"/>
              <a:gd name="T4" fmla="*/ 0 w 55"/>
              <a:gd name="T5" fmla="*/ 70564375 h 42"/>
              <a:gd name="T6" fmla="*/ 0 w 55"/>
              <a:gd name="T7" fmla="*/ 35282188 h 42"/>
              <a:gd name="T8" fmla="*/ 0 w 55"/>
              <a:gd name="T9" fmla="*/ 0 h 42"/>
              <a:gd name="T10" fmla="*/ 70563971 w 55"/>
              <a:gd name="T11" fmla="*/ 0 h 42"/>
              <a:gd name="T12" fmla="*/ 138607006 w 55"/>
              <a:gd name="T13" fmla="*/ 35282188 h 42"/>
              <a:gd name="T14" fmla="*/ 35281985 w 55"/>
              <a:gd name="T15" fmla="*/ 70564375 h 4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5" h="42">
                <a:moveTo>
                  <a:pt x="14" y="28"/>
                </a:moveTo>
                <a:lnTo>
                  <a:pt x="0" y="42"/>
                </a:lnTo>
                <a:lnTo>
                  <a:pt x="0" y="28"/>
                </a:lnTo>
                <a:lnTo>
                  <a:pt x="0" y="14"/>
                </a:lnTo>
                <a:lnTo>
                  <a:pt x="0" y="0"/>
                </a:lnTo>
                <a:lnTo>
                  <a:pt x="28" y="0"/>
                </a:lnTo>
                <a:lnTo>
                  <a:pt x="55" y="14"/>
                </a:lnTo>
                <a:lnTo>
                  <a:pt x="14" y="28"/>
                </a:lnTo>
                <a:close/>
              </a:path>
            </a:pathLst>
          </a:custGeom>
          <a:solidFill>
            <a:srgbClr val="000000"/>
          </a:solidFill>
          <a:ln w="22225">
            <a:solidFill>
              <a:srgbClr val="000000"/>
            </a:solidFill>
            <a:prstDash val="solid"/>
            <a:round/>
            <a:headEnd/>
            <a:tailEnd/>
          </a:ln>
        </p:spPr>
        <p:txBody>
          <a:bodyPr/>
          <a:lstStyle/>
          <a:p>
            <a:endParaRPr lang="en-IN"/>
          </a:p>
        </p:txBody>
      </p:sp>
      <p:sp>
        <p:nvSpPr>
          <p:cNvPr id="17539" name="Line 175">
            <a:extLst>
              <a:ext uri="{FF2B5EF4-FFF2-40B4-BE49-F238E27FC236}">
                <a16:creationId xmlns:a16="http://schemas.microsoft.com/office/drawing/2014/main" id="{8FC329AD-EE03-FA89-D73E-90B0CE0D4AE6}"/>
              </a:ext>
            </a:extLst>
          </p:cNvPr>
          <p:cNvSpPr>
            <a:spLocks noChangeShapeType="1"/>
          </p:cNvSpPr>
          <p:nvPr/>
        </p:nvSpPr>
        <p:spPr bwMode="auto">
          <a:xfrm flipH="1">
            <a:off x="6840539" y="6348414"/>
            <a:ext cx="200025" cy="15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17540" name="Picture 176">
            <a:extLst>
              <a:ext uri="{FF2B5EF4-FFF2-40B4-BE49-F238E27FC236}">
                <a16:creationId xmlns:a16="http://schemas.microsoft.com/office/drawing/2014/main" id="{A33BBA10-3FF1-02A8-93BD-E122B6AF49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97600" y="5972175"/>
            <a:ext cx="44450" cy="6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41" name="Freeform 177">
            <a:extLst>
              <a:ext uri="{FF2B5EF4-FFF2-40B4-BE49-F238E27FC236}">
                <a16:creationId xmlns:a16="http://schemas.microsoft.com/office/drawing/2014/main" id="{D381B7D2-7B3D-B141-C4AE-65E7E20027AD}"/>
              </a:ext>
            </a:extLst>
          </p:cNvPr>
          <p:cNvSpPr>
            <a:spLocks/>
          </p:cNvSpPr>
          <p:nvPr/>
        </p:nvSpPr>
        <p:spPr bwMode="auto">
          <a:xfrm>
            <a:off x="6197601" y="5972175"/>
            <a:ext cx="66675" cy="65088"/>
          </a:xfrm>
          <a:custGeom>
            <a:avLst/>
            <a:gdLst>
              <a:gd name="T0" fmla="*/ 105846563 w 42"/>
              <a:gd name="T1" fmla="*/ 70564917 h 41"/>
              <a:gd name="T2" fmla="*/ 35282188 w 42"/>
              <a:gd name="T3" fmla="*/ 70564917 h 41"/>
              <a:gd name="T4" fmla="*/ 0 w 42"/>
              <a:gd name="T5" fmla="*/ 103327994 h 41"/>
              <a:gd name="T6" fmla="*/ 0 w 42"/>
              <a:gd name="T7" fmla="*/ 70564917 h 41"/>
              <a:gd name="T8" fmla="*/ 0 w 42"/>
              <a:gd name="T9" fmla="*/ 35282459 h 41"/>
              <a:gd name="T10" fmla="*/ 0 w 42"/>
              <a:gd name="T11" fmla="*/ 0 h 41"/>
              <a:gd name="T12" fmla="*/ 35282188 w 42"/>
              <a:gd name="T13" fmla="*/ 35282459 h 41"/>
              <a:gd name="T14" fmla="*/ 105846563 w 42"/>
              <a:gd name="T15" fmla="*/ 70564917 h 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2" h="41">
                <a:moveTo>
                  <a:pt x="42" y="28"/>
                </a:moveTo>
                <a:lnTo>
                  <a:pt x="14" y="28"/>
                </a:lnTo>
                <a:lnTo>
                  <a:pt x="0" y="41"/>
                </a:lnTo>
                <a:lnTo>
                  <a:pt x="0" y="28"/>
                </a:lnTo>
                <a:lnTo>
                  <a:pt x="0" y="14"/>
                </a:lnTo>
                <a:lnTo>
                  <a:pt x="0" y="0"/>
                </a:lnTo>
                <a:lnTo>
                  <a:pt x="14" y="14"/>
                </a:lnTo>
                <a:lnTo>
                  <a:pt x="42" y="28"/>
                </a:lnTo>
                <a:close/>
              </a:path>
            </a:pathLst>
          </a:custGeom>
          <a:solidFill>
            <a:srgbClr val="000000"/>
          </a:solidFill>
          <a:ln w="22225">
            <a:solidFill>
              <a:srgbClr val="000000"/>
            </a:solidFill>
            <a:prstDash val="solid"/>
            <a:round/>
            <a:headEnd/>
            <a:tailEnd/>
          </a:ln>
        </p:spPr>
        <p:txBody>
          <a:bodyPr/>
          <a:lstStyle/>
          <a:p>
            <a:endParaRPr lang="en-IN"/>
          </a:p>
        </p:txBody>
      </p:sp>
      <p:sp>
        <p:nvSpPr>
          <p:cNvPr id="17542" name="Line 178">
            <a:extLst>
              <a:ext uri="{FF2B5EF4-FFF2-40B4-BE49-F238E27FC236}">
                <a16:creationId xmlns:a16="http://schemas.microsoft.com/office/drawing/2014/main" id="{9683620A-C48F-C6B5-4960-9FD5889408E7}"/>
              </a:ext>
            </a:extLst>
          </p:cNvPr>
          <p:cNvSpPr>
            <a:spLocks noChangeShapeType="1"/>
          </p:cNvSpPr>
          <p:nvPr/>
        </p:nvSpPr>
        <p:spPr bwMode="auto">
          <a:xfrm flipH="1">
            <a:off x="6021388" y="6016625"/>
            <a:ext cx="220662" cy="158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pic>
        <p:nvPicPr>
          <p:cNvPr id="17543" name="Picture 179">
            <a:extLst>
              <a:ext uri="{FF2B5EF4-FFF2-40B4-BE49-F238E27FC236}">
                <a16:creationId xmlns:a16="http://schemas.microsoft.com/office/drawing/2014/main" id="{A1F5C109-0D15-F121-D63B-3665B5F9CB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7601" y="6303964"/>
            <a:ext cx="66675" cy="6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44" name="Freeform 180">
            <a:extLst>
              <a:ext uri="{FF2B5EF4-FFF2-40B4-BE49-F238E27FC236}">
                <a16:creationId xmlns:a16="http://schemas.microsoft.com/office/drawing/2014/main" id="{057CB8FB-AD62-AD1E-5D85-6FDF786B580D}"/>
              </a:ext>
            </a:extLst>
          </p:cNvPr>
          <p:cNvSpPr>
            <a:spLocks/>
          </p:cNvSpPr>
          <p:nvPr/>
        </p:nvSpPr>
        <p:spPr bwMode="auto">
          <a:xfrm>
            <a:off x="6197601" y="6303964"/>
            <a:ext cx="66675" cy="66675"/>
          </a:xfrm>
          <a:custGeom>
            <a:avLst/>
            <a:gdLst>
              <a:gd name="T0" fmla="*/ 105846563 w 42"/>
              <a:gd name="T1" fmla="*/ 70564375 h 42"/>
              <a:gd name="T2" fmla="*/ 35282188 w 42"/>
              <a:gd name="T3" fmla="*/ 70564375 h 42"/>
              <a:gd name="T4" fmla="*/ 0 w 42"/>
              <a:gd name="T5" fmla="*/ 105846563 h 42"/>
              <a:gd name="T6" fmla="*/ 0 w 42"/>
              <a:gd name="T7" fmla="*/ 70564375 h 42"/>
              <a:gd name="T8" fmla="*/ 0 w 42"/>
              <a:gd name="T9" fmla="*/ 35282188 h 42"/>
              <a:gd name="T10" fmla="*/ 0 w 42"/>
              <a:gd name="T11" fmla="*/ 0 h 42"/>
              <a:gd name="T12" fmla="*/ 35282188 w 42"/>
              <a:gd name="T13" fmla="*/ 0 h 42"/>
              <a:gd name="T14" fmla="*/ 105846563 w 42"/>
              <a:gd name="T15" fmla="*/ 35282188 h 42"/>
              <a:gd name="T16" fmla="*/ 105846563 w 42"/>
              <a:gd name="T17" fmla="*/ 70564375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 h="42">
                <a:moveTo>
                  <a:pt x="42" y="28"/>
                </a:moveTo>
                <a:lnTo>
                  <a:pt x="14" y="28"/>
                </a:lnTo>
                <a:lnTo>
                  <a:pt x="0" y="42"/>
                </a:lnTo>
                <a:lnTo>
                  <a:pt x="0" y="28"/>
                </a:lnTo>
                <a:lnTo>
                  <a:pt x="0" y="14"/>
                </a:lnTo>
                <a:lnTo>
                  <a:pt x="0" y="0"/>
                </a:lnTo>
                <a:lnTo>
                  <a:pt x="14" y="0"/>
                </a:lnTo>
                <a:lnTo>
                  <a:pt x="42" y="14"/>
                </a:lnTo>
                <a:lnTo>
                  <a:pt x="42" y="28"/>
                </a:lnTo>
                <a:close/>
              </a:path>
            </a:pathLst>
          </a:custGeom>
          <a:solidFill>
            <a:srgbClr val="000000"/>
          </a:solidFill>
          <a:ln w="22225">
            <a:solidFill>
              <a:srgbClr val="000000"/>
            </a:solidFill>
            <a:prstDash val="solid"/>
            <a:round/>
            <a:headEnd/>
            <a:tailEnd/>
          </a:ln>
        </p:spPr>
        <p:txBody>
          <a:bodyPr/>
          <a:lstStyle/>
          <a:p>
            <a:endParaRPr lang="en-IN"/>
          </a:p>
        </p:txBody>
      </p:sp>
      <p:sp>
        <p:nvSpPr>
          <p:cNvPr id="17545" name="Line 181">
            <a:extLst>
              <a:ext uri="{FF2B5EF4-FFF2-40B4-BE49-F238E27FC236}">
                <a16:creationId xmlns:a16="http://schemas.microsoft.com/office/drawing/2014/main" id="{57B31F19-530E-9279-06F6-C4F928570D5A}"/>
              </a:ext>
            </a:extLst>
          </p:cNvPr>
          <p:cNvSpPr>
            <a:spLocks noChangeShapeType="1"/>
          </p:cNvSpPr>
          <p:nvPr/>
        </p:nvSpPr>
        <p:spPr bwMode="auto">
          <a:xfrm flipH="1">
            <a:off x="6021388" y="6348414"/>
            <a:ext cx="220662" cy="1587"/>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4991686" y="3024553"/>
            <a:ext cx="9608234" cy="1107996"/>
          </a:xfrm>
          <a:prstGeom prst="rect">
            <a:avLst/>
          </a:prstGeom>
          <a:noFill/>
        </p:spPr>
        <p:txBody>
          <a:bodyPr wrap="square" rtlCol="0">
            <a:spAutoFit/>
          </a:bodyPr>
          <a:lstStyle/>
          <a:p>
            <a:pPr algn="just"/>
            <a:r>
              <a:rPr lang="en-IN" sz="2400" b="1" i="0" dirty="0">
                <a:solidFill>
                  <a:srgbClr val="FF0000"/>
                </a:solidFill>
                <a:effectLst/>
                <a:latin typeface="Myriad Pro"/>
              </a:rPr>
              <a:t>ADDERS</a:t>
            </a:r>
            <a:endParaRPr lang="en-IN" dirty="0">
              <a:solidFill>
                <a:srgbClr val="FF0000"/>
              </a:solidFill>
            </a:endParaRPr>
          </a:p>
          <a:p>
            <a:pPr algn="just"/>
            <a:endParaRPr lang="en-IN" sz="2400" dirty="0">
              <a:solidFill>
                <a:srgbClr val="FF0000"/>
              </a:solidFill>
            </a:endParaRPr>
          </a:p>
          <a:p>
            <a:pPr algn="just"/>
            <a:endParaRPr lang="en-IN" dirty="0"/>
          </a:p>
        </p:txBody>
      </p:sp>
      <p:pic>
        <p:nvPicPr>
          <p:cNvPr id="2" name="Picture 1">
            <a:extLst>
              <a:ext uri="{FF2B5EF4-FFF2-40B4-BE49-F238E27FC236}">
                <a16:creationId xmlns:a16="http://schemas.microsoft.com/office/drawing/2014/main" id="{5AB52BDD-ACD1-EBD0-97C7-62283E9C550E}"/>
              </a:ext>
            </a:extLst>
          </p:cNvPr>
          <p:cNvPicPr>
            <a:picLocks noChangeAspect="1"/>
          </p:cNvPicPr>
          <p:nvPr/>
        </p:nvPicPr>
        <p:blipFill>
          <a:blip r:embed="rId2"/>
          <a:stretch>
            <a:fillRect/>
          </a:stretch>
        </p:blipFill>
        <p:spPr>
          <a:xfrm>
            <a:off x="295422" y="0"/>
            <a:ext cx="11450772" cy="5725551"/>
          </a:xfrm>
          <a:prstGeom prst="rect">
            <a:avLst/>
          </a:prstGeom>
        </p:spPr>
      </p:pic>
      <p:sp>
        <p:nvSpPr>
          <p:cNvPr id="3" name="TextBox 2">
            <a:extLst>
              <a:ext uri="{FF2B5EF4-FFF2-40B4-BE49-F238E27FC236}">
                <a16:creationId xmlns:a16="http://schemas.microsoft.com/office/drawing/2014/main" id="{AB7A610A-7DF0-B4DA-F69C-9A746564C266}"/>
              </a:ext>
            </a:extLst>
          </p:cNvPr>
          <p:cNvSpPr txBox="1"/>
          <p:nvPr/>
        </p:nvSpPr>
        <p:spPr>
          <a:xfrm>
            <a:off x="351528" y="5629536"/>
            <a:ext cx="11338560" cy="1200329"/>
          </a:xfrm>
          <a:prstGeom prst="rect">
            <a:avLst/>
          </a:prstGeom>
          <a:noFill/>
        </p:spPr>
        <p:txBody>
          <a:bodyPr wrap="square" rtlCol="0">
            <a:spAutoFit/>
          </a:bodyPr>
          <a:lstStyle/>
          <a:p>
            <a:r>
              <a:rPr lang="en-IN" sz="2400" dirty="0"/>
              <a:t>Carry  input at each stage to each stage is direct function of operand bits. </a:t>
            </a:r>
          </a:p>
          <a:p>
            <a:r>
              <a:rPr lang="en-IN" sz="2400" dirty="0"/>
              <a:t>Thus the idea of having SUM and CARRY outputs of the </a:t>
            </a:r>
            <a:r>
              <a:rPr lang="en-IN" sz="2400" dirty="0" err="1"/>
              <a:t>ith</a:t>
            </a:r>
            <a:r>
              <a:rPr lang="en-IN" sz="2400" dirty="0"/>
              <a:t> stage be a function of </a:t>
            </a:r>
            <a:r>
              <a:rPr lang="en-IN" sz="2400" dirty="0" err="1"/>
              <a:t>x</a:t>
            </a:r>
            <a:r>
              <a:rPr lang="en-IN" sz="1050" dirty="0" err="1"/>
              <a:t>i</a:t>
            </a:r>
            <a:r>
              <a:rPr lang="en-IN" sz="2400" dirty="0" err="1"/>
              <a:t>,y</a:t>
            </a:r>
            <a:r>
              <a:rPr lang="en-IN" sz="1400" dirty="0" err="1"/>
              <a:t>i</a:t>
            </a:r>
            <a:r>
              <a:rPr lang="en-IN" sz="2400" dirty="0"/>
              <a:t> and c</a:t>
            </a:r>
            <a:r>
              <a:rPr lang="en-IN" sz="1400" dirty="0"/>
              <a:t>i</a:t>
            </a:r>
            <a:r>
              <a:rPr lang="en-IN" sz="2400" dirty="0"/>
              <a:t> is replaced by having these outputs be a function of x</a:t>
            </a:r>
            <a:r>
              <a:rPr lang="en-IN" sz="1100" dirty="0"/>
              <a:t>0</a:t>
            </a:r>
            <a:r>
              <a:rPr lang="en-IN" sz="2400" dirty="0"/>
              <a:t>,x</a:t>
            </a:r>
            <a:r>
              <a:rPr lang="en-IN" sz="1200" dirty="0"/>
              <a:t>1</a:t>
            </a:r>
            <a:r>
              <a:rPr lang="en-IN" sz="2400" dirty="0"/>
              <a:t>,…,x</a:t>
            </a:r>
            <a:r>
              <a:rPr lang="en-IN" sz="1400" dirty="0"/>
              <a:t>i</a:t>
            </a:r>
            <a:r>
              <a:rPr lang="en-IN" sz="2400" dirty="0"/>
              <a:t>, y</a:t>
            </a:r>
            <a:r>
              <a:rPr lang="en-IN" sz="1200" dirty="0"/>
              <a:t>0</a:t>
            </a:r>
            <a:r>
              <a:rPr lang="en-IN" sz="2400" dirty="0"/>
              <a:t>,y</a:t>
            </a:r>
            <a:r>
              <a:rPr lang="en-IN" sz="1200" dirty="0"/>
              <a:t>1</a:t>
            </a:r>
            <a:r>
              <a:rPr lang="en-IN" sz="2400" dirty="0"/>
              <a:t>,…,</a:t>
            </a:r>
            <a:r>
              <a:rPr lang="en-IN" sz="2400" dirty="0" err="1"/>
              <a:t>y</a:t>
            </a:r>
            <a:r>
              <a:rPr lang="en-IN" sz="1200" dirty="0" err="1"/>
              <a:t>i</a:t>
            </a:r>
            <a:r>
              <a:rPr lang="en-IN" sz="2400" dirty="0"/>
              <a:t> and c</a:t>
            </a:r>
            <a:r>
              <a:rPr lang="en-IN" sz="1200" dirty="0"/>
              <a:t>0</a:t>
            </a:r>
            <a:endParaRPr lang="en-IN" sz="2400" dirty="0"/>
          </a:p>
        </p:txBody>
      </p:sp>
    </p:spTree>
    <p:extLst>
      <p:ext uri="{BB962C8B-B14F-4D97-AF65-F5344CB8AC3E}">
        <p14:creationId xmlns:p14="http://schemas.microsoft.com/office/powerpoint/2010/main" val="1697442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Slide Number Placeholder 4">
            <a:extLst>
              <a:ext uri="{FF2B5EF4-FFF2-40B4-BE49-F238E27FC236}">
                <a16:creationId xmlns:a16="http://schemas.microsoft.com/office/drawing/2014/main" id="{B5EEAE04-3B95-ADF2-8CD7-A0FFA8F66445}"/>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A9DA43DC-A9B9-4D5B-B836-145B54CE7D55}" type="slidenum">
              <a:rPr lang="en-US" altLang="en-US" sz="1400"/>
              <a:pPr/>
              <a:t>13</a:t>
            </a:fld>
            <a:endParaRPr lang="en-US" altLang="en-US" sz="1400"/>
          </a:p>
        </p:txBody>
      </p:sp>
      <p:sp>
        <p:nvSpPr>
          <p:cNvPr id="19462" name="Rectangle 4">
            <a:extLst>
              <a:ext uri="{FF2B5EF4-FFF2-40B4-BE49-F238E27FC236}">
                <a16:creationId xmlns:a16="http://schemas.microsoft.com/office/drawing/2014/main" id="{A2CC7C62-4277-8503-9066-394F3037B1C1}"/>
              </a:ext>
            </a:extLst>
          </p:cNvPr>
          <p:cNvSpPr>
            <a:spLocks noChangeArrowheads="1"/>
          </p:cNvSpPr>
          <p:nvPr/>
        </p:nvSpPr>
        <p:spPr bwMode="auto">
          <a:xfrm>
            <a:off x="350519" y="598190"/>
            <a:ext cx="11507371" cy="34522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b="1" dirty="0">
                <a:solidFill>
                  <a:srgbClr val="FF0000"/>
                </a:solidFill>
                <a:latin typeface="Arial" panose="020B0604020202020204" pitchFamily="34" charset="0"/>
              </a:rPr>
              <a:t>Si = </a:t>
            </a:r>
            <a:r>
              <a:rPr lang="en-US" altLang="en-US" b="1" dirty="0">
                <a:solidFill>
                  <a:srgbClr val="0070C0"/>
                </a:solidFill>
                <a:latin typeface="Arial" panose="020B0604020202020204" pitchFamily="34" charset="0"/>
              </a:rPr>
              <a:t>Xi .</a:t>
            </a:r>
            <a:r>
              <a:rPr lang="en-US" altLang="en-US" b="1" dirty="0" err="1">
                <a:solidFill>
                  <a:srgbClr val="0070C0"/>
                </a:solidFill>
                <a:latin typeface="Arial" panose="020B0604020202020204" pitchFamily="34" charset="0"/>
              </a:rPr>
              <a:t>xor</a:t>
            </a:r>
            <a:r>
              <a:rPr lang="en-US" altLang="en-US" b="1" dirty="0">
                <a:solidFill>
                  <a:srgbClr val="0070C0"/>
                </a:solidFill>
                <a:latin typeface="Arial" panose="020B0604020202020204" pitchFamily="34" charset="0"/>
              </a:rPr>
              <a:t>. Yi .</a:t>
            </a:r>
            <a:r>
              <a:rPr lang="en-US" altLang="en-US" b="1" dirty="0" err="1">
                <a:solidFill>
                  <a:srgbClr val="0070C0"/>
                </a:solidFill>
                <a:latin typeface="Arial" panose="020B0604020202020204" pitchFamily="34" charset="0"/>
              </a:rPr>
              <a:t>xor</a:t>
            </a:r>
            <a:r>
              <a:rPr lang="en-US" altLang="en-US" b="1" dirty="0">
                <a:solidFill>
                  <a:srgbClr val="0070C0"/>
                </a:solidFill>
                <a:latin typeface="Arial" panose="020B0604020202020204" pitchFamily="34" charset="0"/>
              </a:rPr>
              <a:t>. Ci</a:t>
            </a:r>
          </a:p>
          <a:p>
            <a:pPr>
              <a:lnSpc>
                <a:spcPct val="85000"/>
              </a:lnSpc>
            </a:pPr>
            <a:endParaRPr lang="en-US" altLang="en-US" b="1" dirty="0">
              <a:solidFill>
                <a:srgbClr val="FF0000"/>
              </a:solidFill>
              <a:latin typeface="Arial" panose="020B0604020202020204" pitchFamily="34" charset="0"/>
            </a:endParaRPr>
          </a:p>
          <a:p>
            <a:pPr>
              <a:lnSpc>
                <a:spcPct val="85000"/>
              </a:lnSpc>
            </a:pPr>
            <a:r>
              <a:rPr lang="en-US" altLang="en-US" b="1" dirty="0">
                <a:solidFill>
                  <a:srgbClr val="FF0000"/>
                </a:solidFill>
                <a:latin typeface="Arial" panose="020B0604020202020204" pitchFamily="34" charset="0"/>
              </a:rPr>
              <a:t>Ci+1 = </a:t>
            </a:r>
            <a:r>
              <a:rPr lang="en-US" altLang="en-US" b="1" dirty="0">
                <a:solidFill>
                  <a:srgbClr val="0070C0"/>
                </a:solidFill>
                <a:latin typeface="Arial" panose="020B0604020202020204" pitchFamily="34" charset="0"/>
              </a:rPr>
              <a:t>Xi Yi + Xi Ci + Yi Ci</a:t>
            </a:r>
          </a:p>
          <a:p>
            <a:pPr>
              <a:lnSpc>
                <a:spcPct val="85000"/>
              </a:lnSpc>
            </a:pPr>
            <a:endParaRPr lang="en-US" altLang="en-US" b="1" dirty="0">
              <a:solidFill>
                <a:srgbClr val="FF0000"/>
              </a:solidFill>
              <a:latin typeface="Arial" panose="020B0604020202020204" pitchFamily="34" charset="0"/>
            </a:endParaRPr>
          </a:p>
          <a:p>
            <a:pPr>
              <a:lnSpc>
                <a:spcPct val="85000"/>
              </a:lnSpc>
            </a:pPr>
            <a:r>
              <a:rPr lang="en-US" altLang="en-US" b="1" dirty="0">
                <a:solidFill>
                  <a:srgbClr val="FF0000"/>
                </a:solidFill>
                <a:latin typeface="Arial" panose="020B0604020202020204" pitchFamily="34" charset="0"/>
              </a:rPr>
              <a:t>        = </a:t>
            </a:r>
            <a:r>
              <a:rPr lang="en-US" altLang="en-US" b="1" dirty="0">
                <a:solidFill>
                  <a:srgbClr val="0070C0"/>
                </a:solidFill>
                <a:latin typeface="Arial" panose="020B0604020202020204" pitchFamily="34" charset="0"/>
              </a:rPr>
              <a:t>Xi Yi + Ci (Xi + Yi)</a:t>
            </a:r>
          </a:p>
          <a:p>
            <a:pPr>
              <a:lnSpc>
                <a:spcPct val="85000"/>
              </a:lnSpc>
            </a:pPr>
            <a:endParaRPr lang="en-US" altLang="en-US" b="1" dirty="0">
              <a:solidFill>
                <a:srgbClr val="FF0000"/>
              </a:solidFill>
              <a:latin typeface="Arial" panose="020B0604020202020204" pitchFamily="34" charset="0"/>
            </a:endParaRPr>
          </a:p>
          <a:p>
            <a:pPr>
              <a:lnSpc>
                <a:spcPct val="85000"/>
              </a:lnSpc>
            </a:pPr>
            <a:r>
              <a:rPr lang="en-US" altLang="en-US" b="1" dirty="0">
                <a:solidFill>
                  <a:srgbClr val="FF0000"/>
                </a:solidFill>
                <a:latin typeface="Arial" panose="020B0604020202020204" pitchFamily="34" charset="0"/>
              </a:rPr>
              <a:t>        = </a:t>
            </a:r>
            <a:r>
              <a:rPr lang="en-US" altLang="en-US" b="1" dirty="0">
                <a:solidFill>
                  <a:srgbClr val="0070C0"/>
                </a:solidFill>
                <a:latin typeface="Arial" panose="020B0604020202020204" pitchFamily="34" charset="0"/>
              </a:rPr>
              <a:t>Xi Yi + Ci (Xi .or. Yi)</a:t>
            </a:r>
          </a:p>
          <a:p>
            <a:pPr>
              <a:lnSpc>
                <a:spcPct val="85000"/>
              </a:lnSpc>
            </a:pPr>
            <a:endParaRPr lang="en-US" altLang="en-US" b="1" dirty="0">
              <a:solidFill>
                <a:srgbClr val="FF0000"/>
              </a:solidFill>
              <a:latin typeface="Arial" panose="020B0604020202020204" pitchFamily="34" charset="0"/>
            </a:endParaRPr>
          </a:p>
          <a:p>
            <a:pPr>
              <a:lnSpc>
                <a:spcPct val="85000"/>
              </a:lnSpc>
            </a:pPr>
            <a:r>
              <a:rPr lang="en-US" altLang="en-US" b="1" dirty="0">
                <a:solidFill>
                  <a:srgbClr val="FF0000"/>
                </a:solidFill>
                <a:latin typeface="Arial" panose="020B0604020202020204" pitchFamily="34" charset="0"/>
              </a:rPr>
              <a:t>Let us represent, </a:t>
            </a:r>
            <a:r>
              <a:rPr lang="en-US" altLang="en-US" b="1" dirty="0" err="1">
                <a:solidFill>
                  <a:srgbClr val="002060"/>
                </a:solidFill>
                <a:latin typeface="Arial" panose="020B0604020202020204" pitchFamily="34" charset="0"/>
              </a:rPr>
              <a:t>XiYi</a:t>
            </a:r>
            <a:r>
              <a:rPr lang="en-US" altLang="en-US" b="1" dirty="0">
                <a:solidFill>
                  <a:srgbClr val="002060"/>
                </a:solidFill>
                <a:latin typeface="Arial" panose="020B0604020202020204" pitchFamily="34" charset="0"/>
              </a:rPr>
              <a:t>        </a:t>
            </a:r>
            <a:r>
              <a:rPr lang="en-US" altLang="en-US" b="1" dirty="0">
                <a:solidFill>
                  <a:srgbClr val="FF0000"/>
                </a:solidFill>
                <a:latin typeface="Arial" panose="020B0604020202020204" pitchFamily="34" charset="0"/>
              </a:rPr>
              <a:t>by</a:t>
            </a:r>
            <a:r>
              <a:rPr lang="en-US" altLang="en-US" b="1" dirty="0">
                <a:solidFill>
                  <a:srgbClr val="002060"/>
                </a:solidFill>
                <a:latin typeface="Arial" panose="020B0604020202020204" pitchFamily="34" charset="0"/>
              </a:rPr>
              <a:t> Gi  </a:t>
            </a:r>
            <a:r>
              <a:rPr lang="en-US" altLang="en-US" b="1" dirty="0">
                <a:solidFill>
                  <a:srgbClr val="FF0000"/>
                </a:solidFill>
                <a:latin typeface="Arial" panose="020B0604020202020204" pitchFamily="34" charset="0"/>
              </a:rPr>
              <a:t>(also called as Carry generate function) &amp;                </a:t>
            </a:r>
          </a:p>
          <a:p>
            <a:pPr>
              <a:lnSpc>
                <a:spcPct val="85000"/>
              </a:lnSpc>
            </a:pPr>
            <a:r>
              <a:rPr lang="en-US" altLang="en-US" b="1" dirty="0">
                <a:solidFill>
                  <a:srgbClr val="FF0000"/>
                </a:solidFill>
                <a:latin typeface="Arial" panose="020B0604020202020204" pitchFamily="34" charset="0"/>
              </a:rPr>
              <a:t>                              </a:t>
            </a:r>
            <a:r>
              <a:rPr lang="en-US" altLang="en-US" b="1" dirty="0" err="1">
                <a:solidFill>
                  <a:srgbClr val="002060"/>
                </a:solidFill>
                <a:latin typeface="Arial" panose="020B0604020202020204" pitchFamily="34" charset="0"/>
              </a:rPr>
              <a:t>Xi.or.Yi</a:t>
            </a:r>
            <a:r>
              <a:rPr lang="en-US" altLang="en-US" b="1" dirty="0">
                <a:solidFill>
                  <a:srgbClr val="002060"/>
                </a:solidFill>
                <a:latin typeface="Arial" panose="020B0604020202020204" pitchFamily="34" charset="0"/>
              </a:rPr>
              <a:t>   </a:t>
            </a:r>
            <a:r>
              <a:rPr lang="en-US" altLang="en-US" b="1" dirty="0">
                <a:solidFill>
                  <a:srgbClr val="FF0000"/>
                </a:solidFill>
                <a:latin typeface="Arial" panose="020B0604020202020204" pitchFamily="34" charset="0"/>
              </a:rPr>
              <a:t>by</a:t>
            </a:r>
            <a:r>
              <a:rPr lang="en-US" altLang="en-US" b="1" dirty="0">
                <a:solidFill>
                  <a:srgbClr val="002060"/>
                </a:solidFill>
                <a:latin typeface="Arial" panose="020B0604020202020204" pitchFamily="34" charset="0"/>
              </a:rPr>
              <a:t> Pi  </a:t>
            </a:r>
            <a:r>
              <a:rPr lang="en-US" altLang="en-US" b="1" dirty="0">
                <a:solidFill>
                  <a:srgbClr val="FF0000"/>
                </a:solidFill>
                <a:latin typeface="Arial" panose="020B0604020202020204" pitchFamily="34" charset="0"/>
              </a:rPr>
              <a:t>(also called carry propagate function)</a:t>
            </a:r>
          </a:p>
          <a:p>
            <a:pPr>
              <a:lnSpc>
                <a:spcPct val="85000"/>
              </a:lnSpc>
            </a:pPr>
            <a:r>
              <a:rPr lang="en-US" altLang="en-US" b="1" dirty="0">
                <a:solidFill>
                  <a:srgbClr val="FF0000"/>
                </a:solidFill>
                <a:latin typeface="Arial" panose="020B0604020202020204" pitchFamily="34" charset="0"/>
              </a:rPr>
              <a:t>        = Gi + Ci Pi</a:t>
            </a:r>
          </a:p>
          <a:p>
            <a:pPr>
              <a:lnSpc>
                <a:spcPct val="85000"/>
              </a:lnSpc>
            </a:pPr>
            <a:endParaRPr lang="en-US" altLang="en-US" b="1" dirty="0">
              <a:solidFill>
                <a:srgbClr val="FF0000"/>
              </a:solidFill>
              <a:latin typeface="Arial" panose="020B0604020202020204" pitchFamily="34" charset="0"/>
            </a:endParaRPr>
          </a:p>
          <a:p>
            <a:pPr>
              <a:lnSpc>
                <a:spcPct val="85000"/>
              </a:lnSpc>
            </a:pPr>
            <a:r>
              <a:rPr lang="en-US" altLang="en-US" b="1" dirty="0">
                <a:solidFill>
                  <a:srgbClr val="FF0000"/>
                </a:solidFill>
                <a:latin typeface="Arial" panose="020B0604020202020204" pitchFamily="34" charset="0"/>
              </a:rPr>
              <a:t>Now, lets write the these expressions, for C1,C2,C3 and C4</a:t>
            </a:r>
          </a:p>
        </p:txBody>
      </p:sp>
      <p:sp>
        <p:nvSpPr>
          <p:cNvPr id="4" name="TextBox 3">
            <a:extLst>
              <a:ext uri="{FF2B5EF4-FFF2-40B4-BE49-F238E27FC236}">
                <a16:creationId xmlns:a16="http://schemas.microsoft.com/office/drawing/2014/main" id="{C78A9299-F0E7-51DC-3D38-6E362D312C95}"/>
              </a:ext>
            </a:extLst>
          </p:cNvPr>
          <p:cNvSpPr txBox="1"/>
          <p:nvPr/>
        </p:nvSpPr>
        <p:spPr>
          <a:xfrm>
            <a:off x="120749" y="110943"/>
            <a:ext cx="12191999" cy="461665"/>
          </a:xfrm>
          <a:prstGeom prst="rect">
            <a:avLst/>
          </a:prstGeom>
          <a:noFill/>
        </p:spPr>
        <p:txBody>
          <a:bodyPr wrap="square" rtlCol="0">
            <a:spAutoFit/>
          </a:bodyPr>
          <a:lstStyle/>
          <a:p>
            <a:r>
              <a:rPr lang="en-IN" sz="2400" dirty="0">
                <a:solidFill>
                  <a:srgbClr val="FF0000"/>
                </a:solidFill>
              </a:rPr>
              <a:t>Let us write S and </a:t>
            </a:r>
            <a:r>
              <a:rPr lang="en-IN" sz="2400" dirty="0" err="1">
                <a:solidFill>
                  <a:srgbClr val="FF0000"/>
                </a:solidFill>
              </a:rPr>
              <a:t>Cout</a:t>
            </a:r>
            <a:r>
              <a:rPr lang="en-IN" sz="2400" dirty="0">
                <a:solidFill>
                  <a:srgbClr val="FF0000"/>
                </a:solidFill>
              </a:rPr>
              <a:t> expressions for full adder, in terms of  inputs X and Y and </a:t>
            </a:r>
            <a:r>
              <a:rPr lang="en-IN" sz="2400" dirty="0" err="1">
                <a:solidFill>
                  <a:srgbClr val="FF0000"/>
                </a:solidFill>
              </a:rPr>
              <a:t>Cin</a:t>
            </a:r>
            <a:r>
              <a:rPr lang="en-IN" sz="2400" dirty="0">
                <a:solidFill>
                  <a:srgbClr val="FF0000"/>
                </a:solidFill>
              </a:rPr>
              <a:t>, for ‘</a:t>
            </a:r>
            <a:r>
              <a:rPr lang="en-IN" sz="2400" dirty="0" err="1">
                <a:solidFill>
                  <a:srgbClr val="FF0000"/>
                </a:solidFill>
              </a:rPr>
              <a:t>i</a:t>
            </a:r>
            <a:r>
              <a:rPr lang="en-IN" sz="2400" dirty="0">
                <a:solidFill>
                  <a:srgbClr val="FF0000"/>
                </a:solidFill>
              </a:rPr>
              <a:t>’ </a:t>
            </a:r>
            <a:r>
              <a:rPr lang="en-IN" sz="2400" dirty="0" err="1">
                <a:solidFill>
                  <a:srgbClr val="FF0000"/>
                </a:solidFill>
              </a:rPr>
              <a:t>th</a:t>
            </a:r>
            <a:r>
              <a:rPr lang="en-IN" sz="2400" dirty="0">
                <a:solidFill>
                  <a:srgbClr val="FF0000"/>
                </a:solidFill>
              </a:rPr>
              <a:t> bi</a:t>
            </a:r>
            <a:r>
              <a:rPr lang="en-IN" sz="2400" dirty="0"/>
              <a:t>t</a:t>
            </a:r>
          </a:p>
        </p:txBody>
      </p:sp>
      <p:sp>
        <p:nvSpPr>
          <p:cNvPr id="5" name="Rectangle 4">
            <a:extLst>
              <a:ext uri="{FF2B5EF4-FFF2-40B4-BE49-F238E27FC236}">
                <a16:creationId xmlns:a16="http://schemas.microsoft.com/office/drawing/2014/main" id="{2C3C38B7-FA38-7467-072B-23BCD845C866}"/>
              </a:ext>
            </a:extLst>
          </p:cNvPr>
          <p:cNvSpPr>
            <a:spLocks noChangeArrowheads="1"/>
          </p:cNvSpPr>
          <p:nvPr/>
        </p:nvSpPr>
        <p:spPr bwMode="auto">
          <a:xfrm>
            <a:off x="2040997" y="4071847"/>
            <a:ext cx="8126413" cy="168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dirty="0">
                <a:latin typeface="Arial" panose="020B0604020202020204" pitchFamily="34" charset="0"/>
              </a:rPr>
              <a:t>C1 = G0 + P0 C0</a:t>
            </a:r>
          </a:p>
          <a:p>
            <a:pPr>
              <a:lnSpc>
                <a:spcPct val="85000"/>
              </a:lnSpc>
            </a:pPr>
            <a:endParaRPr lang="en-US" altLang="en-US" sz="1800" b="1" dirty="0">
              <a:latin typeface="Arial" panose="020B0604020202020204" pitchFamily="34" charset="0"/>
            </a:endParaRPr>
          </a:p>
          <a:p>
            <a:pPr>
              <a:lnSpc>
                <a:spcPct val="85000"/>
              </a:lnSpc>
            </a:pPr>
            <a:r>
              <a:rPr lang="en-US" altLang="en-US" sz="1800" b="1" dirty="0">
                <a:latin typeface="Arial" panose="020B0604020202020204" pitchFamily="34" charset="0"/>
              </a:rPr>
              <a:t>C2 = G1 + P1 C1 = G1 + P1 G0 + P1 P0 C0</a:t>
            </a:r>
          </a:p>
          <a:p>
            <a:pPr>
              <a:lnSpc>
                <a:spcPct val="85000"/>
              </a:lnSpc>
            </a:pPr>
            <a:endParaRPr lang="en-US" altLang="en-US" sz="1800" b="1" dirty="0">
              <a:latin typeface="Arial" panose="020B0604020202020204" pitchFamily="34" charset="0"/>
            </a:endParaRPr>
          </a:p>
          <a:p>
            <a:pPr>
              <a:lnSpc>
                <a:spcPct val="85000"/>
              </a:lnSpc>
            </a:pPr>
            <a:r>
              <a:rPr lang="en-US" altLang="en-US" sz="1800" b="1" dirty="0">
                <a:latin typeface="Arial" panose="020B0604020202020204" pitchFamily="34" charset="0"/>
              </a:rPr>
              <a:t>C3 = G2 + P2 C2 = G2 + P2 G1 + P2 P1 G0 + P2 P1 P0 C0</a:t>
            </a:r>
          </a:p>
          <a:p>
            <a:pPr>
              <a:lnSpc>
                <a:spcPct val="85000"/>
              </a:lnSpc>
            </a:pPr>
            <a:endParaRPr lang="en-US" altLang="en-US" sz="1800" b="1" dirty="0">
              <a:latin typeface="Arial" panose="020B0604020202020204" pitchFamily="34" charset="0"/>
            </a:endParaRPr>
          </a:p>
          <a:p>
            <a:pPr>
              <a:lnSpc>
                <a:spcPct val="85000"/>
              </a:lnSpc>
            </a:pPr>
            <a:r>
              <a:rPr lang="en-US" altLang="en-US" sz="1800" b="1" dirty="0">
                <a:latin typeface="Arial" panose="020B0604020202020204" pitchFamily="34" charset="0"/>
              </a:rPr>
              <a:t>C4 = G3 + P3 C3 = G3 + P3 G2 + P3 P2 G1 + P3 P2 P1 G0 + P3 P2 P1 P0 C0</a:t>
            </a:r>
          </a:p>
        </p:txBody>
      </p:sp>
      <p:sp>
        <p:nvSpPr>
          <p:cNvPr id="6" name="TextBox 5">
            <a:extLst>
              <a:ext uri="{FF2B5EF4-FFF2-40B4-BE49-F238E27FC236}">
                <a16:creationId xmlns:a16="http://schemas.microsoft.com/office/drawing/2014/main" id="{900ED543-5D1D-B7B1-B5C8-9206667B1E1C}"/>
              </a:ext>
            </a:extLst>
          </p:cNvPr>
          <p:cNvSpPr txBox="1"/>
          <p:nvPr/>
        </p:nvSpPr>
        <p:spPr>
          <a:xfrm>
            <a:off x="224919" y="5756185"/>
            <a:ext cx="11338560" cy="1200329"/>
          </a:xfrm>
          <a:prstGeom prst="rect">
            <a:avLst/>
          </a:prstGeom>
          <a:noFill/>
        </p:spPr>
        <p:txBody>
          <a:bodyPr wrap="square" rtlCol="0">
            <a:spAutoFit/>
          </a:bodyPr>
          <a:lstStyle/>
          <a:p>
            <a:r>
              <a:rPr lang="en-IN" sz="2400" dirty="0">
                <a:solidFill>
                  <a:srgbClr val="FF0000"/>
                </a:solidFill>
              </a:rPr>
              <a:t>Important: </a:t>
            </a:r>
            <a:r>
              <a:rPr lang="en-IN" sz="2400" dirty="0">
                <a:solidFill>
                  <a:srgbClr val="0070C0"/>
                </a:solidFill>
              </a:rPr>
              <a:t>Carry  input at each stage is direct function of operand bits. Thus the idea of having SUM and CARRY outputs of the </a:t>
            </a:r>
            <a:r>
              <a:rPr lang="en-IN" sz="2400" dirty="0" err="1">
                <a:solidFill>
                  <a:srgbClr val="0070C0"/>
                </a:solidFill>
              </a:rPr>
              <a:t>ith</a:t>
            </a:r>
            <a:r>
              <a:rPr lang="en-IN" sz="2400" dirty="0">
                <a:solidFill>
                  <a:srgbClr val="0070C0"/>
                </a:solidFill>
              </a:rPr>
              <a:t> stage be a function of </a:t>
            </a:r>
            <a:r>
              <a:rPr lang="en-IN" sz="2400" dirty="0" err="1">
                <a:solidFill>
                  <a:srgbClr val="0070C0"/>
                </a:solidFill>
              </a:rPr>
              <a:t>x</a:t>
            </a:r>
            <a:r>
              <a:rPr lang="en-IN" sz="1050" dirty="0" err="1">
                <a:solidFill>
                  <a:srgbClr val="0070C0"/>
                </a:solidFill>
              </a:rPr>
              <a:t>i</a:t>
            </a:r>
            <a:r>
              <a:rPr lang="en-IN" sz="2400" dirty="0" err="1">
                <a:solidFill>
                  <a:srgbClr val="0070C0"/>
                </a:solidFill>
              </a:rPr>
              <a:t>,y</a:t>
            </a:r>
            <a:r>
              <a:rPr lang="en-IN" sz="1400" dirty="0" err="1">
                <a:solidFill>
                  <a:srgbClr val="0070C0"/>
                </a:solidFill>
              </a:rPr>
              <a:t>i</a:t>
            </a:r>
            <a:r>
              <a:rPr lang="en-IN" sz="2400" dirty="0">
                <a:solidFill>
                  <a:srgbClr val="0070C0"/>
                </a:solidFill>
              </a:rPr>
              <a:t> and c</a:t>
            </a:r>
            <a:r>
              <a:rPr lang="en-IN" sz="1400" dirty="0">
                <a:solidFill>
                  <a:srgbClr val="0070C0"/>
                </a:solidFill>
              </a:rPr>
              <a:t>i</a:t>
            </a:r>
            <a:r>
              <a:rPr lang="en-IN" sz="2400" dirty="0">
                <a:solidFill>
                  <a:srgbClr val="0070C0"/>
                </a:solidFill>
              </a:rPr>
              <a:t> is replaced by having these outputs be a function of x</a:t>
            </a:r>
            <a:r>
              <a:rPr lang="en-IN" sz="1100" dirty="0">
                <a:solidFill>
                  <a:srgbClr val="0070C0"/>
                </a:solidFill>
              </a:rPr>
              <a:t>0</a:t>
            </a:r>
            <a:r>
              <a:rPr lang="en-IN" sz="2400" dirty="0">
                <a:solidFill>
                  <a:srgbClr val="0070C0"/>
                </a:solidFill>
              </a:rPr>
              <a:t>,x</a:t>
            </a:r>
            <a:r>
              <a:rPr lang="en-IN" sz="1200" dirty="0">
                <a:solidFill>
                  <a:srgbClr val="0070C0"/>
                </a:solidFill>
              </a:rPr>
              <a:t>1</a:t>
            </a:r>
            <a:r>
              <a:rPr lang="en-IN" sz="2400" dirty="0">
                <a:solidFill>
                  <a:srgbClr val="0070C0"/>
                </a:solidFill>
              </a:rPr>
              <a:t>,…,x</a:t>
            </a:r>
            <a:r>
              <a:rPr lang="en-IN" sz="1400" dirty="0">
                <a:solidFill>
                  <a:srgbClr val="0070C0"/>
                </a:solidFill>
              </a:rPr>
              <a:t>i</a:t>
            </a:r>
            <a:r>
              <a:rPr lang="en-IN" sz="2400" dirty="0">
                <a:solidFill>
                  <a:srgbClr val="0070C0"/>
                </a:solidFill>
              </a:rPr>
              <a:t>, y</a:t>
            </a:r>
            <a:r>
              <a:rPr lang="en-IN" sz="1200" dirty="0">
                <a:solidFill>
                  <a:srgbClr val="0070C0"/>
                </a:solidFill>
              </a:rPr>
              <a:t>0</a:t>
            </a:r>
            <a:r>
              <a:rPr lang="en-IN" sz="2400" dirty="0">
                <a:solidFill>
                  <a:srgbClr val="0070C0"/>
                </a:solidFill>
              </a:rPr>
              <a:t>,y</a:t>
            </a:r>
            <a:r>
              <a:rPr lang="en-IN" sz="1200" dirty="0">
                <a:solidFill>
                  <a:srgbClr val="0070C0"/>
                </a:solidFill>
              </a:rPr>
              <a:t>1</a:t>
            </a:r>
            <a:r>
              <a:rPr lang="en-IN" sz="2400" dirty="0">
                <a:solidFill>
                  <a:srgbClr val="0070C0"/>
                </a:solidFill>
              </a:rPr>
              <a:t>,…,</a:t>
            </a:r>
            <a:r>
              <a:rPr lang="en-IN" sz="2400" dirty="0" err="1">
                <a:solidFill>
                  <a:srgbClr val="0070C0"/>
                </a:solidFill>
              </a:rPr>
              <a:t>y</a:t>
            </a:r>
            <a:r>
              <a:rPr lang="en-IN" sz="1200" dirty="0" err="1">
                <a:solidFill>
                  <a:srgbClr val="0070C0"/>
                </a:solidFill>
              </a:rPr>
              <a:t>i</a:t>
            </a:r>
            <a:r>
              <a:rPr lang="en-IN" sz="2400" dirty="0">
                <a:solidFill>
                  <a:srgbClr val="0070C0"/>
                </a:solidFill>
              </a:rPr>
              <a:t> and c</a:t>
            </a:r>
            <a:r>
              <a:rPr lang="en-IN" sz="1200" dirty="0">
                <a:solidFill>
                  <a:srgbClr val="0070C0"/>
                </a:solidFill>
              </a:rPr>
              <a:t>0</a:t>
            </a:r>
            <a:endParaRPr lang="en-IN" sz="2400" dirty="0">
              <a:solidFill>
                <a:srgbClr val="0070C0"/>
              </a:solidFill>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4">
            <a:extLst>
              <a:ext uri="{FF2B5EF4-FFF2-40B4-BE49-F238E27FC236}">
                <a16:creationId xmlns:a16="http://schemas.microsoft.com/office/drawing/2014/main" id="{59D6FF71-DD3E-5C60-4C9C-B74C1177C60A}"/>
              </a:ext>
            </a:extLst>
          </p:cNvPr>
          <p:cNvSpPr>
            <a:spLocks noGrp="1"/>
          </p:cNvSpPr>
          <p:nvPr>
            <p:ph type="sldNum" sz="quarter" idx="12"/>
          </p:nvPr>
        </p:nvSpPr>
        <p:spPr>
          <a:noFill/>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fld id="{4882A495-E525-44B1-B64D-E37F5CD31359}" type="slidenum">
              <a:rPr lang="en-US" altLang="en-US" sz="1400"/>
              <a:pPr/>
              <a:t>14</a:t>
            </a:fld>
            <a:endParaRPr lang="en-US" altLang="en-US" sz="1400"/>
          </a:p>
        </p:txBody>
      </p:sp>
      <p:sp>
        <p:nvSpPr>
          <p:cNvPr id="21531" name="Arc 25">
            <a:extLst>
              <a:ext uri="{FF2B5EF4-FFF2-40B4-BE49-F238E27FC236}">
                <a16:creationId xmlns:a16="http://schemas.microsoft.com/office/drawing/2014/main" id="{26D84494-0698-6C52-025A-220C1A178A08}"/>
              </a:ext>
            </a:extLst>
          </p:cNvPr>
          <p:cNvSpPr>
            <a:spLocks/>
          </p:cNvSpPr>
          <p:nvPr/>
        </p:nvSpPr>
        <p:spPr bwMode="auto">
          <a:xfrm>
            <a:off x="3482976" y="2319338"/>
            <a:ext cx="231775" cy="247650"/>
          </a:xfrm>
          <a:custGeom>
            <a:avLst/>
            <a:gdLst>
              <a:gd name="T0" fmla="*/ 0 w 21600"/>
              <a:gd name="T1" fmla="*/ 0 h 21600"/>
              <a:gd name="T2" fmla="*/ 2487021 w 21600"/>
              <a:gd name="T3" fmla="*/ 2839376 h 21600"/>
              <a:gd name="T4" fmla="*/ 0 w 21600"/>
              <a:gd name="T5" fmla="*/ 283937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533" name="Arc 27">
            <a:extLst>
              <a:ext uri="{FF2B5EF4-FFF2-40B4-BE49-F238E27FC236}">
                <a16:creationId xmlns:a16="http://schemas.microsoft.com/office/drawing/2014/main" id="{EBEC6A04-5FAA-C68E-5A01-F37D356A8795}"/>
              </a:ext>
            </a:extLst>
          </p:cNvPr>
          <p:cNvSpPr>
            <a:spLocks/>
          </p:cNvSpPr>
          <p:nvPr/>
        </p:nvSpPr>
        <p:spPr bwMode="auto">
          <a:xfrm>
            <a:off x="3482976" y="2547938"/>
            <a:ext cx="231775" cy="247650"/>
          </a:xfrm>
          <a:custGeom>
            <a:avLst/>
            <a:gdLst>
              <a:gd name="T0" fmla="*/ 2487021 w 21600"/>
              <a:gd name="T1" fmla="*/ 0 h 21600"/>
              <a:gd name="T2" fmla="*/ 0 w 21600"/>
              <a:gd name="T3" fmla="*/ 2839376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nvGrpSpPr>
          <p:cNvPr id="21564" name="Group 58">
            <a:extLst>
              <a:ext uri="{FF2B5EF4-FFF2-40B4-BE49-F238E27FC236}">
                <a16:creationId xmlns:a16="http://schemas.microsoft.com/office/drawing/2014/main" id="{CACDF0F9-07D9-6814-2A99-8C04CD7FBC81}"/>
              </a:ext>
            </a:extLst>
          </p:cNvPr>
          <p:cNvGrpSpPr>
            <a:grpSpLocks/>
          </p:cNvGrpSpPr>
          <p:nvPr/>
        </p:nvGrpSpPr>
        <p:grpSpPr bwMode="auto">
          <a:xfrm>
            <a:off x="2084389" y="3505200"/>
            <a:ext cx="7742237" cy="2778125"/>
            <a:chOff x="353" y="2208"/>
            <a:chExt cx="4877" cy="1750"/>
          </a:xfrm>
        </p:grpSpPr>
        <p:sp>
          <p:nvSpPr>
            <p:cNvPr id="21592" name="Line 59">
              <a:extLst>
                <a:ext uri="{FF2B5EF4-FFF2-40B4-BE49-F238E27FC236}">
                  <a16:creationId xmlns:a16="http://schemas.microsoft.com/office/drawing/2014/main" id="{DB2A8997-699E-68C8-930D-18D568384403}"/>
                </a:ext>
              </a:extLst>
            </p:cNvPr>
            <p:cNvSpPr>
              <a:spLocks noChangeShapeType="1"/>
            </p:cNvSpPr>
            <p:nvPr/>
          </p:nvSpPr>
          <p:spPr bwMode="auto">
            <a:xfrm>
              <a:off x="592" y="2208"/>
              <a:ext cx="260"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93" name="Line 60">
              <a:extLst>
                <a:ext uri="{FF2B5EF4-FFF2-40B4-BE49-F238E27FC236}">
                  <a16:creationId xmlns:a16="http://schemas.microsoft.com/office/drawing/2014/main" id="{C2332766-1C67-D43E-6E28-A6601CFF0989}"/>
                </a:ext>
              </a:extLst>
            </p:cNvPr>
            <p:cNvSpPr>
              <a:spLocks noChangeShapeType="1"/>
            </p:cNvSpPr>
            <p:nvPr/>
          </p:nvSpPr>
          <p:spPr bwMode="auto">
            <a:xfrm>
              <a:off x="592" y="2468"/>
              <a:ext cx="27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94" name="Line 61">
              <a:extLst>
                <a:ext uri="{FF2B5EF4-FFF2-40B4-BE49-F238E27FC236}">
                  <a16:creationId xmlns:a16="http://schemas.microsoft.com/office/drawing/2014/main" id="{CD7AAFA7-4089-B174-90B2-DE6AACF6D3E8}"/>
                </a:ext>
              </a:extLst>
            </p:cNvPr>
            <p:cNvSpPr>
              <a:spLocks noChangeShapeType="1"/>
            </p:cNvSpPr>
            <p:nvPr/>
          </p:nvSpPr>
          <p:spPr bwMode="auto">
            <a:xfrm flipV="1">
              <a:off x="592" y="2208"/>
              <a:ext cx="1" cy="26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95" name="Arc 62">
              <a:extLst>
                <a:ext uri="{FF2B5EF4-FFF2-40B4-BE49-F238E27FC236}">
                  <a16:creationId xmlns:a16="http://schemas.microsoft.com/office/drawing/2014/main" id="{17D2125D-FFB3-B32C-E037-2962641E676B}"/>
                </a:ext>
              </a:extLst>
            </p:cNvPr>
            <p:cNvSpPr>
              <a:spLocks/>
            </p:cNvSpPr>
            <p:nvPr/>
          </p:nvSpPr>
          <p:spPr bwMode="auto">
            <a:xfrm>
              <a:off x="853" y="2208"/>
              <a:ext cx="131" cy="141"/>
            </a:xfrm>
            <a:custGeom>
              <a:avLst/>
              <a:gdLst>
                <a:gd name="T0" fmla="*/ 0 w 21622"/>
                <a:gd name="T1" fmla="*/ 0 h 21600"/>
                <a:gd name="T2" fmla="*/ 1 w 21622"/>
                <a:gd name="T3" fmla="*/ 1 h 21600"/>
                <a:gd name="T4" fmla="*/ 0 w 21622"/>
                <a:gd name="T5" fmla="*/ 1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0" y="0"/>
                  </a:moveTo>
                  <a:cubicBezTo>
                    <a:pt x="7" y="0"/>
                    <a:pt x="14" y="-1"/>
                    <a:pt x="22" y="0"/>
                  </a:cubicBezTo>
                  <a:cubicBezTo>
                    <a:pt x="11951" y="0"/>
                    <a:pt x="21622" y="9670"/>
                    <a:pt x="21622" y="21600"/>
                  </a:cubicBezTo>
                </a:path>
                <a:path w="21622" h="21600" stroke="0" extrusionOk="0">
                  <a:moveTo>
                    <a:pt x="0" y="0"/>
                  </a:moveTo>
                  <a:cubicBezTo>
                    <a:pt x="7" y="0"/>
                    <a:pt x="14" y="-1"/>
                    <a:pt x="22" y="0"/>
                  </a:cubicBezTo>
                  <a:cubicBezTo>
                    <a:pt x="11951" y="0"/>
                    <a:pt x="21622" y="9670"/>
                    <a:pt x="21622" y="21600"/>
                  </a:cubicBezTo>
                  <a:lnTo>
                    <a:pt x="22" y="216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596" name="Arc 63">
              <a:extLst>
                <a:ext uri="{FF2B5EF4-FFF2-40B4-BE49-F238E27FC236}">
                  <a16:creationId xmlns:a16="http://schemas.microsoft.com/office/drawing/2014/main" id="{7CD8F68F-C60B-D464-4ECD-6922E3375BEB}"/>
                </a:ext>
              </a:extLst>
            </p:cNvPr>
            <p:cNvSpPr>
              <a:spLocks/>
            </p:cNvSpPr>
            <p:nvPr/>
          </p:nvSpPr>
          <p:spPr bwMode="auto">
            <a:xfrm>
              <a:off x="853" y="2213"/>
              <a:ext cx="126" cy="136"/>
            </a:xfrm>
            <a:custGeom>
              <a:avLst/>
              <a:gdLst>
                <a:gd name="T0" fmla="*/ 0 w 21622"/>
                <a:gd name="T1" fmla="*/ 0 h 21600"/>
                <a:gd name="T2" fmla="*/ 1 w 21622"/>
                <a:gd name="T3" fmla="*/ 1 h 21600"/>
                <a:gd name="T4" fmla="*/ 0 w 21622"/>
                <a:gd name="T5" fmla="*/ 1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0" y="0"/>
                  </a:moveTo>
                  <a:cubicBezTo>
                    <a:pt x="7" y="0"/>
                    <a:pt x="14" y="-1"/>
                    <a:pt x="22" y="0"/>
                  </a:cubicBezTo>
                  <a:cubicBezTo>
                    <a:pt x="11951" y="0"/>
                    <a:pt x="21622" y="9670"/>
                    <a:pt x="21622" y="21600"/>
                  </a:cubicBezTo>
                </a:path>
                <a:path w="21622" h="21600" stroke="0" extrusionOk="0">
                  <a:moveTo>
                    <a:pt x="0" y="0"/>
                  </a:moveTo>
                  <a:cubicBezTo>
                    <a:pt x="7" y="0"/>
                    <a:pt x="14" y="-1"/>
                    <a:pt x="22" y="0"/>
                  </a:cubicBezTo>
                  <a:cubicBezTo>
                    <a:pt x="11951" y="0"/>
                    <a:pt x="21622" y="9670"/>
                    <a:pt x="21622" y="21600"/>
                  </a:cubicBezTo>
                  <a:lnTo>
                    <a:pt x="22" y="21600"/>
                  </a:lnTo>
                  <a:lnTo>
                    <a:pt x="0" y="0"/>
                  </a:lnTo>
                  <a:close/>
                </a:path>
              </a:pathLst>
            </a:custGeom>
            <a:solidFill>
              <a:srgbClr val="FFFFFF"/>
            </a:solidFill>
            <a:ln w="17463">
              <a:solidFill>
                <a:srgbClr val="000000"/>
              </a:solidFill>
              <a:round/>
              <a:headEnd/>
              <a:tailEnd/>
            </a:ln>
          </p:spPr>
          <p:txBody>
            <a:bodyPr/>
            <a:lstStyle/>
            <a:p>
              <a:endParaRPr lang="en-IN"/>
            </a:p>
          </p:txBody>
        </p:sp>
        <p:sp>
          <p:nvSpPr>
            <p:cNvPr id="21597" name="Arc 64">
              <a:extLst>
                <a:ext uri="{FF2B5EF4-FFF2-40B4-BE49-F238E27FC236}">
                  <a16:creationId xmlns:a16="http://schemas.microsoft.com/office/drawing/2014/main" id="{3B9A4E28-A14D-CFE0-8261-BF721899B422}"/>
                </a:ext>
              </a:extLst>
            </p:cNvPr>
            <p:cNvSpPr>
              <a:spLocks/>
            </p:cNvSpPr>
            <p:nvPr/>
          </p:nvSpPr>
          <p:spPr bwMode="auto">
            <a:xfrm>
              <a:off x="853" y="2338"/>
              <a:ext cx="131" cy="140"/>
            </a:xfrm>
            <a:custGeom>
              <a:avLst/>
              <a:gdLst>
                <a:gd name="T0" fmla="*/ 1 w 21622"/>
                <a:gd name="T1" fmla="*/ 0 h 21600"/>
                <a:gd name="T2" fmla="*/ 0 w 21622"/>
                <a:gd name="T3" fmla="*/ 1 h 21600"/>
                <a:gd name="T4" fmla="*/ 0 w 21622"/>
                <a:gd name="T5" fmla="*/ 0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21622" y="0"/>
                  </a:moveTo>
                  <a:cubicBezTo>
                    <a:pt x="21622" y="11929"/>
                    <a:pt x="11951" y="21600"/>
                    <a:pt x="22" y="21600"/>
                  </a:cubicBezTo>
                  <a:cubicBezTo>
                    <a:pt x="14" y="21600"/>
                    <a:pt x="7" y="21599"/>
                    <a:pt x="0" y="21599"/>
                  </a:cubicBezTo>
                </a:path>
                <a:path w="21622" h="21600" stroke="0" extrusionOk="0">
                  <a:moveTo>
                    <a:pt x="21622" y="0"/>
                  </a:moveTo>
                  <a:cubicBezTo>
                    <a:pt x="21622" y="11929"/>
                    <a:pt x="11951" y="21600"/>
                    <a:pt x="22" y="21600"/>
                  </a:cubicBezTo>
                  <a:cubicBezTo>
                    <a:pt x="14" y="21600"/>
                    <a:pt x="7" y="21599"/>
                    <a:pt x="0" y="21599"/>
                  </a:cubicBezTo>
                  <a:lnTo>
                    <a:pt x="22" y="0"/>
                  </a:lnTo>
                  <a:lnTo>
                    <a:pt x="216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598" name="Arc 65">
              <a:extLst>
                <a:ext uri="{FF2B5EF4-FFF2-40B4-BE49-F238E27FC236}">
                  <a16:creationId xmlns:a16="http://schemas.microsoft.com/office/drawing/2014/main" id="{63E1E799-7177-6D43-E30A-610D5CEE154C}"/>
                </a:ext>
              </a:extLst>
            </p:cNvPr>
            <p:cNvSpPr>
              <a:spLocks/>
            </p:cNvSpPr>
            <p:nvPr/>
          </p:nvSpPr>
          <p:spPr bwMode="auto">
            <a:xfrm>
              <a:off x="853" y="2338"/>
              <a:ext cx="126" cy="135"/>
            </a:xfrm>
            <a:custGeom>
              <a:avLst/>
              <a:gdLst>
                <a:gd name="T0" fmla="*/ 1 w 21622"/>
                <a:gd name="T1" fmla="*/ 0 h 21600"/>
                <a:gd name="T2" fmla="*/ 0 w 21622"/>
                <a:gd name="T3" fmla="*/ 1 h 21600"/>
                <a:gd name="T4" fmla="*/ 0 w 21622"/>
                <a:gd name="T5" fmla="*/ 0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21622" y="0"/>
                  </a:moveTo>
                  <a:cubicBezTo>
                    <a:pt x="21622" y="11929"/>
                    <a:pt x="11951" y="21600"/>
                    <a:pt x="22" y="21600"/>
                  </a:cubicBezTo>
                  <a:cubicBezTo>
                    <a:pt x="14" y="21600"/>
                    <a:pt x="7" y="21599"/>
                    <a:pt x="0" y="21599"/>
                  </a:cubicBezTo>
                </a:path>
                <a:path w="21622" h="21600" stroke="0" extrusionOk="0">
                  <a:moveTo>
                    <a:pt x="21622" y="0"/>
                  </a:moveTo>
                  <a:cubicBezTo>
                    <a:pt x="21622" y="11929"/>
                    <a:pt x="11951" y="21600"/>
                    <a:pt x="22" y="21600"/>
                  </a:cubicBezTo>
                  <a:cubicBezTo>
                    <a:pt x="14" y="21600"/>
                    <a:pt x="7" y="21599"/>
                    <a:pt x="0" y="21599"/>
                  </a:cubicBezTo>
                  <a:lnTo>
                    <a:pt x="22" y="0"/>
                  </a:lnTo>
                  <a:lnTo>
                    <a:pt x="21622" y="0"/>
                  </a:lnTo>
                  <a:close/>
                </a:path>
              </a:pathLst>
            </a:custGeom>
            <a:solidFill>
              <a:srgbClr val="FFFFFF"/>
            </a:solidFill>
            <a:ln w="17463">
              <a:solidFill>
                <a:srgbClr val="000000"/>
              </a:solidFill>
              <a:round/>
              <a:headEnd/>
              <a:tailEnd/>
            </a:ln>
          </p:spPr>
          <p:txBody>
            <a:bodyPr/>
            <a:lstStyle/>
            <a:p>
              <a:endParaRPr lang="en-IN"/>
            </a:p>
          </p:txBody>
        </p:sp>
        <p:sp>
          <p:nvSpPr>
            <p:cNvPr id="21599" name="Arc 66">
              <a:extLst>
                <a:ext uri="{FF2B5EF4-FFF2-40B4-BE49-F238E27FC236}">
                  <a16:creationId xmlns:a16="http://schemas.microsoft.com/office/drawing/2014/main" id="{11C44098-5E36-0BAD-1A51-16550BE5718A}"/>
                </a:ext>
              </a:extLst>
            </p:cNvPr>
            <p:cNvSpPr>
              <a:spLocks/>
            </p:cNvSpPr>
            <p:nvPr/>
          </p:nvSpPr>
          <p:spPr bwMode="auto">
            <a:xfrm>
              <a:off x="1167" y="2278"/>
              <a:ext cx="60" cy="114"/>
            </a:xfrm>
            <a:custGeom>
              <a:avLst/>
              <a:gdLst>
                <a:gd name="T0" fmla="*/ 0 w 21600"/>
                <a:gd name="T1" fmla="*/ 0 h 21600"/>
                <a:gd name="T2" fmla="*/ 0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00" name="Arc 67">
              <a:extLst>
                <a:ext uri="{FF2B5EF4-FFF2-40B4-BE49-F238E27FC236}">
                  <a16:creationId xmlns:a16="http://schemas.microsoft.com/office/drawing/2014/main" id="{ABC97D5F-B887-B435-DD12-F3C9E6031EA1}"/>
                </a:ext>
              </a:extLst>
            </p:cNvPr>
            <p:cNvSpPr>
              <a:spLocks/>
            </p:cNvSpPr>
            <p:nvPr/>
          </p:nvSpPr>
          <p:spPr bwMode="auto">
            <a:xfrm>
              <a:off x="1167" y="2278"/>
              <a:ext cx="408" cy="125"/>
            </a:xfrm>
            <a:custGeom>
              <a:avLst/>
              <a:gdLst>
                <a:gd name="T0" fmla="*/ 0 w 21600"/>
                <a:gd name="T1" fmla="*/ 0 h 21600"/>
                <a:gd name="T2" fmla="*/ 8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01" name="Arc 68">
              <a:extLst>
                <a:ext uri="{FF2B5EF4-FFF2-40B4-BE49-F238E27FC236}">
                  <a16:creationId xmlns:a16="http://schemas.microsoft.com/office/drawing/2014/main" id="{8D7545A4-1BE7-11A8-0D09-01B938308C1E}"/>
                </a:ext>
              </a:extLst>
            </p:cNvPr>
            <p:cNvSpPr>
              <a:spLocks/>
            </p:cNvSpPr>
            <p:nvPr/>
          </p:nvSpPr>
          <p:spPr bwMode="auto">
            <a:xfrm>
              <a:off x="1189" y="2392"/>
              <a:ext cx="386" cy="125"/>
            </a:xfrm>
            <a:custGeom>
              <a:avLst/>
              <a:gdLst>
                <a:gd name="T0" fmla="*/ 7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02" name="Arc 69">
              <a:extLst>
                <a:ext uri="{FF2B5EF4-FFF2-40B4-BE49-F238E27FC236}">
                  <a16:creationId xmlns:a16="http://schemas.microsoft.com/office/drawing/2014/main" id="{947C8E22-C5EC-154C-F0DF-FB916A98A361}"/>
                </a:ext>
              </a:extLst>
            </p:cNvPr>
            <p:cNvSpPr>
              <a:spLocks/>
            </p:cNvSpPr>
            <p:nvPr/>
          </p:nvSpPr>
          <p:spPr bwMode="auto">
            <a:xfrm>
              <a:off x="1167" y="2392"/>
              <a:ext cx="60" cy="125"/>
            </a:xfrm>
            <a:custGeom>
              <a:avLst/>
              <a:gdLst>
                <a:gd name="T0" fmla="*/ 0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03" name="Line 70">
              <a:extLst>
                <a:ext uri="{FF2B5EF4-FFF2-40B4-BE49-F238E27FC236}">
                  <a16:creationId xmlns:a16="http://schemas.microsoft.com/office/drawing/2014/main" id="{59ABD548-4D37-57EC-8EA9-CA42EC72F2A5}"/>
                </a:ext>
              </a:extLst>
            </p:cNvPr>
            <p:cNvSpPr>
              <a:spLocks noChangeShapeType="1"/>
            </p:cNvSpPr>
            <p:nvPr/>
          </p:nvSpPr>
          <p:spPr bwMode="auto">
            <a:xfrm>
              <a:off x="1189" y="2338"/>
              <a:ext cx="2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04" name="Line 71">
              <a:extLst>
                <a:ext uri="{FF2B5EF4-FFF2-40B4-BE49-F238E27FC236}">
                  <a16:creationId xmlns:a16="http://schemas.microsoft.com/office/drawing/2014/main" id="{A0062C58-0D42-DC32-D572-A97DCFC7CB93}"/>
                </a:ext>
              </a:extLst>
            </p:cNvPr>
            <p:cNvSpPr>
              <a:spLocks noChangeShapeType="1"/>
            </p:cNvSpPr>
            <p:nvPr/>
          </p:nvSpPr>
          <p:spPr bwMode="auto">
            <a:xfrm>
              <a:off x="1189" y="2446"/>
              <a:ext cx="2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05" name="Line 72">
              <a:extLst>
                <a:ext uri="{FF2B5EF4-FFF2-40B4-BE49-F238E27FC236}">
                  <a16:creationId xmlns:a16="http://schemas.microsoft.com/office/drawing/2014/main" id="{F8F7A88C-26FE-29EB-8315-1299034294A7}"/>
                </a:ext>
              </a:extLst>
            </p:cNvPr>
            <p:cNvSpPr>
              <a:spLocks noChangeShapeType="1"/>
            </p:cNvSpPr>
            <p:nvPr/>
          </p:nvSpPr>
          <p:spPr bwMode="auto">
            <a:xfrm>
              <a:off x="592" y="2910"/>
              <a:ext cx="260"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06" name="Line 73">
              <a:extLst>
                <a:ext uri="{FF2B5EF4-FFF2-40B4-BE49-F238E27FC236}">
                  <a16:creationId xmlns:a16="http://schemas.microsoft.com/office/drawing/2014/main" id="{B7804B6B-55AA-55B9-9027-1EB75875FE35}"/>
                </a:ext>
              </a:extLst>
            </p:cNvPr>
            <p:cNvSpPr>
              <a:spLocks noChangeShapeType="1"/>
            </p:cNvSpPr>
            <p:nvPr/>
          </p:nvSpPr>
          <p:spPr bwMode="auto">
            <a:xfrm>
              <a:off x="592" y="3169"/>
              <a:ext cx="27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07" name="Line 74">
              <a:extLst>
                <a:ext uri="{FF2B5EF4-FFF2-40B4-BE49-F238E27FC236}">
                  <a16:creationId xmlns:a16="http://schemas.microsoft.com/office/drawing/2014/main" id="{B63884C8-4B1E-915A-5A5D-39F2047641A5}"/>
                </a:ext>
              </a:extLst>
            </p:cNvPr>
            <p:cNvSpPr>
              <a:spLocks noChangeShapeType="1"/>
            </p:cNvSpPr>
            <p:nvPr/>
          </p:nvSpPr>
          <p:spPr bwMode="auto">
            <a:xfrm>
              <a:off x="592" y="2910"/>
              <a:ext cx="1" cy="25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08" name="Arc 75">
              <a:extLst>
                <a:ext uri="{FF2B5EF4-FFF2-40B4-BE49-F238E27FC236}">
                  <a16:creationId xmlns:a16="http://schemas.microsoft.com/office/drawing/2014/main" id="{E02789C8-D671-FC0F-02F5-66AB19DAC3F3}"/>
                </a:ext>
              </a:extLst>
            </p:cNvPr>
            <p:cNvSpPr>
              <a:spLocks/>
            </p:cNvSpPr>
            <p:nvPr/>
          </p:nvSpPr>
          <p:spPr bwMode="auto">
            <a:xfrm>
              <a:off x="853" y="2910"/>
              <a:ext cx="131" cy="141"/>
            </a:xfrm>
            <a:custGeom>
              <a:avLst/>
              <a:gdLst>
                <a:gd name="T0" fmla="*/ 0 w 21622"/>
                <a:gd name="T1" fmla="*/ 0 h 21600"/>
                <a:gd name="T2" fmla="*/ 1 w 21622"/>
                <a:gd name="T3" fmla="*/ 1 h 21600"/>
                <a:gd name="T4" fmla="*/ 0 w 21622"/>
                <a:gd name="T5" fmla="*/ 1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0" y="0"/>
                  </a:moveTo>
                  <a:cubicBezTo>
                    <a:pt x="7" y="0"/>
                    <a:pt x="14" y="-1"/>
                    <a:pt x="22" y="0"/>
                  </a:cubicBezTo>
                  <a:cubicBezTo>
                    <a:pt x="11951" y="0"/>
                    <a:pt x="21622" y="9670"/>
                    <a:pt x="21622" y="21600"/>
                  </a:cubicBezTo>
                </a:path>
                <a:path w="21622" h="21600" stroke="0" extrusionOk="0">
                  <a:moveTo>
                    <a:pt x="0" y="0"/>
                  </a:moveTo>
                  <a:cubicBezTo>
                    <a:pt x="7" y="0"/>
                    <a:pt x="14" y="-1"/>
                    <a:pt x="22" y="0"/>
                  </a:cubicBezTo>
                  <a:cubicBezTo>
                    <a:pt x="11951" y="0"/>
                    <a:pt x="21622" y="9670"/>
                    <a:pt x="21622" y="21600"/>
                  </a:cubicBezTo>
                  <a:lnTo>
                    <a:pt x="22" y="216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09" name="Arc 76">
              <a:extLst>
                <a:ext uri="{FF2B5EF4-FFF2-40B4-BE49-F238E27FC236}">
                  <a16:creationId xmlns:a16="http://schemas.microsoft.com/office/drawing/2014/main" id="{E66A9941-3CCC-CCB8-19FD-A47B4CB3B18E}"/>
                </a:ext>
              </a:extLst>
            </p:cNvPr>
            <p:cNvSpPr>
              <a:spLocks/>
            </p:cNvSpPr>
            <p:nvPr/>
          </p:nvSpPr>
          <p:spPr bwMode="auto">
            <a:xfrm>
              <a:off x="853" y="2915"/>
              <a:ext cx="126" cy="136"/>
            </a:xfrm>
            <a:custGeom>
              <a:avLst/>
              <a:gdLst>
                <a:gd name="T0" fmla="*/ 0 w 21622"/>
                <a:gd name="T1" fmla="*/ 0 h 21600"/>
                <a:gd name="T2" fmla="*/ 1 w 21622"/>
                <a:gd name="T3" fmla="*/ 1 h 21600"/>
                <a:gd name="T4" fmla="*/ 0 w 21622"/>
                <a:gd name="T5" fmla="*/ 1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0" y="0"/>
                  </a:moveTo>
                  <a:cubicBezTo>
                    <a:pt x="7" y="0"/>
                    <a:pt x="14" y="-1"/>
                    <a:pt x="22" y="0"/>
                  </a:cubicBezTo>
                  <a:cubicBezTo>
                    <a:pt x="11951" y="0"/>
                    <a:pt x="21622" y="9670"/>
                    <a:pt x="21622" y="21600"/>
                  </a:cubicBezTo>
                </a:path>
                <a:path w="21622" h="21600" stroke="0" extrusionOk="0">
                  <a:moveTo>
                    <a:pt x="0" y="0"/>
                  </a:moveTo>
                  <a:cubicBezTo>
                    <a:pt x="7" y="0"/>
                    <a:pt x="14" y="-1"/>
                    <a:pt x="22" y="0"/>
                  </a:cubicBezTo>
                  <a:cubicBezTo>
                    <a:pt x="11951" y="0"/>
                    <a:pt x="21622" y="9670"/>
                    <a:pt x="21622" y="21600"/>
                  </a:cubicBezTo>
                  <a:lnTo>
                    <a:pt x="22" y="21600"/>
                  </a:lnTo>
                  <a:lnTo>
                    <a:pt x="0" y="0"/>
                  </a:lnTo>
                  <a:close/>
                </a:path>
              </a:pathLst>
            </a:custGeom>
            <a:solidFill>
              <a:srgbClr val="FFFFFF"/>
            </a:solidFill>
            <a:ln w="17463">
              <a:solidFill>
                <a:srgbClr val="000000"/>
              </a:solidFill>
              <a:round/>
              <a:headEnd/>
              <a:tailEnd/>
            </a:ln>
          </p:spPr>
          <p:txBody>
            <a:bodyPr/>
            <a:lstStyle/>
            <a:p>
              <a:endParaRPr lang="en-IN"/>
            </a:p>
          </p:txBody>
        </p:sp>
        <p:sp>
          <p:nvSpPr>
            <p:cNvPr id="21610" name="Arc 77">
              <a:extLst>
                <a:ext uri="{FF2B5EF4-FFF2-40B4-BE49-F238E27FC236}">
                  <a16:creationId xmlns:a16="http://schemas.microsoft.com/office/drawing/2014/main" id="{AC77E14C-9AC6-F533-4C52-78C91C5A824D}"/>
                </a:ext>
              </a:extLst>
            </p:cNvPr>
            <p:cNvSpPr>
              <a:spLocks/>
            </p:cNvSpPr>
            <p:nvPr/>
          </p:nvSpPr>
          <p:spPr bwMode="auto">
            <a:xfrm>
              <a:off x="853" y="3040"/>
              <a:ext cx="131" cy="141"/>
            </a:xfrm>
            <a:custGeom>
              <a:avLst/>
              <a:gdLst>
                <a:gd name="T0" fmla="*/ 1 w 21622"/>
                <a:gd name="T1" fmla="*/ 0 h 21600"/>
                <a:gd name="T2" fmla="*/ 0 w 21622"/>
                <a:gd name="T3" fmla="*/ 1 h 21600"/>
                <a:gd name="T4" fmla="*/ 0 w 21622"/>
                <a:gd name="T5" fmla="*/ 0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21622" y="0"/>
                  </a:moveTo>
                  <a:cubicBezTo>
                    <a:pt x="21622" y="11929"/>
                    <a:pt x="11951" y="21600"/>
                    <a:pt x="22" y="21600"/>
                  </a:cubicBezTo>
                  <a:cubicBezTo>
                    <a:pt x="14" y="21600"/>
                    <a:pt x="7" y="21599"/>
                    <a:pt x="0" y="21599"/>
                  </a:cubicBezTo>
                </a:path>
                <a:path w="21622" h="21600" stroke="0" extrusionOk="0">
                  <a:moveTo>
                    <a:pt x="21622" y="0"/>
                  </a:moveTo>
                  <a:cubicBezTo>
                    <a:pt x="21622" y="11929"/>
                    <a:pt x="11951" y="21600"/>
                    <a:pt x="22" y="21600"/>
                  </a:cubicBezTo>
                  <a:cubicBezTo>
                    <a:pt x="14" y="21600"/>
                    <a:pt x="7" y="21599"/>
                    <a:pt x="0" y="21599"/>
                  </a:cubicBezTo>
                  <a:lnTo>
                    <a:pt x="22" y="0"/>
                  </a:lnTo>
                  <a:lnTo>
                    <a:pt x="216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11" name="Arc 78">
              <a:extLst>
                <a:ext uri="{FF2B5EF4-FFF2-40B4-BE49-F238E27FC236}">
                  <a16:creationId xmlns:a16="http://schemas.microsoft.com/office/drawing/2014/main" id="{F5E00EF3-8CA5-B3E8-E209-28A3B694BBDC}"/>
                </a:ext>
              </a:extLst>
            </p:cNvPr>
            <p:cNvSpPr>
              <a:spLocks/>
            </p:cNvSpPr>
            <p:nvPr/>
          </p:nvSpPr>
          <p:spPr bwMode="auto">
            <a:xfrm>
              <a:off x="853" y="3040"/>
              <a:ext cx="126" cy="136"/>
            </a:xfrm>
            <a:custGeom>
              <a:avLst/>
              <a:gdLst>
                <a:gd name="T0" fmla="*/ 1 w 21622"/>
                <a:gd name="T1" fmla="*/ 0 h 21600"/>
                <a:gd name="T2" fmla="*/ 0 w 21622"/>
                <a:gd name="T3" fmla="*/ 1 h 21600"/>
                <a:gd name="T4" fmla="*/ 0 w 21622"/>
                <a:gd name="T5" fmla="*/ 0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21622" y="0"/>
                  </a:moveTo>
                  <a:cubicBezTo>
                    <a:pt x="21622" y="11929"/>
                    <a:pt x="11951" y="21600"/>
                    <a:pt x="22" y="21600"/>
                  </a:cubicBezTo>
                  <a:cubicBezTo>
                    <a:pt x="14" y="21600"/>
                    <a:pt x="7" y="21599"/>
                    <a:pt x="0" y="21599"/>
                  </a:cubicBezTo>
                </a:path>
                <a:path w="21622" h="21600" stroke="0" extrusionOk="0">
                  <a:moveTo>
                    <a:pt x="21622" y="0"/>
                  </a:moveTo>
                  <a:cubicBezTo>
                    <a:pt x="21622" y="11929"/>
                    <a:pt x="11951" y="21600"/>
                    <a:pt x="22" y="21600"/>
                  </a:cubicBezTo>
                  <a:cubicBezTo>
                    <a:pt x="14" y="21600"/>
                    <a:pt x="7" y="21599"/>
                    <a:pt x="0" y="21599"/>
                  </a:cubicBezTo>
                  <a:lnTo>
                    <a:pt x="22" y="0"/>
                  </a:lnTo>
                  <a:lnTo>
                    <a:pt x="21622" y="0"/>
                  </a:lnTo>
                  <a:close/>
                </a:path>
              </a:pathLst>
            </a:custGeom>
            <a:solidFill>
              <a:srgbClr val="FFFFFF"/>
            </a:solidFill>
            <a:ln w="17463">
              <a:solidFill>
                <a:srgbClr val="000000"/>
              </a:solidFill>
              <a:round/>
              <a:headEnd/>
              <a:tailEnd/>
            </a:ln>
          </p:spPr>
          <p:txBody>
            <a:bodyPr/>
            <a:lstStyle/>
            <a:p>
              <a:endParaRPr lang="en-IN"/>
            </a:p>
          </p:txBody>
        </p:sp>
        <p:sp>
          <p:nvSpPr>
            <p:cNvPr id="21612" name="Line 79">
              <a:extLst>
                <a:ext uri="{FF2B5EF4-FFF2-40B4-BE49-F238E27FC236}">
                  <a16:creationId xmlns:a16="http://schemas.microsoft.com/office/drawing/2014/main" id="{A074DF43-DC6E-57D0-ABBD-76F0064BE810}"/>
                </a:ext>
              </a:extLst>
            </p:cNvPr>
            <p:cNvSpPr>
              <a:spLocks noChangeShapeType="1"/>
            </p:cNvSpPr>
            <p:nvPr/>
          </p:nvSpPr>
          <p:spPr bwMode="auto">
            <a:xfrm>
              <a:off x="592" y="3234"/>
              <a:ext cx="260"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13" name="Line 80">
              <a:extLst>
                <a:ext uri="{FF2B5EF4-FFF2-40B4-BE49-F238E27FC236}">
                  <a16:creationId xmlns:a16="http://schemas.microsoft.com/office/drawing/2014/main" id="{AC1A7BE7-1AE6-ED9A-D64A-EC4FFCA58DDE}"/>
                </a:ext>
              </a:extLst>
            </p:cNvPr>
            <p:cNvSpPr>
              <a:spLocks noChangeShapeType="1"/>
            </p:cNvSpPr>
            <p:nvPr/>
          </p:nvSpPr>
          <p:spPr bwMode="auto">
            <a:xfrm>
              <a:off x="592" y="3493"/>
              <a:ext cx="27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14" name="Line 81">
              <a:extLst>
                <a:ext uri="{FF2B5EF4-FFF2-40B4-BE49-F238E27FC236}">
                  <a16:creationId xmlns:a16="http://schemas.microsoft.com/office/drawing/2014/main" id="{329E8C66-CC9C-8EE7-23DC-FD4C30783E9D}"/>
                </a:ext>
              </a:extLst>
            </p:cNvPr>
            <p:cNvSpPr>
              <a:spLocks noChangeShapeType="1"/>
            </p:cNvSpPr>
            <p:nvPr/>
          </p:nvSpPr>
          <p:spPr bwMode="auto">
            <a:xfrm flipV="1">
              <a:off x="592" y="3234"/>
              <a:ext cx="1" cy="25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15" name="Arc 82">
              <a:extLst>
                <a:ext uri="{FF2B5EF4-FFF2-40B4-BE49-F238E27FC236}">
                  <a16:creationId xmlns:a16="http://schemas.microsoft.com/office/drawing/2014/main" id="{B2B57972-9AB8-BC22-742A-4D7A886C6FD8}"/>
                </a:ext>
              </a:extLst>
            </p:cNvPr>
            <p:cNvSpPr>
              <a:spLocks/>
            </p:cNvSpPr>
            <p:nvPr/>
          </p:nvSpPr>
          <p:spPr bwMode="auto">
            <a:xfrm>
              <a:off x="853" y="3234"/>
              <a:ext cx="131" cy="141"/>
            </a:xfrm>
            <a:custGeom>
              <a:avLst/>
              <a:gdLst>
                <a:gd name="T0" fmla="*/ 0 w 21622"/>
                <a:gd name="T1" fmla="*/ 0 h 21600"/>
                <a:gd name="T2" fmla="*/ 1 w 21622"/>
                <a:gd name="T3" fmla="*/ 1 h 21600"/>
                <a:gd name="T4" fmla="*/ 0 w 21622"/>
                <a:gd name="T5" fmla="*/ 1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0" y="0"/>
                  </a:moveTo>
                  <a:cubicBezTo>
                    <a:pt x="7" y="0"/>
                    <a:pt x="14" y="-1"/>
                    <a:pt x="22" y="0"/>
                  </a:cubicBezTo>
                  <a:cubicBezTo>
                    <a:pt x="11951" y="0"/>
                    <a:pt x="21622" y="9670"/>
                    <a:pt x="21622" y="21600"/>
                  </a:cubicBezTo>
                </a:path>
                <a:path w="21622" h="21600" stroke="0" extrusionOk="0">
                  <a:moveTo>
                    <a:pt x="0" y="0"/>
                  </a:moveTo>
                  <a:cubicBezTo>
                    <a:pt x="7" y="0"/>
                    <a:pt x="14" y="-1"/>
                    <a:pt x="22" y="0"/>
                  </a:cubicBezTo>
                  <a:cubicBezTo>
                    <a:pt x="11951" y="0"/>
                    <a:pt x="21622" y="9670"/>
                    <a:pt x="21622" y="21600"/>
                  </a:cubicBezTo>
                  <a:lnTo>
                    <a:pt x="22" y="216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16" name="Arc 83">
              <a:extLst>
                <a:ext uri="{FF2B5EF4-FFF2-40B4-BE49-F238E27FC236}">
                  <a16:creationId xmlns:a16="http://schemas.microsoft.com/office/drawing/2014/main" id="{6F7A1472-B869-50B5-3869-F1F4F24F45E5}"/>
                </a:ext>
              </a:extLst>
            </p:cNvPr>
            <p:cNvSpPr>
              <a:spLocks/>
            </p:cNvSpPr>
            <p:nvPr/>
          </p:nvSpPr>
          <p:spPr bwMode="auto">
            <a:xfrm>
              <a:off x="853" y="3239"/>
              <a:ext cx="126" cy="136"/>
            </a:xfrm>
            <a:custGeom>
              <a:avLst/>
              <a:gdLst>
                <a:gd name="T0" fmla="*/ 0 w 21622"/>
                <a:gd name="T1" fmla="*/ 0 h 21600"/>
                <a:gd name="T2" fmla="*/ 1 w 21622"/>
                <a:gd name="T3" fmla="*/ 1 h 21600"/>
                <a:gd name="T4" fmla="*/ 0 w 21622"/>
                <a:gd name="T5" fmla="*/ 1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0" y="0"/>
                  </a:moveTo>
                  <a:cubicBezTo>
                    <a:pt x="7" y="0"/>
                    <a:pt x="14" y="-1"/>
                    <a:pt x="22" y="0"/>
                  </a:cubicBezTo>
                  <a:cubicBezTo>
                    <a:pt x="11951" y="0"/>
                    <a:pt x="21622" y="9670"/>
                    <a:pt x="21622" y="21600"/>
                  </a:cubicBezTo>
                </a:path>
                <a:path w="21622" h="21600" stroke="0" extrusionOk="0">
                  <a:moveTo>
                    <a:pt x="0" y="0"/>
                  </a:moveTo>
                  <a:cubicBezTo>
                    <a:pt x="7" y="0"/>
                    <a:pt x="14" y="-1"/>
                    <a:pt x="22" y="0"/>
                  </a:cubicBezTo>
                  <a:cubicBezTo>
                    <a:pt x="11951" y="0"/>
                    <a:pt x="21622" y="9670"/>
                    <a:pt x="21622" y="21600"/>
                  </a:cubicBezTo>
                  <a:lnTo>
                    <a:pt x="22" y="21600"/>
                  </a:lnTo>
                  <a:lnTo>
                    <a:pt x="0" y="0"/>
                  </a:lnTo>
                  <a:close/>
                </a:path>
              </a:pathLst>
            </a:custGeom>
            <a:solidFill>
              <a:srgbClr val="FFFFFF"/>
            </a:solidFill>
            <a:ln w="17463">
              <a:solidFill>
                <a:srgbClr val="000000"/>
              </a:solidFill>
              <a:round/>
              <a:headEnd/>
              <a:tailEnd/>
            </a:ln>
          </p:spPr>
          <p:txBody>
            <a:bodyPr/>
            <a:lstStyle/>
            <a:p>
              <a:endParaRPr lang="en-IN"/>
            </a:p>
          </p:txBody>
        </p:sp>
        <p:sp>
          <p:nvSpPr>
            <p:cNvPr id="21617" name="Arc 84">
              <a:extLst>
                <a:ext uri="{FF2B5EF4-FFF2-40B4-BE49-F238E27FC236}">
                  <a16:creationId xmlns:a16="http://schemas.microsoft.com/office/drawing/2014/main" id="{6410A10E-A12B-DCC1-F38D-9D6A0CFBC480}"/>
                </a:ext>
              </a:extLst>
            </p:cNvPr>
            <p:cNvSpPr>
              <a:spLocks/>
            </p:cNvSpPr>
            <p:nvPr/>
          </p:nvSpPr>
          <p:spPr bwMode="auto">
            <a:xfrm>
              <a:off x="853" y="3364"/>
              <a:ext cx="131" cy="141"/>
            </a:xfrm>
            <a:custGeom>
              <a:avLst/>
              <a:gdLst>
                <a:gd name="T0" fmla="*/ 1 w 21622"/>
                <a:gd name="T1" fmla="*/ 0 h 21600"/>
                <a:gd name="T2" fmla="*/ 0 w 21622"/>
                <a:gd name="T3" fmla="*/ 1 h 21600"/>
                <a:gd name="T4" fmla="*/ 0 w 21622"/>
                <a:gd name="T5" fmla="*/ 0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21622" y="0"/>
                  </a:moveTo>
                  <a:cubicBezTo>
                    <a:pt x="21622" y="11929"/>
                    <a:pt x="11951" y="21600"/>
                    <a:pt x="22" y="21600"/>
                  </a:cubicBezTo>
                  <a:cubicBezTo>
                    <a:pt x="14" y="21600"/>
                    <a:pt x="7" y="21599"/>
                    <a:pt x="0" y="21599"/>
                  </a:cubicBezTo>
                </a:path>
                <a:path w="21622" h="21600" stroke="0" extrusionOk="0">
                  <a:moveTo>
                    <a:pt x="21622" y="0"/>
                  </a:moveTo>
                  <a:cubicBezTo>
                    <a:pt x="21622" y="11929"/>
                    <a:pt x="11951" y="21600"/>
                    <a:pt x="22" y="21600"/>
                  </a:cubicBezTo>
                  <a:cubicBezTo>
                    <a:pt x="14" y="21600"/>
                    <a:pt x="7" y="21599"/>
                    <a:pt x="0" y="21599"/>
                  </a:cubicBezTo>
                  <a:lnTo>
                    <a:pt x="22" y="0"/>
                  </a:lnTo>
                  <a:lnTo>
                    <a:pt x="2162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18" name="Arc 85">
              <a:extLst>
                <a:ext uri="{FF2B5EF4-FFF2-40B4-BE49-F238E27FC236}">
                  <a16:creationId xmlns:a16="http://schemas.microsoft.com/office/drawing/2014/main" id="{6E5D2D5A-9ED9-908A-1944-8D5F5AE47F7C}"/>
                </a:ext>
              </a:extLst>
            </p:cNvPr>
            <p:cNvSpPr>
              <a:spLocks/>
            </p:cNvSpPr>
            <p:nvPr/>
          </p:nvSpPr>
          <p:spPr bwMode="auto">
            <a:xfrm>
              <a:off x="853" y="3364"/>
              <a:ext cx="126" cy="136"/>
            </a:xfrm>
            <a:custGeom>
              <a:avLst/>
              <a:gdLst>
                <a:gd name="T0" fmla="*/ 1 w 21622"/>
                <a:gd name="T1" fmla="*/ 0 h 21600"/>
                <a:gd name="T2" fmla="*/ 0 w 21622"/>
                <a:gd name="T3" fmla="*/ 1 h 21600"/>
                <a:gd name="T4" fmla="*/ 0 w 21622"/>
                <a:gd name="T5" fmla="*/ 0 h 21600"/>
                <a:gd name="T6" fmla="*/ 0 60000 65536"/>
                <a:gd name="T7" fmla="*/ 0 60000 65536"/>
                <a:gd name="T8" fmla="*/ 0 60000 65536"/>
              </a:gdLst>
              <a:ahLst/>
              <a:cxnLst>
                <a:cxn ang="T6">
                  <a:pos x="T0" y="T1"/>
                </a:cxn>
                <a:cxn ang="T7">
                  <a:pos x="T2" y="T3"/>
                </a:cxn>
                <a:cxn ang="T8">
                  <a:pos x="T4" y="T5"/>
                </a:cxn>
              </a:cxnLst>
              <a:rect l="0" t="0" r="r" b="b"/>
              <a:pathLst>
                <a:path w="21622" h="21600" fill="none" extrusionOk="0">
                  <a:moveTo>
                    <a:pt x="21622" y="0"/>
                  </a:moveTo>
                  <a:cubicBezTo>
                    <a:pt x="21622" y="11929"/>
                    <a:pt x="11951" y="21600"/>
                    <a:pt x="22" y="21600"/>
                  </a:cubicBezTo>
                  <a:cubicBezTo>
                    <a:pt x="14" y="21600"/>
                    <a:pt x="7" y="21599"/>
                    <a:pt x="0" y="21599"/>
                  </a:cubicBezTo>
                </a:path>
                <a:path w="21622" h="21600" stroke="0" extrusionOk="0">
                  <a:moveTo>
                    <a:pt x="21622" y="0"/>
                  </a:moveTo>
                  <a:cubicBezTo>
                    <a:pt x="21622" y="11929"/>
                    <a:pt x="11951" y="21600"/>
                    <a:pt x="22" y="21600"/>
                  </a:cubicBezTo>
                  <a:cubicBezTo>
                    <a:pt x="14" y="21600"/>
                    <a:pt x="7" y="21599"/>
                    <a:pt x="0" y="21599"/>
                  </a:cubicBezTo>
                  <a:lnTo>
                    <a:pt x="22" y="0"/>
                  </a:lnTo>
                  <a:lnTo>
                    <a:pt x="21622" y="0"/>
                  </a:lnTo>
                  <a:close/>
                </a:path>
              </a:pathLst>
            </a:custGeom>
            <a:solidFill>
              <a:srgbClr val="FFFFFF"/>
            </a:solidFill>
            <a:ln w="17463">
              <a:solidFill>
                <a:srgbClr val="000000"/>
              </a:solidFill>
              <a:round/>
              <a:headEnd/>
              <a:tailEnd/>
            </a:ln>
          </p:spPr>
          <p:txBody>
            <a:bodyPr/>
            <a:lstStyle/>
            <a:p>
              <a:endParaRPr lang="en-IN"/>
            </a:p>
          </p:txBody>
        </p:sp>
        <p:sp>
          <p:nvSpPr>
            <p:cNvPr id="21619" name="Arc 86">
              <a:extLst>
                <a:ext uri="{FF2B5EF4-FFF2-40B4-BE49-F238E27FC236}">
                  <a16:creationId xmlns:a16="http://schemas.microsoft.com/office/drawing/2014/main" id="{92E4199C-17C1-EC5B-B62C-13ADF901E1D8}"/>
                </a:ext>
              </a:extLst>
            </p:cNvPr>
            <p:cNvSpPr>
              <a:spLocks/>
            </p:cNvSpPr>
            <p:nvPr/>
          </p:nvSpPr>
          <p:spPr bwMode="auto">
            <a:xfrm>
              <a:off x="1157" y="3245"/>
              <a:ext cx="413" cy="130"/>
            </a:xfrm>
            <a:custGeom>
              <a:avLst/>
              <a:gdLst>
                <a:gd name="T0" fmla="*/ 0 w 21620"/>
                <a:gd name="T1" fmla="*/ 0 h 21600"/>
                <a:gd name="T2" fmla="*/ 8 w 21620"/>
                <a:gd name="T3" fmla="*/ 1 h 21600"/>
                <a:gd name="T4" fmla="*/ 0 w 21620"/>
                <a:gd name="T5" fmla="*/ 1 h 21600"/>
                <a:gd name="T6" fmla="*/ 0 60000 65536"/>
                <a:gd name="T7" fmla="*/ 0 60000 65536"/>
                <a:gd name="T8" fmla="*/ 0 60000 65536"/>
              </a:gdLst>
              <a:ahLst/>
              <a:cxnLst>
                <a:cxn ang="T6">
                  <a:pos x="T0" y="T1"/>
                </a:cxn>
                <a:cxn ang="T7">
                  <a:pos x="T2" y="T3"/>
                </a:cxn>
                <a:cxn ang="T8">
                  <a:pos x="T4" y="T5"/>
                </a:cxn>
              </a:cxnLst>
              <a:rect l="0" t="0" r="r" b="b"/>
              <a:pathLst>
                <a:path w="21620" h="21600" fill="none" extrusionOk="0">
                  <a:moveTo>
                    <a:pt x="0" y="0"/>
                  </a:moveTo>
                  <a:cubicBezTo>
                    <a:pt x="6" y="0"/>
                    <a:pt x="13" y="-1"/>
                    <a:pt x="20" y="0"/>
                  </a:cubicBezTo>
                  <a:cubicBezTo>
                    <a:pt x="11949" y="0"/>
                    <a:pt x="21620" y="9670"/>
                    <a:pt x="21620" y="21600"/>
                  </a:cubicBezTo>
                </a:path>
                <a:path w="21620" h="21600" stroke="0" extrusionOk="0">
                  <a:moveTo>
                    <a:pt x="0" y="0"/>
                  </a:moveTo>
                  <a:cubicBezTo>
                    <a:pt x="6" y="0"/>
                    <a:pt x="13" y="-1"/>
                    <a:pt x="20" y="0"/>
                  </a:cubicBezTo>
                  <a:cubicBezTo>
                    <a:pt x="11949" y="0"/>
                    <a:pt x="21620" y="9670"/>
                    <a:pt x="21620" y="21600"/>
                  </a:cubicBezTo>
                  <a:lnTo>
                    <a:pt x="20" y="216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20" name="Arc 87">
              <a:extLst>
                <a:ext uri="{FF2B5EF4-FFF2-40B4-BE49-F238E27FC236}">
                  <a16:creationId xmlns:a16="http://schemas.microsoft.com/office/drawing/2014/main" id="{00DB81C7-C349-6DE8-0ED9-805BCB2160A7}"/>
                </a:ext>
              </a:extLst>
            </p:cNvPr>
            <p:cNvSpPr>
              <a:spLocks/>
            </p:cNvSpPr>
            <p:nvPr/>
          </p:nvSpPr>
          <p:spPr bwMode="auto">
            <a:xfrm>
              <a:off x="1157" y="3250"/>
              <a:ext cx="408" cy="125"/>
            </a:xfrm>
            <a:custGeom>
              <a:avLst/>
              <a:gdLst>
                <a:gd name="T0" fmla="*/ 0 w 21620"/>
                <a:gd name="T1" fmla="*/ 0 h 21600"/>
                <a:gd name="T2" fmla="*/ 8 w 21620"/>
                <a:gd name="T3" fmla="*/ 1 h 21600"/>
                <a:gd name="T4" fmla="*/ 0 w 21620"/>
                <a:gd name="T5" fmla="*/ 1 h 21600"/>
                <a:gd name="T6" fmla="*/ 0 60000 65536"/>
                <a:gd name="T7" fmla="*/ 0 60000 65536"/>
                <a:gd name="T8" fmla="*/ 0 60000 65536"/>
              </a:gdLst>
              <a:ahLst/>
              <a:cxnLst>
                <a:cxn ang="T6">
                  <a:pos x="T0" y="T1"/>
                </a:cxn>
                <a:cxn ang="T7">
                  <a:pos x="T2" y="T3"/>
                </a:cxn>
                <a:cxn ang="T8">
                  <a:pos x="T4" y="T5"/>
                </a:cxn>
              </a:cxnLst>
              <a:rect l="0" t="0" r="r" b="b"/>
              <a:pathLst>
                <a:path w="21620" h="21600" fill="none" extrusionOk="0">
                  <a:moveTo>
                    <a:pt x="0" y="0"/>
                  </a:moveTo>
                  <a:cubicBezTo>
                    <a:pt x="6" y="0"/>
                    <a:pt x="13" y="-1"/>
                    <a:pt x="20" y="0"/>
                  </a:cubicBezTo>
                  <a:cubicBezTo>
                    <a:pt x="11949" y="0"/>
                    <a:pt x="21620" y="9670"/>
                    <a:pt x="21620" y="21600"/>
                  </a:cubicBezTo>
                </a:path>
                <a:path w="21620" h="21600" stroke="0" extrusionOk="0">
                  <a:moveTo>
                    <a:pt x="0" y="0"/>
                  </a:moveTo>
                  <a:cubicBezTo>
                    <a:pt x="6" y="0"/>
                    <a:pt x="13" y="-1"/>
                    <a:pt x="20" y="0"/>
                  </a:cubicBezTo>
                  <a:cubicBezTo>
                    <a:pt x="11949" y="0"/>
                    <a:pt x="21620" y="9670"/>
                    <a:pt x="21620" y="21600"/>
                  </a:cubicBezTo>
                  <a:lnTo>
                    <a:pt x="20" y="21600"/>
                  </a:lnTo>
                  <a:lnTo>
                    <a:pt x="0" y="0"/>
                  </a:lnTo>
                  <a:close/>
                </a:path>
              </a:pathLst>
            </a:custGeom>
            <a:solidFill>
              <a:srgbClr val="FFFFFF"/>
            </a:solidFill>
            <a:ln w="17463">
              <a:solidFill>
                <a:srgbClr val="000000"/>
              </a:solidFill>
              <a:round/>
              <a:headEnd/>
              <a:tailEnd/>
            </a:ln>
          </p:spPr>
          <p:txBody>
            <a:bodyPr/>
            <a:lstStyle/>
            <a:p>
              <a:endParaRPr lang="en-IN"/>
            </a:p>
          </p:txBody>
        </p:sp>
        <p:sp>
          <p:nvSpPr>
            <p:cNvPr id="21621" name="Arc 88">
              <a:extLst>
                <a:ext uri="{FF2B5EF4-FFF2-40B4-BE49-F238E27FC236}">
                  <a16:creationId xmlns:a16="http://schemas.microsoft.com/office/drawing/2014/main" id="{A2D01059-2AF7-4796-72E0-B4BEA137E33E}"/>
                </a:ext>
              </a:extLst>
            </p:cNvPr>
            <p:cNvSpPr>
              <a:spLocks/>
            </p:cNvSpPr>
            <p:nvPr/>
          </p:nvSpPr>
          <p:spPr bwMode="auto">
            <a:xfrm>
              <a:off x="1178" y="3364"/>
              <a:ext cx="391" cy="130"/>
            </a:xfrm>
            <a:custGeom>
              <a:avLst/>
              <a:gdLst>
                <a:gd name="T0" fmla="*/ 7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22" name="Arc 89">
              <a:extLst>
                <a:ext uri="{FF2B5EF4-FFF2-40B4-BE49-F238E27FC236}">
                  <a16:creationId xmlns:a16="http://schemas.microsoft.com/office/drawing/2014/main" id="{E91D1437-138D-21FA-58F9-C72624DA42F1}"/>
                </a:ext>
              </a:extLst>
            </p:cNvPr>
            <p:cNvSpPr>
              <a:spLocks/>
            </p:cNvSpPr>
            <p:nvPr/>
          </p:nvSpPr>
          <p:spPr bwMode="auto">
            <a:xfrm>
              <a:off x="1178" y="3364"/>
              <a:ext cx="386" cy="125"/>
            </a:xfrm>
            <a:custGeom>
              <a:avLst/>
              <a:gdLst>
                <a:gd name="T0" fmla="*/ 7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23" name="Arc 90">
              <a:extLst>
                <a:ext uri="{FF2B5EF4-FFF2-40B4-BE49-F238E27FC236}">
                  <a16:creationId xmlns:a16="http://schemas.microsoft.com/office/drawing/2014/main" id="{2F7B42DC-3A89-92CB-D98C-92D1C98C6600}"/>
                </a:ext>
              </a:extLst>
            </p:cNvPr>
            <p:cNvSpPr>
              <a:spLocks/>
            </p:cNvSpPr>
            <p:nvPr/>
          </p:nvSpPr>
          <p:spPr bwMode="auto">
            <a:xfrm>
              <a:off x="1157" y="3364"/>
              <a:ext cx="66" cy="130"/>
            </a:xfrm>
            <a:custGeom>
              <a:avLst/>
              <a:gdLst>
                <a:gd name="T0" fmla="*/ 0 w 21640"/>
                <a:gd name="T1" fmla="*/ 0 h 21600"/>
                <a:gd name="T2" fmla="*/ 0 w 21640"/>
                <a:gd name="T3" fmla="*/ 1 h 21600"/>
                <a:gd name="T4" fmla="*/ 0 w 21640"/>
                <a:gd name="T5" fmla="*/ 0 h 21600"/>
                <a:gd name="T6" fmla="*/ 0 60000 65536"/>
                <a:gd name="T7" fmla="*/ 0 60000 65536"/>
                <a:gd name="T8" fmla="*/ 0 60000 65536"/>
              </a:gdLst>
              <a:ahLst/>
              <a:cxnLst>
                <a:cxn ang="T6">
                  <a:pos x="T0" y="T1"/>
                </a:cxn>
                <a:cxn ang="T7">
                  <a:pos x="T2" y="T3"/>
                </a:cxn>
                <a:cxn ang="T8">
                  <a:pos x="T4" y="T5"/>
                </a:cxn>
              </a:cxnLst>
              <a:rect l="0" t="0" r="r" b="b"/>
              <a:pathLst>
                <a:path w="21640" h="21600" fill="none" extrusionOk="0">
                  <a:moveTo>
                    <a:pt x="21640" y="0"/>
                  </a:moveTo>
                  <a:cubicBezTo>
                    <a:pt x="21640" y="11929"/>
                    <a:pt x="11969" y="21600"/>
                    <a:pt x="40" y="21600"/>
                  </a:cubicBezTo>
                  <a:cubicBezTo>
                    <a:pt x="26" y="21600"/>
                    <a:pt x="13" y="21599"/>
                    <a:pt x="0" y="21599"/>
                  </a:cubicBezTo>
                </a:path>
                <a:path w="21640" h="21600" stroke="0" extrusionOk="0">
                  <a:moveTo>
                    <a:pt x="21640" y="0"/>
                  </a:moveTo>
                  <a:cubicBezTo>
                    <a:pt x="21640" y="11929"/>
                    <a:pt x="11969" y="21600"/>
                    <a:pt x="40" y="21600"/>
                  </a:cubicBezTo>
                  <a:cubicBezTo>
                    <a:pt x="26" y="21600"/>
                    <a:pt x="13" y="21599"/>
                    <a:pt x="0" y="21599"/>
                  </a:cubicBezTo>
                  <a:lnTo>
                    <a:pt x="40" y="0"/>
                  </a:lnTo>
                  <a:lnTo>
                    <a:pt x="2164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24" name="Arc 91">
              <a:extLst>
                <a:ext uri="{FF2B5EF4-FFF2-40B4-BE49-F238E27FC236}">
                  <a16:creationId xmlns:a16="http://schemas.microsoft.com/office/drawing/2014/main" id="{E8ABE6B3-B546-4691-119D-401F776BCDA0}"/>
                </a:ext>
              </a:extLst>
            </p:cNvPr>
            <p:cNvSpPr>
              <a:spLocks/>
            </p:cNvSpPr>
            <p:nvPr/>
          </p:nvSpPr>
          <p:spPr bwMode="auto">
            <a:xfrm>
              <a:off x="1157" y="3364"/>
              <a:ext cx="61" cy="125"/>
            </a:xfrm>
            <a:custGeom>
              <a:avLst/>
              <a:gdLst>
                <a:gd name="T0" fmla="*/ 0 w 21642"/>
                <a:gd name="T1" fmla="*/ 0 h 21600"/>
                <a:gd name="T2" fmla="*/ 0 w 21642"/>
                <a:gd name="T3" fmla="*/ 1 h 21600"/>
                <a:gd name="T4" fmla="*/ 0 w 21642"/>
                <a:gd name="T5" fmla="*/ 0 h 21600"/>
                <a:gd name="T6" fmla="*/ 0 60000 65536"/>
                <a:gd name="T7" fmla="*/ 0 60000 65536"/>
                <a:gd name="T8" fmla="*/ 0 60000 65536"/>
              </a:gdLst>
              <a:ahLst/>
              <a:cxnLst>
                <a:cxn ang="T6">
                  <a:pos x="T0" y="T1"/>
                </a:cxn>
                <a:cxn ang="T7">
                  <a:pos x="T2" y="T3"/>
                </a:cxn>
                <a:cxn ang="T8">
                  <a:pos x="T4" y="T5"/>
                </a:cxn>
              </a:cxnLst>
              <a:rect l="0" t="0" r="r" b="b"/>
              <a:pathLst>
                <a:path w="21642" h="21600" fill="none" extrusionOk="0">
                  <a:moveTo>
                    <a:pt x="21642" y="0"/>
                  </a:moveTo>
                  <a:cubicBezTo>
                    <a:pt x="21642" y="11929"/>
                    <a:pt x="11971" y="21600"/>
                    <a:pt x="42" y="21600"/>
                  </a:cubicBezTo>
                  <a:cubicBezTo>
                    <a:pt x="28" y="21600"/>
                    <a:pt x="14" y="21599"/>
                    <a:pt x="0" y="21599"/>
                  </a:cubicBezTo>
                </a:path>
                <a:path w="21642" h="21600" stroke="0" extrusionOk="0">
                  <a:moveTo>
                    <a:pt x="21642" y="0"/>
                  </a:moveTo>
                  <a:cubicBezTo>
                    <a:pt x="21642" y="11929"/>
                    <a:pt x="11971" y="21600"/>
                    <a:pt x="42" y="21600"/>
                  </a:cubicBezTo>
                  <a:cubicBezTo>
                    <a:pt x="28" y="21600"/>
                    <a:pt x="14" y="21599"/>
                    <a:pt x="0" y="21599"/>
                  </a:cubicBezTo>
                  <a:lnTo>
                    <a:pt x="42" y="0"/>
                  </a:lnTo>
                  <a:lnTo>
                    <a:pt x="21642" y="0"/>
                  </a:lnTo>
                  <a:close/>
                </a:path>
              </a:pathLst>
            </a:custGeom>
            <a:solidFill>
              <a:srgbClr val="FFFFFF"/>
            </a:solidFill>
            <a:ln w="17463">
              <a:solidFill>
                <a:srgbClr val="000000"/>
              </a:solidFill>
              <a:round/>
              <a:headEnd/>
              <a:tailEnd/>
            </a:ln>
          </p:spPr>
          <p:txBody>
            <a:bodyPr/>
            <a:lstStyle/>
            <a:p>
              <a:endParaRPr lang="en-IN"/>
            </a:p>
          </p:txBody>
        </p:sp>
        <p:sp>
          <p:nvSpPr>
            <p:cNvPr id="21625" name="Line 92">
              <a:extLst>
                <a:ext uri="{FF2B5EF4-FFF2-40B4-BE49-F238E27FC236}">
                  <a16:creationId xmlns:a16="http://schemas.microsoft.com/office/drawing/2014/main" id="{44837518-DFF2-32F4-6625-7FC6A4A6A9E8}"/>
                </a:ext>
              </a:extLst>
            </p:cNvPr>
            <p:cNvSpPr>
              <a:spLocks noChangeShapeType="1"/>
            </p:cNvSpPr>
            <p:nvPr/>
          </p:nvSpPr>
          <p:spPr bwMode="auto">
            <a:xfrm>
              <a:off x="1189" y="3364"/>
              <a:ext cx="1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26" name="Arc 93">
              <a:extLst>
                <a:ext uri="{FF2B5EF4-FFF2-40B4-BE49-F238E27FC236}">
                  <a16:creationId xmlns:a16="http://schemas.microsoft.com/office/drawing/2014/main" id="{FE63C229-34E4-2418-1C32-49CE6E4B0091}"/>
                </a:ext>
              </a:extLst>
            </p:cNvPr>
            <p:cNvSpPr>
              <a:spLocks/>
            </p:cNvSpPr>
            <p:nvPr/>
          </p:nvSpPr>
          <p:spPr bwMode="auto">
            <a:xfrm>
              <a:off x="1157" y="3245"/>
              <a:ext cx="66" cy="119"/>
            </a:xfrm>
            <a:custGeom>
              <a:avLst/>
              <a:gdLst>
                <a:gd name="T0" fmla="*/ 0 w 21636"/>
                <a:gd name="T1" fmla="*/ 0 h 21600"/>
                <a:gd name="T2" fmla="*/ 0 w 21636"/>
                <a:gd name="T3" fmla="*/ 1 h 21600"/>
                <a:gd name="T4" fmla="*/ 0 w 21636"/>
                <a:gd name="T5" fmla="*/ 1 h 21600"/>
                <a:gd name="T6" fmla="*/ 0 60000 65536"/>
                <a:gd name="T7" fmla="*/ 0 60000 65536"/>
                <a:gd name="T8" fmla="*/ 0 60000 65536"/>
              </a:gdLst>
              <a:ahLst/>
              <a:cxnLst>
                <a:cxn ang="T6">
                  <a:pos x="T0" y="T1"/>
                </a:cxn>
                <a:cxn ang="T7">
                  <a:pos x="T2" y="T3"/>
                </a:cxn>
                <a:cxn ang="T8">
                  <a:pos x="T4" y="T5"/>
                </a:cxn>
              </a:cxnLst>
              <a:rect l="0" t="0" r="r" b="b"/>
              <a:pathLst>
                <a:path w="21636" h="21600" fill="none" extrusionOk="0">
                  <a:moveTo>
                    <a:pt x="0" y="0"/>
                  </a:moveTo>
                  <a:cubicBezTo>
                    <a:pt x="12" y="0"/>
                    <a:pt x="24" y="-1"/>
                    <a:pt x="36" y="0"/>
                  </a:cubicBezTo>
                  <a:cubicBezTo>
                    <a:pt x="11965" y="0"/>
                    <a:pt x="21636" y="9670"/>
                    <a:pt x="21636" y="21600"/>
                  </a:cubicBezTo>
                </a:path>
                <a:path w="21636" h="21600" stroke="0" extrusionOk="0">
                  <a:moveTo>
                    <a:pt x="0" y="0"/>
                  </a:moveTo>
                  <a:cubicBezTo>
                    <a:pt x="12" y="0"/>
                    <a:pt x="24" y="-1"/>
                    <a:pt x="36" y="0"/>
                  </a:cubicBezTo>
                  <a:cubicBezTo>
                    <a:pt x="11965" y="0"/>
                    <a:pt x="21636" y="9670"/>
                    <a:pt x="21636" y="21600"/>
                  </a:cubicBezTo>
                  <a:lnTo>
                    <a:pt x="36" y="216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27" name="Arc 94">
              <a:extLst>
                <a:ext uri="{FF2B5EF4-FFF2-40B4-BE49-F238E27FC236}">
                  <a16:creationId xmlns:a16="http://schemas.microsoft.com/office/drawing/2014/main" id="{2CD05A21-B499-307E-5FAE-D5706E9C7411}"/>
                </a:ext>
              </a:extLst>
            </p:cNvPr>
            <p:cNvSpPr>
              <a:spLocks/>
            </p:cNvSpPr>
            <p:nvPr/>
          </p:nvSpPr>
          <p:spPr bwMode="auto">
            <a:xfrm>
              <a:off x="1157" y="3250"/>
              <a:ext cx="61" cy="114"/>
            </a:xfrm>
            <a:custGeom>
              <a:avLst/>
              <a:gdLst>
                <a:gd name="T0" fmla="*/ 0 w 21638"/>
                <a:gd name="T1" fmla="*/ 0 h 21600"/>
                <a:gd name="T2" fmla="*/ 0 w 21638"/>
                <a:gd name="T3" fmla="*/ 1 h 21600"/>
                <a:gd name="T4" fmla="*/ 0 w 21638"/>
                <a:gd name="T5" fmla="*/ 1 h 21600"/>
                <a:gd name="T6" fmla="*/ 0 60000 65536"/>
                <a:gd name="T7" fmla="*/ 0 60000 65536"/>
                <a:gd name="T8" fmla="*/ 0 60000 65536"/>
              </a:gdLst>
              <a:ahLst/>
              <a:cxnLst>
                <a:cxn ang="T6">
                  <a:pos x="T0" y="T1"/>
                </a:cxn>
                <a:cxn ang="T7">
                  <a:pos x="T2" y="T3"/>
                </a:cxn>
                <a:cxn ang="T8">
                  <a:pos x="T4" y="T5"/>
                </a:cxn>
              </a:cxnLst>
              <a:rect l="0" t="0" r="r" b="b"/>
              <a:pathLst>
                <a:path w="21638" h="21600" fill="none" extrusionOk="0">
                  <a:moveTo>
                    <a:pt x="0" y="0"/>
                  </a:moveTo>
                  <a:cubicBezTo>
                    <a:pt x="12" y="0"/>
                    <a:pt x="25" y="-1"/>
                    <a:pt x="38" y="0"/>
                  </a:cubicBezTo>
                  <a:cubicBezTo>
                    <a:pt x="11967" y="0"/>
                    <a:pt x="21638" y="9670"/>
                    <a:pt x="21638" y="21600"/>
                  </a:cubicBezTo>
                </a:path>
                <a:path w="21638" h="21600" stroke="0" extrusionOk="0">
                  <a:moveTo>
                    <a:pt x="0" y="0"/>
                  </a:moveTo>
                  <a:cubicBezTo>
                    <a:pt x="12" y="0"/>
                    <a:pt x="25" y="-1"/>
                    <a:pt x="38" y="0"/>
                  </a:cubicBezTo>
                  <a:cubicBezTo>
                    <a:pt x="11967" y="0"/>
                    <a:pt x="21638" y="9670"/>
                    <a:pt x="21638" y="21600"/>
                  </a:cubicBezTo>
                  <a:lnTo>
                    <a:pt x="38" y="21600"/>
                  </a:lnTo>
                  <a:lnTo>
                    <a:pt x="0" y="0"/>
                  </a:lnTo>
                  <a:close/>
                </a:path>
              </a:pathLst>
            </a:custGeom>
            <a:solidFill>
              <a:srgbClr val="FFFFFF"/>
            </a:solidFill>
            <a:ln w="17463">
              <a:solidFill>
                <a:srgbClr val="000000"/>
              </a:solidFill>
              <a:round/>
              <a:headEnd/>
              <a:tailEnd/>
            </a:ln>
          </p:spPr>
          <p:txBody>
            <a:bodyPr/>
            <a:lstStyle/>
            <a:p>
              <a:endParaRPr lang="en-IN"/>
            </a:p>
          </p:txBody>
        </p:sp>
        <p:sp>
          <p:nvSpPr>
            <p:cNvPr id="21628" name="Line 95">
              <a:extLst>
                <a:ext uri="{FF2B5EF4-FFF2-40B4-BE49-F238E27FC236}">
                  <a16:creationId xmlns:a16="http://schemas.microsoft.com/office/drawing/2014/main" id="{A8747B60-895E-9C32-D016-318CB5102184}"/>
                </a:ext>
              </a:extLst>
            </p:cNvPr>
            <p:cNvSpPr>
              <a:spLocks noChangeShapeType="1"/>
            </p:cNvSpPr>
            <p:nvPr/>
          </p:nvSpPr>
          <p:spPr bwMode="auto">
            <a:xfrm>
              <a:off x="2221" y="2316"/>
              <a:ext cx="26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29" name="Line 96">
              <a:extLst>
                <a:ext uri="{FF2B5EF4-FFF2-40B4-BE49-F238E27FC236}">
                  <a16:creationId xmlns:a16="http://schemas.microsoft.com/office/drawing/2014/main" id="{A250EA7A-4C76-0A0F-5748-A3BC50D77611}"/>
                </a:ext>
              </a:extLst>
            </p:cNvPr>
            <p:cNvSpPr>
              <a:spLocks noChangeShapeType="1"/>
            </p:cNvSpPr>
            <p:nvPr/>
          </p:nvSpPr>
          <p:spPr bwMode="auto">
            <a:xfrm>
              <a:off x="2221" y="2576"/>
              <a:ext cx="27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30" name="Line 97">
              <a:extLst>
                <a:ext uri="{FF2B5EF4-FFF2-40B4-BE49-F238E27FC236}">
                  <a16:creationId xmlns:a16="http://schemas.microsoft.com/office/drawing/2014/main" id="{A2F03EB9-91FF-20AC-97A0-5A6ECE71864B}"/>
                </a:ext>
              </a:extLst>
            </p:cNvPr>
            <p:cNvSpPr>
              <a:spLocks noChangeShapeType="1"/>
            </p:cNvSpPr>
            <p:nvPr/>
          </p:nvSpPr>
          <p:spPr bwMode="auto">
            <a:xfrm flipV="1">
              <a:off x="2221" y="2316"/>
              <a:ext cx="1" cy="26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31" name="Line 98">
              <a:extLst>
                <a:ext uri="{FF2B5EF4-FFF2-40B4-BE49-F238E27FC236}">
                  <a16:creationId xmlns:a16="http://schemas.microsoft.com/office/drawing/2014/main" id="{94DEC9FF-E5E4-95F1-E273-FD3936E75C96}"/>
                </a:ext>
              </a:extLst>
            </p:cNvPr>
            <p:cNvSpPr>
              <a:spLocks noChangeShapeType="1"/>
            </p:cNvSpPr>
            <p:nvPr/>
          </p:nvSpPr>
          <p:spPr bwMode="auto">
            <a:xfrm>
              <a:off x="2221" y="2230"/>
              <a:ext cx="1" cy="4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32" name="Arc 99">
              <a:extLst>
                <a:ext uri="{FF2B5EF4-FFF2-40B4-BE49-F238E27FC236}">
                  <a16:creationId xmlns:a16="http://schemas.microsoft.com/office/drawing/2014/main" id="{493C7EAD-6F13-49E4-3BBF-C0B2D794BFEC}"/>
                </a:ext>
              </a:extLst>
            </p:cNvPr>
            <p:cNvSpPr>
              <a:spLocks/>
            </p:cNvSpPr>
            <p:nvPr/>
          </p:nvSpPr>
          <p:spPr bwMode="auto">
            <a:xfrm>
              <a:off x="2482" y="2316"/>
              <a:ext cx="131" cy="141"/>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33" name="Arc 100">
              <a:extLst>
                <a:ext uri="{FF2B5EF4-FFF2-40B4-BE49-F238E27FC236}">
                  <a16:creationId xmlns:a16="http://schemas.microsoft.com/office/drawing/2014/main" id="{FF633597-D5DC-BDBC-14B2-CD11D957FBC3}"/>
                </a:ext>
              </a:extLst>
            </p:cNvPr>
            <p:cNvSpPr>
              <a:spLocks/>
            </p:cNvSpPr>
            <p:nvPr/>
          </p:nvSpPr>
          <p:spPr bwMode="auto">
            <a:xfrm>
              <a:off x="2482" y="2321"/>
              <a:ext cx="126" cy="1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34" name="Arc 101">
              <a:extLst>
                <a:ext uri="{FF2B5EF4-FFF2-40B4-BE49-F238E27FC236}">
                  <a16:creationId xmlns:a16="http://schemas.microsoft.com/office/drawing/2014/main" id="{D6302392-B864-4DCF-80F3-1D8F8AFD3534}"/>
                </a:ext>
              </a:extLst>
            </p:cNvPr>
            <p:cNvSpPr>
              <a:spLocks/>
            </p:cNvSpPr>
            <p:nvPr/>
          </p:nvSpPr>
          <p:spPr bwMode="auto">
            <a:xfrm>
              <a:off x="2482" y="2446"/>
              <a:ext cx="131" cy="140"/>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35" name="Arc 102">
              <a:extLst>
                <a:ext uri="{FF2B5EF4-FFF2-40B4-BE49-F238E27FC236}">
                  <a16:creationId xmlns:a16="http://schemas.microsoft.com/office/drawing/2014/main" id="{725E5155-3EFA-33C6-A5D8-9517E517800D}"/>
                </a:ext>
              </a:extLst>
            </p:cNvPr>
            <p:cNvSpPr>
              <a:spLocks/>
            </p:cNvSpPr>
            <p:nvPr/>
          </p:nvSpPr>
          <p:spPr bwMode="auto">
            <a:xfrm>
              <a:off x="2482" y="2446"/>
              <a:ext cx="126" cy="135"/>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36" name="Line 103">
              <a:extLst>
                <a:ext uri="{FF2B5EF4-FFF2-40B4-BE49-F238E27FC236}">
                  <a16:creationId xmlns:a16="http://schemas.microsoft.com/office/drawing/2014/main" id="{E4D9D60E-E430-FE3E-392D-AAD7C30BF50A}"/>
                </a:ext>
              </a:extLst>
            </p:cNvPr>
            <p:cNvSpPr>
              <a:spLocks noChangeShapeType="1"/>
            </p:cNvSpPr>
            <p:nvPr/>
          </p:nvSpPr>
          <p:spPr bwMode="auto">
            <a:xfrm>
              <a:off x="2221" y="2748"/>
              <a:ext cx="26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37" name="Line 104">
              <a:extLst>
                <a:ext uri="{FF2B5EF4-FFF2-40B4-BE49-F238E27FC236}">
                  <a16:creationId xmlns:a16="http://schemas.microsoft.com/office/drawing/2014/main" id="{A6F4C4B3-09A2-E6CE-05F1-2052935A4283}"/>
                </a:ext>
              </a:extLst>
            </p:cNvPr>
            <p:cNvSpPr>
              <a:spLocks noChangeShapeType="1"/>
            </p:cNvSpPr>
            <p:nvPr/>
          </p:nvSpPr>
          <p:spPr bwMode="auto">
            <a:xfrm>
              <a:off x="2221" y="3007"/>
              <a:ext cx="27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38" name="Line 105">
              <a:extLst>
                <a:ext uri="{FF2B5EF4-FFF2-40B4-BE49-F238E27FC236}">
                  <a16:creationId xmlns:a16="http://schemas.microsoft.com/office/drawing/2014/main" id="{87D70FD3-E530-6F9B-AF75-891954C53461}"/>
                </a:ext>
              </a:extLst>
            </p:cNvPr>
            <p:cNvSpPr>
              <a:spLocks noChangeShapeType="1"/>
            </p:cNvSpPr>
            <p:nvPr/>
          </p:nvSpPr>
          <p:spPr bwMode="auto">
            <a:xfrm>
              <a:off x="2221" y="2748"/>
              <a:ext cx="1" cy="25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39" name="Arc 106">
              <a:extLst>
                <a:ext uri="{FF2B5EF4-FFF2-40B4-BE49-F238E27FC236}">
                  <a16:creationId xmlns:a16="http://schemas.microsoft.com/office/drawing/2014/main" id="{0AF9374B-19C4-C4F2-8CB4-29EA7EDC1249}"/>
                </a:ext>
              </a:extLst>
            </p:cNvPr>
            <p:cNvSpPr>
              <a:spLocks/>
            </p:cNvSpPr>
            <p:nvPr/>
          </p:nvSpPr>
          <p:spPr bwMode="auto">
            <a:xfrm>
              <a:off x="2482" y="2748"/>
              <a:ext cx="131" cy="141"/>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40" name="Arc 107">
              <a:extLst>
                <a:ext uri="{FF2B5EF4-FFF2-40B4-BE49-F238E27FC236}">
                  <a16:creationId xmlns:a16="http://schemas.microsoft.com/office/drawing/2014/main" id="{26CE126D-2054-57B1-6276-BCAEB0795CA9}"/>
                </a:ext>
              </a:extLst>
            </p:cNvPr>
            <p:cNvSpPr>
              <a:spLocks/>
            </p:cNvSpPr>
            <p:nvPr/>
          </p:nvSpPr>
          <p:spPr bwMode="auto">
            <a:xfrm>
              <a:off x="2482" y="2753"/>
              <a:ext cx="126" cy="1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41" name="Arc 108">
              <a:extLst>
                <a:ext uri="{FF2B5EF4-FFF2-40B4-BE49-F238E27FC236}">
                  <a16:creationId xmlns:a16="http://schemas.microsoft.com/office/drawing/2014/main" id="{EE4304E7-4F12-EF96-897A-44D64E2E7DFC}"/>
                </a:ext>
              </a:extLst>
            </p:cNvPr>
            <p:cNvSpPr>
              <a:spLocks/>
            </p:cNvSpPr>
            <p:nvPr/>
          </p:nvSpPr>
          <p:spPr bwMode="auto">
            <a:xfrm>
              <a:off x="2482" y="2878"/>
              <a:ext cx="131" cy="141"/>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42" name="Arc 109">
              <a:extLst>
                <a:ext uri="{FF2B5EF4-FFF2-40B4-BE49-F238E27FC236}">
                  <a16:creationId xmlns:a16="http://schemas.microsoft.com/office/drawing/2014/main" id="{5F92DE06-6B32-2888-9242-3AC06467C8BE}"/>
                </a:ext>
              </a:extLst>
            </p:cNvPr>
            <p:cNvSpPr>
              <a:spLocks/>
            </p:cNvSpPr>
            <p:nvPr/>
          </p:nvSpPr>
          <p:spPr bwMode="auto">
            <a:xfrm>
              <a:off x="2482" y="2878"/>
              <a:ext cx="126" cy="136"/>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43" name="Line 110">
              <a:extLst>
                <a:ext uri="{FF2B5EF4-FFF2-40B4-BE49-F238E27FC236}">
                  <a16:creationId xmlns:a16="http://schemas.microsoft.com/office/drawing/2014/main" id="{A82FA332-07F0-198E-183C-439F919EF3C6}"/>
                </a:ext>
              </a:extLst>
            </p:cNvPr>
            <p:cNvSpPr>
              <a:spLocks noChangeShapeType="1"/>
            </p:cNvSpPr>
            <p:nvPr/>
          </p:nvSpPr>
          <p:spPr bwMode="auto">
            <a:xfrm>
              <a:off x="2221" y="3126"/>
              <a:ext cx="26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44" name="Line 111">
              <a:extLst>
                <a:ext uri="{FF2B5EF4-FFF2-40B4-BE49-F238E27FC236}">
                  <a16:creationId xmlns:a16="http://schemas.microsoft.com/office/drawing/2014/main" id="{EC44FE17-E753-1038-8DFD-CAEAD9FA5AE6}"/>
                </a:ext>
              </a:extLst>
            </p:cNvPr>
            <p:cNvSpPr>
              <a:spLocks noChangeShapeType="1"/>
            </p:cNvSpPr>
            <p:nvPr/>
          </p:nvSpPr>
          <p:spPr bwMode="auto">
            <a:xfrm>
              <a:off x="2221" y="3385"/>
              <a:ext cx="27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45" name="Line 112">
              <a:extLst>
                <a:ext uri="{FF2B5EF4-FFF2-40B4-BE49-F238E27FC236}">
                  <a16:creationId xmlns:a16="http://schemas.microsoft.com/office/drawing/2014/main" id="{079E22AF-D7EC-5D6F-5D39-13DEC64ABF8A}"/>
                </a:ext>
              </a:extLst>
            </p:cNvPr>
            <p:cNvSpPr>
              <a:spLocks noChangeShapeType="1"/>
            </p:cNvSpPr>
            <p:nvPr/>
          </p:nvSpPr>
          <p:spPr bwMode="auto">
            <a:xfrm flipV="1">
              <a:off x="2221" y="3126"/>
              <a:ext cx="1" cy="25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46" name="Arc 113">
              <a:extLst>
                <a:ext uri="{FF2B5EF4-FFF2-40B4-BE49-F238E27FC236}">
                  <a16:creationId xmlns:a16="http://schemas.microsoft.com/office/drawing/2014/main" id="{5F28F8F8-0E7B-07D7-D74C-0581DE01BBDC}"/>
                </a:ext>
              </a:extLst>
            </p:cNvPr>
            <p:cNvSpPr>
              <a:spLocks/>
            </p:cNvSpPr>
            <p:nvPr/>
          </p:nvSpPr>
          <p:spPr bwMode="auto">
            <a:xfrm>
              <a:off x="2482" y="3126"/>
              <a:ext cx="131" cy="141"/>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47" name="Arc 114">
              <a:extLst>
                <a:ext uri="{FF2B5EF4-FFF2-40B4-BE49-F238E27FC236}">
                  <a16:creationId xmlns:a16="http://schemas.microsoft.com/office/drawing/2014/main" id="{83445316-4A1A-77AB-070A-40DE1372BA2A}"/>
                </a:ext>
              </a:extLst>
            </p:cNvPr>
            <p:cNvSpPr>
              <a:spLocks/>
            </p:cNvSpPr>
            <p:nvPr/>
          </p:nvSpPr>
          <p:spPr bwMode="auto">
            <a:xfrm>
              <a:off x="2482" y="3131"/>
              <a:ext cx="126" cy="1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48" name="Arc 115">
              <a:extLst>
                <a:ext uri="{FF2B5EF4-FFF2-40B4-BE49-F238E27FC236}">
                  <a16:creationId xmlns:a16="http://schemas.microsoft.com/office/drawing/2014/main" id="{7FE27B5C-6EA5-1892-E8F5-08C5FC311D40}"/>
                </a:ext>
              </a:extLst>
            </p:cNvPr>
            <p:cNvSpPr>
              <a:spLocks/>
            </p:cNvSpPr>
            <p:nvPr/>
          </p:nvSpPr>
          <p:spPr bwMode="auto">
            <a:xfrm>
              <a:off x="2482" y="3256"/>
              <a:ext cx="131" cy="141"/>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49" name="Arc 116">
              <a:extLst>
                <a:ext uri="{FF2B5EF4-FFF2-40B4-BE49-F238E27FC236}">
                  <a16:creationId xmlns:a16="http://schemas.microsoft.com/office/drawing/2014/main" id="{B4AABF11-C086-6EF4-0A0F-6FFAB9E4D983}"/>
                </a:ext>
              </a:extLst>
            </p:cNvPr>
            <p:cNvSpPr>
              <a:spLocks/>
            </p:cNvSpPr>
            <p:nvPr/>
          </p:nvSpPr>
          <p:spPr bwMode="auto">
            <a:xfrm>
              <a:off x="2482" y="3256"/>
              <a:ext cx="126" cy="136"/>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50" name="Arc 117">
              <a:extLst>
                <a:ext uri="{FF2B5EF4-FFF2-40B4-BE49-F238E27FC236}">
                  <a16:creationId xmlns:a16="http://schemas.microsoft.com/office/drawing/2014/main" id="{8415A4DE-9085-F502-D476-1464AA9A17EF}"/>
                </a:ext>
              </a:extLst>
            </p:cNvPr>
            <p:cNvSpPr>
              <a:spLocks/>
            </p:cNvSpPr>
            <p:nvPr/>
          </p:nvSpPr>
          <p:spPr bwMode="auto">
            <a:xfrm>
              <a:off x="2981" y="3083"/>
              <a:ext cx="391" cy="130"/>
            </a:xfrm>
            <a:custGeom>
              <a:avLst/>
              <a:gdLst>
                <a:gd name="T0" fmla="*/ 0 w 21600"/>
                <a:gd name="T1" fmla="*/ 0 h 21600"/>
                <a:gd name="T2" fmla="*/ 7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51" name="Arc 118">
              <a:extLst>
                <a:ext uri="{FF2B5EF4-FFF2-40B4-BE49-F238E27FC236}">
                  <a16:creationId xmlns:a16="http://schemas.microsoft.com/office/drawing/2014/main" id="{13A42566-8989-C804-E0FA-628B437F2BD7}"/>
                </a:ext>
              </a:extLst>
            </p:cNvPr>
            <p:cNvSpPr>
              <a:spLocks/>
            </p:cNvSpPr>
            <p:nvPr/>
          </p:nvSpPr>
          <p:spPr bwMode="auto">
            <a:xfrm>
              <a:off x="2981" y="3088"/>
              <a:ext cx="386" cy="125"/>
            </a:xfrm>
            <a:custGeom>
              <a:avLst/>
              <a:gdLst>
                <a:gd name="T0" fmla="*/ 0 w 21600"/>
                <a:gd name="T1" fmla="*/ 0 h 21600"/>
                <a:gd name="T2" fmla="*/ 7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52" name="Arc 119">
              <a:extLst>
                <a:ext uri="{FF2B5EF4-FFF2-40B4-BE49-F238E27FC236}">
                  <a16:creationId xmlns:a16="http://schemas.microsoft.com/office/drawing/2014/main" id="{586AEBF1-AC05-46A4-9154-99FB483AFA4E}"/>
                </a:ext>
              </a:extLst>
            </p:cNvPr>
            <p:cNvSpPr>
              <a:spLocks/>
            </p:cNvSpPr>
            <p:nvPr/>
          </p:nvSpPr>
          <p:spPr bwMode="auto">
            <a:xfrm>
              <a:off x="2982" y="3083"/>
              <a:ext cx="44" cy="119"/>
            </a:xfrm>
            <a:custGeom>
              <a:avLst/>
              <a:gdLst>
                <a:gd name="T0" fmla="*/ 0 w 21655"/>
                <a:gd name="T1" fmla="*/ 0 h 21600"/>
                <a:gd name="T2" fmla="*/ 0 w 21655"/>
                <a:gd name="T3" fmla="*/ 1 h 21600"/>
                <a:gd name="T4" fmla="*/ 0 w 21655"/>
                <a:gd name="T5" fmla="*/ 1 h 21600"/>
                <a:gd name="T6" fmla="*/ 0 60000 65536"/>
                <a:gd name="T7" fmla="*/ 0 60000 65536"/>
                <a:gd name="T8" fmla="*/ 0 60000 65536"/>
              </a:gdLst>
              <a:ahLst/>
              <a:cxnLst>
                <a:cxn ang="T6">
                  <a:pos x="T0" y="T1"/>
                </a:cxn>
                <a:cxn ang="T7">
                  <a:pos x="T2" y="T3"/>
                </a:cxn>
                <a:cxn ang="T8">
                  <a:pos x="T4" y="T5"/>
                </a:cxn>
              </a:cxnLst>
              <a:rect l="0" t="0" r="r" b="b"/>
              <a:pathLst>
                <a:path w="21655" h="21600" fill="none" extrusionOk="0">
                  <a:moveTo>
                    <a:pt x="0" y="0"/>
                  </a:moveTo>
                  <a:cubicBezTo>
                    <a:pt x="18" y="0"/>
                    <a:pt x="36" y="-1"/>
                    <a:pt x="55" y="0"/>
                  </a:cubicBezTo>
                  <a:cubicBezTo>
                    <a:pt x="11984" y="0"/>
                    <a:pt x="21655" y="9670"/>
                    <a:pt x="21655" y="21600"/>
                  </a:cubicBezTo>
                </a:path>
                <a:path w="21655" h="21600" stroke="0" extrusionOk="0">
                  <a:moveTo>
                    <a:pt x="0" y="0"/>
                  </a:moveTo>
                  <a:cubicBezTo>
                    <a:pt x="18" y="0"/>
                    <a:pt x="36" y="-1"/>
                    <a:pt x="55" y="0"/>
                  </a:cubicBezTo>
                  <a:cubicBezTo>
                    <a:pt x="11984" y="0"/>
                    <a:pt x="21655" y="9670"/>
                    <a:pt x="21655" y="21600"/>
                  </a:cubicBezTo>
                  <a:lnTo>
                    <a:pt x="55" y="216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53" name="Arc 120">
              <a:extLst>
                <a:ext uri="{FF2B5EF4-FFF2-40B4-BE49-F238E27FC236}">
                  <a16:creationId xmlns:a16="http://schemas.microsoft.com/office/drawing/2014/main" id="{C11C1B57-A371-4A4E-5878-7D950F3751E6}"/>
                </a:ext>
              </a:extLst>
            </p:cNvPr>
            <p:cNvSpPr>
              <a:spLocks/>
            </p:cNvSpPr>
            <p:nvPr/>
          </p:nvSpPr>
          <p:spPr bwMode="auto">
            <a:xfrm>
              <a:off x="2982" y="3088"/>
              <a:ext cx="39" cy="114"/>
            </a:xfrm>
            <a:custGeom>
              <a:avLst/>
              <a:gdLst>
                <a:gd name="T0" fmla="*/ 0 w 21659"/>
                <a:gd name="T1" fmla="*/ 0 h 21600"/>
                <a:gd name="T2" fmla="*/ 0 w 21659"/>
                <a:gd name="T3" fmla="*/ 1 h 21600"/>
                <a:gd name="T4" fmla="*/ 0 w 21659"/>
                <a:gd name="T5" fmla="*/ 1 h 21600"/>
                <a:gd name="T6" fmla="*/ 0 60000 65536"/>
                <a:gd name="T7" fmla="*/ 0 60000 65536"/>
                <a:gd name="T8" fmla="*/ 0 60000 65536"/>
              </a:gdLst>
              <a:ahLst/>
              <a:cxnLst>
                <a:cxn ang="T6">
                  <a:pos x="T0" y="T1"/>
                </a:cxn>
                <a:cxn ang="T7">
                  <a:pos x="T2" y="T3"/>
                </a:cxn>
                <a:cxn ang="T8">
                  <a:pos x="T4" y="T5"/>
                </a:cxn>
              </a:cxnLst>
              <a:rect l="0" t="0" r="r" b="b"/>
              <a:pathLst>
                <a:path w="21659" h="21600" fill="none" extrusionOk="0">
                  <a:moveTo>
                    <a:pt x="0" y="0"/>
                  </a:moveTo>
                  <a:cubicBezTo>
                    <a:pt x="19" y="0"/>
                    <a:pt x="39" y="-1"/>
                    <a:pt x="59" y="0"/>
                  </a:cubicBezTo>
                  <a:cubicBezTo>
                    <a:pt x="11988" y="0"/>
                    <a:pt x="21659" y="9670"/>
                    <a:pt x="21659" y="21600"/>
                  </a:cubicBezTo>
                </a:path>
                <a:path w="21659" h="21600" stroke="0" extrusionOk="0">
                  <a:moveTo>
                    <a:pt x="0" y="0"/>
                  </a:moveTo>
                  <a:cubicBezTo>
                    <a:pt x="19" y="0"/>
                    <a:pt x="39" y="-1"/>
                    <a:pt x="59" y="0"/>
                  </a:cubicBezTo>
                  <a:cubicBezTo>
                    <a:pt x="11988" y="0"/>
                    <a:pt x="21659" y="9670"/>
                    <a:pt x="21659" y="21600"/>
                  </a:cubicBezTo>
                  <a:lnTo>
                    <a:pt x="59" y="21600"/>
                  </a:lnTo>
                  <a:lnTo>
                    <a:pt x="0" y="0"/>
                  </a:lnTo>
                  <a:close/>
                </a:path>
              </a:pathLst>
            </a:custGeom>
            <a:solidFill>
              <a:srgbClr val="FFFFFF"/>
            </a:solidFill>
            <a:ln w="17463">
              <a:solidFill>
                <a:srgbClr val="000000"/>
              </a:solidFill>
              <a:round/>
              <a:headEnd/>
              <a:tailEnd/>
            </a:ln>
          </p:spPr>
          <p:txBody>
            <a:bodyPr/>
            <a:lstStyle/>
            <a:p>
              <a:endParaRPr lang="en-IN"/>
            </a:p>
          </p:txBody>
        </p:sp>
        <p:sp>
          <p:nvSpPr>
            <p:cNvPr id="21654" name="Arc 121">
              <a:extLst>
                <a:ext uri="{FF2B5EF4-FFF2-40B4-BE49-F238E27FC236}">
                  <a16:creationId xmlns:a16="http://schemas.microsoft.com/office/drawing/2014/main" id="{4BEB22D8-31FB-91C6-7759-6108BE8E9EDA}"/>
                </a:ext>
              </a:extLst>
            </p:cNvPr>
            <p:cNvSpPr>
              <a:spLocks/>
            </p:cNvSpPr>
            <p:nvPr/>
          </p:nvSpPr>
          <p:spPr bwMode="auto">
            <a:xfrm>
              <a:off x="2981" y="3202"/>
              <a:ext cx="391" cy="130"/>
            </a:xfrm>
            <a:custGeom>
              <a:avLst/>
              <a:gdLst>
                <a:gd name="T0" fmla="*/ 7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55" name="Arc 122">
              <a:extLst>
                <a:ext uri="{FF2B5EF4-FFF2-40B4-BE49-F238E27FC236}">
                  <a16:creationId xmlns:a16="http://schemas.microsoft.com/office/drawing/2014/main" id="{F333F66F-A570-2054-69E9-6FCC5A955B4D}"/>
                </a:ext>
              </a:extLst>
            </p:cNvPr>
            <p:cNvSpPr>
              <a:spLocks/>
            </p:cNvSpPr>
            <p:nvPr/>
          </p:nvSpPr>
          <p:spPr bwMode="auto">
            <a:xfrm>
              <a:off x="2981" y="3202"/>
              <a:ext cx="386" cy="125"/>
            </a:xfrm>
            <a:custGeom>
              <a:avLst/>
              <a:gdLst>
                <a:gd name="T0" fmla="*/ 7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56" name="Arc 123">
              <a:extLst>
                <a:ext uri="{FF2B5EF4-FFF2-40B4-BE49-F238E27FC236}">
                  <a16:creationId xmlns:a16="http://schemas.microsoft.com/office/drawing/2014/main" id="{364B6E1C-B7A1-6154-22F4-BA608A5A1C44}"/>
                </a:ext>
              </a:extLst>
            </p:cNvPr>
            <p:cNvSpPr>
              <a:spLocks/>
            </p:cNvSpPr>
            <p:nvPr/>
          </p:nvSpPr>
          <p:spPr bwMode="auto">
            <a:xfrm>
              <a:off x="2982" y="3202"/>
              <a:ext cx="44" cy="130"/>
            </a:xfrm>
            <a:custGeom>
              <a:avLst/>
              <a:gdLst>
                <a:gd name="T0" fmla="*/ 0 w 21660"/>
                <a:gd name="T1" fmla="*/ 0 h 21600"/>
                <a:gd name="T2" fmla="*/ 0 w 21660"/>
                <a:gd name="T3" fmla="*/ 1 h 21600"/>
                <a:gd name="T4" fmla="*/ 0 w 21660"/>
                <a:gd name="T5" fmla="*/ 0 h 21600"/>
                <a:gd name="T6" fmla="*/ 0 60000 65536"/>
                <a:gd name="T7" fmla="*/ 0 60000 65536"/>
                <a:gd name="T8" fmla="*/ 0 60000 65536"/>
              </a:gdLst>
              <a:ahLst/>
              <a:cxnLst>
                <a:cxn ang="T6">
                  <a:pos x="T0" y="T1"/>
                </a:cxn>
                <a:cxn ang="T7">
                  <a:pos x="T2" y="T3"/>
                </a:cxn>
                <a:cxn ang="T8">
                  <a:pos x="T4" y="T5"/>
                </a:cxn>
              </a:cxnLst>
              <a:rect l="0" t="0" r="r" b="b"/>
              <a:pathLst>
                <a:path w="21660" h="21600" fill="none" extrusionOk="0">
                  <a:moveTo>
                    <a:pt x="21660" y="0"/>
                  </a:moveTo>
                  <a:cubicBezTo>
                    <a:pt x="21660" y="11929"/>
                    <a:pt x="11989" y="21600"/>
                    <a:pt x="60" y="21600"/>
                  </a:cubicBezTo>
                  <a:cubicBezTo>
                    <a:pt x="40" y="21600"/>
                    <a:pt x="20" y="21599"/>
                    <a:pt x="0" y="21599"/>
                  </a:cubicBezTo>
                </a:path>
                <a:path w="21660" h="21600" stroke="0" extrusionOk="0">
                  <a:moveTo>
                    <a:pt x="21660" y="0"/>
                  </a:moveTo>
                  <a:cubicBezTo>
                    <a:pt x="21660" y="11929"/>
                    <a:pt x="11989" y="21600"/>
                    <a:pt x="60" y="21600"/>
                  </a:cubicBezTo>
                  <a:cubicBezTo>
                    <a:pt x="40" y="21600"/>
                    <a:pt x="20" y="21599"/>
                    <a:pt x="0" y="21599"/>
                  </a:cubicBezTo>
                  <a:lnTo>
                    <a:pt x="60" y="0"/>
                  </a:lnTo>
                  <a:lnTo>
                    <a:pt x="2166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57" name="Arc 124">
              <a:extLst>
                <a:ext uri="{FF2B5EF4-FFF2-40B4-BE49-F238E27FC236}">
                  <a16:creationId xmlns:a16="http://schemas.microsoft.com/office/drawing/2014/main" id="{30EDBEB5-0AD3-2114-CFE7-6E190C771BF6}"/>
                </a:ext>
              </a:extLst>
            </p:cNvPr>
            <p:cNvSpPr>
              <a:spLocks/>
            </p:cNvSpPr>
            <p:nvPr/>
          </p:nvSpPr>
          <p:spPr bwMode="auto">
            <a:xfrm>
              <a:off x="2982" y="3202"/>
              <a:ext cx="39" cy="125"/>
            </a:xfrm>
            <a:custGeom>
              <a:avLst/>
              <a:gdLst>
                <a:gd name="T0" fmla="*/ 0 w 21665"/>
                <a:gd name="T1" fmla="*/ 0 h 21600"/>
                <a:gd name="T2" fmla="*/ 0 w 21665"/>
                <a:gd name="T3" fmla="*/ 1 h 21600"/>
                <a:gd name="T4" fmla="*/ 0 w 21665"/>
                <a:gd name="T5" fmla="*/ 0 h 21600"/>
                <a:gd name="T6" fmla="*/ 0 60000 65536"/>
                <a:gd name="T7" fmla="*/ 0 60000 65536"/>
                <a:gd name="T8" fmla="*/ 0 60000 65536"/>
              </a:gdLst>
              <a:ahLst/>
              <a:cxnLst>
                <a:cxn ang="T6">
                  <a:pos x="T0" y="T1"/>
                </a:cxn>
                <a:cxn ang="T7">
                  <a:pos x="T2" y="T3"/>
                </a:cxn>
                <a:cxn ang="T8">
                  <a:pos x="T4" y="T5"/>
                </a:cxn>
              </a:cxnLst>
              <a:rect l="0" t="0" r="r" b="b"/>
              <a:pathLst>
                <a:path w="21665" h="21600" fill="none" extrusionOk="0">
                  <a:moveTo>
                    <a:pt x="21665" y="0"/>
                  </a:moveTo>
                  <a:cubicBezTo>
                    <a:pt x="21665" y="11929"/>
                    <a:pt x="11994" y="21600"/>
                    <a:pt x="65" y="21600"/>
                  </a:cubicBezTo>
                  <a:cubicBezTo>
                    <a:pt x="43" y="21600"/>
                    <a:pt x="21" y="21599"/>
                    <a:pt x="0" y="21599"/>
                  </a:cubicBezTo>
                </a:path>
                <a:path w="21665" h="21600" stroke="0" extrusionOk="0">
                  <a:moveTo>
                    <a:pt x="21665" y="0"/>
                  </a:moveTo>
                  <a:cubicBezTo>
                    <a:pt x="21665" y="11929"/>
                    <a:pt x="11994" y="21600"/>
                    <a:pt x="65" y="21600"/>
                  </a:cubicBezTo>
                  <a:cubicBezTo>
                    <a:pt x="43" y="21600"/>
                    <a:pt x="21" y="21599"/>
                    <a:pt x="0" y="21599"/>
                  </a:cubicBezTo>
                  <a:lnTo>
                    <a:pt x="65" y="0"/>
                  </a:lnTo>
                  <a:lnTo>
                    <a:pt x="21665" y="0"/>
                  </a:lnTo>
                  <a:close/>
                </a:path>
              </a:pathLst>
            </a:custGeom>
            <a:solidFill>
              <a:srgbClr val="FFFFFF"/>
            </a:solidFill>
            <a:ln w="17463">
              <a:solidFill>
                <a:srgbClr val="000000"/>
              </a:solidFill>
              <a:round/>
              <a:headEnd/>
              <a:tailEnd/>
            </a:ln>
          </p:spPr>
          <p:txBody>
            <a:bodyPr/>
            <a:lstStyle/>
            <a:p>
              <a:endParaRPr lang="en-IN"/>
            </a:p>
          </p:txBody>
        </p:sp>
        <p:sp>
          <p:nvSpPr>
            <p:cNvPr id="21658" name="Line 125">
              <a:extLst>
                <a:ext uri="{FF2B5EF4-FFF2-40B4-BE49-F238E27FC236}">
                  <a16:creationId xmlns:a16="http://schemas.microsoft.com/office/drawing/2014/main" id="{E14D36C5-BA20-3114-2ACE-2AA4D13CD60F}"/>
                </a:ext>
              </a:extLst>
            </p:cNvPr>
            <p:cNvSpPr>
              <a:spLocks noChangeShapeType="1"/>
            </p:cNvSpPr>
            <p:nvPr/>
          </p:nvSpPr>
          <p:spPr bwMode="auto">
            <a:xfrm>
              <a:off x="2981" y="3148"/>
              <a:ext cx="2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59" name="Line 126">
              <a:extLst>
                <a:ext uri="{FF2B5EF4-FFF2-40B4-BE49-F238E27FC236}">
                  <a16:creationId xmlns:a16="http://schemas.microsoft.com/office/drawing/2014/main" id="{64DB709D-7382-6DC5-BB58-FF9901CBA464}"/>
                </a:ext>
              </a:extLst>
            </p:cNvPr>
            <p:cNvSpPr>
              <a:spLocks noChangeShapeType="1"/>
            </p:cNvSpPr>
            <p:nvPr/>
          </p:nvSpPr>
          <p:spPr bwMode="auto">
            <a:xfrm>
              <a:off x="2981" y="3256"/>
              <a:ext cx="2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0" name="Line 127">
              <a:extLst>
                <a:ext uri="{FF2B5EF4-FFF2-40B4-BE49-F238E27FC236}">
                  <a16:creationId xmlns:a16="http://schemas.microsoft.com/office/drawing/2014/main" id="{21051056-1CB4-0A26-3E6C-6F63C9FFF24F}"/>
                </a:ext>
              </a:extLst>
            </p:cNvPr>
            <p:cNvSpPr>
              <a:spLocks noChangeShapeType="1"/>
            </p:cNvSpPr>
            <p:nvPr/>
          </p:nvSpPr>
          <p:spPr bwMode="auto">
            <a:xfrm flipV="1">
              <a:off x="2981" y="3321"/>
              <a:ext cx="1" cy="86"/>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1" name="Line 128">
              <a:extLst>
                <a:ext uri="{FF2B5EF4-FFF2-40B4-BE49-F238E27FC236}">
                  <a16:creationId xmlns:a16="http://schemas.microsoft.com/office/drawing/2014/main" id="{B63AB04D-F85A-A270-135D-9F48108E6F48}"/>
                </a:ext>
              </a:extLst>
            </p:cNvPr>
            <p:cNvSpPr>
              <a:spLocks noChangeShapeType="1"/>
            </p:cNvSpPr>
            <p:nvPr/>
          </p:nvSpPr>
          <p:spPr bwMode="auto">
            <a:xfrm>
              <a:off x="2981" y="2986"/>
              <a:ext cx="1" cy="97"/>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2" name="Line 129">
              <a:extLst>
                <a:ext uri="{FF2B5EF4-FFF2-40B4-BE49-F238E27FC236}">
                  <a16:creationId xmlns:a16="http://schemas.microsoft.com/office/drawing/2014/main" id="{7454B089-4677-2BC2-23D0-DCC1563F45BA}"/>
                </a:ext>
              </a:extLst>
            </p:cNvPr>
            <p:cNvSpPr>
              <a:spLocks noChangeShapeType="1"/>
            </p:cNvSpPr>
            <p:nvPr/>
          </p:nvSpPr>
          <p:spPr bwMode="auto">
            <a:xfrm>
              <a:off x="4013" y="2370"/>
              <a:ext cx="26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3" name="Line 130">
              <a:extLst>
                <a:ext uri="{FF2B5EF4-FFF2-40B4-BE49-F238E27FC236}">
                  <a16:creationId xmlns:a16="http://schemas.microsoft.com/office/drawing/2014/main" id="{6FEE00A4-572E-7853-43C0-A3B65AB336CE}"/>
                </a:ext>
              </a:extLst>
            </p:cNvPr>
            <p:cNvSpPr>
              <a:spLocks noChangeShapeType="1"/>
            </p:cNvSpPr>
            <p:nvPr/>
          </p:nvSpPr>
          <p:spPr bwMode="auto">
            <a:xfrm>
              <a:off x="4013" y="2630"/>
              <a:ext cx="27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4" name="Arc 131">
              <a:extLst>
                <a:ext uri="{FF2B5EF4-FFF2-40B4-BE49-F238E27FC236}">
                  <a16:creationId xmlns:a16="http://schemas.microsoft.com/office/drawing/2014/main" id="{871AA7E4-01DF-7009-ADE5-4C5C864A4159}"/>
                </a:ext>
              </a:extLst>
            </p:cNvPr>
            <p:cNvSpPr>
              <a:spLocks/>
            </p:cNvSpPr>
            <p:nvPr/>
          </p:nvSpPr>
          <p:spPr bwMode="auto">
            <a:xfrm>
              <a:off x="4274" y="2375"/>
              <a:ext cx="126" cy="1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65" name="Arc 132">
              <a:extLst>
                <a:ext uri="{FF2B5EF4-FFF2-40B4-BE49-F238E27FC236}">
                  <a16:creationId xmlns:a16="http://schemas.microsoft.com/office/drawing/2014/main" id="{1545CA2F-E53B-BC44-3600-2E6B9C602C12}"/>
                </a:ext>
              </a:extLst>
            </p:cNvPr>
            <p:cNvSpPr>
              <a:spLocks/>
            </p:cNvSpPr>
            <p:nvPr/>
          </p:nvSpPr>
          <p:spPr bwMode="auto">
            <a:xfrm>
              <a:off x="4274" y="2500"/>
              <a:ext cx="126" cy="135"/>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66" name="Line 133">
              <a:extLst>
                <a:ext uri="{FF2B5EF4-FFF2-40B4-BE49-F238E27FC236}">
                  <a16:creationId xmlns:a16="http://schemas.microsoft.com/office/drawing/2014/main" id="{7C4F93D4-B743-8BEF-0C54-48BA086E9F64}"/>
                </a:ext>
              </a:extLst>
            </p:cNvPr>
            <p:cNvSpPr>
              <a:spLocks noChangeShapeType="1"/>
            </p:cNvSpPr>
            <p:nvPr/>
          </p:nvSpPr>
          <p:spPr bwMode="auto">
            <a:xfrm>
              <a:off x="4013" y="2230"/>
              <a:ext cx="1" cy="540"/>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7" name="Line 134">
              <a:extLst>
                <a:ext uri="{FF2B5EF4-FFF2-40B4-BE49-F238E27FC236}">
                  <a16:creationId xmlns:a16="http://schemas.microsoft.com/office/drawing/2014/main" id="{906E3993-9F05-7A04-20A0-59593A73346D}"/>
                </a:ext>
              </a:extLst>
            </p:cNvPr>
            <p:cNvSpPr>
              <a:spLocks noChangeShapeType="1"/>
            </p:cNvSpPr>
            <p:nvPr/>
          </p:nvSpPr>
          <p:spPr bwMode="auto">
            <a:xfrm>
              <a:off x="4013" y="2910"/>
              <a:ext cx="26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8" name="Line 135">
              <a:extLst>
                <a:ext uri="{FF2B5EF4-FFF2-40B4-BE49-F238E27FC236}">
                  <a16:creationId xmlns:a16="http://schemas.microsoft.com/office/drawing/2014/main" id="{FD7A0B38-0108-B3D1-E1EF-C7CAA5869D26}"/>
                </a:ext>
              </a:extLst>
            </p:cNvPr>
            <p:cNvSpPr>
              <a:spLocks noChangeShapeType="1"/>
            </p:cNvSpPr>
            <p:nvPr/>
          </p:nvSpPr>
          <p:spPr bwMode="auto">
            <a:xfrm>
              <a:off x="4013" y="3169"/>
              <a:ext cx="27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69" name="Line 136">
              <a:extLst>
                <a:ext uri="{FF2B5EF4-FFF2-40B4-BE49-F238E27FC236}">
                  <a16:creationId xmlns:a16="http://schemas.microsoft.com/office/drawing/2014/main" id="{58765413-5BDE-6901-4F68-43EA580ED915}"/>
                </a:ext>
              </a:extLst>
            </p:cNvPr>
            <p:cNvSpPr>
              <a:spLocks noChangeShapeType="1"/>
            </p:cNvSpPr>
            <p:nvPr/>
          </p:nvSpPr>
          <p:spPr bwMode="auto">
            <a:xfrm flipV="1">
              <a:off x="4013" y="2910"/>
              <a:ext cx="1" cy="25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70" name="Line 137">
              <a:extLst>
                <a:ext uri="{FF2B5EF4-FFF2-40B4-BE49-F238E27FC236}">
                  <a16:creationId xmlns:a16="http://schemas.microsoft.com/office/drawing/2014/main" id="{D8958836-8D24-08D0-F323-DCE0B5D902EE}"/>
                </a:ext>
              </a:extLst>
            </p:cNvPr>
            <p:cNvSpPr>
              <a:spLocks noChangeShapeType="1"/>
            </p:cNvSpPr>
            <p:nvPr/>
          </p:nvSpPr>
          <p:spPr bwMode="auto">
            <a:xfrm>
              <a:off x="4013" y="2824"/>
              <a:ext cx="1" cy="43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71" name="Arc 138">
              <a:extLst>
                <a:ext uri="{FF2B5EF4-FFF2-40B4-BE49-F238E27FC236}">
                  <a16:creationId xmlns:a16="http://schemas.microsoft.com/office/drawing/2014/main" id="{21F06575-E3D5-C565-4A6D-C2B0A76D0BD4}"/>
                </a:ext>
              </a:extLst>
            </p:cNvPr>
            <p:cNvSpPr>
              <a:spLocks/>
            </p:cNvSpPr>
            <p:nvPr/>
          </p:nvSpPr>
          <p:spPr bwMode="auto">
            <a:xfrm>
              <a:off x="4274" y="2910"/>
              <a:ext cx="131" cy="141"/>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72" name="Arc 139">
              <a:extLst>
                <a:ext uri="{FF2B5EF4-FFF2-40B4-BE49-F238E27FC236}">
                  <a16:creationId xmlns:a16="http://schemas.microsoft.com/office/drawing/2014/main" id="{2CFF52E6-CEB4-84FF-A3A0-99515647ADAF}"/>
                </a:ext>
              </a:extLst>
            </p:cNvPr>
            <p:cNvSpPr>
              <a:spLocks/>
            </p:cNvSpPr>
            <p:nvPr/>
          </p:nvSpPr>
          <p:spPr bwMode="auto">
            <a:xfrm>
              <a:off x="4274" y="2915"/>
              <a:ext cx="126" cy="1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73" name="Arc 140">
              <a:extLst>
                <a:ext uri="{FF2B5EF4-FFF2-40B4-BE49-F238E27FC236}">
                  <a16:creationId xmlns:a16="http://schemas.microsoft.com/office/drawing/2014/main" id="{A991B47F-C09F-0F41-B368-4C487FE2EBFB}"/>
                </a:ext>
              </a:extLst>
            </p:cNvPr>
            <p:cNvSpPr>
              <a:spLocks/>
            </p:cNvSpPr>
            <p:nvPr/>
          </p:nvSpPr>
          <p:spPr bwMode="auto">
            <a:xfrm>
              <a:off x="4274" y="3040"/>
              <a:ext cx="131" cy="141"/>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74" name="Arc 141">
              <a:extLst>
                <a:ext uri="{FF2B5EF4-FFF2-40B4-BE49-F238E27FC236}">
                  <a16:creationId xmlns:a16="http://schemas.microsoft.com/office/drawing/2014/main" id="{3E8E599B-BF1C-FDBE-3229-AB66052817D3}"/>
                </a:ext>
              </a:extLst>
            </p:cNvPr>
            <p:cNvSpPr>
              <a:spLocks/>
            </p:cNvSpPr>
            <p:nvPr/>
          </p:nvSpPr>
          <p:spPr bwMode="auto">
            <a:xfrm>
              <a:off x="4274" y="3040"/>
              <a:ext cx="126" cy="136"/>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75" name="Line 142">
              <a:extLst>
                <a:ext uri="{FF2B5EF4-FFF2-40B4-BE49-F238E27FC236}">
                  <a16:creationId xmlns:a16="http://schemas.microsoft.com/office/drawing/2014/main" id="{9A934EF0-7574-C333-E09B-8E3DD9941AC5}"/>
                </a:ext>
              </a:extLst>
            </p:cNvPr>
            <p:cNvSpPr>
              <a:spLocks noChangeShapeType="1"/>
            </p:cNvSpPr>
            <p:nvPr/>
          </p:nvSpPr>
          <p:spPr bwMode="auto">
            <a:xfrm>
              <a:off x="4013" y="3342"/>
              <a:ext cx="26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76" name="Line 143">
              <a:extLst>
                <a:ext uri="{FF2B5EF4-FFF2-40B4-BE49-F238E27FC236}">
                  <a16:creationId xmlns:a16="http://schemas.microsoft.com/office/drawing/2014/main" id="{A1663CDA-E1E3-5ABA-736F-297D4EB0095B}"/>
                </a:ext>
              </a:extLst>
            </p:cNvPr>
            <p:cNvSpPr>
              <a:spLocks noChangeShapeType="1"/>
            </p:cNvSpPr>
            <p:nvPr/>
          </p:nvSpPr>
          <p:spPr bwMode="auto">
            <a:xfrm>
              <a:off x="4013" y="3601"/>
              <a:ext cx="27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77" name="Line 144">
              <a:extLst>
                <a:ext uri="{FF2B5EF4-FFF2-40B4-BE49-F238E27FC236}">
                  <a16:creationId xmlns:a16="http://schemas.microsoft.com/office/drawing/2014/main" id="{C618ED24-BBF8-A59E-6A91-255EFF6BB240}"/>
                </a:ext>
              </a:extLst>
            </p:cNvPr>
            <p:cNvSpPr>
              <a:spLocks noChangeShapeType="1"/>
            </p:cNvSpPr>
            <p:nvPr/>
          </p:nvSpPr>
          <p:spPr bwMode="auto">
            <a:xfrm>
              <a:off x="4013" y="3342"/>
              <a:ext cx="1" cy="25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78" name="Arc 145">
              <a:extLst>
                <a:ext uri="{FF2B5EF4-FFF2-40B4-BE49-F238E27FC236}">
                  <a16:creationId xmlns:a16="http://schemas.microsoft.com/office/drawing/2014/main" id="{C2454C14-CDE9-6945-DE95-605B0EE08290}"/>
                </a:ext>
              </a:extLst>
            </p:cNvPr>
            <p:cNvSpPr>
              <a:spLocks/>
            </p:cNvSpPr>
            <p:nvPr/>
          </p:nvSpPr>
          <p:spPr bwMode="auto">
            <a:xfrm>
              <a:off x="4274" y="3342"/>
              <a:ext cx="131" cy="141"/>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79" name="Arc 146">
              <a:extLst>
                <a:ext uri="{FF2B5EF4-FFF2-40B4-BE49-F238E27FC236}">
                  <a16:creationId xmlns:a16="http://schemas.microsoft.com/office/drawing/2014/main" id="{4B9F0C08-290A-AFB1-16B1-18F2079B8543}"/>
                </a:ext>
              </a:extLst>
            </p:cNvPr>
            <p:cNvSpPr>
              <a:spLocks/>
            </p:cNvSpPr>
            <p:nvPr/>
          </p:nvSpPr>
          <p:spPr bwMode="auto">
            <a:xfrm>
              <a:off x="4274" y="3347"/>
              <a:ext cx="126" cy="1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80" name="Arc 147">
              <a:extLst>
                <a:ext uri="{FF2B5EF4-FFF2-40B4-BE49-F238E27FC236}">
                  <a16:creationId xmlns:a16="http://schemas.microsoft.com/office/drawing/2014/main" id="{810FC302-5248-409A-DFCD-1A76CD1EAF78}"/>
                </a:ext>
              </a:extLst>
            </p:cNvPr>
            <p:cNvSpPr>
              <a:spLocks/>
            </p:cNvSpPr>
            <p:nvPr/>
          </p:nvSpPr>
          <p:spPr bwMode="auto">
            <a:xfrm>
              <a:off x="4274" y="3472"/>
              <a:ext cx="131" cy="141"/>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81" name="Arc 148">
              <a:extLst>
                <a:ext uri="{FF2B5EF4-FFF2-40B4-BE49-F238E27FC236}">
                  <a16:creationId xmlns:a16="http://schemas.microsoft.com/office/drawing/2014/main" id="{B21FFBCB-B935-B24D-1689-64C800510F74}"/>
                </a:ext>
              </a:extLst>
            </p:cNvPr>
            <p:cNvSpPr>
              <a:spLocks/>
            </p:cNvSpPr>
            <p:nvPr/>
          </p:nvSpPr>
          <p:spPr bwMode="auto">
            <a:xfrm>
              <a:off x="4274" y="3472"/>
              <a:ext cx="126" cy="136"/>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82" name="Line 149">
              <a:extLst>
                <a:ext uri="{FF2B5EF4-FFF2-40B4-BE49-F238E27FC236}">
                  <a16:creationId xmlns:a16="http://schemas.microsoft.com/office/drawing/2014/main" id="{9C52C825-AAF6-B2D0-3D5A-5383486A2165}"/>
                </a:ext>
              </a:extLst>
            </p:cNvPr>
            <p:cNvSpPr>
              <a:spLocks noChangeShapeType="1"/>
            </p:cNvSpPr>
            <p:nvPr/>
          </p:nvSpPr>
          <p:spPr bwMode="auto">
            <a:xfrm>
              <a:off x="4013" y="3666"/>
              <a:ext cx="26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83" name="Line 150">
              <a:extLst>
                <a:ext uri="{FF2B5EF4-FFF2-40B4-BE49-F238E27FC236}">
                  <a16:creationId xmlns:a16="http://schemas.microsoft.com/office/drawing/2014/main" id="{D5FB5F3E-4FF2-B1D1-AED8-DC6FDFCC019E}"/>
                </a:ext>
              </a:extLst>
            </p:cNvPr>
            <p:cNvSpPr>
              <a:spLocks noChangeShapeType="1"/>
            </p:cNvSpPr>
            <p:nvPr/>
          </p:nvSpPr>
          <p:spPr bwMode="auto">
            <a:xfrm>
              <a:off x="4013" y="3925"/>
              <a:ext cx="272"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84" name="Line 151">
              <a:extLst>
                <a:ext uri="{FF2B5EF4-FFF2-40B4-BE49-F238E27FC236}">
                  <a16:creationId xmlns:a16="http://schemas.microsoft.com/office/drawing/2014/main" id="{8579E406-B243-2E26-82E4-9EEC04AB0292}"/>
                </a:ext>
              </a:extLst>
            </p:cNvPr>
            <p:cNvSpPr>
              <a:spLocks noChangeShapeType="1"/>
            </p:cNvSpPr>
            <p:nvPr/>
          </p:nvSpPr>
          <p:spPr bwMode="auto">
            <a:xfrm flipV="1">
              <a:off x="4013" y="3666"/>
              <a:ext cx="1" cy="25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85" name="Arc 152">
              <a:extLst>
                <a:ext uri="{FF2B5EF4-FFF2-40B4-BE49-F238E27FC236}">
                  <a16:creationId xmlns:a16="http://schemas.microsoft.com/office/drawing/2014/main" id="{42D0CEA4-2365-AC34-D85C-27F9B0B96CA7}"/>
                </a:ext>
              </a:extLst>
            </p:cNvPr>
            <p:cNvSpPr>
              <a:spLocks/>
            </p:cNvSpPr>
            <p:nvPr/>
          </p:nvSpPr>
          <p:spPr bwMode="auto">
            <a:xfrm>
              <a:off x="4274" y="3666"/>
              <a:ext cx="131" cy="141"/>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1" y="0"/>
                    <a:pt x="21588" y="9658"/>
                    <a:pt x="21599" y="21580"/>
                  </a:cubicBezTo>
                </a:path>
                <a:path w="21600" h="21600" stroke="0" extrusionOk="0">
                  <a:moveTo>
                    <a:pt x="-1" y="0"/>
                  </a:moveTo>
                  <a:cubicBezTo>
                    <a:pt x="11921" y="0"/>
                    <a:pt x="21588" y="9658"/>
                    <a:pt x="21599" y="2158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86" name="Arc 153">
              <a:extLst>
                <a:ext uri="{FF2B5EF4-FFF2-40B4-BE49-F238E27FC236}">
                  <a16:creationId xmlns:a16="http://schemas.microsoft.com/office/drawing/2014/main" id="{41449D4D-7308-6F13-8B67-17EA7B2BD581}"/>
                </a:ext>
              </a:extLst>
            </p:cNvPr>
            <p:cNvSpPr>
              <a:spLocks/>
            </p:cNvSpPr>
            <p:nvPr/>
          </p:nvSpPr>
          <p:spPr bwMode="auto">
            <a:xfrm>
              <a:off x="4274" y="3671"/>
              <a:ext cx="126" cy="13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1" y="0"/>
                    <a:pt x="21588" y="9658"/>
                    <a:pt x="21599" y="21580"/>
                  </a:cubicBezTo>
                </a:path>
                <a:path w="21600" h="21600" stroke="0" extrusionOk="0">
                  <a:moveTo>
                    <a:pt x="-1" y="0"/>
                  </a:moveTo>
                  <a:cubicBezTo>
                    <a:pt x="11921" y="0"/>
                    <a:pt x="21588" y="9658"/>
                    <a:pt x="21599" y="2158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87" name="Arc 154">
              <a:extLst>
                <a:ext uri="{FF2B5EF4-FFF2-40B4-BE49-F238E27FC236}">
                  <a16:creationId xmlns:a16="http://schemas.microsoft.com/office/drawing/2014/main" id="{2690EEC7-3612-2C3D-0BF8-795CC2A27193}"/>
                </a:ext>
              </a:extLst>
            </p:cNvPr>
            <p:cNvSpPr>
              <a:spLocks/>
            </p:cNvSpPr>
            <p:nvPr/>
          </p:nvSpPr>
          <p:spPr bwMode="auto">
            <a:xfrm>
              <a:off x="4274" y="3796"/>
              <a:ext cx="131" cy="141"/>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88" name="Arc 155">
              <a:extLst>
                <a:ext uri="{FF2B5EF4-FFF2-40B4-BE49-F238E27FC236}">
                  <a16:creationId xmlns:a16="http://schemas.microsoft.com/office/drawing/2014/main" id="{251D720C-B138-E1E7-EC6B-C823257E9F22}"/>
                </a:ext>
              </a:extLst>
            </p:cNvPr>
            <p:cNvSpPr>
              <a:spLocks/>
            </p:cNvSpPr>
            <p:nvPr/>
          </p:nvSpPr>
          <p:spPr bwMode="auto">
            <a:xfrm>
              <a:off x="4274" y="3796"/>
              <a:ext cx="126" cy="136"/>
            </a:xfrm>
            <a:custGeom>
              <a:avLst/>
              <a:gdLst>
                <a:gd name="T0" fmla="*/ 1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89" name="Arc 156">
              <a:extLst>
                <a:ext uri="{FF2B5EF4-FFF2-40B4-BE49-F238E27FC236}">
                  <a16:creationId xmlns:a16="http://schemas.microsoft.com/office/drawing/2014/main" id="{5BFD0B51-C4C2-5307-84A7-5BF67F5FDBC9}"/>
                </a:ext>
              </a:extLst>
            </p:cNvPr>
            <p:cNvSpPr>
              <a:spLocks/>
            </p:cNvSpPr>
            <p:nvPr/>
          </p:nvSpPr>
          <p:spPr bwMode="auto">
            <a:xfrm>
              <a:off x="4828" y="3688"/>
              <a:ext cx="402" cy="130"/>
            </a:xfrm>
            <a:custGeom>
              <a:avLst/>
              <a:gdLst>
                <a:gd name="T0" fmla="*/ 7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90" name="Arc 157">
              <a:extLst>
                <a:ext uri="{FF2B5EF4-FFF2-40B4-BE49-F238E27FC236}">
                  <a16:creationId xmlns:a16="http://schemas.microsoft.com/office/drawing/2014/main" id="{8F3654F1-0DAB-AD85-6E2A-A2ADDB78B097}"/>
                </a:ext>
              </a:extLst>
            </p:cNvPr>
            <p:cNvSpPr>
              <a:spLocks/>
            </p:cNvSpPr>
            <p:nvPr/>
          </p:nvSpPr>
          <p:spPr bwMode="auto">
            <a:xfrm>
              <a:off x="4828" y="3688"/>
              <a:ext cx="397" cy="125"/>
            </a:xfrm>
            <a:custGeom>
              <a:avLst/>
              <a:gdLst>
                <a:gd name="T0" fmla="*/ 7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91" name="Arc 158">
              <a:extLst>
                <a:ext uri="{FF2B5EF4-FFF2-40B4-BE49-F238E27FC236}">
                  <a16:creationId xmlns:a16="http://schemas.microsoft.com/office/drawing/2014/main" id="{EDDB8F3C-5412-D4EF-78D6-767888DE06A7}"/>
                </a:ext>
              </a:extLst>
            </p:cNvPr>
            <p:cNvSpPr>
              <a:spLocks/>
            </p:cNvSpPr>
            <p:nvPr/>
          </p:nvSpPr>
          <p:spPr bwMode="auto">
            <a:xfrm>
              <a:off x="4828" y="3569"/>
              <a:ext cx="402" cy="130"/>
            </a:xfrm>
            <a:custGeom>
              <a:avLst/>
              <a:gdLst>
                <a:gd name="T0" fmla="*/ 0 w 21600"/>
                <a:gd name="T1" fmla="*/ 0 h 21600"/>
                <a:gd name="T2" fmla="*/ 7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05" y="0"/>
                    <a:pt x="21565" y="9632"/>
                    <a:pt x="21599" y="21538"/>
                  </a:cubicBezTo>
                </a:path>
                <a:path w="21600" h="21600" stroke="0" extrusionOk="0">
                  <a:moveTo>
                    <a:pt x="-1" y="0"/>
                  </a:moveTo>
                  <a:cubicBezTo>
                    <a:pt x="11905" y="0"/>
                    <a:pt x="21565" y="9632"/>
                    <a:pt x="21599" y="21538"/>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92" name="Arc 159">
              <a:extLst>
                <a:ext uri="{FF2B5EF4-FFF2-40B4-BE49-F238E27FC236}">
                  <a16:creationId xmlns:a16="http://schemas.microsoft.com/office/drawing/2014/main" id="{670587FB-5BB1-7254-1603-BDB12CAA373B}"/>
                </a:ext>
              </a:extLst>
            </p:cNvPr>
            <p:cNvSpPr>
              <a:spLocks/>
            </p:cNvSpPr>
            <p:nvPr/>
          </p:nvSpPr>
          <p:spPr bwMode="auto">
            <a:xfrm>
              <a:off x="4828" y="3574"/>
              <a:ext cx="397" cy="125"/>
            </a:xfrm>
            <a:custGeom>
              <a:avLst/>
              <a:gdLst>
                <a:gd name="T0" fmla="*/ 0 w 21600"/>
                <a:gd name="T1" fmla="*/ 0 h 21600"/>
                <a:gd name="T2" fmla="*/ 7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04" y="0"/>
                    <a:pt x="21564" y="9631"/>
                    <a:pt x="21599" y="21536"/>
                  </a:cubicBezTo>
                </a:path>
                <a:path w="21600" h="21600" stroke="0" extrusionOk="0">
                  <a:moveTo>
                    <a:pt x="-1" y="0"/>
                  </a:moveTo>
                  <a:cubicBezTo>
                    <a:pt x="11904" y="0"/>
                    <a:pt x="21564" y="9631"/>
                    <a:pt x="21599" y="21536"/>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93" name="Arc 160">
              <a:extLst>
                <a:ext uri="{FF2B5EF4-FFF2-40B4-BE49-F238E27FC236}">
                  <a16:creationId xmlns:a16="http://schemas.microsoft.com/office/drawing/2014/main" id="{3E6C318C-0A79-F181-068A-CB68F460608C}"/>
                </a:ext>
              </a:extLst>
            </p:cNvPr>
            <p:cNvSpPr>
              <a:spLocks/>
            </p:cNvSpPr>
            <p:nvPr/>
          </p:nvSpPr>
          <p:spPr bwMode="auto">
            <a:xfrm>
              <a:off x="4828" y="3569"/>
              <a:ext cx="65" cy="119"/>
            </a:xfrm>
            <a:custGeom>
              <a:avLst/>
              <a:gdLst>
                <a:gd name="T0" fmla="*/ 0 w 21600"/>
                <a:gd name="T1" fmla="*/ 0 h 21600"/>
                <a:gd name="T2" fmla="*/ 0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94" name="Arc 161">
              <a:extLst>
                <a:ext uri="{FF2B5EF4-FFF2-40B4-BE49-F238E27FC236}">
                  <a16:creationId xmlns:a16="http://schemas.microsoft.com/office/drawing/2014/main" id="{30B0DB4F-99A5-B7B0-5313-8DB3878362B5}"/>
                </a:ext>
              </a:extLst>
            </p:cNvPr>
            <p:cNvSpPr>
              <a:spLocks/>
            </p:cNvSpPr>
            <p:nvPr/>
          </p:nvSpPr>
          <p:spPr bwMode="auto">
            <a:xfrm>
              <a:off x="4828" y="3574"/>
              <a:ext cx="60" cy="114"/>
            </a:xfrm>
            <a:custGeom>
              <a:avLst/>
              <a:gdLst>
                <a:gd name="T0" fmla="*/ 0 w 21600"/>
                <a:gd name="T1" fmla="*/ 0 h 21600"/>
                <a:gd name="T2" fmla="*/ 0 w 21600"/>
                <a:gd name="T3" fmla="*/ 1 h 21600"/>
                <a:gd name="T4" fmla="*/ 0 w 21600"/>
                <a:gd name="T5" fmla="*/ 1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solidFill>
              <a:srgbClr val="FFFFFF"/>
            </a:solidFill>
            <a:ln w="17463">
              <a:solidFill>
                <a:srgbClr val="000000"/>
              </a:solidFill>
              <a:round/>
              <a:headEnd/>
              <a:tailEnd/>
            </a:ln>
          </p:spPr>
          <p:txBody>
            <a:bodyPr/>
            <a:lstStyle/>
            <a:p>
              <a:endParaRPr lang="en-IN"/>
            </a:p>
          </p:txBody>
        </p:sp>
        <p:sp>
          <p:nvSpPr>
            <p:cNvPr id="21695" name="Arc 162">
              <a:extLst>
                <a:ext uri="{FF2B5EF4-FFF2-40B4-BE49-F238E27FC236}">
                  <a16:creationId xmlns:a16="http://schemas.microsoft.com/office/drawing/2014/main" id="{03A659DE-C542-5303-89DF-D4E05496F245}"/>
                </a:ext>
              </a:extLst>
            </p:cNvPr>
            <p:cNvSpPr>
              <a:spLocks/>
            </p:cNvSpPr>
            <p:nvPr/>
          </p:nvSpPr>
          <p:spPr bwMode="auto">
            <a:xfrm>
              <a:off x="4828" y="3688"/>
              <a:ext cx="65" cy="130"/>
            </a:xfrm>
            <a:custGeom>
              <a:avLst/>
              <a:gdLst>
                <a:gd name="T0" fmla="*/ 0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696" name="Arc 163">
              <a:extLst>
                <a:ext uri="{FF2B5EF4-FFF2-40B4-BE49-F238E27FC236}">
                  <a16:creationId xmlns:a16="http://schemas.microsoft.com/office/drawing/2014/main" id="{0FD9C2D2-39DB-0642-5124-D1F85AC2B427}"/>
                </a:ext>
              </a:extLst>
            </p:cNvPr>
            <p:cNvSpPr>
              <a:spLocks/>
            </p:cNvSpPr>
            <p:nvPr/>
          </p:nvSpPr>
          <p:spPr bwMode="auto">
            <a:xfrm>
              <a:off x="4828" y="3688"/>
              <a:ext cx="60" cy="125"/>
            </a:xfrm>
            <a:custGeom>
              <a:avLst/>
              <a:gdLst>
                <a:gd name="T0" fmla="*/ 0 w 21600"/>
                <a:gd name="T1" fmla="*/ 0 h 21600"/>
                <a:gd name="T2" fmla="*/ 0 w 21600"/>
                <a:gd name="T3" fmla="*/ 1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solidFill>
              <a:srgbClr val="FFFFFF"/>
            </a:solidFill>
            <a:ln w="17463">
              <a:solidFill>
                <a:srgbClr val="000000"/>
              </a:solidFill>
              <a:round/>
              <a:headEnd/>
              <a:tailEnd/>
            </a:ln>
          </p:spPr>
          <p:txBody>
            <a:bodyPr/>
            <a:lstStyle/>
            <a:p>
              <a:endParaRPr lang="en-IN"/>
            </a:p>
          </p:txBody>
        </p:sp>
        <p:sp>
          <p:nvSpPr>
            <p:cNvPr id="21697" name="Line 164">
              <a:extLst>
                <a:ext uri="{FF2B5EF4-FFF2-40B4-BE49-F238E27FC236}">
                  <a16:creationId xmlns:a16="http://schemas.microsoft.com/office/drawing/2014/main" id="{668FCE69-0EA3-90BF-58EB-FC248CC47893}"/>
                </a:ext>
              </a:extLst>
            </p:cNvPr>
            <p:cNvSpPr>
              <a:spLocks noChangeShapeType="1"/>
            </p:cNvSpPr>
            <p:nvPr/>
          </p:nvSpPr>
          <p:spPr bwMode="auto">
            <a:xfrm>
              <a:off x="4828" y="3418"/>
              <a:ext cx="1" cy="15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98" name="Line 165">
              <a:extLst>
                <a:ext uri="{FF2B5EF4-FFF2-40B4-BE49-F238E27FC236}">
                  <a16:creationId xmlns:a16="http://schemas.microsoft.com/office/drawing/2014/main" id="{FB99F67C-3250-EE21-4184-ABF909E5190C}"/>
                </a:ext>
              </a:extLst>
            </p:cNvPr>
            <p:cNvSpPr>
              <a:spLocks noChangeShapeType="1"/>
            </p:cNvSpPr>
            <p:nvPr/>
          </p:nvSpPr>
          <p:spPr bwMode="auto">
            <a:xfrm flipV="1">
              <a:off x="4828" y="3806"/>
              <a:ext cx="1" cy="152"/>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699" name="Line 166">
              <a:extLst>
                <a:ext uri="{FF2B5EF4-FFF2-40B4-BE49-F238E27FC236}">
                  <a16:creationId xmlns:a16="http://schemas.microsoft.com/office/drawing/2014/main" id="{53618DF5-DAD9-3030-B43A-7B7A08AD3E5F}"/>
                </a:ext>
              </a:extLst>
            </p:cNvPr>
            <p:cNvSpPr>
              <a:spLocks noChangeShapeType="1"/>
            </p:cNvSpPr>
            <p:nvPr/>
          </p:nvSpPr>
          <p:spPr bwMode="auto">
            <a:xfrm>
              <a:off x="4828" y="3688"/>
              <a:ext cx="54"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00" name="Line 167">
              <a:extLst>
                <a:ext uri="{FF2B5EF4-FFF2-40B4-BE49-F238E27FC236}">
                  <a16:creationId xmlns:a16="http://schemas.microsoft.com/office/drawing/2014/main" id="{33A7EED9-1744-32D6-E50F-75BF0E1DD499}"/>
                </a:ext>
              </a:extLst>
            </p:cNvPr>
            <p:cNvSpPr>
              <a:spLocks noChangeShapeType="1"/>
            </p:cNvSpPr>
            <p:nvPr/>
          </p:nvSpPr>
          <p:spPr bwMode="auto">
            <a:xfrm>
              <a:off x="3904" y="2284"/>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01" name="Rectangle 168">
              <a:extLst>
                <a:ext uri="{FF2B5EF4-FFF2-40B4-BE49-F238E27FC236}">
                  <a16:creationId xmlns:a16="http://schemas.microsoft.com/office/drawing/2014/main" id="{BBCEFF19-2500-EEE0-6EBA-7869987F3BB1}"/>
                </a:ext>
              </a:extLst>
            </p:cNvPr>
            <p:cNvSpPr>
              <a:spLocks noChangeArrowheads="1"/>
            </p:cNvSpPr>
            <p:nvPr/>
          </p:nvSpPr>
          <p:spPr bwMode="auto">
            <a:xfrm>
              <a:off x="3774" y="2230"/>
              <a:ext cx="1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C0</a:t>
              </a:r>
              <a:endParaRPr lang="en-US" altLang="en-US" sz="2800" b="1"/>
            </a:p>
          </p:txBody>
        </p:sp>
        <p:sp>
          <p:nvSpPr>
            <p:cNvPr id="21702" name="Line 169">
              <a:extLst>
                <a:ext uri="{FF2B5EF4-FFF2-40B4-BE49-F238E27FC236}">
                  <a16:creationId xmlns:a16="http://schemas.microsoft.com/office/drawing/2014/main" id="{2E08FABE-8A69-BFB3-D482-B1F2741F422B}"/>
                </a:ext>
              </a:extLst>
            </p:cNvPr>
            <p:cNvSpPr>
              <a:spLocks noChangeShapeType="1"/>
            </p:cNvSpPr>
            <p:nvPr/>
          </p:nvSpPr>
          <p:spPr bwMode="auto">
            <a:xfrm>
              <a:off x="2112" y="2284"/>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03" name="Rectangle 170">
              <a:extLst>
                <a:ext uri="{FF2B5EF4-FFF2-40B4-BE49-F238E27FC236}">
                  <a16:creationId xmlns:a16="http://schemas.microsoft.com/office/drawing/2014/main" id="{14A98D99-E5FA-3EC1-EEDC-8CBB123EF531}"/>
                </a:ext>
              </a:extLst>
            </p:cNvPr>
            <p:cNvSpPr>
              <a:spLocks noChangeArrowheads="1"/>
            </p:cNvSpPr>
            <p:nvPr/>
          </p:nvSpPr>
          <p:spPr bwMode="auto">
            <a:xfrm>
              <a:off x="1982" y="2230"/>
              <a:ext cx="1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C0</a:t>
              </a:r>
              <a:endParaRPr lang="en-US" altLang="en-US" sz="2800" b="1"/>
            </a:p>
          </p:txBody>
        </p:sp>
        <p:sp>
          <p:nvSpPr>
            <p:cNvPr id="21704" name="Line 171">
              <a:extLst>
                <a:ext uri="{FF2B5EF4-FFF2-40B4-BE49-F238E27FC236}">
                  <a16:creationId xmlns:a16="http://schemas.microsoft.com/office/drawing/2014/main" id="{F29CCF05-7F8D-5A21-ABDB-9B7E33CD026F}"/>
                </a:ext>
              </a:extLst>
            </p:cNvPr>
            <p:cNvSpPr>
              <a:spLocks noChangeShapeType="1"/>
            </p:cNvSpPr>
            <p:nvPr/>
          </p:nvSpPr>
          <p:spPr bwMode="auto">
            <a:xfrm>
              <a:off x="483" y="293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05" name="Rectangle 172">
              <a:extLst>
                <a:ext uri="{FF2B5EF4-FFF2-40B4-BE49-F238E27FC236}">
                  <a16:creationId xmlns:a16="http://schemas.microsoft.com/office/drawing/2014/main" id="{920A8E81-8F2F-FA47-7261-FB34E3C023C5}"/>
                </a:ext>
              </a:extLst>
            </p:cNvPr>
            <p:cNvSpPr>
              <a:spLocks noChangeArrowheads="1"/>
            </p:cNvSpPr>
            <p:nvPr/>
          </p:nvSpPr>
          <p:spPr bwMode="auto">
            <a:xfrm>
              <a:off x="353" y="2878"/>
              <a:ext cx="1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C0</a:t>
              </a:r>
              <a:endParaRPr lang="en-US" altLang="en-US" sz="2800" b="1"/>
            </a:p>
          </p:txBody>
        </p:sp>
        <p:sp>
          <p:nvSpPr>
            <p:cNvPr id="21706" name="Line 173">
              <a:extLst>
                <a:ext uri="{FF2B5EF4-FFF2-40B4-BE49-F238E27FC236}">
                  <a16:creationId xmlns:a16="http://schemas.microsoft.com/office/drawing/2014/main" id="{BD1CEAA6-78EE-8A30-E436-74DC6883AAFE}"/>
                </a:ext>
              </a:extLst>
            </p:cNvPr>
            <p:cNvSpPr>
              <a:spLocks noChangeShapeType="1"/>
            </p:cNvSpPr>
            <p:nvPr/>
          </p:nvSpPr>
          <p:spPr bwMode="auto">
            <a:xfrm>
              <a:off x="483" y="2284"/>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07" name="Rectangle 174">
              <a:extLst>
                <a:ext uri="{FF2B5EF4-FFF2-40B4-BE49-F238E27FC236}">
                  <a16:creationId xmlns:a16="http://schemas.microsoft.com/office/drawing/2014/main" id="{5344C23E-36EE-8CD2-2AB2-26F3D69C835D}"/>
                </a:ext>
              </a:extLst>
            </p:cNvPr>
            <p:cNvSpPr>
              <a:spLocks noChangeArrowheads="1"/>
            </p:cNvSpPr>
            <p:nvPr/>
          </p:nvSpPr>
          <p:spPr bwMode="auto">
            <a:xfrm>
              <a:off x="353" y="2230"/>
              <a:ext cx="1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C0</a:t>
              </a:r>
              <a:endParaRPr lang="en-US" altLang="en-US" sz="2800" b="1"/>
            </a:p>
          </p:txBody>
        </p:sp>
        <p:sp>
          <p:nvSpPr>
            <p:cNvPr id="21708" name="Line 175">
              <a:extLst>
                <a:ext uri="{FF2B5EF4-FFF2-40B4-BE49-F238E27FC236}">
                  <a16:creationId xmlns:a16="http://schemas.microsoft.com/office/drawing/2014/main" id="{DDBAD9E7-10BA-E4D1-3DFD-AAE40AD9B850}"/>
                </a:ext>
              </a:extLst>
            </p:cNvPr>
            <p:cNvSpPr>
              <a:spLocks noChangeShapeType="1"/>
            </p:cNvSpPr>
            <p:nvPr/>
          </p:nvSpPr>
          <p:spPr bwMode="auto">
            <a:xfrm>
              <a:off x="3904" y="239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09" name="Rectangle 176">
              <a:extLst>
                <a:ext uri="{FF2B5EF4-FFF2-40B4-BE49-F238E27FC236}">
                  <a16:creationId xmlns:a16="http://schemas.microsoft.com/office/drawing/2014/main" id="{885A823C-206D-C300-677F-8F39D401969F}"/>
                </a:ext>
              </a:extLst>
            </p:cNvPr>
            <p:cNvSpPr>
              <a:spLocks noChangeArrowheads="1"/>
            </p:cNvSpPr>
            <p:nvPr/>
          </p:nvSpPr>
          <p:spPr bwMode="auto">
            <a:xfrm>
              <a:off x="3774" y="2338"/>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P0</a:t>
              </a:r>
              <a:endParaRPr lang="en-US" altLang="en-US" sz="2800" b="1"/>
            </a:p>
          </p:txBody>
        </p:sp>
        <p:sp>
          <p:nvSpPr>
            <p:cNvPr id="21710" name="Line 177">
              <a:extLst>
                <a:ext uri="{FF2B5EF4-FFF2-40B4-BE49-F238E27FC236}">
                  <a16:creationId xmlns:a16="http://schemas.microsoft.com/office/drawing/2014/main" id="{B0A6A2A3-53FF-514B-1DA0-1D24C6A3413F}"/>
                </a:ext>
              </a:extLst>
            </p:cNvPr>
            <p:cNvSpPr>
              <a:spLocks noChangeShapeType="1"/>
            </p:cNvSpPr>
            <p:nvPr/>
          </p:nvSpPr>
          <p:spPr bwMode="auto">
            <a:xfrm>
              <a:off x="2112" y="239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11" name="Rectangle 178">
              <a:extLst>
                <a:ext uri="{FF2B5EF4-FFF2-40B4-BE49-F238E27FC236}">
                  <a16:creationId xmlns:a16="http://schemas.microsoft.com/office/drawing/2014/main" id="{DA1B465A-339E-F603-9981-B0420243B4E9}"/>
                </a:ext>
              </a:extLst>
            </p:cNvPr>
            <p:cNvSpPr>
              <a:spLocks noChangeArrowheads="1"/>
            </p:cNvSpPr>
            <p:nvPr/>
          </p:nvSpPr>
          <p:spPr bwMode="auto">
            <a:xfrm>
              <a:off x="1982" y="2338"/>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P0</a:t>
              </a:r>
              <a:endParaRPr lang="en-US" altLang="en-US" sz="2800" b="1"/>
            </a:p>
          </p:txBody>
        </p:sp>
        <p:sp>
          <p:nvSpPr>
            <p:cNvPr id="21712" name="Line 179">
              <a:extLst>
                <a:ext uri="{FF2B5EF4-FFF2-40B4-BE49-F238E27FC236}">
                  <a16:creationId xmlns:a16="http://schemas.microsoft.com/office/drawing/2014/main" id="{F8E74D7A-746E-BFAB-543E-1D147435455B}"/>
                </a:ext>
              </a:extLst>
            </p:cNvPr>
            <p:cNvSpPr>
              <a:spLocks noChangeShapeType="1"/>
            </p:cNvSpPr>
            <p:nvPr/>
          </p:nvSpPr>
          <p:spPr bwMode="auto">
            <a:xfrm>
              <a:off x="483" y="304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13" name="Rectangle 180">
              <a:extLst>
                <a:ext uri="{FF2B5EF4-FFF2-40B4-BE49-F238E27FC236}">
                  <a16:creationId xmlns:a16="http://schemas.microsoft.com/office/drawing/2014/main" id="{C548BF09-FAE8-A9F2-DB44-6B24DC5EA1BB}"/>
                </a:ext>
              </a:extLst>
            </p:cNvPr>
            <p:cNvSpPr>
              <a:spLocks noChangeArrowheads="1"/>
            </p:cNvSpPr>
            <p:nvPr/>
          </p:nvSpPr>
          <p:spPr bwMode="auto">
            <a:xfrm>
              <a:off x="353" y="2986"/>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P0</a:t>
              </a:r>
              <a:endParaRPr lang="en-US" altLang="en-US" sz="2800" b="1"/>
            </a:p>
          </p:txBody>
        </p:sp>
        <p:sp>
          <p:nvSpPr>
            <p:cNvPr id="21714" name="Line 181">
              <a:extLst>
                <a:ext uri="{FF2B5EF4-FFF2-40B4-BE49-F238E27FC236}">
                  <a16:creationId xmlns:a16="http://schemas.microsoft.com/office/drawing/2014/main" id="{ABE32834-3143-49C4-DC42-51FC0501DE9D}"/>
                </a:ext>
              </a:extLst>
            </p:cNvPr>
            <p:cNvSpPr>
              <a:spLocks noChangeShapeType="1"/>
            </p:cNvSpPr>
            <p:nvPr/>
          </p:nvSpPr>
          <p:spPr bwMode="auto">
            <a:xfrm>
              <a:off x="483" y="239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15" name="Rectangle 182">
              <a:extLst>
                <a:ext uri="{FF2B5EF4-FFF2-40B4-BE49-F238E27FC236}">
                  <a16:creationId xmlns:a16="http://schemas.microsoft.com/office/drawing/2014/main" id="{4E605F91-442B-E53A-56C0-54E16E94376D}"/>
                </a:ext>
              </a:extLst>
            </p:cNvPr>
            <p:cNvSpPr>
              <a:spLocks noChangeArrowheads="1"/>
            </p:cNvSpPr>
            <p:nvPr/>
          </p:nvSpPr>
          <p:spPr bwMode="auto">
            <a:xfrm>
              <a:off x="353" y="2338"/>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P0</a:t>
              </a:r>
              <a:endParaRPr lang="en-US" altLang="en-US" sz="2800" b="1"/>
            </a:p>
          </p:txBody>
        </p:sp>
        <p:sp>
          <p:nvSpPr>
            <p:cNvPr id="21716" name="Line 183">
              <a:extLst>
                <a:ext uri="{FF2B5EF4-FFF2-40B4-BE49-F238E27FC236}">
                  <a16:creationId xmlns:a16="http://schemas.microsoft.com/office/drawing/2014/main" id="{DE4DF549-9490-3EB8-38CB-9395A435293F}"/>
                </a:ext>
              </a:extLst>
            </p:cNvPr>
            <p:cNvSpPr>
              <a:spLocks noChangeShapeType="1"/>
            </p:cNvSpPr>
            <p:nvPr/>
          </p:nvSpPr>
          <p:spPr bwMode="auto">
            <a:xfrm>
              <a:off x="972" y="2338"/>
              <a:ext cx="10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17" name="Line 184">
              <a:extLst>
                <a:ext uri="{FF2B5EF4-FFF2-40B4-BE49-F238E27FC236}">
                  <a16:creationId xmlns:a16="http://schemas.microsoft.com/office/drawing/2014/main" id="{C69A9FB7-8FB2-A9C5-241F-6175711B8C27}"/>
                </a:ext>
              </a:extLst>
            </p:cNvPr>
            <p:cNvSpPr>
              <a:spLocks noChangeShapeType="1"/>
            </p:cNvSpPr>
            <p:nvPr/>
          </p:nvSpPr>
          <p:spPr bwMode="auto">
            <a:xfrm>
              <a:off x="1080" y="233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18" name="Line 185">
              <a:extLst>
                <a:ext uri="{FF2B5EF4-FFF2-40B4-BE49-F238E27FC236}">
                  <a16:creationId xmlns:a16="http://schemas.microsoft.com/office/drawing/2014/main" id="{6E3F254E-63B8-9D8E-5D92-0A0CF8F98537}"/>
                </a:ext>
              </a:extLst>
            </p:cNvPr>
            <p:cNvSpPr>
              <a:spLocks noChangeShapeType="1"/>
            </p:cNvSpPr>
            <p:nvPr/>
          </p:nvSpPr>
          <p:spPr bwMode="auto">
            <a:xfrm>
              <a:off x="3904" y="287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19" name="Rectangle 186">
              <a:extLst>
                <a:ext uri="{FF2B5EF4-FFF2-40B4-BE49-F238E27FC236}">
                  <a16:creationId xmlns:a16="http://schemas.microsoft.com/office/drawing/2014/main" id="{ED870704-04B6-741A-E8DF-863B54F091FF}"/>
                </a:ext>
              </a:extLst>
            </p:cNvPr>
            <p:cNvSpPr>
              <a:spLocks noChangeArrowheads="1"/>
            </p:cNvSpPr>
            <p:nvPr/>
          </p:nvSpPr>
          <p:spPr bwMode="auto">
            <a:xfrm>
              <a:off x="3774" y="2824"/>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G0</a:t>
              </a:r>
              <a:endParaRPr lang="en-US" altLang="en-US" sz="2800" b="1"/>
            </a:p>
          </p:txBody>
        </p:sp>
        <p:sp>
          <p:nvSpPr>
            <p:cNvPr id="21720" name="Line 187">
              <a:extLst>
                <a:ext uri="{FF2B5EF4-FFF2-40B4-BE49-F238E27FC236}">
                  <a16:creationId xmlns:a16="http://schemas.microsoft.com/office/drawing/2014/main" id="{8C6D873E-9322-2232-EE88-14EEE0CAAB44}"/>
                </a:ext>
              </a:extLst>
            </p:cNvPr>
            <p:cNvSpPr>
              <a:spLocks noChangeShapeType="1"/>
            </p:cNvSpPr>
            <p:nvPr/>
          </p:nvSpPr>
          <p:spPr bwMode="auto">
            <a:xfrm>
              <a:off x="2112" y="277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21" name="Rectangle 188">
              <a:extLst>
                <a:ext uri="{FF2B5EF4-FFF2-40B4-BE49-F238E27FC236}">
                  <a16:creationId xmlns:a16="http://schemas.microsoft.com/office/drawing/2014/main" id="{9EE71FF1-EB61-681A-27AE-2E177F2C958D}"/>
                </a:ext>
              </a:extLst>
            </p:cNvPr>
            <p:cNvSpPr>
              <a:spLocks noChangeArrowheads="1"/>
            </p:cNvSpPr>
            <p:nvPr/>
          </p:nvSpPr>
          <p:spPr bwMode="auto">
            <a:xfrm>
              <a:off x="1982" y="2716"/>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G0</a:t>
              </a:r>
              <a:endParaRPr lang="en-US" altLang="en-US" sz="2800" b="1"/>
            </a:p>
          </p:txBody>
        </p:sp>
        <p:sp>
          <p:nvSpPr>
            <p:cNvPr id="21722" name="Line 189">
              <a:extLst>
                <a:ext uri="{FF2B5EF4-FFF2-40B4-BE49-F238E27FC236}">
                  <a16:creationId xmlns:a16="http://schemas.microsoft.com/office/drawing/2014/main" id="{A7EDD5A4-ABA6-31FD-0F5A-1B21C3713ABF}"/>
                </a:ext>
              </a:extLst>
            </p:cNvPr>
            <p:cNvSpPr>
              <a:spLocks noChangeShapeType="1"/>
            </p:cNvSpPr>
            <p:nvPr/>
          </p:nvSpPr>
          <p:spPr bwMode="auto">
            <a:xfrm>
              <a:off x="483" y="331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23" name="Rectangle 190">
              <a:extLst>
                <a:ext uri="{FF2B5EF4-FFF2-40B4-BE49-F238E27FC236}">
                  <a16:creationId xmlns:a16="http://schemas.microsoft.com/office/drawing/2014/main" id="{C7309737-A693-E59B-C978-9DBB88F3607F}"/>
                </a:ext>
              </a:extLst>
            </p:cNvPr>
            <p:cNvSpPr>
              <a:spLocks noChangeArrowheads="1"/>
            </p:cNvSpPr>
            <p:nvPr/>
          </p:nvSpPr>
          <p:spPr bwMode="auto">
            <a:xfrm>
              <a:off x="353" y="3256"/>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G0</a:t>
              </a:r>
              <a:endParaRPr lang="en-US" altLang="en-US" sz="2800" b="1"/>
            </a:p>
          </p:txBody>
        </p:sp>
        <p:sp>
          <p:nvSpPr>
            <p:cNvPr id="21724" name="Line 191">
              <a:extLst>
                <a:ext uri="{FF2B5EF4-FFF2-40B4-BE49-F238E27FC236}">
                  <a16:creationId xmlns:a16="http://schemas.microsoft.com/office/drawing/2014/main" id="{85F2E69A-22ED-914E-CC76-6F1DDA49E619}"/>
                </a:ext>
              </a:extLst>
            </p:cNvPr>
            <p:cNvSpPr>
              <a:spLocks noChangeShapeType="1"/>
            </p:cNvSpPr>
            <p:nvPr/>
          </p:nvSpPr>
          <p:spPr bwMode="auto">
            <a:xfrm>
              <a:off x="1080" y="2446"/>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25" name="Rectangle 192">
              <a:extLst>
                <a:ext uri="{FF2B5EF4-FFF2-40B4-BE49-F238E27FC236}">
                  <a16:creationId xmlns:a16="http://schemas.microsoft.com/office/drawing/2014/main" id="{92D6F3BE-9873-98B8-2C70-04A2813E292D}"/>
                </a:ext>
              </a:extLst>
            </p:cNvPr>
            <p:cNvSpPr>
              <a:spLocks noChangeArrowheads="1"/>
            </p:cNvSpPr>
            <p:nvPr/>
          </p:nvSpPr>
          <p:spPr bwMode="auto">
            <a:xfrm>
              <a:off x="1080" y="2446"/>
              <a:ext cx="11" cy="119"/>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26" name="Rectangle 193">
              <a:extLst>
                <a:ext uri="{FF2B5EF4-FFF2-40B4-BE49-F238E27FC236}">
                  <a16:creationId xmlns:a16="http://schemas.microsoft.com/office/drawing/2014/main" id="{9B2BF075-9C0B-6B9F-2EF9-74F708667F9C}"/>
                </a:ext>
              </a:extLst>
            </p:cNvPr>
            <p:cNvSpPr>
              <a:spLocks noChangeArrowheads="1"/>
            </p:cNvSpPr>
            <p:nvPr/>
          </p:nvSpPr>
          <p:spPr bwMode="auto">
            <a:xfrm>
              <a:off x="483" y="2554"/>
              <a:ext cx="608" cy="1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27" name="Rectangle 194">
              <a:extLst>
                <a:ext uri="{FF2B5EF4-FFF2-40B4-BE49-F238E27FC236}">
                  <a16:creationId xmlns:a16="http://schemas.microsoft.com/office/drawing/2014/main" id="{759D9DD0-A47B-691B-0319-98C32CFFCC90}"/>
                </a:ext>
              </a:extLst>
            </p:cNvPr>
            <p:cNvSpPr>
              <a:spLocks noChangeArrowheads="1"/>
            </p:cNvSpPr>
            <p:nvPr/>
          </p:nvSpPr>
          <p:spPr bwMode="auto">
            <a:xfrm>
              <a:off x="353" y="2500"/>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G0</a:t>
              </a:r>
              <a:endParaRPr lang="en-US" altLang="en-US" sz="2800" b="1"/>
            </a:p>
          </p:txBody>
        </p:sp>
        <p:sp>
          <p:nvSpPr>
            <p:cNvPr id="21728" name="Line 195">
              <a:extLst>
                <a:ext uri="{FF2B5EF4-FFF2-40B4-BE49-F238E27FC236}">
                  <a16:creationId xmlns:a16="http://schemas.microsoft.com/office/drawing/2014/main" id="{BCECE392-AA3A-BF14-698C-D127004780D0}"/>
                </a:ext>
              </a:extLst>
            </p:cNvPr>
            <p:cNvSpPr>
              <a:spLocks noChangeShapeType="1"/>
            </p:cNvSpPr>
            <p:nvPr/>
          </p:nvSpPr>
          <p:spPr bwMode="auto">
            <a:xfrm>
              <a:off x="1569" y="239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29" name="Rectangle 196">
              <a:extLst>
                <a:ext uri="{FF2B5EF4-FFF2-40B4-BE49-F238E27FC236}">
                  <a16:creationId xmlns:a16="http://schemas.microsoft.com/office/drawing/2014/main" id="{97C2BD2C-A9E7-E11F-F5BB-7A3DAB725561}"/>
                </a:ext>
              </a:extLst>
            </p:cNvPr>
            <p:cNvSpPr>
              <a:spLocks noChangeArrowheads="1"/>
            </p:cNvSpPr>
            <p:nvPr/>
          </p:nvSpPr>
          <p:spPr bwMode="auto">
            <a:xfrm>
              <a:off x="1710" y="2338"/>
              <a:ext cx="1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C1</a:t>
              </a:r>
              <a:endParaRPr lang="en-US" altLang="en-US" sz="2800" b="1"/>
            </a:p>
          </p:txBody>
        </p:sp>
        <p:sp>
          <p:nvSpPr>
            <p:cNvPr id="21730" name="Line 197">
              <a:extLst>
                <a:ext uri="{FF2B5EF4-FFF2-40B4-BE49-F238E27FC236}">
                  <a16:creationId xmlns:a16="http://schemas.microsoft.com/office/drawing/2014/main" id="{9F27099A-AE93-49EF-422B-26E16BA792D1}"/>
                </a:ext>
              </a:extLst>
            </p:cNvPr>
            <p:cNvSpPr>
              <a:spLocks noChangeShapeType="1"/>
            </p:cNvSpPr>
            <p:nvPr/>
          </p:nvSpPr>
          <p:spPr bwMode="auto">
            <a:xfrm>
              <a:off x="3904" y="2986"/>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31" name="Rectangle 198">
              <a:extLst>
                <a:ext uri="{FF2B5EF4-FFF2-40B4-BE49-F238E27FC236}">
                  <a16:creationId xmlns:a16="http://schemas.microsoft.com/office/drawing/2014/main" id="{DFD533DE-EA3F-A7ED-F34E-0ED6C3836694}"/>
                </a:ext>
              </a:extLst>
            </p:cNvPr>
            <p:cNvSpPr>
              <a:spLocks noChangeArrowheads="1"/>
            </p:cNvSpPr>
            <p:nvPr/>
          </p:nvSpPr>
          <p:spPr bwMode="auto">
            <a:xfrm>
              <a:off x="3774" y="2932"/>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P1</a:t>
              </a:r>
              <a:endParaRPr lang="en-US" altLang="en-US" sz="2800" b="1"/>
            </a:p>
          </p:txBody>
        </p:sp>
        <p:sp>
          <p:nvSpPr>
            <p:cNvPr id="21732" name="Line 199">
              <a:extLst>
                <a:ext uri="{FF2B5EF4-FFF2-40B4-BE49-F238E27FC236}">
                  <a16:creationId xmlns:a16="http://schemas.microsoft.com/office/drawing/2014/main" id="{8A6A5B34-0808-0249-2F01-433C77F7C4FA}"/>
                </a:ext>
              </a:extLst>
            </p:cNvPr>
            <p:cNvSpPr>
              <a:spLocks noChangeShapeType="1"/>
            </p:cNvSpPr>
            <p:nvPr/>
          </p:nvSpPr>
          <p:spPr bwMode="auto">
            <a:xfrm>
              <a:off x="3904" y="250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33" name="Rectangle 200">
              <a:extLst>
                <a:ext uri="{FF2B5EF4-FFF2-40B4-BE49-F238E27FC236}">
                  <a16:creationId xmlns:a16="http://schemas.microsoft.com/office/drawing/2014/main" id="{B9F4C09A-DCC1-0CDE-CC29-37B32384A4CC}"/>
                </a:ext>
              </a:extLst>
            </p:cNvPr>
            <p:cNvSpPr>
              <a:spLocks noChangeArrowheads="1"/>
            </p:cNvSpPr>
            <p:nvPr/>
          </p:nvSpPr>
          <p:spPr bwMode="auto">
            <a:xfrm>
              <a:off x="3774" y="2446"/>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P1</a:t>
              </a:r>
              <a:endParaRPr lang="en-US" altLang="en-US" sz="2800" b="1"/>
            </a:p>
          </p:txBody>
        </p:sp>
        <p:sp>
          <p:nvSpPr>
            <p:cNvPr id="21734" name="Line 201">
              <a:extLst>
                <a:ext uri="{FF2B5EF4-FFF2-40B4-BE49-F238E27FC236}">
                  <a16:creationId xmlns:a16="http://schemas.microsoft.com/office/drawing/2014/main" id="{A872AE50-03C0-2C70-0EB0-C7BF80A663DF}"/>
                </a:ext>
              </a:extLst>
            </p:cNvPr>
            <p:cNvSpPr>
              <a:spLocks noChangeShapeType="1"/>
            </p:cNvSpPr>
            <p:nvPr/>
          </p:nvSpPr>
          <p:spPr bwMode="auto">
            <a:xfrm>
              <a:off x="2112" y="287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35" name="Rectangle 202">
              <a:extLst>
                <a:ext uri="{FF2B5EF4-FFF2-40B4-BE49-F238E27FC236}">
                  <a16:creationId xmlns:a16="http://schemas.microsoft.com/office/drawing/2014/main" id="{880F44B9-2A16-E114-A093-2AA5DFC9BFB8}"/>
                </a:ext>
              </a:extLst>
            </p:cNvPr>
            <p:cNvSpPr>
              <a:spLocks noChangeArrowheads="1"/>
            </p:cNvSpPr>
            <p:nvPr/>
          </p:nvSpPr>
          <p:spPr bwMode="auto">
            <a:xfrm>
              <a:off x="1982" y="2824"/>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P1</a:t>
              </a:r>
              <a:endParaRPr lang="en-US" altLang="en-US" sz="2800" b="1"/>
            </a:p>
          </p:txBody>
        </p:sp>
        <p:sp>
          <p:nvSpPr>
            <p:cNvPr id="21736" name="Line 203">
              <a:extLst>
                <a:ext uri="{FF2B5EF4-FFF2-40B4-BE49-F238E27FC236}">
                  <a16:creationId xmlns:a16="http://schemas.microsoft.com/office/drawing/2014/main" id="{79708601-065E-FDC5-A846-FD4AF0687B67}"/>
                </a:ext>
              </a:extLst>
            </p:cNvPr>
            <p:cNvSpPr>
              <a:spLocks noChangeShapeType="1"/>
            </p:cNvSpPr>
            <p:nvPr/>
          </p:nvSpPr>
          <p:spPr bwMode="auto">
            <a:xfrm>
              <a:off x="2112" y="250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37" name="Rectangle 204">
              <a:extLst>
                <a:ext uri="{FF2B5EF4-FFF2-40B4-BE49-F238E27FC236}">
                  <a16:creationId xmlns:a16="http://schemas.microsoft.com/office/drawing/2014/main" id="{48B8C00A-1BCB-92B0-759C-1ABFD39774D9}"/>
                </a:ext>
              </a:extLst>
            </p:cNvPr>
            <p:cNvSpPr>
              <a:spLocks noChangeArrowheads="1"/>
            </p:cNvSpPr>
            <p:nvPr/>
          </p:nvSpPr>
          <p:spPr bwMode="auto">
            <a:xfrm>
              <a:off x="1982" y="2446"/>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P1</a:t>
              </a:r>
              <a:endParaRPr lang="en-US" altLang="en-US" sz="2800" b="1"/>
            </a:p>
          </p:txBody>
        </p:sp>
        <p:sp>
          <p:nvSpPr>
            <p:cNvPr id="21738" name="Line 205">
              <a:extLst>
                <a:ext uri="{FF2B5EF4-FFF2-40B4-BE49-F238E27FC236}">
                  <a16:creationId xmlns:a16="http://schemas.microsoft.com/office/drawing/2014/main" id="{2F99A243-7DA4-D6EF-28EE-69C0E0E1498D}"/>
                </a:ext>
              </a:extLst>
            </p:cNvPr>
            <p:cNvSpPr>
              <a:spLocks noChangeShapeType="1"/>
            </p:cNvSpPr>
            <p:nvPr/>
          </p:nvSpPr>
          <p:spPr bwMode="auto">
            <a:xfrm>
              <a:off x="483" y="314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39" name="Rectangle 206">
              <a:extLst>
                <a:ext uri="{FF2B5EF4-FFF2-40B4-BE49-F238E27FC236}">
                  <a16:creationId xmlns:a16="http://schemas.microsoft.com/office/drawing/2014/main" id="{C6DBF035-1FA6-CBED-2FC6-E5EF78550009}"/>
                </a:ext>
              </a:extLst>
            </p:cNvPr>
            <p:cNvSpPr>
              <a:spLocks noChangeArrowheads="1"/>
            </p:cNvSpPr>
            <p:nvPr/>
          </p:nvSpPr>
          <p:spPr bwMode="auto">
            <a:xfrm>
              <a:off x="353" y="3094"/>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P1</a:t>
              </a:r>
              <a:endParaRPr lang="en-US" altLang="en-US" sz="2800" b="1"/>
            </a:p>
          </p:txBody>
        </p:sp>
        <p:sp>
          <p:nvSpPr>
            <p:cNvPr id="21740" name="Line 207">
              <a:extLst>
                <a:ext uri="{FF2B5EF4-FFF2-40B4-BE49-F238E27FC236}">
                  <a16:creationId xmlns:a16="http://schemas.microsoft.com/office/drawing/2014/main" id="{0630BF51-21CB-6BCF-FB8A-43ED55B4AC0C}"/>
                </a:ext>
              </a:extLst>
            </p:cNvPr>
            <p:cNvSpPr>
              <a:spLocks noChangeShapeType="1"/>
            </p:cNvSpPr>
            <p:nvPr/>
          </p:nvSpPr>
          <p:spPr bwMode="auto">
            <a:xfrm>
              <a:off x="483" y="341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41" name="Rectangle 208">
              <a:extLst>
                <a:ext uri="{FF2B5EF4-FFF2-40B4-BE49-F238E27FC236}">
                  <a16:creationId xmlns:a16="http://schemas.microsoft.com/office/drawing/2014/main" id="{05244E00-853E-859C-0AE7-13DCC6D39FA7}"/>
                </a:ext>
              </a:extLst>
            </p:cNvPr>
            <p:cNvSpPr>
              <a:spLocks noChangeArrowheads="1"/>
            </p:cNvSpPr>
            <p:nvPr/>
          </p:nvSpPr>
          <p:spPr bwMode="auto">
            <a:xfrm>
              <a:off x="353" y="3364"/>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P1</a:t>
              </a:r>
              <a:endParaRPr lang="en-US" altLang="en-US" sz="2800" b="1"/>
            </a:p>
          </p:txBody>
        </p:sp>
        <p:sp>
          <p:nvSpPr>
            <p:cNvPr id="21742" name="Line 209">
              <a:extLst>
                <a:ext uri="{FF2B5EF4-FFF2-40B4-BE49-F238E27FC236}">
                  <a16:creationId xmlns:a16="http://schemas.microsoft.com/office/drawing/2014/main" id="{AB87AA0D-E923-450F-A222-5ABE8C710923}"/>
                </a:ext>
              </a:extLst>
            </p:cNvPr>
            <p:cNvSpPr>
              <a:spLocks noChangeShapeType="1"/>
            </p:cNvSpPr>
            <p:nvPr/>
          </p:nvSpPr>
          <p:spPr bwMode="auto">
            <a:xfrm>
              <a:off x="1080" y="3256"/>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43" name="Line 210">
              <a:extLst>
                <a:ext uri="{FF2B5EF4-FFF2-40B4-BE49-F238E27FC236}">
                  <a16:creationId xmlns:a16="http://schemas.microsoft.com/office/drawing/2014/main" id="{D319BEF2-B987-546A-588D-A69B67710421}"/>
                </a:ext>
              </a:extLst>
            </p:cNvPr>
            <p:cNvSpPr>
              <a:spLocks noChangeShapeType="1"/>
            </p:cNvSpPr>
            <p:nvPr/>
          </p:nvSpPr>
          <p:spPr bwMode="auto">
            <a:xfrm>
              <a:off x="972" y="3040"/>
              <a:ext cx="10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44" name="Rectangle 211">
              <a:extLst>
                <a:ext uri="{FF2B5EF4-FFF2-40B4-BE49-F238E27FC236}">
                  <a16:creationId xmlns:a16="http://schemas.microsoft.com/office/drawing/2014/main" id="{70BC284D-5D59-3224-036A-E30C9772309C}"/>
                </a:ext>
              </a:extLst>
            </p:cNvPr>
            <p:cNvSpPr>
              <a:spLocks noChangeArrowheads="1"/>
            </p:cNvSpPr>
            <p:nvPr/>
          </p:nvSpPr>
          <p:spPr bwMode="auto">
            <a:xfrm>
              <a:off x="1080" y="3040"/>
              <a:ext cx="11" cy="227"/>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45" name="Line 212">
              <a:extLst>
                <a:ext uri="{FF2B5EF4-FFF2-40B4-BE49-F238E27FC236}">
                  <a16:creationId xmlns:a16="http://schemas.microsoft.com/office/drawing/2014/main" id="{6133C468-09F3-F2D5-3E2A-181D29671DFB}"/>
                </a:ext>
              </a:extLst>
            </p:cNvPr>
            <p:cNvSpPr>
              <a:spLocks noChangeShapeType="1"/>
            </p:cNvSpPr>
            <p:nvPr/>
          </p:nvSpPr>
          <p:spPr bwMode="auto">
            <a:xfrm>
              <a:off x="972" y="3364"/>
              <a:ext cx="10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46" name="Line 213">
              <a:extLst>
                <a:ext uri="{FF2B5EF4-FFF2-40B4-BE49-F238E27FC236}">
                  <a16:creationId xmlns:a16="http://schemas.microsoft.com/office/drawing/2014/main" id="{E4091BB0-B1C5-EAFE-FAA1-B559407DAADD}"/>
                </a:ext>
              </a:extLst>
            </p:cNvPr>
            <p:cNvSpPr>
              <a:spLocks noChangeShapeType="1"/>
            </p:cNvSpPr>
            <p:nvPr/>
          </p:nvSpPr>
          <p:spPr bwMode="auto">
            <a:xfrm>
              <a:off x="1080" y="3364"/>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47" name="Line 214">
              <a:extLst>
                <a:ext uri="{FF2B5EF4-FFF2-40B4-BE49-F238E27FC236}">
                  <a16:creationId xmlns:a16="http://schemas.microsoft.com/office/drawing/2014/main" id="{714ECB01-36EE-3F36-07DE-8E61B5550367}"/>
                </a:ext>
              </a:extLst>
            </p:cNvPr>
            <p:cNvSpPr>
              <a:spLocks noChangeShapeType="1"/>
            </p:cNvSpPr>
            <p:nvPr/>
          </p:nvSpPr>
          <p:spPr bwMode="auto">
            <a:xfrm>
              <a:off x="3904" y="3364"/>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48" name="Rectangle 215">
              <a:extLst>
                <a:ext uri="{FF2B5EF4-FFF2-40B4-BE49-F238E27FC236}">
                  <a16:creationId xmlns:a16="http://schemas.microsoft.com/office/drawing/2014/main" id="{3A187384-08B8-BA09-0940-1FC5B8C1A966}"/>
                </a:ext>
              </a:extLst>
            </p:cNvPr>
            <p:cNvSpPr>
              <a:spLocks noChangeArrowheads="1"/>
            </p:cNvSpPr>
            <p:nvPr/>
          </p:nvSpPr>
          <p:spPr bwMode="auto">
            <a:xfrm>
              <a:off x="3774" y="3310"/>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G1</a:t>
              </a:r>
              <a:endParaRPr lang="en-US" altLang="en-US" sz="2800" b="1"/>
            </a:p>
          </p:txBody>
        </p:sp>
        <p:sp>
          <p:nvSpPr>
            <p:cNvPr id="21749" name="Line 216">
              <a:extLst>
                <a:ext uri="{FF2B5EF4-FFF2-40B4-BE49-F238E27FC236}">
                  <a16:creationId xmlns:a16="http://schemas.microsoft.com/office/drawing/2014/main" id="{0FA480F3-EF3C-79E7-76C8-B68A278FEC32}"/>
                </a:ext>
              </a:extLst>
            </p:cNvPr>
            <p:cNvSpPr>
              <a:spLocks noChangeShapeType="1"/>
            </p:cNvSpPr>
            <p:nvPr/>
          </p:nvSpPr>
          <p:spPr bwMode="auto">
            <a:xfrm>
              <a:off x="2112" y="320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50" name="Rectangle 217">
              <a:extLst>
                <a:ext uri="{FF2B5EF4-FFF2-40B4-BE49-F238E27FC236}">
                  <a16:creationId xmlns:a16="http://schemas.microsoft.com/office/drawing/2014/main" id="{1B148661-8278-3940-3586-0E031E9AB321}"/>
                </a:ext>
              </a:extLst>
            </p:cNvPr>
            <p:cNvSpPr>
              <a:spLocks noChangeArrowheads="1"/>
            </p:cNvSpPr>
            <p:nvPr/>
          </p:nvSpPr>
          <p:spPr bwMode="auto">
            <a:xfrm>
              <a:off x="1982" y="3148"/>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G1</a:t>
              </a:r>
              <a:endParaRPr lang="en-US" altLang="en-US" sz="2800" b="1"/>
            </a:p>
          </p:txBody>
        </p:sp>
        <p:sp>
          <p:nvSpPr>
            <p:cNvPr id="21751" name="Line 218">
              <a:extLst>
                <a:ext uri="{FF2B5EF4-FFF2-40B4-BE49-F238E27FC236}">
                  <a16:creationId xmlns:a16="http://schemas.microsoft.com/office/drawing/2014/main" id="{94C5F3AD-11C5-5C09-D8B6-FA6C5E29FF1E}"/>
                </a:ext>
              </a:extLst>
            </p:cNvPr>
            <p:cNvSpPr>
              <a:spLocks noChangeShapeType="1"/>
            </p:cNvSpPr>
            <p:nvPr/>
          </p:nvSpPr>
          <p:spPr bwMode="auto">
            <a:xfrm>
              <a:off x="1080" y="347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52" name="Rectangle 219">
              <a:extLst>
                <a:ext uri="{FF2B5EF4-FFF2-40B4-BE49-F238E27FC236}">
                  <a16:creationId xmlns:a16="http://schemas.microsoft.com/office/drawing/2014/main" id="{D52AE5B8-A409-E2B1-E38B-32AFEFC4F886}"/>
                </a:ext>
              </a:extLst>
            </p:cNvPr>
            <p:cNvSpPr>
              <a:spLocks noChangeArrowheads="1"/>
            </p:cNvSpPr>
            <p:nvPr/>
          </p:nvSpPr>
          <p:spPr bwMode="auto">
            <a:xfrm>
              <a:off x="1080" y="3472"/>
              <a:ext cx="11" cy="226"/>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53" name="Rectangle 220">
              <a:extLst>
                <a:ext uri="{FF2B5EF4-FFF2-40B4-BE49-F238E27FC236}">
                  <a16:creationId xmlns:a16="http://schemas.microsoft.com/office/drawing/2014/main" id="{C0493E01-5D1B-F400-4DE7-C8B387578230}"/>
                </a:ext>
              </a:extLst>
            </p:cNvPr>
            <p:cNvSpPr>
              <a:spLocks noChangeArrowheads="1"/>
            </p:cNvSpPr>
            <p:nvPr/>
          </p:nvSpPr>
          <p:spPr bwMode="auto">
            <a:xfrm>
              <a:off x="483" y="3688"/>
              <a:ext cx="608" cy="1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54" name="Rectangle 221">
              <a:extLst>
                <a:ext uri="{FF2B5EF4-FFF2-40B4-BE49-F238E27FC236}">
                  <a16:creationId xmlns:a16="http://schemas.microsoft.com/office/drawing/2014/main" id="{5C5F15E9-D1E5-5746-0EAC-DA436030E5CC}"/>
                </a:ext>
              </a:extLst>
            </p:cNvPr>
            <p:cNvSpPr>
              <a:spLocks noChangeArrowheads="1"/>
            </p:cNvSpPr>
            <p:nvPr/>
          </p:nvSpPr>
          <p:spPr bwMode="auto">
            <a:xfrm>
              <a:off x="353" y="3634"/>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G1</a:t>
              </a:r>
              <a:endParaRPr lang="en-US" altLang="en-US" sz="2800" b="1"/>
            </a:p>
          </p:txBody>
        </p:sp>
        <p:sp>
          <p:nvSpPr>
            <p:cNvPr id="21755" name="Line 222">
              <a:extLst>
                <a:ext uri="{FF2B5EF4-FFF2-40B4-BE49-F238E27FC236}">
                  <a16:creationId xmlns:a16="http://schemas.microsoft.com/office/drawing/2014/main" id="{D2F0B621-C0A9-52CB-4DA7-D57899EA07CE}"/>
                </a:ext>
              </a:extLst>
            </p:cNvPr>
            <p:cNvSpPr>
              <a:spLocks noChangeShapeType="1"/>
            </p:cNvSpPr>
            <p:nvPr/>
          </p:nvSpPr>
          <p:spPr bwMode="auto">
            <a:xfrm>
              <a:off x="1569" y="3364"/>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56" name="Rectangle 223">
              <a:extLst>
                <a:ext uri="{FF2B5EF4-FFF2-40B4-BE49-F238E27FC236}">
                  <a16:creationId xmlns:a16="http://schemas.microsoft.com/office/drawing/2014/main" id="{880923CA-9B96-6EC3-4419-7000F9EFDE78}"/>
                </a:ext>
              </a:extLst>
            </p:cNvPr>
            <p:cNvSpPr>
              <a:spLocks noChangeArrowheads="1"/>
            </p:cNvSpPr>
            <p:nvPr/>
          </p:nvSpPr>
          <p:spPr bwMode="auto">
            <a:xfrm>
              <a:off x="1710" y="3310"/>
              <a:ext cx="1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C2</a:t>
              </a:r>
              <a:endParaRPr lang="en-US" altLang="en-US" sz="2800" b="1"/>
            </a:p>
          </p:txBody>
        </p:sp>
        <p:sp>
          <p:nvSpPr>
            <p:cNvPr id="21757" name="Line 224">
              <a:extLst>
                <a:ext uri="{FF2B5EF4-FFF2-40B4-BE49-F238E27FC236}">
                  <a16:creationId xmlns:a16="http://schemas.microsoft.com/office/drawing/2014/main" id="{9C54DCFE-111B-485C-32F7-BD1F2C5045A1}"/>
                </a:ext>
              </a:extLst>
            </p:cNvPr>
            <p:cNvSpPr>
              <a:spLocks noChangeShapeType="1"/>
            </p:cNvSpPr>
            <p:nvPr/>
          </p:nvSpPr>
          <p:spPr bwMode="auto">
            <a:xfrm>
              <a:off x="3904" y="347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58" name="Rectangle 225">
              <a:extLst>
                <a:ext uri="{FF2B5EF4-FFF2-40B4-BE49-F238E27FC236}">
                  <a16:creationId xmlns:a16="http://schemas.microsoft.com/office/drawing/2014/main" id="{ED75B71E-56E2-606E-5BD6-0B03DCCE158D}"/>
                </a:ext>
              </a:extLst>
            </p:cNvPr>
            <p:cNvSpPr>
              <a:spLocks noChangeArrowheads="1"/>
            </p:cNvSpPr>
            <p:nvPr/>
          </p:nvSpPr>
          <p:spPr bwMode="auto">
            <a:xfrm>
              <a:off x="3774" y="3418"/>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P2</a:t>
              </a:r>
              <a:endParaRPr lang="en-US" altLang="en-US" sz="2800" b="1"/>
            </a:p>
          </p:txBody>
        </p:sp>
        <p:sp>
          <p:nvSpPr>
            <p:cNvPr id="21759" name="Line 226">
              <a:extLst>
                <a:ext uri="{FF2B5EF4-FFF2-40B4-BE49-F238E27FC236}">
                  <a16:creationId xmlns:a16="http://schemas.microsoft.com/office/drawing/2014/main" id="{1E83D9B1-3DC3-DBE2-EDD6-66F4D735B2CD}"/>
                </a:ext>
              </a:extLst>
            </p:cNvPr>
            <p:cNvSpPr>
              <a:spLocks noChangeShapeType="1"/>
            </p:cNvSpPr>
            <p:nvPr/>
          </p:nvSpPr>
          <p:spPr bwMode="auto">
            <a:xfrm>
              <a:off x="3904" y="3094"/>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60" name="Rectangle 227">
              <a:extLst>
                <a:ext uri="{FF2B5EF4-FFF2-40B4-BE49-F238E27FC236}">
                  <a16:creationId xmlns:a16="http://schemas.microsoft.com/office/drawing/2014/main" id="{C1595D16-2E3B-B6D3-F7B9-0EF5B035CCAD}"/>
                </a:ext>
              </a:extLst>
            </p:cNvPr>
            <p:cNvSpPr>
              <a:spLocks noChangeArrowheads="1"/>
            </p:cNvSpPr>
            <p:nvPr/>
          </p:nvSpPr>
          <p:spPr bwMode="auto">
            <a:xfrm>
              <a:off x="3774" y="3040"/>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P2</a:t>
              </a:r>
              <a:endParaRPr lang="en-US" altLang="en-US" sz="2800" b="1"/>
            </a:p>
          </p:txBody>
        </p:sp>
        <p:sp>
          <p:nvSpPr>
            <p:cNvPr id="21761" name="Line 228">
              <a:extLst>
                <a:ext uri="{FF2B5EF4-FFF2-40B4-BE49-F238E27FC236}">
                  <a16:creationId xmlns:a16="http://schemas.microsoft.com/office/drawing/2014/main" id="{B42E9E49-4EEA-E6D2-8CAD-52BF8703D7DB}"/>
                </a:ext>
              </a:extLst>
            </p:cNvPr>
            <p:cNvSpPr>
              <a:spLocks noChangeShapeType="1"/>
            </p:cNvSpPr>
            <p:nvPr/>
          </p:nvSpPr>
          <p:spPr bwMode="auto">
            <a:xfrm>
              <a:off x="3904" y="260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62" name="Rectangle 229">
              <a:extLst>
                <a:ext uri="{FF2B5EF4-FFF2-40B4-BE49-F238E27FC236}">
                  <a16:creationId xmlns:a16="http://schemas.microsoft.com/office/drawing/2014/main" id="{2BBB534C-AE71-FE61-66C4-4A70A85108D5}"/>
                </a:ext>
              </a:extLst>
            </p:cNvPr>
            <p:cNvSpPr>
              <a:spLocks noChangeArrowheads="1"/>
            </p:cNvSpPr>
            <p:nvPr/>
          </p:nvSpPr>
          <p:spPr bwMode="auto">
            <a:xfrm>
              <a:off x="3774" y="2554"/>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P2</a:t>
              </a:r>
              <a:endParaRPr lang="en-US" altLang="en-US" sz="2800" b="1"/>
            </a:p>
          </p:txBody>
        </p:sp>
        <p:sp>
          <p:nvSpPr>
            <p:cNvPr id="21763" name="Line 230">
              <a:extLst>
                <a:ext uri="{FF2B5EF4-FFF2-40B4-BE49-F238E27FC236}">
                  <a16:creationId xmlns:a16="http://schemas.microsoft.com/office/drawing/2014/main" id="{9D82DE6C-91A6-53F8-C4EA-613D14F7A13B}"/>
                </a:ext>
              </a:extLst>
            </p:cNvPr>
            <p:cNvSpPr>
              <a:spLocks noChangeShapeType="1"/>
            </p:cNvSpPr>
            <p:nvPr/>
          </p:nvSpPr>
          <p:spPr bwMode="auto">
            <a:xfrm>
              <a:off x="2112" y="331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64" name="Rectangle 231">
              <a:extLst>
                <a:ext uri="{FF2B5EF4-FFF2-40B4-BE49-F238E27FC236}">
                  <a16:creationId xmlns:a16="http://schemas.microsoft.com/office/drawing/2014/main" id="{1EA92A5A-6990-29DB-6AA4-CD7D02795AD5}"/>
                </a:ext>
              </a:extLst>
            </p:cNvPr>
            <p:cNvSpPr>
              <a:spLocks noChangeArrowheads="1"/>
            </p:cNvSpPr>
            <p:nvPr/>
          </p:nvSpPr>
          <p:spPr bwMode="auto">
            <a:xfrm>
              <a:off x="1982" y="3256"/>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P2</a:t>
              </a:r>
              <a:endParaRPr lang="en-US" altLang="en-US" sz="2800" b="1"/>
            </a:p>
          </p:txBody>
        </p:sp>
        <p:sp>
          <p:nvSpPr>
            <p:cNvPr id="21765" name="Line 232">
              <a:extLst>
                <a:ext uri="{FF2B5EF4-FFF2-40B4-BE49-F238E27FC236}">
                  <a16:creationId xmlns:a16="http://schemas.microsoft.com/office/drawing/2014/main" id="{C2B0D3E7-184E-A3F9-B9D8-407488DEB89F}"/>
                </a:ext>
              </a:extLst>
            </p:cNvPr>
            <p:cNvSpPr>
              <a:spLocks noChangeShapeType="1"/>
            </p:cNvSpPr>
            <p:nvPr/>
          </p:nvSpPr>
          <p:spPr bwMode="auto">
            <a:xfrm>
              <a:off x="2112" y="2986"/>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66" name="Rectangle 233">
              <a:extLst>
                <a:ext uri="{FF2B5EF4-FFF2-40B4-BE49-F238E27FC236}">
                  <a16:creationId xmlns:a16="http://schemas.microsoft.com/office/drawing/2014/main" id="{350C33A2-FC19-9CF8-EB64-693D7102951E}"/>
                </a:ext>
              </a:extLst>
            </p:cNvPr>
            <p:cNvSpPr>
              <a:spLocks noChangeArrowheads="1"/>
            </p:cNvSpPr>
            <p:nvPr/>
          </p:nvSpPr>
          <p:spPr bwMode="auto">
            <a:xfrm>
              <a:off x="1982" y="2932"/>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P2</a:t>
              </a:r>
              <a:endParaRPr lang="en-US" altLang="en-US" sz="2800" b="1"/>
            </a:p>
          </p:txBody>
        </p:sp>
        <p:sp>
          <p:nvSpPr>
            <p:cNvPr id="21767" name="Line 234">
              <a:extLst>
                <a:ext uri="{FF2B5EF4-FFF2-40B4-BE49-F238E27FC236}">
                  <a16:creationId xmlns:a16="http://schemas.microsoft.com/office/drawing/2014/main" id="{789CFB8D-23F5-E5F7-CD82-53E14D3F5563}"/>
                </a:ext>
              </a:extLst>
            </p:cNvPr>
            <p:cNvSpPr>
              <a:spLocks noChangeShapeType="1"/>
            </p:cNvSpPr>
            <p:nvPr/>
          </p:nvSpPr>
          <p:spPr bwMode="auto">
            <a:xfrm>
              <a:off x="2112" y="260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68" name="Rectangle 235">
              <a:extLst>
                <a:ext uri="{FF2B5EF4-FFF2-40B4-BE49-F238E27FC236}">
                  <a16:creationId xmlns:a16="http://schemas.microsoft.com/office/drawing/2014/main" id="{C32CCBC5-24FB-B448-8426-2DF646AC4DBA}"/>
                </a:ext>
              </a:extLst>
            </p:cNvPr>
            <p:cNvSpPr>
              <a:spLocks noChangeArrowheads="1"/>
            </p:cNvSpPr>
            <p:nvPr/>
          </p:nvSpPr>
          <p:spPr bwMode="auto">
            <a:xfrm>
              <a:off x="1982" y="2554"/>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P2</a:t>
              </a:r>
              <a:endParaRPr lang="en-US" altLang="en-US" sz="2800" b="1"/>
            </a:p>
          </p:txBody>
        </p:sp>
        <p:sp>
          <p:nvSpPr>
            <p:cNvPr id="21769" name="Line 236">
              <a:extLst>
                <a:ext uri="{FF2B5EF4-FFF2-40B4-BE49-F238E27FC236}">
                  <a16:creationId xmlns:a16="http://schemas.microsoft.com/office/drawing/2014/main" id="{D53F6487-81BF-2C39-1337-26788AB75212}"/>
                </a:ext>
              </a:extLst>
            </p:cNvPr>
            <p:cNvSpPr>
              <a:spLocks noChangeShapeType="1"/>
            </p:cNvSpPr>
            <p:nvPr/>
          </p:nvSpPr>
          <p:spPr bwMode="auto">
            <a:xfrm>
              <a:off x="2873" y="3040"/>
              <a:ext cx="10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70" name="Line 237">
              <a:extLst>
                <a:ext uri="{FF2B5EF4-FFF2-40B4-BE49-F238E27FC236}">
                  <a16:creationId xmlns:a16="http://schemas.microsoft.com/office/drawing/2014/main" id="{03161EE8-F458-100E-F4A3-B64951656C2E}"/>
                </a:ext>
              </a:extLst>
            </p:cNvPr>
            <p:cNvSpPr>
              <a:spLocks noChangeShapeType="1"/>
            </p:cNvSpPr>
            <p:nvPr/>
          </p:nvSpPr>
          <p:spPr bwMode="auto">
            <a:xfrm>
              <a:off x="2601" y="2446"/>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71" name="Rectangle 238">
              <a:extLst>
                <a:ext uri="{FF2B5EF4-FFF2-40B4-BE49-F238E27FC236}">
                  <a16:creationId xmlns:a16="http://schemas.microsoft.com/office/drawing/2014/main" id="{9453CAE4-54BF-901A-8EF0-456E7F4B879D}"/>
                </a:ext>
              </a:extLst>
            </p:cNvPr>
            <p:cNvSpPr>
              <a:spLocks noChangeArrowheads="1"/>
            </p:cNvSpPr>
            <p:nvPr/>
          </p:nvSpPr>
          <p:spPr bwMode="auto">
            <a:xfrm>
              <a:off x="2710" y="2446"/>
              <a:ext cx="173" cy="1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72" name="Rectangle 239">
              <a:extLst>
                <a:ext uri="{FF2B5EF4-FFF2-40B4-BE49-F238E27FC236}">
                  <a16:creationId xmlns:a16="http://schemas.microsoft.com/office/drawing/2014/main" id="{A5621085-3E36-DBCA-422F-196D15E5781A}"/>
                </a:ext>
              </a:extLst>
            </p:cNvPr>
            <p:cNvSpPr>
              <a:spLocks noChangeArrowheads="1"/>
            </p:cNvSpPr>
            <p:nvPr/>
          </p:nvSpPr>
          <p:spPr bwMode="auto">
            <a:xfrm>
              <a:off x="2873" y="2446"/>
              <a:ext cx="10" cy="60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73" name="Line 240">
              <a:extLst>
                <a:ext uri="{FF2B5EF4-FFF2-40B4-BE49-F238E27FC236}">
                  <a16:creationId xmlns:a16="http://schemas.microsoft.com/office/drawing/2014/main" id="{CA7D632F-9AA0-9C35-C098-DFBFECDF948E}"/>
                </a:ext>
              </a:extLst>
            </p:cNvPr>
            <p:cNvSpPr>
              <a:spLocks noChangeShapeType="1"/>
            </p:cNvSpPr>
            <p:nvPr/>
          </p:nvSpPr>
          <p:spPr bwMode="auto">
            <a:xfrm>
              <a:off x="2873" y="3148"/>
              <a:ext cx="10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74" name="Line 241">
              <a:extLst>
                <a:ext uri="{FF2B5EF4-FFF2-40B4-BE49-F238E27FC236}">
                  <a16:creationId xmlns:a16="http://schemas.microsoft.com/office/drawing/2014/main" id="{B188D8C1-8E15-AE47-6EBE-F60FF17751B2}"/>
                </a:ext>
              </a:extLst>
            </p:cNvPr>
            <p:cNvSpPr>
              <a:spLocks noChangeShapeType="1"/>
            </p:cNvSpPr>
            <p:nvPr/>
          </p:nvSpPr>
          <p:spPr bwMode="auto">
            <a:xfrm>
              <a:off x="2601" y="2878"/>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75" name="Rectangle 242">
              <a:extLst>
                <a:ext uri="{FF2B5EF4-FFF2-40B4-BE49-F238E27FC236}">
                  <a16:creationId xmlns:a16="http://schemas.microsoft.com/office/drawing/2014/main" id="{88A156BF-5EBF-B52A-855A-52EB97A5C2EC}"/>
                </a:ext>
              </a:extLst>
            </p:cNvPr>
            <p:cNvSpPr>
              <a:spLocks noChangeArrowheads="1"/>
            </p:cNvSpPr>
            <p:nvPr/>
          </p:nvSpPr>
          <p:spPr bwMode="auto">
            <a:xfrm>
              <a:off x="2710" y="2878"/>
              <a:ext cx="65" cy="1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76" name="Rectangle 243">
              <a:extLst>
                <a:ext uri="{FF2B5EF4-FFF2-40B4-BE49-F238E27FC236}">
                  <a16:creationId xmlns:a16="http://schemas.microsoft.com/office/drawing/2014/main" id="{D0E5B64A-9536-04A5-4ACC-901F2882D388}"/>
                </a:ext>
              </a:extLst>
            </p:cNvPr>
            <p:cNvSpPr>
              <a:spLocks noChangeArrowheads="1"/>
            </p:cNvSpPr>
            <p:nvPr/>
          </p:nvSpPr>
          <p:spPr bwMode="auto">
            <a:xfrm>
              <a:off x="2764" y="2878"/>
              <a:ext cx="11" cy="28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77" name="Rectangle 244">
              <a:extLst>
                <a:ext uri="{FF2B5EF4-FFF2-40B4-BE49-F238E27FC236}">
                  <a16:creationId xmlns:a16="http://schemas.microsoft.com/office/drawing/2014/main" id="{872EDA33-E260-48B8-E881-22A786E05542}"/>
                </a:ext>
              </a:extLst>
            </p:cNvPr>
            <p:cNvSpPr>
              <a:spLocks noChangeArrowheads="1"/>
            </p:cNvSpPr>
            <p:nvPr/>
          </p:nvSpPr>
          <p:spPr bwMode="auto">
            <a:xfrm>
              <a:off x="2764" y="3148"/>
              <a:ext cx="119" cy="1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78" name="Line 245">
              <a:extLst>
                <a:ext uri="{FF2B5EF4-FFF2-40B4-BE49-F238E27FC236}">
                  <a16:creationId xmlns:a16="http://schemas.microsoft.com/office/drawing/2014/main" id="{E43DB4F9-3590-EB1A-FDE5-AE3C091042E3}"/>
                </a:ext>
              </a:extLst>
            </p:cNvPr>
            <p:cNvSpPr>
              <a:spLocks noChangeShapeType="1"/>
            </p:cNvSpPr>
            <p:nvPr/>
          </p:nvSpPr>
          <p:spPr bwMode="auto">
            <a:xfrm>
              <a:off x="2873" y="3256"/>
              <a:ext cx="10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79" name="Line 246">
              <a:extLst>
                <a:ext uri="{FF2B5EF4-FFF2-40B4-BE49-F238E27FC236}">
                  <a16:creationId xmlns:a16="http://schemas.microsoft.com/office/drawing/2014/main" id="{56E07E76-363F-E01E-5BCD-1BEBAB67535C}"/>
                </a:ext>
              </a:extLst>
            </p:cNvPr>
            <p:cNvSpPr>
              <a:spLocks noChangeShapeType="1"/>
            </p:cNvSpPr>
            <p:nvPr/>
          </p:nvSpPr>
          <p:spPr bwMode="auto">
            <a:xfrm>
              <a:off x="2601" y="3256"/>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80" name="Rectangle 247">
              <a:extLst>
                <a:ext uri="{FF2B5EF4-FFF2-40B4-BE49-F238E27FC236}">
                  <a16:creationId xmlns:a16="http://schemas.microsoft.com/office/drawing/2014/main" id="{92B4B031-F3C0-EC6E-A977-D766B979F401}"/>
                </a:ext>
              </a:extLst>
            </p:cNvPr>
            <p:cNvSpPr>
              <a:spLocks noChangeArrowheads="1"/>
            </p:cNvSpPr>
            <p:nvPr/>
          </p:nvSpPr>
          <p:spPr bwMode="auto">
            <a:xfrm>
              <a:off x="2710" y="3256"/>
              <a:ext cx="173" cy="1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81" name="Line 248">
              <a:extLst>
                <a:ext uri="{FF2B5EF4-FFF2-40B4-BE49-F238E27FC236}">
                  <a16:creationId xmlns:a16="http://schemas.microsoft.com/office/drawing/2014/main" id="{967AF9DB-A55D-01B0-F135-66E5A9051DBD}"/>
                </a:ext>
              </a:extLst>
            </p:cNvPr>
            <p:cNvSpPr>
              <a:spLocks noChangeShapeType="1"/>
            </p:cNvSpPr>
            <p:nvPr/>
          </p:nvSpPr>
          <p:spPr bwMode="auto">
            <a:xfrm>
              <a:off x="3904" y="374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82" name="Rectangle 249">
              <a:extLst>
                <a:ext uri="{FF2B5EF4-FFF2-40B4-BE49-F238E27FC236}">
                  <a16:creationId xmlns:a16="http://schemas.microsoft.com/office/drawing/2014/main" id="{C216BEFA-8807-1F35-0AAA-DFEC2479E14C}"/>
                </a:ext>
              </a:extLst>
            </p:cNvPr>
            <p:cNvSpPr>
              <a:spLocks noChangeArrowheads="1"/>
            </p:cNvSpPr>
            <p:nvPr/>
          </p:nvSpPr>
          <p:spPr bwMode="auto">
            <a:xfrm>
              <a:off x="3774" y="3688"/>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G2</a:t>
              </a:r>
              <a:endParaRPr lang="en-US" altLang="en-US" sz="2800" b="1"/>
            </a:p>
          </p:txBody>
        </p:sp>
        <p:sp>
          <p:nvSpPr>
            <p:cNvPr id="21783" name="Line 250">
              <a:extLst>
                <a:ext uri="{FF2B5EF4-FFF2-40B4-BE49-F238E27FC236}">
                  <a16:creationId xmlns:a16="http://schemas.microsoft.com/office/drawing/2014/main" id="{2BC6C0D9-037C-FE32-CF00-E7DEC3B5389D}"/>
                </a:ext>
              </a:extLst>
            </p:cNvPr>
            <p:cNvSpPr>
              <a:spLocks noChangeShapeType="1"/>
            </p:cNvSpPr>
            <p:nvPr/>
          </p:nvSpPr>
          <p:spPr bwMode="auto">
            <a:xfrm>
              <a:off x="2873" y="3364"/>
              <a:ext cx="10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84" name="Rectangle 251">
              <a:extLst>
                <a:ext uri="{FF2B5EF4-FFF2-40B4-BE49-F238E27FC236}">
                  <a16:creationId xmlns:a16="http://schemas.microsoft.com/office/drawing/2014/main" id="{4ED38F13-78AF-D03D-D46F-592A48562DFA}"/>
                </a:ext>
              </a:extLst>
            </p:cNvPr>
            <p:cNvSpPr>
              <a:spLocks noChangeArrowheads="1"/>
            </p:cNvSpPr>
            <p:nvPr/>
          </p:nvSpPr>
          <p:spPr bwMode="auto">
            <a:xfrm>
              <a:off x="2873" y="3364"/>
              <a:ext cx="10" cy="227"/>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85" name="Rectangle 252">
              <a:extLst>
                <a:ext uri="{FF2B5EF4-FFF2-40B4-BE49-F238E27FC236}">
                  <a16:creationId xmlns:a16="http://schemas.microsoft.com/office/drawing/2014/main" id="{9EF4BD80-1DDB-2BC1-60C8-A35FF22A4B8A}"/>
                </a:ext>
              </a:extLst>
            </p:cNvPr>
            <p:cNvSpPr>
              <a:spLocks noChangeArrowheads="1"/>
            </p:cNvSpPr>
            <p:nvPr/>
          </p:nvSpPr>
          <p:spPr bwMode="auto">
            <a:xfrm>
              <a:off x="2112" y="3580"/>
              <a:ext cx="771" cy="11"/>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786" name="Rectangle 253">
              <a:extLst>
                <a:ext uri="{FF2B5EF4-FFF2-40B4-BE49-F238E27FC236}">
                  <a16:creationId xmlns:a16="http://schemas.microsoft.com/office/drawing/2014/main" id="{12A0CD9F-87FF-1C52-FDF6-1525CF48B413}"/>
                </a:ext>
              </a:extLst>
            </p:cNvPr>
            <p:cNvSpPr>
              <a:spLocks noChangeArrowheads="1"/>
            </p:cNvSpPr>
            <p:nvPr/>
          </p:nvSpPr>
          <p:spPr bwMode="auto">
            <a:xfrm>
              <a:off x="1982" y="3526"/>
              <a:ext cx="1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G2</a:t>
              </a:r>
              <a:endParaRPr lang="en-US" altLang="en-US" sz="2800" b="1"/>
            </a:p>
          </p:txBody>
        </p:sp>
        <p:sp>
          <p:nvSpPr>
            <p:cNvPr id="21787" name="Line 254">
              <a:extLst>
                <a:ext uri="{FF2B5EF4-FFF2-40B4-BE49-F238E27FC236}">
                  <a16:creationId xmlns:a16="http://schemas.microsoft.com/office/drawing/2014/main" id="{0C38DC8E-D8FA-D11F-76B2-AB0D9B3F9869}"/>
                </a:ext>
              </a:extLst>
            </p:cNvPr>
            <p:cNvSpPr>
              <a:spLocks noChangeShapeType="1"/>
            </p:cNvSpPr>
            <p:nvPr/>
          </p:nvSpPr>
          <p:spPr bwMode="auto">
            <a:xfrm>
              <a:off x="3361" y="3202"/>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88" name="Rectangle 255">
              <a:extLst>
                <a:ext uri="{FF2B5EF4-FFF2-40B4-BE49-F238E27FC236}">
                  <a16:creationId xmlns:a16="http://schemas.microsoft.com/office/drawing/2014/main" id="{38BDB66B-0406-5584-2F30-5D6D4FD90754}"/>
                </a:ext>
              </a:extLst>
            </p:cNvPr>
            <p:cNvSpPr>
              <a:spLocks noChangeArrowheads="1"/>
            </p:cNvSpPr>
            <p:nvPr/>
          </p:nvSpPr>
          <p:spPr bwMode="auto">
            <a:xfrm>
              <a:off x="3503" y="3148"/>
              <a:ext cx="123"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C3</a:t>
              </a:r>
              <a:endParaRPr lang="en-US" altLang="en-US" sz="2800" b="1"/>
            </a:p>
          </p:txBody>
        </p:sp>
        <p:sp>
          <p:nvSpPr>
            <p:cNvPr id="21789" name="Line 256">
              <a:extLst>
                <a:ext uri="{FF2B5EF4-FFF2-40B4-BE49-F238E27FC236}">
                  <a16:creationId xmlns:a16="http://schemas.microsoft.com/office/drawing/2014/main" id="{43D790F8-B672-1632-5D1D-37EEDE9F0D24}"/>
                </a:ext>
              </a:extLst>
            </p:cNvPr>
            <p:cNvSpPr>
              <a:spLocks noChangeShapeType="1"/>
            </p:cNvSpPr>
            <p:nvPr/>
          </p:nvSpPr>
          <p:spPr bwMode="auto">
            <a:xfrm>
              <a:off x="3904" y="385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790" name="Rectangle 257">
              <a:extLst>
                <a:ext uri="{FF2B5EF4-FFF2-40B4-BE49-F238E27FC236}">
                  <a16:creationId xmlns:a16="http://schemas.microsoft.com/office/drawing/2014/main" id="{9D99CCA7-6AC4-8B6C-6214-F3F875451A99}"/>
                </a:ext>
              </a:extLst>
            </p:cNvPr>
            <p:cNvSpPr>
              <a:spLocks noChangeArrowheads="1"/>
            </p:cNvSpPr>
            <p:nvPr/>
          </p:nvSpPr>
          <p:spPr bwMode="auto">
            <a:xfrm>
              <a:off x="3774" y="3796"/>
              <a:ext cx="11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P3</a:t>
              </a:r>
              <a:endParaRPr lang="en-US" altLang="en-US" sz="2800" b="1"/>
            </a:p>
          </p:txBody>
        </p:sp>
        <p:sp>
          <p:nvSpPr>
            <p:cNvPr id="21791" name="Line 258">
              <a:extLst>
                <a:ext uri="{FF2B5EF4-FFF2-40B4-BE49-F238E27FC236}">
                  <a16:creationId xmlns:a16="http://schemas.microsoft.com/office/drawing/2014/main" id="{22A5B4BF-8A5D-9E5F-0925-BE8839D186BA}"/>
                </a:ext>
              </a:extLst>
            </p:cNvPr>
            <p:cNvSpPr>
              <a:spLocks noChangeShapeType="1"/>
            </p:cNvSpPr>
            <p:nvPr/>
          </p:nvSpPr>
          <p:spPr bwMode="auto">
            <a:xfrm>
              <a:off x="3904" y="3580"/>
              <a:ext cx="10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grpSp>
      <p:sp>
        <p:nvSpPr>
          <p:cNvPr id="21565" name="Rectangle 259">
            <a:extLst>
              <a:ext uri="{FF2B5EF4-FFF2-40B4-BE49-F238E27FC236}">
                <a16:creationId xmlns:a16="http://schemas.microsoft.com/office/drawing/2014/main" id="{D7E88F37-A45C-9242-3F44-B87DCCD67237}"/>
              </a:ext>
            </a:extLst>
          </p:cNvPr>
          <p:cNvSpPr>
            <a:spLocks noChangeArrowheads="1"/>
          </p:cNvSpPr>
          <p:nvPr/>
        </p:nvSpPr>
        <p:spPr bwMode="auto">
          <a:xfrm>
            <a:off x="7515225" y="5597525"/>
            <a:ext cx="18755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P3</a:t>
            </a:r>
            <a:endParaRPr lang="en-US" altLang="en-US" sz="2800" b="1"/>
          </a:p>
        </p:txBody>
      </p:sp>
      <p:sp>
        <p:nvSpPr>
          <p:cNvPr id="21566" name="Line 260">
            <a:extLst>
              <a:ext uri="{FF2B5EF4-FFF2-40B4-BE49-F238E27FC236}">
                <a16:creationId xmlns:a16="http://schemas.microsoft.com/office/drawing/2014/main" id="{96E541FE-3B3A-58CC-9692-D1A1764BE947}"/>
              </a:ext>
            </a:extLst>
          </p:cNvPr>
          <p:cNvSpPr>
            <a:spLocks noChangeShapeType="1"/>
          </p:cNvSpPr>
          <p:nvPr/>
        </p:nvSpPr>
        <p:spPr bwMode="auto">
          <a:xfrm>
            <a:off x="7721600" y="5083175"/>
            <a:ext cx="173038"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67" name="Rectangle 261">
            <a:extLst>
              <a:ext uri="{FF2B5EF4-FFF2-40B4-BE49-F238E27FC236}">
                <a16:creationId xmlns:a16="http://schemas.microsoft.com/office/drawing/2014/main" id="{254DAFDF-438D-F3F1-240F-E5DAE77C52CB}"/>
              </a:ext>
            </a:extLst>
          </p:cNvPr>
          <p:cNvSpPr>
            <a:spLocks noChangeArrowheads="1"/>
          </p:cNvSpPr>
          <p:nvPr/>
        </p:nvSpPr>
        <p:spPr bwMode="auto">
          <a:xfrm>
            <a:off x="7515225" y="4997450"/>
            <a:ext cx="18755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P3</a:t>
            </a:r>
            <a:endParaRPr lang="en-US" altLang="en-US" sz="2800" b="1"/>
          </a:p>
        </p:txBody>
      </p:sp>
      <p:sp>
        <p:nvSpPr>
          <p:cNvPr id="21568" name="Line 262">
            <a:extLst>
              <a:ext uri="{FF2B5EF4-FFF2-40B4-BE49-F238E27FC236}">
                <a16:creationId xmlns:a16="http://schemas.microsoft.com/office/drawing/2014/main" id="{DE1BE39E-D976-444B-3EFC-92BD35C6B7D5}"/>
              </a:ext>
            </a:extLst>
          </p:cNvPr>
          <p:cNvSpPr>
            <a:spLocks noChangeShapeType="1"/>
          </p:cNvSpPr>
          <p:nvPr/>
        </p:nvSpPr>
        <p:spPr bwMode="auto">
          <a:xfrm>
            <a:off x="7721600" y="4311650"/>
            <a:ext cx="173038"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69" name="Rectangle 263">
            <a:extLst>
              <a:ext uri="{FF2B5EF4-FFF2-40B4-BE49-F238E27FC236}">
                <a16:creationId xmlns:a16="http://schemas.microsoft.com/office/drawing/2014/main" id="{FCFE1DF7-F42B-FDF6-A45B-DE1B611858BC}"/>
              </a:ext>
            </a:extLst>
          </p:cNvPr>
          <p:cNvSpPr>
            <a:spLocks noChangeArrowheads="1"/>
          </p:cNvSpPr>
          <p:nvPr/>
        </p:nvSpPr>
        <p:spPr bwMode="auto">
          <a:xfrm>
            <a:off x="7515225" y="4225925"/>
            <a:ext cx="187552"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P3</a:t>
            </a:r>
            <a:endParaRPr lang="en-US" altLang="en-US" sz="2800" b="1"/>
          </a:p>
        </p:txBody>
      </p:sp>
      <p:sp>
        <p:nvSpPr>
          <p:cNvPr id="21570" name="Line 264">
            <a:extLst>
              <a:ext uri="{FF2B5EF4-FFF2-40B4-BE49-F238E27FC236}">
                <a16:creationId xmlns:a16="http://schemas.microsoft.com/office/drawing/2014/main" id="{6D498EF4-19E8-299F-08A6-6143EE9CD0D5}"/>
              </a:ext>
            </a:extLst>
          </p:cNvPr>
          <p:cNvSpPr>
            <a:spLocks noChangeShapeType="1"/>
          </p:cNvSpPr>
          <p:nvPr/>
        </p:nvSpPr>
        <p:spPr bwMode="auto">
          <a:xfrm>
            <a:off x="9015414" y="551180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71" name="Line 265">
            <a:extLst>
              <a:ext uri="{FF2B5EF4-FFF2-40B4-BE49-F238E27FC236}">
                <a16:creationId xmlns:a16="http://schemas.microsoft.com/office/drawing/2014/main" id="{DC1D0BCF-19D4-F8FF-F699-9303F0B6A9F0}"/>
              </a:ext>
            </a:extLst>
          </p:cNvPr>
          <p:cNvSpPr>
            <a:spLocks noChangeShapeType="1"/>
          </p:cNvSpPr>
          <p:nvPr/>
        </p:nvSpPr>
        <p:spPr bwMode="auto">
          <a:xfrm>
            <a:off x="8497889" y="396875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72" name="Rectangle 266">
            <a:extLst>
              <a:ext uri="{FF2B5EF4-FFF2-40B4-BE49-F238E27FC236}">
                <a16:creationId xmlns:a16="http://schemas.microsoft.com/office/drawing/2014/main" id="{21D7E914-D9DD-706D-94C4-1B7CB1C75A59}"/>
              </a:ext>
            </a:extLst>
          </p:cNvPr>
          <p:cNvSpPr>
            <a:spLocks noChangeArrowheads="1"/>
          </p:cNvSpPr>
          <p:nvPr/>
        </p:nvSpPr>
        <p:spPr bwMode="auto">
          <a:xfrm>
            <a:off x="8670925" y="3968751"/>
            <a:ext cx="361950" cy="17463"/>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73" name="Rectangle 267">
            <a:extLst>
              <a:ext uri="{FF2B5EF4-FFF2-40B4-BE49-F238E27FC236}">
                <a16:creationId xmlns:a16="http://schemas.microsoft.com/office/drawing/2014/main" id="{9A46DA2F-D686-8AFA-0F28-0C97C01D9762}"/>
              </a:ext>
            </a:extLst>
          </p:cNvPr>
          <p:cNvSpPr>
            <a:spLocks noChangeArrowheads="1"/>
          </p:cNvSpPr>
          <p:nvPr/>
        </p:nvSpPr>
        <p:spPr bwMode="auto">
          <a:xfrm>
            <a:off x="9015413" y="3968751"/>
            <a:ext cx="17462" cy="1560513"/>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74" name="Line 268">
            <a:extLst>
              <a:ext uri="{FF2B5EF4-FFF2-40B4-BE49-F238E27FC236}">
                <a16:creationId xmlns:a16="http://schemas.microsoft.com/office/drawing/2014/main" id="{539C82E5-6F5E-4C70-188D-779CCF9069B7}"/>
              </a:ext>
            </a:extLst>
          </p:cNvPr>
          <p:cNvSpPr>
            <a:spLocks noChangeShapeType="1"/>
          </p:cNvSpPr>
          <p:nvPr/>
        </p:nvSpPr>
        <p:spPr bwMode="auto">
          <a:xfrm>
            <a:off x="9015414" y="602615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75" name="Line 269">
            <a:extLst>
              <a:ext uri="{FF2B5EF4-FFF2-40B4-BE49-F238E27FC236}">
                <a16:creationId xmlns:a16="http://schemas.microsoft.com/office/drawing/2014/main" id="{0DEBD824-6CC8-D6D7-1F7C-C97D5C50AC83}"/>
              </a:ext>
            </a:extLst>
          </p:cNvPr>
          <p:cNvSpPr>
            <a:spLocks noChangeShapeType="1"/>
          </p:cNvSpPr>
          <p:nvPr/>
        </p:nvSpPr>
        <p:spPr bwMode="auto">
          <a:xfrm>
            <a:off x="8497889" y="602615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76" name="Rectangle 270">
            <a:extLst>
              <a:ext uri="{FF2B5EF4-FFF2-40B4-BE49-F238E27FC236}">
                <a16:creationId xmlns:a16="http://schemas.microsoft.com/office/drawing/2014/main" id="{AEC59FA1-9B4B-EFE7-AFB9-062B67EB8463}"/>
              </a:ext>
            </a:extLst>
          </p:cNvPr>
          <p:cNvSpPr>
            <a:spLocks noChangeArrowheads="1"/>
          </p:cNvSpPr>
          <p:nvPr/>
        </p:nvSpPr>
        <p:spPr bwMode="auto">
          <a:xfrm>
            <a:off x="8670925" y="6026151"/>
            <a:ext cx="361950" cy="1587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77" name="Line 271">
            <a:extLst>
              <a:ext uri="{FF2B5EF4-FFF2-40B4-BE49-F238E27FC236}">
                <a16:creationId xmlns:a16="http://schemas.microsoft.com/office/drawing/2014/main" id="{872E1FFE-80C5-DC20-0005-30BCD371DD26}"/>
              </a:ext>
            </a:extLst>
          </p:cNvPr>
          <p:cNvSpPr>
            <a:spLocks noChangeShapeType="1"/>
          </p:cNvSpPr>
          <p:nvPr/>
        </p:nvSpPr>
        <p:spPr bwMode="auto">
          <a:xfrm>
            <a:off x="8497889" y="482600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78" name="Line 272">
            <a:extLst>
              <a:ext uri="{FF2B5EF4-FFF2-40B4-BE49-F238E27FC236}">
                <a16:creationId xmlns:a16="http://schemas.microsoft.com/office/drawing/2014/main" id="{CF11E613-A5A8-989A-6E19-0DFA81ADD074}"/>
              </a:ext>
            </a:extLst>
          </p:cNvPr>
          <p:cNvSpPr>
            <a:spLocks noChangeShapeType="1"/>
          </p:cNvSpPr>
          <p:nvPr/>
        </p:nvSpPr>
        <p:spPr bwMode="auto">
          <a:xfrm>
            <a:off x="9015414" y="568325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79" name="Rectangle 273">
            <a:extLst>
              <a:ext uri="{FF2B5EF4-FFF2-40B4-BE49-F238E27FC236}">
                <a16:creationId xmlns:a16="http://schemas.microsoft.com/office/drawing/2014/main" id="{92FD671F-AA33-2A43-02AB-5DC438170C04}"/>
              </a:ext>
            </a:extLst>
          </p:cNvPr>
          <p:cNvSpPr>
            <a:spLocks noChangeArrowheads="1"/>
          </p:cNvSpPr>
          <p:nvPr/>
        </p:nvSpPr>
        <p:spPr bwMode="auto">
          <a:xfrm>
            <a:off x="8670926" y="4826001"/>
            <a:ext cx="188913" cy="17463"/>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80" name="Rectangle 274">
            <a:extLst>
              <a:ext uri="{FF2B5EF4-FFF2-40B4-BE49-F238E27FC236}">
                <a16:creationId xmlns:a16="http://schemas.microsoft.com/office/drawing/2014/main" id="{5EE8E2BD-1987-5F97-9264-69C20D42E272}"/>
              </a:ext>
            </a:extLst>
          </p:cNvPr>
          <p:cNvSpPr>
            <a:spLocks noChangeArrowheads="1"/>
          </p:cNvSpPr>
          <p:nvPr/>
        </p:nvSpPr>
        <p:spPr bwMode="auto">
          <a:xfrm>
            <a:off x="8842375" y="5683251"/>
            <a:ext cx="190500" cy="17463"/>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81" name="Rectangle 275">
            <a:extLst>
              <a:ext uri="{FF2B5EF4-FFF2-40B4-BE49-F238E27FC236}">
                <a16:creationId xmlns:a16="http://schemas.microsoft.com/office/drawing/2014/main" id="{59BFCC6C-3FCB-DD9D-3BC1-6C8FBE8E9FCB}"/>
              </a:ext>
            </a:extLst>
          </p:cNvPr>
          <p:cNvSpPr>
            <a:spLocks noChangeArrowheads="1"/>
          </p:cNvSpPr>
          <p:nvPr/>
        </p:nvSpPr>
        <p:spPr bwMode="auto">
          <a:xfrm>
            <a:off x="8842376" y="4826001"/>
            <a:ext cx="17463" cy="874713"/>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82" name="Line 276">
            <a:extLst>
              <a:ext uri="{FF2B5EF4-FFF2-40B4-BE49-F238E27FC236}">
                <a16:creationId xmlns:a16="http://schemas.microsoft.com/office/drawing/2014/main" id="{B667626D-1758-19B7-1979-E32CD9FE6574}"/>
              </a:ext>
            </a:extLst>
          </p:cNvPr>
          <p:cNvSpPr>
            <a:spLocks noChangeShapeType="1"/>
          </p:cNvSpPr>
          <p:nvPr/>
        </p:nvSpPr>
        <p:spPr bwMode="auto">
          <a:xfrm>
            <a:off x="8497889" y="551180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83" name="Line 277">
            <a:extLst>
              <a:ext uri="{FF2B5EF4-FFF2-40B4-BE49-F238E27FC236}">
                <a16:creationId xmlns:a16="http://schemas.microsoft.com/office/drawing/2014/main" id="{13D79CA3-29B4-18B6-6CFD-4E60EB9B32AC}"/>
              </a:ext>
            </a:extLst>
          </p:cNvPr>
          <p:cNvSpPr>
            <a:spLocks noChangeShapeType="1"/>
          </p:cNvSpPr>
          <p:nvPr/>
        </p:nvSpPr>
        <p:spPr bwMode="auto">
          <a:xfrm>
            <a:off x="9015414" y="585470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84" name="Rectangle 278">
            <a:extLst>
              <a:ext uri="{FF2B5EF4-FFF2-40B4-BE49-F238E27FC236}">
                <a16:creationId xmlns:a16="http://schemas.microsoft.com/office/drawing/2014/main" id="{9F900444-E220-997C-CD47-CAB3789695E1}"/>
              </a:ext>
            </a:extLst>
          </p:cNvPr>
          <p:cNvSpPr>
            <a:spLocks noChangeArrowheads="1"/>
          </p:cNvSpPr>
          <p:nvPr/>
        </p:nvSpPr>
        <p:spPr bwMode="auto">
          <a:xfrm>
            <a:off x="8670925" y="5854701"/>
            <a:ext cx="361950" cy="1587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85" name="Rectangle 279">
            <a:extLst>
              <a:ext uri="{FF2B5EF4-FFF2-40B4-BE49-F238E27FC236}">
                <a16:creationId xmlns:a16="http://schemas.microsoft.com/office/drawing/2014/main" id="{40A43B28-B01A-281B-331D-D764B64E8500}"/>
              </a:ext>
            </a:extLst>
          </p:cNvPr>
          <p:cNvSpPr>
            <a:spLocks noChangeArrowheads="1"/>
          </p:cNvSpPr>
          <p:nvPr/>
        </p:nvSpPr>
        <p:spPr bwMode="auto">
          <a:xfrm>
            <a:off x="8670926" y="5511801"/>
            <a:ext cx="17463" cy="35877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86" name="Line 280">
            <a:extLst>
              <a:ext uri="{FF2B5EF4-FFF2-40B4-BE49-F238E27FC236}">
                <a16:creationId xmlns:a16="http://schemas.microsoft.com/office/drawing/2014/main" id="{45FF8627-BD09-97D2-C6D2-BF31912B77A4}"/>
              </a:ext>
            </a:extLst>
          </p:cNvPr>
          <p:cNvSpPr>
            <a:spLocks noChangeShapeType="1"/>
          </p:cNvSpPr>
          <p:nvPr/>
        </p:nvSpPr>
        <p:spPr bwMode="auto">
          <a:xfrm>
            <a:off x="9015414" y="6197600"/>
            <a:ext cx="173037"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87" name="Rectangle 281">
            <a:extLst>
              <a:ext uri="{FF2B5EF4-FFF2-40B4-BE49-F238E27FC236}">
                <a16:creationId xmlns:a16="http://schemas.microsoft.com/office/drawing/2014/main" id="{F2886441-2837-30DA-0D07-304A02C1F8B3}"/>
              </a:ext>
            </a:extLst>
          </p:cNvPr>
          <p:cNvSpPr>
            <a:spLocks noChangeArrowheads="1"/>
          </p:cNvSpPr>
          <p:nvPr/>
        </p:nvSpPr>
        <p:spPr bwMode="auto">
          <a:xfrm>
            <a:off x="9015413" y="6197600"/>
            <a:ext cx="17462" cy="273050"/>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88" name="Rectangle 282">
            <a:extLst>
              <a:ext uri="{FF2B5EF4-FFF2-40B4-BE49-F238E27FC236}">
                <a16:creationId xmlns:a16="http://schemas.microsoft.com/office/drawing/2014/main" id="{E1CFDA26-6010-6488-49FB-2DC0D85ED62D}"/>
              </a:ext>
            </a:extLst>
          </p:cNvPr>
          <p:cNvSpPr>
            <a:spLocks noChangeArrowheads="1"/>
          </p:cNvSpPr>
          <p:nvPr/>
        </p:nvSpPr>
        <p:spPr bwMode="auto">
          <a:xfrm>
            <a:off x="7721601" y="6454776"/>
            <a:ext cx="1311275" cy="15875"/>
          </a:xfrm>
          <a:prstGeom prst="rect">
            <a:avLst/>
          </a:pr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endParaRPr lang="en-IN" altLang="en-US"/>
          </a:p>
        </p:txBody>
      </p:sp>
      <p:sp>
        <p:nvSpPr>
          <p:cNvPr id="21589" name="Rectangle 283">
            <a:extLst>
              <a:ext uri="{FF2B5EF4-FFF2-40B4-BE49-F238E27FC236}">
                <a16:creationId xmlns:a16="http://schemas.microsoft.com/office/drawing/2014/main" id="{FCCFE53E-A9AB-AFB8-FBDE-579233D348A1}"/>
              </a:ext>
            </a:extLst>
          </p:cNvPr>
          <p:cNvSpPr>
            <a:spLocks noChangeArrowheads="1"/>
          </p:cNvSpPr>
          <p:nvPr/>
        </p:nvSpPr>
        <p:spPr bwMode="auto">
          <a:xfrm>
            <a:off x="7515225" y="6369050"/>
            <a:ext cx="20518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G3</a:t>
            </a:r>
            <a:endParaRPr lang="en-US" altLang="en-US" sz="2800" b="1"/>
          </a:p>
        </p:txBody>
      </p:sp>
      <p:sp>
        <p:nvSpPr>
          <p:cNvPr id="21590" name="Line 284">
            <a:extLst>
              <a:ext uri="{FF2B5EF4-FFF2-40B4-BE49-F238E27FC236}">
                <a16:creationId xmlns:a16="http://schemas.microsoft.com/office/drawing/2014/main" id="{455014D3-14B0-BE6A-857B-C0CCEC677C16}"/>
              </a:ext>
            </a:extLst>
          </p:cNvPr>
          <p:cNvSpPr>
            <a:spLocks noChangeShapeType="1"/>
          </p:cNvSpPr>
          <p:nvPr/>
        </p:nvSpPr>
        <p:spPr bwMode="auto">
          <a:xfrm>
            <a:off x="9791700" y="5854700"/>
            <a:ext cx="171450" cy="158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1591" name="Rectangle 285">
            <a:extLst>
              <a:ext uri="{FF2B5EF4-FFF2-40B4-BE49-F238E27FC236}">
                <a16:creationId xmlns:a16="http://schemas.microsoft.com/office/drawing/2014/main" id="{ED37BD3C-3F24-33A0-9A30-6606199D6C48}"/>
              </a:ext>
            </a:extLst>
          </p:cNvPr>
          <p:cNvSpPr>
            <a:spLocks noChangeArrowheads="1"/>
          </p:cNvSpPr>
          <p:nvPr/>
        </p:nvSpPr>
        <p:spPr bwMode="auto">
          <a:xfrm>
            <a:off x="10015538" y="5768975"/>
            <a:ext cx="195566"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r>
              <a:rPr lang="en-US" altLang="en-US" sz="1200">
                <a:solidFill>
                  <a:srgbClr val="000000"/>
                </a:solidFill>
                <a:latin typeface="Geneva" charset="0"/>
              </a:rPr>
              <a:t>C4</a:t>
            </a:r>
            <a:endParaRPr lang="en-US" altLang="en-US" sz="2800" b="1"/>
          </a:p>
        </p:txBody>
      </p:sp>
      <p:sp>
        <p:nvSpPr>
          <p:cNvPr id="4" name="Rectangle 3">
            <a:extLst>
              <a:ext uri="{FF2B5EF4-FFF2-40B4-BE49-F238E27FC236}">
                <a16:creationId xmlns:a16="http://schemas.microsoft.com/office/drawing/2014/main" id="{9DC6F0B4-FB6A-17A9-2864-BF7B76083C48}"/>
              </a:ext>
            </a:extLst>
          </p:cNvPr>
          <p:cNvSpPr>
            <a:spLocks noChangeArrowheads="1"/>
          </p:cNvSpPr>
          <p:nvPr/>
        </p:nvSpPr>
        <p:spPr bwMode="auto">
          <a:xfrm>
            <a:off x="2210594" y="736624"/>
            <a:ext cx="8126413" cy="168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lvl1pPr>
              <a:defRPr sz="2000">
                <a:solidFill>
                  <a:schemeClr val="tx1"/>
                </a:solidFill>
                <a:latin typeface="Times New Roman" panose="02020603050405020304" pitchFamily="18" charset="0"/>
              </a:defRPr>
            </a:lvl1pPr>
            <a:lvl2pPr marL="742950" indent="-285750">
              <a:defRPr sz="2000">
                <a:solidFill>
                  <a:schemeClr val="tx1"/>
                </a:solidFill>
                <a:latin typeface="Times New Roman" panose="02020603050405020304" pitchFamily="18" charset="0"/>
              </a:defRPr>
            </a:lvl2pPr>
            <a:lvl3pPr marL="1143000" indent="-228600">
              <a:defRPr sz="2000">
                <a:solidFill>
                  <a:schemeClr val="tx1"/>
                </a:solidFill>
                <a:latin typeface="Times New Roman" panose="02020603050405020304" pitchFamily="18" charset="0"/>
              </a:defRPr>
            </a:lvl3pPr>
            <a:lvl4pPr marL="1600200" indent="-228600">
              <a:defRPr sz="2000">
                <a:solidFill>
                  <a:schemeClr val="tx1"/>
                </a:solidFill>
                <a:latin typeface="Times New Roman" panose="02020603050405020304" pitchFamily="18" charset="0"/>
              </a:defRPr>
            </a:lvl4pPr>
            <a:lvl5pPr marL="2057400" indent="-228600">
              <a:defRPr sz="2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000">
                <a:solidFill>
                  <a:schemeClr val="tx1"/>
                </a:solidFill>
                <a:latin typeface="Times New Roman" panose="02020603050405020304" pitchFamily="18" charset="0"/>
              </a:defRPr>
            </a:lvl9pPr>
          </a:lstStyle>
          <a:p>
            <a:pPr>
              <a:lnSpc>
                <a:spcPct val="85000"/>
              </a:lnSpc>
            </a:pPr>
            <a:r>
              <a:rPr lang="en-US" altLang="en-US" sz="1800" b="1" dirty="0">
                <a:latin typeface="Arial" panose="020B0604020202020204" pitchFamily="34" charset="0"/>
              </a:rPr>
              <a:t>C1 = G0 + P0 C0</a:t>
            </a:r>
          </a:p>
          <a:p>
            <a:pPr>
              <a:lnSpc>
                <a:spcPct val="85000"/>
              </a:lnSpc>
            </a:pPr>
            <a:endParaRPr lang="en-US" altLang="en-US" sz="1800" b="1" dirty="0">
              <a:latin typeface="Arial" panose="020B0604020202020204" pitchFamily="34" charset="0"/>
            </a:endParaRPr>
          </a:p>
          <a:p>
            <a:pPr>
              <a:lnSpc>
                <a:spcPct val="85000"/>
              </a:lnSpc>
            </a:pPr>
            <a:r>
              <a:rPr lang="en-US" altLang="en-US" sz="1800" b="1" dirty="0">
                <a:latin typeface="Arial" panose="020B0604020202020204" pitchFamily="34" charset="0"/>
              </a:rPr>
              <a:t>C2 = G1 + P1 C1 = G1 + P1 G0 + P1 P0 C0</a:t>
            </a:r>
          </a:p>
          <a:p>
            <a:pPr>
              <a:lnSpc>
                <a:spcPct val="85000"/>
              </a:lnSpc>
            </a:pPr>
            <a:endParaRPr lang="en-US" altLang="en-US" sz="1800" b="1" dirty="0">
              <a:latin typeface="Arial" panose="020B0604020202020204" pitchFamily="34" charset="0"/>
            </a:endParaRPr>
          </a:p>
          <a:p>
            <a:pPr>
              <a:lnSpc>
                <a:spcPct val="85000"/>
              </a:lnSpc>
            </a:pPr>
            <a:r>
              <a:rPr lang="en-US" altLang="en-US" sz="1800" b="1" dirty="0">
                <a:latin typeface="Arial" panose="020B0604020202020204" pitchFamily="34" charset="0"/>
              </a:rPr>
              <a:t>C3 = G2 + P2 C2 = G2 + P2 G1 + P2 P1 G0 + P2 P1 P0 C0</a:t>
            </a:r>
          </a:p>
          <a:p>
            <a:pPr>
              <a:lnSpc>
                <a:spcPct val="85000"/>
              </a:lnSpc>
            </a:pPr>
            <a:endParaRPr lang="en-US" altLang="en-US" sz="1800" b="1" dirty="0">
              <a:latin typeface="Arial" panose="020B0604020202020204" pitchFamily="34" charset="0"/>
            </a:endParaRPr>
          </a:p>
          <a:p>
            <a:pPr>
              <a:lnSpc>
                <a:spcPct val="85000"/>
              </a:lnSpc>
            </a:pPr>
            <a:r>
              <a:rPr lang="en-US" altLang="en-US" sz="1800" b="1" dirty="0">
                <a:latin typeface="Arial" panose="020B0604020202020204" pitchFamily="34" charset="0"/>
              </a:rPr>
              <a:t>C4 = G3 + P3 C3 = G3 + P3 G2 + P3 P2 G1 + P3 P2 P1 G0 + P3 P2 P1 P0 C0</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405618" y="267286"/>
            <a:ext cx="9608234" cy="1107996"/>
          </a:xfrm>
          <a:prstGeom prst="rect">
            <a:avLst/>
          </a:prstGeom>
          <a:noFill/>
        </p:spPr>
        <p:txBody>
          <a:bodyPr wrap="square" rtlCol="0">
            <a:spAutoFit/>
          </a:bodyPr>
          <a:lstStyle/>
          <a:p>
            <a:pPr algn="just"/>
            <a:r>
              <a:rPr lang="en-IN" sz="2400" b="1" dirty="0">
                <a:solidFill>
                  <a:srgbClr val="FF0000"/>
                </a:solidFill>
                <a:latin typeface="Myriad Pro"/>
              </a:rPr>
              <a:t>Carry Look Ahead Adder</a:t>
            </a:r>
            <a:endParaRPr lang="en-IN" dirty="0">
              <a:solidFill>
                <a:srgbClr val="FF0000"/>
              </a:solidFill>
            </a:endParaRPr>
          </a:p>
          <a:p>
            <a:pPr algn="just"/>
            <a:endParaRPr lang="en-IN" sz="2400" dirty="0">
              <a:solidFill>
                <a:srgbClr val="FF0000"/>
              </a:solidFill>
            </a:endParaRPr>
          </a:p>
          <a:p>
            <a:pPr algn="just"/>
            <a:endParaRPr lang="en-IN" dirty="0"/>
          </a:p>
        </p:txBody>
      </p:sp>
      <p:pic>
        <p:nvPicPr>
          <p:cNvPr id="3" name="Picture 2">
            <a:extLst>
              <a:ext uri="{FF2B5EF4-FFF2-40B4-BE49-F238E27FC236}">
                <a16:creationId xmlns:a16="http://schemas.microsoft.com/office/drawing/2014/main" id="{3C75C65A-8330-45B7-5079-8785D46B93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87635"/>
            <a:ext cx="12192000" cy="5603079"/>
          </a:xfrm>
          <a:prstGeom prst="rect">
            <a:avLst/>
          </a:prstGeom>
        </p:spPr>
      </p:pic>
    </p:spTree>
    <p:extLst>
      <p:ext uri="{BB962C8B-B14F-4D97-AF65-F5344CB8AC3E}">
        <p14:creationId xmlns:p14="http://schemas.microsoft.com/office/powerpoint/2010/main" val="1403721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6DB5A9-1677-4948-8311-41B898860D3F}"/>
              </a:ext>
            </a:extLst>
          </p:cNvPr>
          <p:cNvSpPr txBox="1"/>
          <p:nvPr/>
        </p:nvSpPr>
        <p:spPr>
          <a:xfrm>
            <a:off x="715107" y="670125"/>
            <a:ext cx="9608234" cy="1015663"/>
          </a:xfrm>
          <a:prstGeom prst="rect">
            <a:avLst/>
          </a:prstGeom>
          <a:noFill/>
        </p:spPr>
        <p:txBody>
          <a:bodyPr wrap="square" rtlCol="0">
            <a:spAutoFit/>
          </a:bodyPr>
          <a:lstStyle/>
          <a:p>
            <a:pPr algn="just"/>
            <a:endParaRPr lang="en-IN" dirty="0">
              <a:solidFill>
                <a:srgbClr val="FF0000"/>
              </a:solidFill>
            </a:endParaRPr>
          </a:p>
          <a:p>
            <a:pPr algn="just"/>
            <a:endParaRPr lang="en-IN" sz="2400" dirty="0">
              <a:solidFill>
                <a:srgbClr val="FF0000"/>
              </a:solidFill>
            </a:endParaRPr>
          </a:p>
          <a:p>
            <a:pPr algn="just"/>
            <a:endParaRPr lang="en-IN" dirty="0"/>
          </a:p>
        </p:txBody>
      </p:sp>
      <p:sp>
        <p:nvSpPr>
          <p:cNvPr id="2" name="TextBox 1">
            <a:extLst>
              <a:ext uri="{FF2B5EF4-FFF2-40B4-BE49-F238E27FC236}">
                <a16:creationId xmlns:a16="http://schemas.microsoft.com/office/drawing/2014/main" id="{DE2D5B0F-9785-589D-8C9B-87848398E8FF}"/>
              </a:ext>
            </a:extLst>
          </p:cNvPr>
          <p:cNvSpPr txBox="1"/>
          <p:nvPr/>
        </p:nvSpPr>
        <p:spPr>
          <a:xfrm>
            <a:off x="715107" y="670125"/>
            <a:ext cx="10902462" cy="5816977"/>
          </a:xfrm>
          <a:prstGeom prst="rect">
            <a:avLst/>
          </a:prstGeom>
          <a:noFill/>
        </p:spPr>
        <p:txBody>
          <a:bodyPr wrap="square" rtlCol="0">
            <a:spAutoFit/>
          </a:bodyPr>
          <a:lstStyle/>
          <a:p>
            <a:pPr algn="ctr"/>
            <a:r>
              <a:rPr lang="en-IN" sz="2400" dirty="0"/>
              <a:t>Even though CLA performs high speed addition based on the carry look ahead principle, it presents a limitation in the realization of large high speed adders. The carry lookahead </a:t>
            </a:r>
            <a:r>
              <a:rPr lang="en-IN" sz="3600" dirty="0">
                <a:solidFill>
                  <a:srgbClr val="FF0000"/>
                </a:solidFill>
              </a:rPr>
              <a:t>network can get quite large in terms of gates and gate inputs as the number of bits in the operands increases.</a:t>
            </a:r>
          </a:p>
          <a:p>
            <a:pPr algn="ctr"/>
            <a:r>
              <a:rPr lang="en-US" sz="2400" dirty="0"/>
              <a:t>One approach to circumvent this problem is to divide the bits of the operands into blocks. Then, by using carry look ahead adders/carry look ahead generators for each block, their cascade connection results in a large high speed adders.</a:t>
            </a:r>
          </a:p>
          <a:p>
            <a:pPr algn="ctr"/>
            <a:endParaRPr lang="en-IN" sz="3600" dirty="0">
              <a:solidFill>
                <a:srgbClr val="FF0000"/>
              </a:solidFill>
            </a:endParaRPr>
          </a:p>
          <a:p>
            <a:pPr marL="742950" indent="-742950">
              <a:buAutoNum type="arabicPeriod"/>
            </a:pPr>
            <a:r>
              <a:rPr lang="en-IN" sz="3600" dirty="0">
                <a:solidFill>
                  <a:srgbClr val="FF0000"/>
                </a:solidFill>
              </a:rPr>
              <a:t>Cascading CLA adders</a:t>
            </a:r>
          </a:p>
          <a:p>
            <a:pPr marL="742950" indent="-742950">
              <a:buAutoNum type="arabicPeriod"/>
            </a:pPr>
            <a:r>
              <a:rPr lang="en-IN" sz="3600" dirty="0">
                <a:solidFill>
                  <a:srgbClr val="FF0000"/>
                </a:solidFill>
              </a:rPr>
              <a:t>Using block CLA generators</a:t>
            </a:r>
          </a:p>
          <a:p>
            <a:pPr algn="ctr"/>
            <a:endParaRPr lang="en-IN" sz="3600" dirty="0">
              <a:solidFill>
                <a:srgbClr val="FF0000"/>
              </a:solidFill>
            </a:endParaRPr>
          </a:p>
        </p:txBody>
      </p:sp>
    </p:spTree>
    <p:extLst>
      <p:ext uri="{BB962C8B-B14F-4D97-AF65-F5344CB8AC3E}">
        <p14:creationId xmlns:p14="http://schemas.microsoft.com/office/powerpoint/2010/main" val="3244337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2907680D-A491-7C41-18AE-4C3B945E481D}"/>
              </a:ext>
            </a:extLst>
          </p:cNvPr>
          <p:cNvPicPr>
            <a:picLocks noChangeAspect="1"/>
          </p:cNvPicPr>
          <p:nvPr/>
        </p:nvPicPr>
        <p:blipFill>
          <a:blip r:embed="rId2"/>
          <a:stretch>
            <a:fillRect/>
          </a:stretch>
        </p:blipFill>
        <p:spPr>
          <a:xfrm>
            <a:off x="623668" y="98229"/>
            <a:ext cx="10944663" cy="6661542"/>
          </a:xfrm>
          <a:prstGeom prst="rect">
            <a:avLst/>
          </a:prstGeom>
        </p:spPr>
      </p:pic>
      <p:sp>
        <p:nvSpPr>
          <p:cNvPr id="9" name="TextBox 8">
            <a:extLst>
              <a:ext uri="{FF2B5EF4-FFF2-40B4-BE49-F238E27FC236}">
                <a16:creationId xmlns:a16="http://schemas.microsoft.com/office/drawing/2014/main" id="{01079474-05F2-8847-D09B-31EDD5BFFE88}"/>
              </a:ext>
            </a:extLst>
          </p:cNvPr>
          <p:cNvSpPr txBox="1"/>
          <p:nvPr/>
        </p:nvSpPr>
        <p:spPr>
          <a:xfrm>
            <a:off x="1153551" y="6513342"/>
            <a:ext cx="9425354" cy="369332"/>
          </a:xfrm>
          <a:prstGeom prst="rect">
            <a:avLst/>
          </a:prstGeom>
          <a:noFill/>
        </p:spPr>
        <p:txBody>
          <a:bodyPr wrap="square" rtlCol="0">
            <a:spAutoFit/>
          </a:bodyPr>
          <a:lstStyle/>
          <a:p>
            <a:r>
              <a:rPr lang="en-IN" dirty="0"/>
              <a:t>Note: in this case ripple carries occur between the cascaded  4 bit  carry look ahead adders</a:t>
            </a:r>
          </a:p>
        </p:txBody>
      </p:sp>
    </p:spTree>
    <p:extLst>
      <p:ext uri="{BB962C8B-B14F-4D97-AF65-F5344CB8AC3E}">
        <p14:creationId xmlns:p14="http://schemas.microsoft.com/office/powerpoint/2010/main" val="3011801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779C81-A40E-E9C0-FBC5-564FD248460B}"/>
              </a:ext>
            </a:extLst>
          </p:cNvPr>
          <p:cNvPicPr>
            <a:picLocks noChangeAspect="1"/>
          </p:cNvPicPr>
          <p:nvPr/>
        </p:nvPicPr>
        <p:blipFill>
          <a:blip r:embed="rId2"/>
          <a:stretch>
            <a:fillRect/>
          </a:stretch>
        </p:blipFill>
        <p:spPr>
          <a:xfrm>
            <a:off x="135509" y="460717"/>
            <a:ext cx="6316303" cy="5936565"/>
          </a:xfrm>
          <a:prstGeom prst="rect">
            <a:avLst/>
          </a:prstGeom>
        </p:spPr>
      </p:pic>
      <p:sp>
        <p:nvSpPr>
          <p:cNvPr id="5" name="TextBox 4">
            <a:extLst>
              <a:ext uri="{FF2B5EF4-FFF2-40B4-BE49-F238E27FC236}">
                <a16:creationId xmlns:a16="http://schemas.microsoft.com/office/drawing/2014/main" id="{D2424EC9-B55F-4BDE-8355-DD92FBD37041}"/>
              </a:ext>
            </a:extLst>
          </p:cNvPr>
          <p:cNvSpPr txBox="1"/>
          <p:nvPr/>
        </p:nvSpPr>
        <p:spPr>
          <a:xfrm>
            <a:off x="6116149" y="1262740"/>
            <a:ext cx="6075851" cy="4401205"/>
          </a:xfrm>
          <a:prstGeom prst="rect">
            <a:avLst/>
          </a:prstGeom>
          <a:noFill/>
        </p:spPr>
        <p:txBody>
          <a:bodyPr wrap="square" rtlCol="0">
            <a:spAutoFit/>
          </a:bodyPr>
          <a:lstStyle/>
          <a:p>
            <a:r>
              <a:rPr lang="en-IN" sz="2800" dirty="0"/>
              <a:t>It is the same as the first three stages of the carry look ahead network (of CLA adder), with two additional G and P, known as “block carry generate signal” and “block carry propagate signal”</a:t>
            </a:r>
          </a:p>
          <a:p>
            <a:r>
              <a:rPr lang="en-IN" sz="2800" dirty="0">
                <a:solidFill>
                  <a:srgbClr val="FF0000"/>
                </a:solidFill>
              </a:rPr>
              <a:t>    G = g</a:t>
            </a:r>
            <a:r>
              <a:rPr lang="en-IN" sz="1600" dirty="0">
                <a:solidFill>
                  <a:srgbClr val="FF0000"/>
                </a:solidFill>
              </a:rPr>
              <a:t>3</a:t>
            </a:r>
            <a:r>
              <a:rPr lang="en-IN" sz="2800" dirty="0">
                <a:solidFill>
                  <a:srgbClr val="FF0000"/>
                </a:solidFill>
              </a:rPr>
              <a:t> + p</a:t>
            </a:r>
            <a:r>
              <a:rPr lang="en-IN" sz="1600" dirty="0">
                <a:solidFill>
                  <a:srgbClr val="FF0000"/>
                </a:solidFill>
              </a:rPr>
              <a:t>3</a:t>
            </a:r>
            <a:r>
              <a:rPr lang="en-IN" sz="2800" dirty="0">
                <a:solidFill>
                  <a:srgbClr val="FF0000"/>
                </a:solidFill>
              </a:rPr>
              <a:t>g</a:t>
            </a:r>
            <a:r>
              <a:rPr lang="en-IN" sz="1600" dirty="0">
                <a:solidFill>
                  <a:srgbClr val="FF0000"/>
                </a:solidFill>
              </a:rPr>
              <a:t>2</a:t>
            </a:r>
            <a:r>
              <a:rPr lang="en-IN" sz="2800" dirty="0">
                <a:solidFill>
                  <a:srgbClr val="FF0000"/>
                </a:solidFill>
              </a:rPr>
              <a:t> + p</a:t>
            </a:r>
            <a:r>
              <a:rPr lang="en-IN" sz="1600" dirty="0">
                <a:solidFill>
                  <a:srgbClr val="FF0000"/>
                </a:solidFill>
              </a:rPr>
              <a:t>3</a:t>
            </a:r>
            <a:r>
              <a:rPr lang="en-IN" sz="2800" dirty="0">
                <a:solidFill>
                  <a:srgbClr val="FF0000"/>
                </a:solidFill>
              </a:rPr>
              <a:t>p</a:t>
            </a:r>
            <a:r>
              <a:rPr lang="en-IN" sz="1600" dirty="0">
                <a:solidFill>
                  <a:srgbClr val="FF0000"/>
                </a:solidFill>
              </a:rPr>
              <a:t>2</a:t>
            </a:r>
            <a:r>
              <a:rPr lang="en-IN" sz="2800" dirty="0">
                <a:solidFill>
                  <a:srgbClr val="FF0000"/>
                </a:solidFill>
              </a:rPr>
              <a:t>g</a:t>
            </a:r>
            <a:r>
              <a:rPr lang="en-IN" dirty="0">
                <a:solidFill>
                  <a:srgbClr val="FF0000"/>
                </a:solidFill>
              </a:rPr>
              <a:t>1</a:t>
            </a:r>
            <a:r>
              <a:rPr lang="en-IN" sz="2800" dirty="0">
                <a:solidFill>
                  <a:srgbClr val="FF0000"/>
                </a:solidFill>
              </a:rPr>
              <a:t> + p</a:t>
            </a:r>
            <a:r>
              <a:rPr lang="en-IN" sz="1600" dirty="0">
                <a:solidFill>
                  <a:srgbClr val="FF0000"/>
                </a:solidFill>
              </a:rPr>
              <a:t>3</a:t>
            </a:r>
            <a:r>
              <a:rPr lang="en-IN" sz="2800" dirty="0">
                <a:solidFill>
                  <a:srgbClr val="FF0000"/>
                </a:solidFill>
              </a:rPr>
              <a:t>p</a:t>
            </a:r>
            <a:r>
              <a:rPr lang="en-IN" sz="1600" dirty="0">
                <a:solidFill>
                  <a:srgbClr val="FF0000"/>
                </a:solidFill>
              </a:rPr>
              <a:t>2</a:t>
            </a:r>
            <a:r>
              <a:rPr lang="en-IN" sz="2800" dirty="0">
                <a:solidFill>
                  <a:srgbClr val="FF0000"/>
                </a:solidFill>
              </a:rPr>
              <a:t>p</a:t>
            </a:r>
            <a:r>
              <a:rPr lang="en-IN" dirty="0">
                <a:solidFill>
                  <a:srgbClr val="FF0000"/>
                </a:solidFill>
              </a:rPr>
              <a:t>1</a:t>
            </a:r>
            <a:r>
              <a:rPr lang="en-IN" sz="2800" dirty="0">
                <a:solidFill>
                  <a:srgbClr val="FF0000"/>
                </a:solidFill>
              </a:rPr>
              <a:t>g</a:t>
            </a:r>
            <a:r>
              <a:rPr lang="en-IN" sz="1600" dirty="0">
                <a:solidFill>
                  <a:srgbClr val="FF0000"/>
                </a:solidFill>
              </a:rPr>
              <a:t>0</a:t>
            </a:r>
          </a:p>
          <a:p>
            <a:r>
              <a:rPr lang="en-IN" sz="2800" dirty="0">
                <a:solidFill>
                  <a:srgbClr val="FF0000"/>
                </a:solidFill>
              </a:rPr>
              <a:t>    P = p</a:t>
            </a:r>
            <a:r>
              <a:rPr lang="en-IN" sz="1600" dirty="0">
                <a:solidFill>
                  <a:srgbClr val="FF0000"/>
                </a:solidFill>
              </a:rPr>
              <a:t>3</a:t>
            </a:r>
            <a:r>
              <a:rPr lang="en-IN" sz="2800" dirty="0">
                <a:solidFill>
                  <a:srgbClr val="FF0000"/>
                </a:solidFill>
              </a:rPr>
              <a:t>p</a:t>
            </a:r>
            <a:r>
              <a:rPr lang="en-IN" sz="1600" dirty="0">
                <a:solidFill>
                  <a:srgbClr val="FF0000"/>
                </a:solidFill>
              </a:rPr>
              <a:t>2</a:t>
            </a:r>
            <a:r>
              <a:rPr lang="en-IN" sz="2800" dirty="0">
                <a:solidFill>
                  <a:srgbClr val="FF0000"/>
                </a:solidFill>
              </a:rPr>
              <a:t>p</a:t>
            </a:r>
            <a:r>
              <a:rPr lang="en-IN" dirty="0">
                <a:solidFill>
                  <a:srgbClr val="FF0000"/>
                </a:solidFill>
              </a:rPr>
              <a:t>1</a:t>
            </a:r>
            <a:r>
              <a:rPr lang="en-IN" sz="2800" dirty="0">
                <a:solidFill>
                  <a:srgbClr val="FF0000"/>
                </a:solidFill>
              </a:rPr>
              <a:t>p</a:t>
            </a:r>
            <a:r>
              <a:rPr lang="en-IN" dirty="0">
                <a:solidFill>
                  <a:srgbClr val="FF0000"/>
                </a:solidFill>
              </a:rPr>
              <a:t>0</a:t>
            </a:r>
          </a:p>
          <a:p>
            <a:endParaRPr lang="en-IN" sz="2800" dirty="0">
              <a:solidFill>
                <a:srgbClr val="FF0000"/>
              </a:solidFill>
            </a:endParaRPr>
          </a:p>
          <a:p>
            <a:endParaRPr lang="en-IN" sz="2800" dirty="0">
              <a:solidFill>
                <a:srgbClr val="FF0000"/>
              </a:solidFill>
            </a:endParaRPr>
          </a:p>
          <a:p>
            <a:r>
              <a:rPr lang="en-IN" sz="2800" dirty="0">
                <a:solidFill>
                  <a:srgbClr val="FF0000"/>
                </a:solidFill>
              </a:rPr>
              <a:t>**Extra info: Not in syllabus**</a:t>
            </a:r>
          </a:p>
        </p:txBody>
      </p:sp>
    </p:spTree>
    <p:extLst>
      <p:ext uri="{BB962C8B-B14F-4D97-AF65-F5344CB8AC3E}">
        <p14:creationId xmlns:p14="http://schemas.microsoft.com/office/powerpoint/2010/main" val="4035117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424EC9-B55F-4BDE-8355-DD92FBD37041}"/>
              </a:ext>
            </a:extLst>
          </p:cNvPr>
          <p:cNvSpPr txBox="1"/>
          <p:nvPr/>
        </p:nvSpPr>
        <p:spPr>
          <a:xfrm>
            <a:off x="1427639" y="521453"/>
            <a:ext cx="10218057" cy="954107"/>
          </a:xfrm>
          <a:prstGeom prst="rect">
            <a:avLst/>
          </a:prstGeom>
          <a:noFill/>
        </p:spPr>
        <p:txBody>
          <a:bodyPr wrap="square" rtlCol="0">
            <a:spAutoFit/>
          </a:bodyPr>
          <a:lstStyle/>
          <a:p>
            <a:r>
              <a:rPr lang="en-IN" sz="2800" dirty="0">
                <a:solidFill>
                  <a:srgbClr val="FF0000"/>
                </a:solidFill>
              </a:rPr>
              <a:t>Using these 4 bit carry lookahead generator, the 16 bit high speed   </a:t>
            </a:r>
          </a:p>
          <a:p>
            <a:r>
              <a:rPr lang="en-IN" sz="2800" dirty="0">
                <a:solidFill>
                  <a:srgbClr val="FF0000"/>
                </a:solidFill>
              </a:rPr>
              <a:t>                                         adders are realized  (Extra info: not in syllabus)</a:t>
            </a:r>
          </a:p>
        </p:txBody>
      </p:sp>
      <p:pic>
        <p:nvPicPr>
          <p:cNvPr id="4" name="Picture 3">
            <a:extLst>
              <a:ext uri="{FF2B5EF4-FFF2-40B4-BE49-F238E27FC236}">
                <a16:creationId xmlns:a16="http://schemas.microsoft.com/office/drawing/2014/main" id="{B452A96A-21AD-C6C3-FF7C-57EA32B0413A}"/>
              </a:ext>
            </a:extLst>
          </p:cNvPr>
          <p:cNvPicPr>
            <a:picLocks noChangeAspect="1"/>
          </p:cNvPicPr>
          <p:nvPr/>
        </p:nvPicPr>
        <p:blipFill>
          <a:blip r:embed="rId2"/>
          <a:stretch>
            <a:fillRect/>
          </a:stretch>
        </p:blipFill>
        <p:spPr>
          <a:xfrm>
            <a:off x="134663" y="1672885"/>
            <a:ext cx="12057337" cy="4706674"/>
          </a:xfrm>
          <a:prstGeom prst="rect">
            <a:avLst/>
          </a:prstGeom>
        </p:spPr>
      </p:pic>
    </p:spTree>
    <p:extLst>
      <p:ext uri="{BB962C8B-B14F-4D97-AF65-F5344CB8AC3E}">
        <p14:creationId xmlns:p14="http://schemas.microsoft.com/office/powerpoint/2010/main" val="1416807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A0233A-A45E-3B4E-3745-3DFC1B666EFF}"/>
              </a:ext>
            </a:extLst>
          </p:cNvPr>
          <p:cNvSpPr txBox="1"/>
          <p:nvPr/>
        </p:nvSpPr>
        <p:spPr>
          <a:xfrm>
            <a:off x="1125415" y="2194560"/>
            <a:ext cx="3657600" cy="1519311"/>
          </a:xfrm>
          <a:prstGeom prst="rect">
            <a:avLst/>
          </a:prstGeom>
          <a:noFill/>
        </p:spPr>
        <p:txBody>
          <a:bodyPr wrap="square" rtlCol="0">
            <a:spAutoFit/>
          </a:bodyPr>
          <a:lstStyle/>
          <a:p>
            <a:endParaRPr lang="en-IN" dirty="0"/>
          </a:p>
        </p:txBody>
      </p:sp>
      <p:sp>
        <p:nvSpPr>
          <p:cNvPr id="14" name="TextBox 13">
            <a:extLst>
              <a:ext uri="{FF2B5EF4-FFF2-40B4-BE49-F238E27FC236}">
                <a16:creationId xmlns:a16="http://schemas.microsoft.com/office/drawing/2014/main" id="{D1801E76-674E-5E42-D7B0-3394C68E73AB}"/>
              </a:ext>
            </a:extLst>
          </p:cNvPr>
          <p:cNvSpPr txBox="1"/>
          <p:nvPr/>
        </p:nvSpPr>
        <p:spPr>
          <a:xfrm>
            <a:off x="0" y="0"/>
            <a:ext cx="6445349" cy="1415772"/>
          </a:xfrm>
          <a:prstGeom prst="rect">
            <a:avLst/>
          </a:prstGeom>
          <a:noFill/>
        </p:spPr>
        <p:txBody>
          <a:bodyPr wrap="square" rtlCol="0">
            <a:spAutoFit/>
          </a:bodyPr>
          <a:lstStyle/>
          <a:p>
            <a:pPr algn="just"/>
            <a:r>
              <a:rPr lang="en-IN" sz="4400" b="1" dirty="0">
                <a:solidFill>
                  <a:srgbClr val="FF0000"/>
                </a:solidFill>
                <a:latin typeface="Myriad Pro"/>
              </a:rPr>
              <a:t>Decimal Adder</a:t>
            </a:r>
            <a:endParaRPr lang="en-IN" sz="4400" dirty="0">
              <a:solidFill>
                <a:srgbClr val="FF0000"/>
              </a:solidFill>
            </a:endParaRPr>
          </a:p>
          <a:p>
            <a:pPr algn="just"/>
            <a:endParaRPr lang="en-IN" sz="2400" dirty="0">
              <a:solidFill>
                <a:srgbClr val="FF0000"/>
              </a:solidFill>
            </a:endParaRPr>
          </a:p>
          <a:p>
            <a:pPr algn="just"/>
            <a:endParaRPr lang="en-IN" dirty="0"/>
          </a:p>
        </p:txBody>
      </p:sp>
      <p:pic>
        <p:nvPicPr>
          <p:cNvPr id="16" name="Picture 15">
            <a:extLst>
              <a:ext uri="{FF2B5EF4-FFF2-40B4-BE49-F238E27FC236}">
                <a16:creationId xmlns:a16="http://schemas.microsoft.com/office/drawing/2014/main" id="{30BE6E50-E29D-4DC0-A259-09DECA9FBA30}"/>
              </a:ext>
            </a:extLst>
          </p:cNvPr>
          <p:cNvPicPr>
            <a:picLocks noChangeAspect="1"/>
          </p:cNvPicPr>
          <p:nvPr/>
        </p:nvPicPr>
        <p:blipFill>
          <a:blip r:embed="rId2"/>
          <a:stretch>
            <a:fillRect/>
          </a:stretch>
        </p:blipFill>
        <p:spPr>
          <a:xfrm>
            <a:off x="5343083" y="478302"/>
            <a:ext cx="6278594" cy="1566769"/>
          </a:xfrm>
          <a:prstGeom prst="rect">
            <a:avLst/>
          </a:prstGeom>
        </p:spPr>
      </p:pic>
      <p:pic>
        <p:nvPicPr>
          <p:cNvPr id="18" name="Picture 17">
            <a:extLst>
              <a:ext uri="{FF2B5EF4-FFF2-40B4-BE49-F238E27FC236}">
                <a16:creationId xmlns:a16="http://schemas.microsoft.com/office/drawing/2014/main" id="{BEB7B694-A775-2953-9614-01877A4D2D33}"/>
              </a:ext>
            </a:extLst>
          </p:cNvPr>
          <p:cNvPicPr>
            <a:picLocks noChangeAspect="1"/>
          </p:cNvPicPr>
          <p:nvPr/>
        </p:nvPicPr>
        <p:blipFill>
          <a:blip r:embed="rId3"/>
          <a:stretch>
            <a:fillRect/>
          </a:stretch>
        </p:blipFill>
        <p:spPr>
          <a:xfrm>
            <a:off x="5069588" y="2293034"/>
            <a:ext cx="6864986" cy="3931041"/>
          </a:xfrm>
          <a:prstGeom prst="rect">
            <a:avLst/>
          </a:prstGeom>
        </p:spPr>
      </p:pic>
      <p:pic>
        <p:nvPicPr>
          <p:cNvPr id="22" name="Picture 21">
            <a:extLst>
              <a:ext uri="{FF2B5EF4-FFF2-40B4-BE49-F238E27FC236}">
                <a16:creationId xmlns:a16="http://schemas.microsoft.com/office/drawing/2014/main" id="{55491C66-672A-D55C-F34C-6CA6258817A7}"/>
              </a:ext>
            </a:extLst>
          </p:cNvPr>
          <p:cNvPicPr>
            <a:picLocks noChangeAspect="1"/>
          </p:cNvPicPr>
          <p:nvPr/>
        </p:nvPicPr>
        <p:blipFill>
          <a:blip r:embed="rId4"/>
          <a:stretch>
            <a:fillRect/>
          </a:stretch>
        </p:blipFill>
        <p:spPr>
          <a:xfrm>
            <a:off x="-49264" y="773174"/>
            <a:ext cx="5118852" cy="2594810"/>
          </a:xfrm>
          <a:prstGeom prst="rect">
            <a:avLst/>
          </a:prstGeom>
        </p:spPr>
      </p:pic>
      <p:pic>
        <p:nvPicPr>
          <p:cNvPr id="24" name="Picture 23">
            <a:extLst>
              <a:ext uri="{FF2B5EF4-FFF2-40B4-BE49-F238E27FC236}">
                <a16:creationId xmlns:a16="http://schemas.microsoft.com/office/drawing/2014/main" id="{EBB9B5F6-2CAC-D90A-87E6-803641E4BD38}"/>
              </a:ext>
            </a:extLst>
          </p:cNvPr>
          <p:cNvPicPr>
            <a:picLocks noChangeAspect="1"/>
          </p:cNvPicPr>
          <p:nvPr/>
        </p:nvPicPr>
        <p:blipFill>
          <a:blip r:embed="rId5"/>
          <a:stretch>
            <a:fillRect/>
          </a:stretch>
        </p:blipFill>
        <p:spPr>
          <a:xfrm>
            <a:off x="1370108" y="3713871"/>
            <a:ext cx="1584107" cy="3146213"/>
          </a:xfrm>
          <a:prstGeom prst="rect">
            <a:avLst/>
          </a:prstGeom>
        </p:spPr>
      </p:pic>
    </p:spTree>
    <p:extLst>
      <p:ext uri="{BB962C8B-B14F-4D97-AF65-F5344CB8AC3E}">
        <p14:creationId xmlns:p14="http://schemas.microsoft.com/office/powerpoint/2010/main" val="38783248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A0233A-A45E-3B4E-3745-3DFC1B666EFF}"/>
              </a:ext>
            </a:extLst>
          </p:cNvPr>
          <p:cNvSpPr txBox="1"/>
          <p:nvPr/>
        </p:nvSpPr>
        <p:spPr>
          <a:xfrm>
            <a:off x="1125415" y="2194560"/>
            <a:ext cx="3657600" cy="1519311"/>
          </a:xfrm>
          <a:prstGeom prst="rect">
            <a:avLst/>
          </a:prstGeom>
          <a:noFill/>
        </p:spPr>
        <p:txBody>
          <a:bodyPr wrap="square" rtlCol="0">
            <a:spAutoFit/>
          </a:bodyPr>
          <a:lstStyle/>
          <a:p>
            <a:endParaRPr lang="en-IN" dirty="0"/>
          </a:p>
        </p:txBody>
      </p:sp>
      <p:pic>
        <p:nvPicPr>
          <p:cNvPr id="11" name="Picture 10">
            <a:extLst>
              <a:ext uri="{FF2B5EF4-FFF2-40B4-BE49-F238E27FC236}">
                <a16:creationId xmlns:a16="http://schemas.microsoft.com/office/drawing/2014/main" id="{6EF5838F-83A3-84D0-89A5-9CE970ADCE55}"/>
              </a:ext>
            </a:extLst>
          </p:cNvPr>
          <p:cNvPicPr>
            <a:picLocks noChangeAspect="1"/>
          </p:cNvPicPr>
          <p:nvPr/>
        </p:nvPicPr>
        <p:blipFill>
          <a:blip r:embed="rId2"/>
          <a:stretch>
            <a:fillRect/>
          </a:stretch>
        </p:blipFill>
        <p:spPr>
          <a:xfrm>
            <a:off x="243402" y="1706561"/>
            <a:ext cx="4539613" cy="3083976"/>
          </a:xfrm>
          <a:prstGeom prst="rect">
            <a:avLst/>
          </a:prstGeom>
        </p:spPr>
      </p:pic>
      <p:pic>
        <p:nvPicPr>
          <p:cNvPr id="13" name="Picture 12">
            <a:extLst>
              <a:ext uri="{FF2B5EF4-FFF2-40B4-BE49-F238E27FC236}">
                <a16:creationId xmlns:a16="http://schemas.microsoft.com/office/drawing/2014/main" id="{0246C792-A242-2E90-E2B2-690EE9A2817C}"/>
              </a:ext>
            </a:extLst>
          </p:cNvPr>
          <p:cNvPicPr>
            <a:picLocks noChangeAspect="1"/>
          </p:cNvPicPr>
          <p:nvPr/>
        </p:nvPicPr>
        <p:blipFill>
          <a:blip r:embed="rId3"/>
          <a:stretch>
            <a:fillRect/>
          </a:stretch>
        </p:blipFill>
        <p:spPr>
          <a:xfrm>
            <a:off x="5591909" y="424956"/>
            <a:ext cx="6044419" cy="5647186"/>
          </a:xfrm>
          <a:prstGeom prst="rect">
            <a:avLst/>
          </a:prstGeom>
        </p:spPr>
      </p:pic>
      <p:sp>
        <p:nvSpPr>
          <p:cNvPr id="14" name="TextBox 13">
            <a:extLst>
              <a:ext uri="{FF2B5EF4-FFF2-40B4-BE49-F238E27FC236}">
                <a16:creationId xmlns:a16="http://schemas.microsoft.com/office/drawing/2014/main" id="{D1801E76-674E-5E42-D7B0-3394C68E73AB}"/>
              </a:ext>
            </a:extLst>
          </p:cNvPr>
          <p:cNvSpPr txBox="1"/>
          <p:nvPr/>
        </p:nvSpPr>
        <p:spPr>
          <a:xfrm>
            <a:off x="0" y="0"/>
            <a:ext cx="6445349" cy="1415772"/>
          </a:xfrm>
          <a:prstGeom prst="rect">
            <a:avLst/>
          </a:prstGeom>
          <a:noFill/>
        </p:spPr>
        <p:txBody>
          <a:bodyPr wrap="square" rtlCol="0">
            <a:spAutoFit/>
          </a:bodyPr>
          <a:lstStyle/>
          <a:p>
            <a:pPr algn="just"/>
            <a:r>
              <a:rPr lang="en-IN" sz="4400" b="1" dirty="0">
                <a:solidFill>
                  <a:srgbClr val="FF0000"/>
                </a:solidFill>
                <a:latin typeface="Myriad Pro"/>
              </a:rPr>
              <a:t>Decimal Adder</a:t>
            </a:r>
            <a:endParaRPr lang="en-IN" sz="4400" dirty="0">
              <a:solidFill>
                <a:srgbClr val="FF0000"/>
              </a:solidFill>
            </a:endParaRPr>
          </a:p>
          <a:p>
            <a:pPr algn="just"/>
            <a:endParaRPr lang="en-IN" sz="2400" dirty="0">
              <a:solidFill>
                <a:srgbClr val="FF0000"/>
              </a:solidFill>
            </a:endParaRPr>
          </a:p>
          <a:p>
            <a:pPr algn="just"/>
            <a:endParaRPr lang="en-IN" dirty="0"/>
          </a:p>
        </p:txBody>
      </p:sp>
    </p:spTree>
    <p:extLst>
      <p:ext uri="{BB962C8B-B14F-4D97-AF65-F5344CB8AC3E}">
        <p14:creationId xmlns:p14="http://schemas.microsoft.com/office/powerpoint/2010/main" val="3609349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A0233A-A45E-3B4E-3745-3DFC1B666EFF}"/>
              </a:ext>
            </a:extLst>
          </p:cNvPr>
          <p:cNvSpPr txBox="1"/>
          <p:nvPr/>
        </p:nvSpPr>
        <p:spPr>
          <a:xfrm>
            <a:off x="1125415" y="2194560"/>
            <a:ext cx="3657600" cy="1519311"/>
          </a:xfrm>
          <a:prstGeom prst="rect">
            <a:avLst/>
          </a:prstGeom>
          <a:noFill/>
        </p:spPr>
        <p:txBody>
          <a:bodyPr wrap="square" rtlCol="0">
            <a:spAutoFit/>
          </a:bodyPr>
          <a:lstStyle/>
          <a:p>
            <a:endParaRPr lang="en-IN" dirty="0"/>
          </a:p>
        </p:txBody>
      </p:sp>
      <p:sp>
        <p:nvSpPr>
          <p:cNvPr id="3" name="TextBox 2">
            <a:extLst>
              <a:ext uri="{FF2B5EF4-FFF2-40B4-BE49-F238E27FC236}">
                <a16:creationId xmlns:a16="http://schemas.microsoft.com/office/drawing/2014/main" id="{4C890473-6541-798B-2920-F6620D5FC635}"/>
              </a:ext>
            </a:extLst>
          </p:cNvPr>
          <p:cNvSpPr txBox="1"/>
          <p:nvPr/>
        </p:nvSpPr>
        <p:spPr>
          <a:xfrm>
            <a:off x="6541478" y="482217"/>
            <a:ext cx="5647432" cy="6832640"/>
          </a:xfrm>
          <a:prstGeom prst="rect">
            <a:avLst/>
          </a:prstGeom>
          <a:noFill/>
        </p:spPr>
        <p:txBody>
          <a:bodyPr wrap="square" rtlCol="0">
            <a:spAutoFit/>
          </a:bodyPr>
          <a:lstStyle/>
          <a:p>
            <a:r>
              <a:rPr lang="en-US" sz="2400" b="1" dirty="0">
                <a:solidFill>
                  <a:srgbClr val="000000"/>
                </a:solidFill>
                <a:latin typeface="Calibri" panose="020F0502020204030204" pitchFamily="34" charset="0"/>
              </a:rPr>
              <a:t>If the sum of the two decimal digits and input carry is less than 10, the required BCD sum is same as Binary Sum, produced by the 4 bit binary adder, </a:t>
            </a:r>
          </a:p>
          <a:p>
            <a:r>
              <a:rPr lang="en-US" sz="2400" b="1" dirty="0">
                <a:solidFill>
                  <a:srgbClr val="000000"/>
                </a:solidFill>
                <a:latin typeface="Calibri" panose="020F0502020204030204" pitchFamily="34" charset="0"/>
              </a:rPr>
              <a:t>             K P</a:t>
            </a:r>
            <a:r>
              <a:rPr lang="en-US" sz="1600" b="1" dirty="0">
                <a:solidFill>
                  <a:srgbClr val="000000"/>
                </a:solidFill>
                <a:latin typeface="Calibri" panose="020F0502020204030204" pitchFamily="34" charset="0"/>
              </a:rPr>
              <a:t>3</a:t>
            </a:r>
            <a:r>
              <a:rPr lang="en-US" sz="2400" b="1" dirty="0">
                <a:solidFill>
                  <a:srgbClr val="000000"/>
                </a:solidFill>
                <a:latin typeface="Calibri" panose="020F0502020204030204" pitchFamily="34" charset="0"/>
              </a:rPr>
              <a:t>P</a:t>
            </a:r>
            <a:r>
              <a:rPr lang="en-US" sz="1600" b="1" dirty="0">
                <a:solidFill>
                  <a:srgbClr val="000000"/>
                </a:solidFill>
                <a:latin typeface="Calibri" panose="020F0502020204030204" pitchFamily="34" charset="0"/>
              </a:rPr>
              <a:t>2</a:t>
            </a:r>
            <a:r>
              <a:rPr lang="en-US" sz="2400" b="1" dirty="0">
                <a:solidFill>
                  <a:srgbClr val="000000"/>
                </a:solidFill>
                <a:latin typeface="Calibri" panose="020F0502020204030204" pitchFamily="34" charset="0"/>
              </a:rPr>
              <a:t>P</a:t>
            </a:r>
            <a:r>
              <a:rPr lang="en-US" b="1" dirty="0">
                <a:solidFill>
                  <a:srgbClr val="000000"/>
                </a:solidFill>
                <a:latin typeface="Calibri" panose="020F0502020204030204" pitchFamily="34" charset="0"/>
              </a:rPr>
              <a:t>1</a:t>
            </a:r>
            <a:r>
              <a:rPr lang="en-US" sz="2400" b="1" dirty="0">
                <a:solidFill>
                  <a:srgbClr val="000000"/>
                </a:solidFill>
                <a:latin typeface="Calibri" panose="020F0502020204030204" pitchFamily="34" charset="0"/>
              </a:rPr>
              <a:t>P</a:t>
            </a:r>
            <a:r>
              <a:rPr lang="en-US" b="1" dirty="0">
                <a:solidFill>
                  <a:srgbClr val="000000"/>
                </a:solidFill>
                <a:latin typeface="Calibri" panose="020F0502020204030204" pitchFamily="34" charset="0"/>
              </a:rPr>
              <a:t>0</a:t>
            </a:r>
            <a:r>
              <a:rPr lang="en-US" sz="2400" b="1" dirty="0">
                <a:solidFill>
                  <a:srgbClr val="000000"/>
                </a:solidFill>
                <a:latin typeface="Calibri" panose="020F0502020204030204" pitchFamily="34" charset="0"/>
              </a:rPr>
              <a:t> = </a:t>
            </a:r>
            <a:r>
              <a:rPr lang="en-US" sz="2400" b="1" dirty="0" err="1">
                <a:solidFill>
                  <a:srgbClr val="000000"/>
                </a:solidFill>
                <a:latin typeface="Calibri" panose="020F0502020204030204" pitchFamily="34" charset="0"/>
              </a:rPr>
              <a:t>C</a:t>
            </a:r>
            <a:r>
              <a:rPr lang="en-US" sz="1400" b="1" dirty="0" err="1">
                <a:solidFill>
                  <a:srgbClr val="000000"/>
                </a:solidFill>
                <a:latin typeface="Calibri" panose="020F0502020204030204" pitchFamily="34" charset="0"/>
              </a:rPr>
              <a:t>out</a:t>
            </a:r>
            <a:r>
              <a:rPr lang="en-US" sz="2400" b="1" dirty="0">
                <a:solidFill>
                  <a:srgbClr val="000000"/>
                </a:solidFill>
                <a:latin typeface="Calibri" panose="020F0502020204030204" pitchFamily="34" charset="0"/>
              </a:rPr>
              <a:t> Z</a:t>
            </a:r>
            <a:r>
              <a:rPr lang="en-US" b="1" dirty="0">
                <a:solidFill>
                  <a:srgbClr val="000000"/>
                </a:solidFill>
                <a:latin typeface="Calibri" panose="020F0502020204030204" pitchFamily="34" charset="0"/>
              </a:rPr>
              <a:t>3</a:t>
            </a:r>
            <a:r>
              <a:rPr lang="en-US" sz="2400" b="1" dirty="0">
                <a:solidFill>
                  <a:srgbClr val="000000"/>
                </a:solidFill>
                <a:latin typeface="Calibri" panose="020F0502020204030204" pitchFamily="34" charset="0"/>
              </a:rPr>
              <a:t>Z</a:t>
            </a:r>
            <a:r>
              <a:rPr lang="en-US" b="1" dirty="0">
                <a:solidFill>
                  <a:srgbClr val="000000"/>
                </a:solidFill>
                <a:latin typeface="Calibri" panose="020F0502020204030204" pitchFamily="34" charset="0"/>
              </a:rPr>
              <a:t>2</a:t>
            </a:r>
            <a:r>
              <a:rPr lang="en-US" sz="2400" b="1" dirty="0">
                <a:solidFill>
                  <a:srgbClr val="000000"/>
                </a:solidFill>
                <a:latin typeface="Calibri" panose="020F0502020204030204" pitchFamily="34" charset="0"/>
              </a:rPr>
              <a:t>Z</a:t>
            </a:r>
            <a:r>
              <a:rPr lang="en-US" b="1" dirty="0">
                <a:solidFill>
                  <a:srgbClr val="000000"/>
                </a:solidFill>
                <a:latin typeface="Calibri" panose="020F0502020204030204" pitchFamily="34" charset="0"/>
              </a:rPr>
              <a:t>1</a:t>
            </a:r>
            <a:r>
              <a:rPr lang="en-US" sz="2400" b="1" dirty="0">
                <a:solidFill>
                  <a:srgbClr val="000000"/>
                </a:solidFill>
                <a:latin typeface="Calibri" panose="020F0502020204030204" pitchFamily="34" charset="0"/>
              </a:rPr>
              <a:t>Z</a:t>
            </a:r>
            <a:r>
              <a:rPr lang="en-US" b="1" dirty="0">
                <a:solidFill>
                  <a:srgbClr val="000000"/>
                </a:solidFill>
                <a:latin typeface="Calibri" panose="020F0502020204030204" pitchFamily="34" charset="0"/>
              </a:rPr>
              <a:t>0</a:t>
            </a:r>
          </a:p>
          <a:p>
            <a:endParaRPr lang="en-US" sz="2400" b="1" dirty="0">
              <a:solidFill>
                <a:srgbClr val="FF0000"/>
              </a:solidFill>
              <a:latin typeface="Calibri" panose="020F0502020204030204" pitchFamily="34" charset="0"/>
            </a:endParaRPr>
          </a:p>
          <a:p>
            <a:r>
              <a:rPr lang="en-US" sz="2400" b="1" dirty="0">
                <a:solidFill>
                  <a:srgbClr val="FF0000"/>
                </a:solidFill>
                <a:latin typeface="Calibri" panose="020F0502020204030204" pitchFamily="34" charset="0"/>
              </a:rPr>
              <a:t>The correction, of adding ‘6’ is required in two cases.</a:t>
            </a:r>
          </a:p>
          <a:p>
            <a:pPr marL="342900" indent="-342900">
              <a:buAutoNum type="arabicPeriod"/>
            </a:pPr>
            <a:r>
              <a:rPr lang="en-IN" sz="2400" b="1" dirty="0">
                <a:solidFill>
                  <a:srgbClr val="FF0000"/>
                </a:solidFill>
                <a:latin typeface="Calibri" panose="020F0502020204030204" pitchFamily="34" charset="0"/>
              </a:rPr>
              <a:t>Answer is</a:t>
            </a:r>
            <a:r>
              <a:rPr lang="en" sz="2400" b="1" dirty="0">
                <a:solidFill>
                  <a:srgbClr val="FF0000"/>
                </a:solidFill>
                <a:latin typeface="Calibri" panose="020F0502020204030204" pitchFamily="34" charset="0"/>
              </a:rPr>
              <a:t> invalid BCD codes, (A to F), decimal sums of 10 throguh 15</a:t>
            </a:r>
          </a:p>
          <a:p>
            <a:r>
              <a:rPr lang="en" sz="2400" b="1" dirty="0">
                <a:solidFill>
                  <a:srgbClr val="000000"/>
                </a:solidFill>
                <a:latin typeface="Calibri" panose="020F0502020204030204" pitchFamily="34" charset="0"/>
              </a:rPr>
              <a:t>K P</a:t>
            </a:r>
            <a:r>
              <a:rPr lang="en" b="1" dirty="0">
                <a:solidFill>
                  <a:srgbClr val="000000"/>
                </a:solidFill>
                <a:latin typeface="Calibri" panose="020F0502020204030204" pitchFamily="34" charset="0"/>
              </a:rPr>
              <a:t>3</a:t>
            </a:r>
            <a:r>
              <a:rPr lang="en" sz="2400" b="1" dirty="0">
                <a:solidFill>
                  <a:srgbClr val="000000"/>
                </a:solidFill>
                <a:latin typeface="Calibri" panose="020F0502020204030204" pitchFamily="34" charset="0"/>
              </a:rPr>
              <a:t>P</a:t>
            </a:r>
            <a:r>
              <a:rPr lang="en" b="1" dirty="0">
                <a:solidFill>
                  <a:srgbClr val="000000"/>
                </a:solidFill>
                <a:latin typeface="Calibri" panose="020F0502020204030204" pitchFamily="34" charset="0"/>
              </a:rPr>
              <a:t>2</a:t>
            </a:r>
            <a:r>
              <a:rPr lang="en" sz="2400" b="1" dirty="0">
                <a:solidFill>
                  <a:srgbClr val="000000"/>
                </a:solidFill>
                <a:latin typeface="Calibri" panose="020F0502020204030204" pitchFamily="34" charset="0"/>
              </a:rPr>
              <a:t>P</a:t>
            </a:r>
            <a:r>
              <a:rPr lang="en" b="1" dirty="0">
                <a:solidFill>
                  <a:srgbClr val="000000"/>
                </a:solidFill>
                <a:latin typeface="Calibri" panose="020F0502020204030204" pitchFamily="34" charset="0"/>
              </a:rPr>
              <a:t>1</a:t>
            </a:r>
            <a:r>
              <a:rPr lang="en" sz="2400" b="1" dirty="0">
                <a:solidFill>
                  <a:srgbClr val="000000"/>
                </a:solidFill>
                <a:latin typeface="Calibri" panose="020F0502020204030204" pitchFamily="34" charset="0"/>
              </a:rPr>
              <a:t>P</a:t>
            </a:r>
            <a:r>
              <a:rPr lang="en" b="1" dirty="0">
                <a:solidFill>
                  <a:srgbClr val="000000"/>
                </a:solidFill>
                <a:latin typeface="Calibri" panose="020F0502020204030204" pitchFamily="34" charset="0"/>
              </a:rPr>
              <a:t>0</a:t>
            </a:r>
            <a:r>
              <a:rPr lang="en" sz="2400" b="1" dirty="0">
                <a:solidFill>
                  <a:srgbClr val="000000"/>
                </a:solidFill>
                <a:latin typeface="Calibri" panose="020F0502020204030204" pitchFamily="34" charset="0"/>
              </a:rPr>
              <a:t> –&gt;0 1010, 0 1011, 0 1100, </a:t>
            </a:r>
          </a:p>
          <a:p>
            <a:r>
              <a:rPr lang="en" sz="2400" b="1" dirty="0">
                <a:solidFill>
                  <a:srgbClr val="000000"/>
                </a:solidFill>
                <a:latin typeface="Calibri" panose="020F0502020204030204" pitchFamily="34" charset="0"/>
              </a:rPr>
              <a:t>                         0 1101, 0 1110, 0 1111</a:t>
            </a:r>
          </a:p>
          <a:p>
            <a:pPr marL="342900" indent="-342900">
              <a:buAutoNum type="arabicPeriod" startAt="2"/>
            </a:pPr>
            <a:r>
              <a:rPr lang="en" sz="2400" b="1" dirty="0">
                <a:solidFill>
                  <a:srgbClr val="FF0000"/>
                </a:solidFill>
                <a:latin typeface="Calibri" panose="020F0502020204030204" pitchFamily="34" charset="0"/>
              </a:rPr>
              <a:t>Answer produces, </a:t>
            </a:r>
            <a:r>
              <a:rPr lang="en-IN" sz="2400" b="1" dirty="0">
                <a:solidFill>
                  <a:srgbClr val="FF0000"/>
                </a:solidFill>
                <a:latin typeface="Calibri" panose="020F0502020204030204" pitchFamily="34" charset="0"/>
              </a:rPr>
              <a:t>the Carry, decimal sums 16 through 19 </a:t>
            </a:r>
          </a:p>
          <a:p>
            <a:r>
              <a:rPr lang="en-IN" sz="2400" b="1" dirty="0">
                <a:solidFill>
                  <a:srgbClr val="000000"/>
                </a:solidFill>
                <a:latin typeface="Calibri" panose="020F0502020204030204" pitchFamily="34" charset="0"/>
              </a:rPr>
              <a:t>K P</a:t>
            </a:r>
            <a:r>
              <a:rPr lang="en-IN" b="1" dirty="0">
                <a:solidFill>
                  <a:srgbClr val="000000"/>
                </a:solidFill>
                <a:latin typeface="Calibri" panose="020F0502020204030204" pitchFamily="34" charset="0"/>
              </a:rPr>
              <a:t>3</a:t>
            </a:r>
            <a:r>
              <a:rPr lang="en-IN" sz="2400" b="1" dirty="0">
                <a:solidFill>
                  <a:srgbClr val="000000"/>
                </a:solidFill>
                <a:latin typeface="Calibri" panose="020F0502020204030204" pitchFamily="34" charset="0"/>
              </a:rPr>
              <a:t>P</a:t>
            </a:r>
            <a:r>
              <a:rPr lang="en-IN" b="1" dirty="0">
                <a:solidFill>
                  <a:srgbClr val="000000"/>
                </a:solidFill>
                <a:latin typeface="Calibri" panose="020F0502020204030204" pitchFamily="34" charset="0"/>
              </a:rPr>
              <a:t>2</a:t>
            </a:r>
            <a:r>
              <a:rPr lang="en-IN" sz="2400" b="1" dirty="0">
                <a:solidFill>
                  <a:srgbClr val="000000"/>
                </a:solidFill>
                <a:latin typeface="Calibri" panose="020F0502020204030204" pitchFamily="34" charset="0"/>
              </a:rPr>
              <a:t>P</a:t>
            </a:r>
            <a:r>
              <a:rPr lang="en-IN" b="1" dirty="0">
                <a:solidFill>
                  <a:srgbClr val="000000"/>
                </a:solidFill>
                <a:latin typeface="Calibri" panose="020F0502020204030204" pitchFamily="34" charset="0"/>
              </a:rPr>
              <a:t>1</a:t>
            </a:r>
            <a:r>
              <a:rPr lang="en-IN" sz="2400" b="1" dirty="0">
                <a:solidFill>
                  <a:srgbClr val="000000"/>
                </a:solidFill>
                <a:latin typeface="Calibri" panose="020F0502020204030204" pitchFamily="34" charset="0"/>
              </a:rPr>
              <a:t>P</a:t>
            </a:r>
            <a:r>
              <a:rPr lang="en-IN" b="1" dirty="0">
                <a:solidFill>
                  <a:srgbClr val="000000"/>
                </a:solidFill>
                <a:latin typeface="Calibri" panose="020F0502020204030204" pitchFamily="34" charset="0"/>
              </a:rPr>
              <a:t>0</a:t>
            </a:r>
            <a:r>
              <a:rPr lang="en-IN" sz="2400" b="1" dirty="0">
                <a:solidFill>
                  <a:srgbClr val="000000"/>
                </a:solidFill>
                <a:latin typeface="Calibri" panose="020F0502020204030204" pitchFamily="34" charset="0"/>
              </a:rPr>
              <a:t> -&gt; 1 0000, 1 0001, 1 0010, </a:t>
            </a:r>
          </a:p>
          <a:p>
            <a:r>
              <a:rPr lang="en-IN" sz="2400" b="1" dirty="0">
                <a:solidFill>
                  <a:srgbClr val="000000"/>
                </a:solidFill>
                <a:latin typeface="Calibri" panose="020F0502020204030204" pitchFamily="34" charset="0"/>
              </a:rPr>
              <a:t>                          1 0011</a:t>
            </a:r>
            <a:endParaRPr lang="en" sz="2400" b="1" dirty="0">
              <a:solidFill>
                <a:srgbClr val="000000"/>
              </a:solidFill>
              <a:latin typeface="Calibri" panose="020F0502020204030204" pitchFamily="34" charset="0"/>
            </a:endParaRPr>
          </a:p>
          <a:p>
            <a:endParaRPr lang="en" sz="1800" b="1" dirty="0">
              <a:solidFill>
                <a:srgbClr val="000000"/>
              </a:solidFill>
              <a:latin typeface="Calibri" panose="020F0502020204030204" pitchFamily="34" charset="0"/>
            </a:endParaRPr>
          </a:p>
          <a:p>
            <a:pPr marL="342900" indent="-342900">
              <a:buAutoNum type="arabicPeriod"/>
            </a:pPr>
            <a:endParaRPr lang="en" sz="1800" b="1" dirty="0">
              <a:solidFill>
                <a:srgbClr val="000000"/>
              </a:solidFill>
              <a:latin typeface="Calibri" panose="020F0502020204030204" pitchFamily="34" charset="0"/>
            </a:endParaRPr>
          </a:p>
          <a:p>
            <a:endParaRPr lang="en-IN" dirty="0"/>
          </a:p>
        </p:txBody>
      </p:sp>
      <p:pic>
        <p:nvPicPr>
          <p:cNvPr id="9" name="Picture 8">
            <a:extLst>
              <a:ext uri="{FF2B5EF4-FFF2-40B4-BE49-F238E27FC236}">
                <a16:creationId xmlns:a16="http://schemas.microsoft.com/office/drawing/2014/main" id="{E6E17451-453D-0A9C-C6AF-75826D961445}"/>
              </a:ext>
            </a:extLst>
          </p:cNvPr>
          <p:cNvPicPr>
            <a:picLocks noChangeAspect="1"/>
          </p:cNvPicPr>
          <p:nvPr/>
        </p:nvPicPr>
        <p:blipFill>
          <a:blip r:embed="rId2"/>
          <a:stretch>
            <a:fillRect/>
          </a:stretch>
        </p:blipFill>
        <p:spPr>
          <a:xfrm>
            <a:off x="3090" y="543564"/>
            <a:ext cx="6538388" cy="5770872"/>
          </a:xfrm>
          <a:prstGeom prst="rect">
            <a:avLst/>
          </a:prstGeom>
        </p:spPr>
      </p:pic>
    </p:spTree>
    <p:extLst>
      <p:ext uri="{BB962C8B-B14F-4D97-AF65-F5344CB8AC3E}">
        <p14:creationId xmlns:p14="http://schemas.microsoft.com/office/powerpoint/2010/main" val="1666235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F341D3-694B-F7B8-99D3-D2882F93D272}"/>
              </a:ext>
            </a:extLst>
          </p:cNvPr>
          <p:cNvPicPr>
            <a:picLocks noChangeAspect="1"/>
          </p:cNvPicPr>
          <p:nvPr/>
        </p:nvPicPr>
        <p:blipFill>
          <a:blip r:embed="rId2"/>
          <a:stretch>
            <a:fillRect/>
          </a:stretch>
        </p:blipFill>
        <p:spPr>
          <a:xfrm>
            <a:off x="375578" y="164270"/>
            <a:ext cx="4210050" cy="5010150"/>
          </a:xfrm>
          <a:prstGeom prst="rect">
            <a:avLst/>
          </a:prstGeom>
        </p:spPr>
      </p:pic>
      <p:sp>
        <p:nvSpPr>
          <p:cNvPr id="6" name="TextBox 5">
            <a:extLst>
              <a:ext uri="{FF2B5EF4-FFF2-40B4-BE49-F238E27FC236}">
                <a16:creationId xmlns:a16="http://schemas.microsoft.com/office/drawing/2014/main" id="{AB87C47B-2DFF-A262-7CA8-64A6203053EF}"/>
              </a:ext>
            </a:extLst>
          </p:cNvPr>
          <p:cNvSpPr txBox="1"/>
          <p:nvPr/>
        </p:nvSpPr>
        <p:spPr>
          <a:xfrm>
            <a:off x="5063930" y="1422850"/>
            <a:ext cx="7329707" cy="3231654"/>
          </a:xfrm>
          <a:prstGeom prst="rect">
            <a:avLst/>
          </a:prstGeom>
          <a:noFill/>
        </p:spPr>
        <p:txBody>
          <a:bodyPr wrap="square" rtlCol="0">
            <a:spAutoFit/>
          </a:bodyPr>
          <a:lstStyle/>
          <a:p>
            <a:r>
              <a:rPr lang="en-IN" sz="3600" dirty="0"/>
              <a:t>    </a:t>
            </a:r>
            <a:r>
              <a:rPr lang="en-IN" sz="2400" dirty="0"/>
              <a:t>from the </a:t>
            </a:r>
            <a:r>
              <a:rPr lang="en-IN" sz="2400" dirty="0" err="1"/>
              <a:t>Kmap</a:t>
            </a:r>
            <a:endParaRPr lang="en-IN" sz="2400" dirty="0"/>
          </a:p>
          <a:p>
            <a:r>
              <a:rPr lang="en-IN" sz="3600" dirty="0"/>
              <a:t>ADD_6 = P</a:t>
            </a:r>
            <a:r>
              <a:rPr lang="en-IN" sz="2400" dirty="0"/>
              <a:t>3</a:t>
            </a:r>
            <a:r>
              <a:rPr lang="en-IN" sz="3600" dirty="0"/>
              <a:t>P</a:t>
            </a:r>
            <a:r>
              <a:rPr lang="en-IN" sz="2400" dirty="0"/>
              <a:t>2</a:t>
            </a:r>
            <a:r>
              <a:rPr lang="en-IN" sz="3600" dirty="0"/>
              <a:t> + P</a:t>
            </a:r>
            <a:r>
              <a:rPr lang="en-IN" sz="2400" dirty="0"/>
              <a:t>3</a:t>
            </a:r>
            <a:r>
              <a:rPr lang="en-IN" sz="3600" dirty="0"/>
              <a:t>P</a:t>
            </a:r>
            <a:r>
              <a:rPr lang="en-IN" sz="2400" dirty="0"/>
              <a:t>1</a:t>
            </a:r>
          </a:p>
          <a:p>
            <a:endParaRPr lang="en-IN" sz="2400" dirty="0"/>
          </a:p>
          <a:p>
            <a:endParaRPr lang="en-IN" sz="2400" dirty="0"/>
          </a:p>
          <a:p>
            <a:r>
              <a:rPr lang="en-IN" sz="2400" dirty="0"/>
              <a:t>Including the Carry output (K), in the expression, the Boolean expression for adding the correction is</a:t>
            </a:r>
          </a:p>
          <a:p>
            <a:r>
              <a:rPr lang="en-IN" sz="3600" dirty="0">
                <a:solidFill>
                  <a:srgbClr val="FF0000"/>
                </a:solidFill>
              </a:rPr>
              <a:t>ADD_6 = K + P</a:t>
            </a:r>
            <a:r>
              <a:rPr lang="en-IN" sz="2400" dirty="0">
                <a:solidFill>
                  <a:srgbClr val="FF0000"/>
                </a:solidFill>
              </a:rPr>
              <a:t>3</a:t>
            </a:r>
            <a:r>
              <a:rPr lang="en-IN" sz="3600" dirty="0">
                <a:solidFill>
                  <a:srgbClr val="FF0000"/>
                </a:solidFill>
              </a:rPr>
              <a:t>P</a:t>
            </a:r>
            <a:r>
              <a:rPr lang="en-IN" sz="2800" dirty="0">
                <a:solidFill>
                  <a:srgbClr val="FF0000"/>
                </a:solidFill>
              </a:rPr>
              <a:t>2</a:t>
            </a:r>
            <a:r>
              <a:rPr lang="en-IN" sz="3600" dirty="0">
                <a:solidFill>
                  <a:srgbClr val="FF0000"/>
                </a:solidFill>
              </a:rPr>
              <a:t> + P</a:t>
            </a:r>
            <a:r>
              <a:rPr lang="en-IN" sz="2400" dirty="0">
                <a:solidFill>
                  <a:srgbClr val="FF0000"/>
                </a:solidFill>
              </a:rPr>
              <a:t>3</a:t>
            </a:r>
            <a:r>
              <a:rPr lang="en-IN" sz="3600" dirty="0">
                <a:solidFill>
                  <a:srgbClr val="FF0000"/>
                </a:solidFill>
              </a:rPr>
              <a:t>P</a:t>
            </a:r>
            <a:r>
              <a:rPr lang="en-IN" sz="2800" dirty="0">
                <a:solidFill>
                  <a:srgbClr val="FF0000"/>
                </a:solidFill>
              </a:rPr>
              <a:t>1</a:t>
            </a:r>
            <a:endParaRPr lang="en-IN" sz="3600" dirty="0">
              <a:solidFill>
                <a:srgbClr val="FF0000"/>
              </a:solidFill>
            </a:endParaRPr>
          </a:p>
        </p:txBody>
      </p:sp>
    </p:spTree>
    <p:extLst>
      <p:ext uri="{BB962C8B-B14F-4D97-AF65-F5344CB8AC3E}">
        <p14:creationId xmlns:p14="http://schemas.microsoft.com/office/powerpoint/2010/main" val="8232539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B50D26-491F-1472-C29B-18535E671E26}"/>
              </a:ext>
            </a:extLst>
          </p:cNvPr>
          <p:cNvPicPr>
            <a:picLocks noChangeAspect="1"/>
          </p:cNvPicPr>
          <p:nvPr/>
        </p:nvPicPr>
        <p:blipFill>
          <a:blip r:embed="rId2"/>
          <a:stretch>
            <a:fillRect/>
          </a:stretch>
        </p:blipFill>
        <p:spPr>
          <a:xfrm>
            <a:off x="-47625" y="240982"/>
            <a:ext cx="6143625" cy="6010275"/>
          </a:xfrm>
          <a:prstGeom prst="rect">
            <a:avLst/>
          </a:prstGeom>
        </p:spPr>
      </p:pic>
      <p:sp>
        <p:nvSpPr>
          <p:cNvPr id="8" name="TextBox 7">
            <a:extLst>
              <a:ext uri="{FF2B5EF4-FFF2-40B4-BE49-F238E27FC236}">
                <a16:creationId xmlns:a16="http://schemas.microsoft.com/office/drawing/2014/main" id="{85C7D98F-47B0-B984-CEC8-DA0000EA2948}"/>
              </a:ext>
            </a:extLst>
          </p:cNvPr>
          <p:cNvSpPr txBox="1"/>
          <p:nvPr/>
        </p:nvSpPr>
        <p:spPr>
          <a:xfrm>
            <a:off x="6428936" y="1083212"/>
            <a:ext cx="5289452" cy="4893647"/>
          </a:xfrm>
          <a:prstGeom prst="rect">
            <a:avLst/>
          </a:prstGeom>
          <a:noFill/>
        </p:spPr>
        <p:txBody>
          <a:bodyPr wrap="square" rtlCol="0">
            <a:spAutoFit/>
          </a:bodyPr>
          <a:lstStyle/>
          <a:p>
            <a:r>
              <a:rPr lang="en-IN" sz="2400" dirty="0"/>
              <a:t>Corrective network is realised using another 4 bit binary adder, </a:t>
            </a:r>
            <a:r>
              <a:rPr lang="en-IN" sz="2400" dirty="0">
                <a:solidFill>
                  <a:srgbClr val="FF0000"/>
                </a:solidFill>
              </a:rPr>
              <a:t>whenever ADD_6 is true, 0110 (6) is applied as one of the inputs to second adder, to add 6 to the result produced by the first adder.</a:t>
            </a:r>
          </a:p>
          <a:p>
            <a:r>
              <a:rPr lang="en-IN" sz="2400" dirty="0"/>
              <a:t>Final </a:t>
            </a:r>
            <a:r>
              <a:rPr lang="en-IN" sz="2400" dirty="0" err="1"/>
              <a:t>Cout</a:t>
            </a:r>
            <a:r>
              <a:rPr lang="en-IN" sz="2400" dirty="0"/>
              <a:t> of the BCD adder is same as ADD_6 output.</a:t>
            </a:r>
          </a:p>
          <a:p>
            <a:endParaRPr lang="en-IN" sz="2400" dirty="0"/>
          </a:p>
          <a:p>
            <a:r>
              <a:rPr lang="en-IN" sz="2400" dirty="0"/>
              <a:t>In this diagram, Whenever </a:t>
            </a:r>
            <a:r>
              <a:rPr lang="en-IN" sz="2400" dirty="0" err="1">
                <a:solidFill>
                  <a:srgbClr val="FF0000"/>
                </a:solidFill>
              </a:rPr>
              <a:t>Cout</a:t>
            </a:r>
            <a:r>
              <a:rPr lang="en-IN" sz="2400" dirty="0">
                <a:solidFill>
                  <a:srgbClr val="FF0000"/>
                </a:solidFill>
              </a:rPr>
              <a:t> (</a:t>
            </a:r>
            <a:r>
              <a:rPr lang="en-IN" sz="2400" dirty="0" err="1">
                <a:solidFill>
                  <a:srgbClr val="FF0000"/>
                </a:solidFill>
              </a:rPr>
              <a:t>i.e</a:t>
            </a:r>
            <a:r>
              <a:rPr lang="en-IN" sz="2400" dirty="0">
                <a:solidFill>
                  <a:srgbClr val="FF0000"/>
                </a:solidFill>
              </a:rPr>
              <a:t> ADD_6) Is 0</a:t>
            </a:r>
            <a:r>
              <a:rPr lang="en-IN" sz="2400" dirty="0"/>
              <a:t>, the output of the first adder is </a:t>
            </a:r>
            <a:r>
              <a:rPr lang="en-IN" sz="2400" dirty="0">
                <a:solidFill>
                  <a:srgbClr val="FF0000"/>
                </a:solidFill>
              </a:rPr>
              <a:t>added with 0</a:t>
            </a:r>
            <a:r>
              <a:rPr lang="en-IN" sz="2400" dirty="0"/>
              <a:t>. </a:t>
            </a:r>
            <a:r>
              <a:rPr lang="en-IN" sz="2400" dirty="0" err="1"/>
              <a:t>Whenver</a:t>
            </a:r>
            <a:r>
              <a:rPr lang="en-IN" sz="2400" dirty="0"/>
              <a:t> </a:t>
            </a:r>
            <a:r>
              <a:rPr lang="en-IN" sz="2400" dirty="0" err="1">
                <a:solidFill>
                  <a:srgbClr val="FF0000"/>
                </a:solidFill>
              </a:rPr>
              <a:t>Cout</a:t>
            </a:r>
            <a:r>
              <a:rPr lang="en-IN" sz="2400" dirty="0">
                <a:solidFill>
                  <a:srgbClr val="FF0000"/>
                </a:solidFill>
              </a:rPr>
              <a:t> (ADD_6) is 1</a:t>
            </a:r>
            <a:r>
              <a:rPr lang="en-IN" sz="2400" dirty="0"/>
              <a:t>, the output of first </a:t>
            </a:r>
            <a:r>
              <a:rPr lang="en-IN" sz="2400" dirty="0">
                <a:solidFill>
                  <a:srgbClr val="FF0000"/>
                </a:solidFill>
              </a:rPr>
              <a:t>adder is added with  6 (0110).</a:t>
            </a:r>
          </a:p>
        </p:txBody>
      </p:sp>
    </p:spTree>
    <p:extLst>
      <p:ext uri="{BB962C8B-B14F-4D97-AF65-F5344CB8AC3E}">
        <p14:creationId xmlns:p14="http://schemas.microsoft.com/office/powerpoint/2010/main" val="23940704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Comparators</a:t>
            </a:r>
          </a:p>
        </p:txBody>
      </p:sp>
      <p:sp>
        <p:nvSpPr>
          <p:cNvPr id="3" name="Content Placeholder 2"/>
          <p:cNvSpPr>
            <a:spLocks noGrp="1"/>
          </p:cNvSpPr>
          <p:nvPr>
            <p:ph idx="1"/>
          </p:nvPr>
        </p:nvSpPr>
        <p:spPr/>
        <p:txBody>
          <a:bodyPr/>
          <a:lstStyle/>
          <a:p>
            <a:r>
              <a:rPr lang="en-US" dirty="0"/>
              <a:t>Compare the magnitude of two binary numbers for the purpose of establishing whether one is greater than, equal to, or less than the other.</a:t>
            </a:r>
          </a:p>
          <a:p>
            <a:r>
              <a:rPr lang="en-US" dirty="0"/>
              <a:t>A comparator makes use of a cascade connection of identical </a:t>
            </a:r>
            <a:r>
              <a:rPr lang="en-US" dirty="0" err="1"/>
              <a:t>subnetworks</a:t>
            </a:r>
            <a:r>
              <a:rPr lang="en-US" dirty="0"/>
              <a:t> similar to the case of the parallel adder.</a:t>
            </a:r>
          </a:p>
        </p:txBody>
      </p:sp>
    </p:spTree>
    <p:extLst>
      <p:ext uri="{BB962C8B-B14F-4D97-AF65-F5344CB8AC3E}">
        <p14:creationId xmlns:p14="http://schemas.microsoft.com/office/powerpoint/2010/main" val="2239706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Comparators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Consider two n-bit binary numbers: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𝐴</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𝑛</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0</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𝐵</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𝑛</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0</m:t>
                          </m:r>
                        </m:sub>
                      </m:sSub>
                    </m:oMath>
                  </m:oMathPara>
                </a14:m>
                <a:endParaRPr lang="en-US" b="0" dirty="0"/>
              </a:p>
              <a:p>
                <a:r>
                  <a:rPr lang="en-US" b="0" dirty="0"/>
                  <a:t>Assume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oMath>
                </a14:m>
                <a:r>
                  <a:rPr lang="en-US" b="0" dirty="0"/>
                  <a:t> are entering the </a:t>
                </a:r>
                <a:r>
                  <a:rPr lang="en-US" b="0" dirty="0" err="1"/>
                  <a:t>subnetwork</a:t>
                </a:r>
                <a:r>
                  <a:rPr lang="en-US" b="0" dirty="0"/>
                  <a:t> and that the binary numbers are analyzed from right to left.</a:t>
                </a:r>
              </a:p>
              <a:p>
                <a:r>
                  <a:rPr lang="en-US" dirty="0" err="1"/>
                  <a:t>Subnetwork</a:t>
                </a:r>
                <a:r>
                  <a:rPr lang="en-US" dirty="0"/>
                  <a:t> is called a 1-bit comparator.</a:t>
                </a:r>
                <a:endParaRPr lang="en-US" b="0"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en-US">
                    <a:noFill/>
                  </a:rPr>
                  <a:t> </a:t>
                </a:r>
              </a:p>
            </p:txBody>
          </p:sp>
        </mc:Fallback>
      </mc:AlternateContent>
    </p:spTree>
    <p:extLst>
      <p:ext uri="{BB962C8B-B14F-4D97-AF65-F5344CB8AC3E}">
        <p14:creationId xmlns:p14="http://schemas.microsoft.com/office/powerpoint/2010/main" val="153372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Comparators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3 conditions describing the relative magnitudes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0</m:t>
                        </m:r>
                      </m:sub>
                    </m:sSub>
                  </m:oMath>
                </a14:m>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0</m:t>
                        </m:r>
                      </m:sub>
                    </m:sSub>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𝐺</m:t>
                        </m:r>
                      </m:e>
                      <m:sub>
                        <m:r>
                          <a:rPr lang="en-US" b="0" i="1" smtClean="0">
                            <a:latin typeface="Cambria Math"/>
                          </a:rPr>
                          <m:t>𝑖</m:t>
                        </m:r>
                      </m:sub>
                    </m:sSub>
                    <m:r>
                      <a:rPr lang="en-US" b="0" i="1" smtClean="0">
                        <a:latin typeface="Cambria Math"/>
                      </a:rPr>
                      <m:t>=1</m:t>
                    </m:r>
                  </m:oMath>
                </a14:m>
                <a:r>
                  <a:rPr lang="en-US" dirty="0"/>
                  <a:t> denotes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0</m:t>
                        </m:r>
                      </m:sub>
                    </m:sSub>
                    <m:r>
                      <a:rPr lang="en-US" b="0" i="0" smtClean="0">
                        <a:latin typeface="Cambria Math"/>
                      </a:rPr>
                      <m:t>&gt;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0</m:t>
                        </m:r>
                      </m:sub>
                    </m:sSub>
                  </m:oMath>
                </a14:m>
                <a:endParaRPr lang="en-US" b="0"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𝑖</m:t>
                        </m:r>
                      </m:sub>
                    </m:sSub>
                    <m:r>
                      <a:rPr lang="en-US" b="0" i="1" smtClean="0">
                        <a:latin typeface="Cambria Math"/>
                      </a:rPr>
                      <m:t>=1</m:t>
                    </m:r>
                  </m:oMath>
                </a14:m>
                <a:r>
                  <a:rPr lang="en-US" dirty="0"/>
                  <a:t> denotes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0</m:t>
                        </m:r>
                      </m:sub>
                    </m:sSub>
                    <m:r>
                      <a:rPr lang="en-US" b="0" i="0"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0</m:t>
                        </m:r>
                      </m:sub>
                    </m:sSub>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𝐿</m:t>
                        </m:r>
                      </m:e>
                      <m:sub>
                        <m:r>
                          <a:rPr lang="en-US" b="0" i="1" smtClean="0">
                            <a:latin typeface="Cambria Math"/>
                          </a:rPr>
                          <m:t>𝑖</m:t>
                        </m:r>
                      </m:sub>
                    </m:sSub>
                    <m:r>
                      <a:rPr lang="en-US" b="0" i="1" smtClean="0">
                        <a:latin typeface="Cambria Math"/>
                      </a:rPr>
                      <m:t>=1</m:t>
                    </m:r>
                  </m:oMath>
                </a14:m>
                <a:r>
                  <a:rPr lang="en-US" dirty="0"/>
                  <a:t> denotes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0</m:t>
                        </m:r>
                      </m:sub>
                    </m:sSub>
                    <m:r>
                      <a:rPr lang="en-US" b="0" i="0" smtClean="0">
                        <a:latin typeface="Cambria Math"/>
                      </a:rPr>
                      <m:t>&lt;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0</m:t>
                        </m:r>
                      </m:sub>
                    </m:sSub>
                  </m:oMath>
                </a14:m>
                <a:endParaRPr lang="en-US" b="0" dirty="0"/>
              </a:p>
              <a:p>
                <a:r>
                  <a:rPr lang="en-US" dirty="0"/>
                  <a:t>1-bit comparator is a 5-input 3-output network</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a:stretch>
              </a:blipFill>
            </p:spPr>
            <p:txBody>
              <a:bodyPr/>
              <a:lstStyle/>
              <a:p>
                <a:r>
                  <a:rPr lang="en-US">
                    <a:noFill/>
                  </a:rPr>
                  <a:t> </a:t>
                </a:r>
              </a:p>
            </p:txBody>
          </p:sp>
        </mc:Fallback>
      </mc:AlternateContent>
    </p:spTree>
    <p:extLst>
      <p:ext uri="{BB962C8B-B14F-4D97-AF65-F5344CB8AC3E}">
        <p14:creationId xmlns:p14="http://schemas.microsoft.com/office/powerpoint/2010/main" val="2998619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Comparators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Rules:</a:t>
                </a:r>
              </a:p>
              <a:p>
                <a:pPr lvl="1"/>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=0, </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r>
                      <a:rPr lang="en-US" b="0" i="1" smtClean="0">
                        <a:latin typeface="Cambria Math"/>
                      </a:rPr>
                      <m:t>=1</m:t>
                    </m:r>
                  </m:oMath>
                </a14:m>
                <a:r>
                  <a:rPr lang="en-US" dirty="0"/>
                  <a:t>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𝐿</m:t>
                        </m:r>
                      </m:e>
                      <m:sub>
                        <m:r>
                          <a:rPr lang="en-US" b="0" i="1" smtClean="0">
                            <a:latin typeface="Cambria Math"/>
                          </a:rPr>
                          <m:t>𝑖</m:t>
                        </m:r>
                        <m:r>
                          <a:rPr lang="en-IN" b="0" i="1" smtClean="0">
                            <a:latin typeface="Cambria Math"/>
                          </a:rPr>
                          <m:t>+1</m:t>
                        </m:r>
                      </m:sub>
                    </m:sSub>
                    <m:r>
                      <a:rPr lang="en-US" b="0" i="1" smtClean="0">
                        <a:latin typeface="Cambria Math"/>
                      </a:rPr>
                      <m:t>=1</m:t>
                    </m:r>
                  </m:oMath>
                </a14:m>
                <a:endParaRPr lang="en-US" dirty="0"/>
              </a:p>
              <a:p>
                <a:pPr lvl="1"/>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=1, </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r>
                      <a:rPr lang="en-US" b="0" i="1" smtClean="0">
                        <a:latin typeface="Cambria Math"/>
                      </a:rPr>
                      <m:t>=0</m:t>
                    </m:r>
                  </m:oMath>
                </a14:m>
                <a:r>
                  <a:rPr lang="en-US" dirty="0"/>
                  <a:t>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𝐺</m:t>
                        </m:r>
                      </m:e>
                      <m:sub>
                        <m:r>
                          <a:rPr lang="en-US" b="0" i="1" smtClean="0">
                            <a:latin typeface="Cambria Math"/>
                          </a:rPr>
                          <m:t>𝑖</m:t>
                        </m:r>
                        <m:r>
                          <a:rPr lang="en-IN" b="0" i="1" smtClean="0">
                            <a:latin typeface="Cambria Math"/>
                          </a:rPr>
                          <m:t>+1</m:t>
                        </m:r>
                      </m:sub>
                    </m:sSub>
                    <m:r>
                      <a:rPr lang="en-US" b="0" i="1" smtClean="0">
                        <a:latin typeface="Cambria Math"/>
                      </a:rPr>
                      <m:t>=1</m:t>
                    </m:r>
                  </m:oMath>
                </a14:m>
                <a:endParaRPr lang="en-US" b="0" dirty="0"/>
              </a:p>
              <a:p>
                <a:pPr marL="457200" lvl="1" indent="0">
                  <a:buNone/>
                </a:pPr>
                <a:endParaRPr lang="en-US" b="0" dirty="0"/>
              </a:p>
              <a:p>
                <a:pPr lvl="1"/>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𝐿</m:t>
                        </m:r>
                      </m:e>
                      <m:sub>
                        <m:r>
                          <a:rPr lang="en-US" b="0" i="1" smtClean="0">
                            <a:latin typeface="Cambria Math"/>
                          </a:rPr>
                          <m:t>𝑖</m:t>
                        </m:r>
                      </m:sub>
                    </m:sSub>
                    <m:r>
                      <a:rPr lang="en-US" b="0" i="1" smtClean="0">
                        <a:latin typeface="Cambria Math"/>
                      </a:rPr>
                      <m:t>=1</m:t>
                    </m:r>
                  </m:oMath>
                </a14:m>
                <a:r>
                  <a:rPr lang="en-US" dirty="0"/>
                  <a:t>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𝐿</m:t>
                        </m:r>
                      </m:e>
                      <m:sub>
                        <m:r>
                          <a:rPr lang="en-US" b="0" i="1" smtClean="0">
                            <a:latin typeface="Cambria Math"/>
                          </a:rPr>
                          <m:t>𝑖</m:t>
                        </m:r>
                        <m:r>
                          <a:rPr lang="en-IN" b="0" i="1" smtClean="0">
                            <a:latin typeface="Cambria Math"/>
                          </a:rPr>
                          <m:t>+1</m:t>
                        </m:r>
                      </m:sub>
                    </m:sSub>
                    <m:r>
                      <a:rPr lang="en-US" b="0" i="1" smtClean="0">
                        <a:latin typeface="Cambria Math"/>
                      </a:rPr>
                      <m:t>=1</m:t>
                    </m:r>
                  </m:oMath>
                </a14:m>
                <a:endParaRPr lang="en-US" dirty="0"/>
              </a:p>
              <a:p>
                <a:pPr lvl="1"/>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𝐺</m:t>
                        </m:r>
                      </m:e>
                      <m:sub>
                        <m:r>
                          <a:rPr lang="en-US" b="0" i="1" smtClean="0">
                            <a:latin typeface="Cambria Math"/>
                          </a:rPr>
                          <m:t>𝑖</m:t>
                        </m:r>
                      </m:sub>
                    </m:sSub>
                    <m:r>
                      <a:rPr lang="en-US" b="0" i="1" smtClean="0">
                        <a:latin typeface="Cambria Math"/>
                      </a:rPr>
                      <m:t>=1</m:t>
                    </m:r>
                  </m:oMath>
                </a14:m>
                <a:r>
                  <a:rPr lang="en-US" dirty="0"/>
                  <a:t>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𝐺</m:t>
                        </m:r>
                      </m:e>
                      <m:sub>
                        <m:r>
                          <a:rPr lang="en-US" b="0" i="1" smtClean="0">
                            <a:latin typeface="Cambria Math"/>
                          </a:rPr>
                          <m:t>𝑖</m:t>
                        </m:r>
                        <m:r>
                          <a:rPr lang="en-IN" b="0" i="1" smtClean="0">
                            <a:latin typeface="Cambria Math"/>
                          </a:rPr>
                          <m:t>+1</m:t>
                        </m:r>
                      </m:sub>
                    </m:sSub>
                    <m:r>
                      <a:rPr lang="en-US" b="0" i="1" smtClean="0">
                        <a:latin typeface="Cambria Math"/>
                      </a:rPr>
                      <m:t>=1</m:t>
                    </m:r>
                  </m:oMath>
                </a14:m>
                <a:endParaRPr lang="en-US" dirty="0"/>
              </a:p>
              <a:p>
                <a:pPr lvl="1"/>
                <a:r>
                  <a:rPr lang="en-US" dirty="0"/>
                  <a:t>If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𝑖</m:t>
                        </m:r>
                      </m:sub>
                    </m:sSub>
                    <m:r>
                      <a:rPr lang="en-US" b="0" i="1" smtClean="0">
                        <a:latin typeface="Cambria Math"/>
                      </a:rPr>
                      <m:t>=1</m:t>
                    </m:r>
                  </m:oMath>
                </a14:m>
                <a:r>
                  <a:rPr lang="en-US" dirty="0"/>
                  <a:t>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𝑖</m:t>
                        </m:r>
                        <m:r>
                          <a:rPr lang="en-IN" b="0" i="1" smtClean="0">
                            <a:latin typeface="Cambria Math"/>
                          </a:rPr>
                          <m:t>+1</m:t>
                        </m:r>
                      </m:sub>
                    </m:sSub>
                    <m:r>
                      <a:rPr lang="en-US" b="0" i="1" smtClean="0">
                        <a:latin typeface="Cambria Math"/>
                      </a:rPr>
                      <m:t>=1</m:t>
                    </m:r>
                  </m:oMath>
                </a14:m>
                <a:endParaRPr lang="en-US" b="0" dirty="0"/>
              </a:p>
              <a:p>
                <a:r>
                  <a:rPr lang="en-US" dirty="0"/>
                  <a:t>Can use this to construct a truth table.</a:t>
                </a:r>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b="-20081"/>
                </a:stretch>
              </a:blipFill>
            </p:spPr>
            <p:txBody>
              <a:bodyPr/>
              <a:lstStyle/>
              <a:p>
                <a:r>
                  <a:rPr lang="en-IN">
                    <a:noFill/>
                  </a:rPr>
                  <a:t> </a:t>
                </a:r>
              </a:p>
            </p:txBody>
          </p:sp>
        </mc:Fallback>
      </mc:AlternateContent>
    </p:spTree>
    <p:extLst>
      <p:ext uri="{BB962C8B-B14F-4D97-AF65-F5344CB8AC3E}">
        <p14:creationId xmlns:p14="http://schemas.microsoft.com/office/powerpoint/2010/main" val="2333095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Comparators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Minimal Sum Boolean Expressions:</a:t>
                </a:r>
              </a:p>
              <a:p>
                <a:pPr marL="0" indent="0">
                  <a:buNone/>
                </a:pP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𝐺</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𝐵</m:t>
                            </m:r>
                          </m:e>
                        </m:ba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𝐺</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𝐵</m:t>
                            </m:r>
                          </m:e>
                        </m:ba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𝐺</m:t>
                        </m:r>
                      </m:e>
                      <m:sub>
                        <m:r>
                          <a:rPr lang="en-US" b="0" i="1" smtClean="0">
                            <a:latin typeface="Cambria Math"/>
                          </a:rPr>
                          <m:t>𝑖</m:t>
                        </m:r>
                      </m:sub>
                    </m:sSub>
                  </m:oMath>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𝐴</m:t>
                              </m:r>
                            </m:e>
                          </m:bar>
                        </m:e>
                        <m:sub>
                          <m:r>
                            <a:rPr lang="en-US" b="0" i="1" smtClean="0">
                              <a:latin typeface="Cambria Math"/>
                            </a:rPr>
                            <m:t>𝑖</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𝐵</m:t>
                              </m:r>
                            </m:e>
                          </m:ba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𝐸</m:t>
                          </m:r>
                        </m:e>
                        <m:sub>
                          <m:r>
                            <a:rPr lang="en-US" b="0" i="1" smtClean="0">
                              <a:latin typeface="Cambria Math"/>
                            </a:rPr>
                            <m:t>𝑖</m:t>
                          </m:r>
                        </m:sub>
                      </m:sSub>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IN" b="0" i="1" smtClean="0">
                              <a:latin typeface="Cambria Math" panose="02040503050406030204" pitchFamily="18" charset="0"/>
                            </a:rPr>
                            <m:t> </m:t>
                          </m:r>
                          <m:r>
                            <a:rPr lang="en-US" b="0" i="1" smtClean="0">
                              <a:latin typeface="Cambria Math"/>
                            </a:rPr>
                            <m:t>𝐿</m:t>
                          </m:r>
                        </m:e>
                        <m:sub>
                          <m:r>
                            <a:rPr lang="en-US" b="0" i="1" smtClean="0">
                              <a:latin typeface="Cambria Math"/>
                            </a:rPr>
                            <m:t>𝑖</m:t>
                          </m:r>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𝐴</m:t>
                              </m:r>
                            </m:e>
                          </m:ba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𝐵</m:t>
                          </m: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𝐿</m:t>
                          </m:r>
                        </m:e>
                        <m:sub>
                          <m:r>
                            <a:rPr lang="en-US" b="0" i="1" smtClean="0">
                              <a:latin typeface="Cambria Math"/>
                            </a:rPr>
                            <m:t>𝑖</m:t>
                          </m:r>
                        </m:sub>
                      </m:sSub>
                      <m:r>
                        <a:rPr lang="en-US" b="0" i="1" smtClean="0">
                          <a:latin typeface="Cambria Math"/>
                        </a:rPr>
                        <m:t>+</m:t>
                      </m:r>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𝐴</m:t>
                              </m:r>
                            </m:e>
                          </m:bar>
                        </m:e>
                        <m:sub>
                          <m:r>
                            <a:rPr lang="en-US" b="0" i="1" smtClean="0">
                              <a:latin typeface="Cambria Math"/>
                            </a:rPr>
                            <m:t>𝑖</m:t>
                          </m:r>
                        </m:sub>
                      </m:sSub>
                      <m:sSub>
                        <m:sSubPr>
                          <m:ctrlPr>
                            <a:rPr lang="en-US" b="0" i="1" smtClean="0">
                              <a:latin typeface="Cambria Math" panose="02040503050406030204" pitchFamily="18" charset="0"/>
                            </a:rPr>
                          </m:ctrlPr>
                        </m:sSubPr>
                        <m:e>
                          <m:r>
                            <a:rPr lang="en-US" b="0" i="1" smtClean="0">
                              <a:latin typeface="Cambria Math"/>
                            </a:rPr>
                            <m:t>𝐿</m:t>
                          </m:r>
                        </m:e>
                        <m:sub>
                          <m:r>
                            <a:rPr lang="en-US" b="0" i="1" smtClean="0">
                              <a:latin typeface="Cambria Math"/>
                            </a:rPr>
                            <m:t>𝑖</m:t>
                          </m:r>
                        </m:sub>
                      </m:sSub>
                    </m:oMath>
                  </m:oMathPara>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9972290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Comparators</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3532966" y="1243348"/>
            <a:ext cx="5337812" cy="5441919"/>
          </a:xfrm>
          <a:prstGeom prst="rect">
            <a:avLst/>
          </a:prstGeom>
          <a:noFill/>
          <a:ln>
            <a:noFill/>
          </a:ln>
          <a:scene3d>
            <a:camera prst="orthographicFront">
              <a:rot lat="0" lon="0" rev="21570000"/>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774173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Comparators</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a:off x="5218537" y="-1941936"/>
            <a:ext cx="1602529" cy="8534399"/>
          </a:xfrm>
          <a:prstGeom prst="rect">
            <a:avLst/>
          </a:prstGeom>
          <a:noFill/>
          <a:ln>
            <a:noFill/>
          </a:ln>
          <a:scene3d>
            <a:camera prst="orthographicFront">
              <a:rot lat="0" lon="0" rev="21552000"/>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046047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Decoder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Digital information represented in some binary form must be converted into some alternate binary form.</a:t>
                </a:r>
              </a:p>
              <a:p>
                <a14:m>
                  <m:oMath xmlns:m="http://schemas.openxmlformats.org/officeDocument/2006/math">
                    <m:r>
                      <a:rPr lang="en-US" b="0" i="1" smtClean="0">
                        <a:latin typeface="Cambria Math"/>
                      </a:rPr>
                      <m:t>𝑛</m:t>
                    </m:r>
                  </m:oMath>
                </a14:m>
                <a:r>
                  <a:rPr lang="en-US" dirty="0"/>
                  <a:t> to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2</m:t>
                        </m:r>
                      </m:e>
                      <m:sup>
                        <m:r>
                          <a:rPr lang="en-US" b="0" i="1" smtClean="0">
                            <a:latin typeface="Cambria Math"/>
                          </a:rPr>
                          <m:t>𝑛</m:t>
                        </m:r>
                      </m:sup>
                    </m:sSup>
                  </m:oMath>
                </a14:m>
                <a:r>
                  <a:rPr lang="en-US" dirty="0"/>
                  <a:t>-line decoder.</a:t>
                </a:r>
              </a:p>
              <a:p>
                <a:r>
                  <a:rPr lang="en-US" dirty="0"/>
                  <a:t>Only one of the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2</m:t>
                        </m:r>
                      </m:e>
                      <m:sup>
                        <m:r>
                          <a:rPr lang="en-US" b="0" i="1" smtClean="0">
                            <a:latin typeface="Cambria Math"/>
                          </a:rPr>
                          <m:t>𝑛</m:t>
                        </m:r>
                      </m:sup>
                    </m:sSup>
                  </m:oMath>
                </a14:m>
                <a:r>
                  <a:rPr lang="en-US" dirty="0"/>
                  <a:t> output lines responds, with a logic-1, to a given input combination of values on its </a:t>
                </a:r>
                <a14:m>
                  <m:oMath xmlns:m="http://schemas.openxmlformats.org/officeDocument/2006/math">
                    <m:r>
                      <a:rPr lang="en-US" b="0" i="1" smtClean="0">
                        <a:latin typeface="Cambria Math"/>
                      </a:rPr>
                      <m:t>𝑛</m:t>
                    </m:r>
                  </m:oMath>
                </a14:m>
                <a:r>
                  <a:rPr lang="en-US" dirty="0"/>
                  <a:t>-input lines.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r="-2889"/>
                </a:stretch>
              </a:blipFill>
            </p:spPr>
            <p:txBody>
              <a:bodyPr/>
              <a:lstStyle/>
              <a:p>
                <a:r>
                  <a:rPr lang="en-US">
                    <a:noFill/>
                  </a:rPr>
                  <a:t> </a:t>
                </a:r>
              </a:p>
            </p:txBody>
          </p:sp>
        </mc:Fallback>
      </mc:AlternateContent>
    </p:spTree>
    <p:extLst>
      <p:ext uri="{BB962C8B-B14F-4D97-AF65-F5344CB8AC3E}">
        <p14:creationId xmlns:p14="http://schemas.microsoft.com/office/powerpoint/2010/main" val="111490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types of Decoders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Function-specific decoders with less than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2</m:t>
                        </m:r>
                      </m:e>
                      <m:sup>
                        <m:r>
                          <a:rPr lang="en-US" b="0" i="1" smtClean="0">
                            <a:latin typeface="Cambria Math"/>
                          </a:rPr>
                          <m:t>𝑛</m:t>
                        </m:r>
                      </m:sup>
                    </m:sSup>
                  </m:oMath>
                </a14:m>
                <a:r>
                  <a:rPr lang="en-US" dirty="0"/>
                  <a:t> outputs exist.</a:t>
                </a:r>
              </a:p>
              <a:p>
                <a:r>
                  <a:rPr lang="en-US" dirty="0"/>
                  <a:t>Example:  Decoder with 4 inputs and 10 outputs in which a single responding output line corresponds to a combination of the 8421 code.</a:t>
                </a:r>
              </a:p>
              <a:p>
                <a:r>
                  <a:rPr lang="en-US" dirty="0"/>
                  <a:t>Example:  Four input, seven output decoder that accepts the 4 bits of the 8421 code and is used to drive a seven-segment display.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696"/>
                </a:stretch>
              </a:blipFill>
            </p:spPr>
            <p:txBody>
              <a:bodyPr/>
              <a:lstStyle/>
              <a:p>
                <a:r>
                  <a:rPr lang="en-IN">
                    <a:noFill/>
                  </a:rPr>
                  <a:t> </a:t>
                </a:r>
              </a:p>
            </p:txBody>
          </p:sp>
        </mc:Fallback>
      </mc:AlternateContent>
    </p:spTree>
    <p:extLst>
      <p:ext uri="{BB962C8B-B14F-4D97-AF65-F5344CB8AC3E}">
        <p14:creationId xmlns:p14="http://schemas.microsoft.com/office/powerpoint/2010/main" val="1399749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Realization</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881188" y="1195389"/>
            <a:ext cx="4057650" cy="4467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7080235" y="996967"/>
            <a:ext cx="2427479" cy="28719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7307977" y="3878976"/>
            <a:ext cx="2514601" cy="26814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895600" y="5457826"/>
            <a:ext cx="3248026" cy="369332"/>
          </a:xfrm>
          <a:prstGeom prst="rect">
            <a:avLst/>
          </a:prstGeom>
          <a:noFill/>
        </p:spPr>
        <p:txBody>
          <a:bodyPr wrap="square" rtlCol="0">
            <a:spAutoFit/>
          </a:bodyPr>
          <a:lstStyle/>
          <a:p>
            <a:pPr algn="ctr"/>
            <a:r>
              <a:rPr lang="en-US" dirty="0"/>
              <a:t>Logic Diagram</a:t>
            </a:r>
          </a:p>
        </p:txBody>
      </p:sp>
      <p:sp>
        <p:nvSpPr>
          <p:cNvPr id="10" name="TextBox 9"/>
          <p:cNvSpPr txBox="1"/>
          <p:nvPr/>
        </p:nvSpPr>
        <p:spPr>
          <a:xfrm>
            <a:off x="6886574" y="6412468"/>
            <a:ext cx="3248026" cy="369332"/>
          </a:xfrm>
          <a:prstGeom prst="rect">
            <a:avLst/>
          </a:prstGeom>
          <a:noFill/>
        </p:spPr>
        <p:txBody>
          <a:bodyPr wrap="square" rtlCol="0">
            <a:spAutoFit/>
          </a:bodyPr>
          <a:lstStyle/>
          <a:p>
            <a:pPr algn="ctr"/>
            <a:r>
              <a:rPr lang="en-US" dirty="0"/>
              <a:t>Truth Table</a:t>
            </a:r>
          </a:p>
        </p:txBody>
      </p:sp>
      <p:sp>
        <p:nvSpPr>
          <p:cNvPr id="11" name="TextBox 10"/>
          <p:cNvSpPr txBox="1"/>
          <p:nvPr/>
        </p:nvSpPr>
        <p:spPr>
          <a:xfrm>
            <a:off x="6934200" y="3581399"/>
            <a:ext cx="3248026" cy="369332"/>
          </a:xfrm>
          <a:prstGeom prst="rect">
            <a:avLst/>
          </a:prstGeom>
          <a:noFill/>
        </p:spPr>
        <p:txBody>
          <a:bodyPr wrap="square" rtlCol="0">
            <a:spAutoFit/>
          </a:bodyPr>
          <a:lstStyle/>
          <a:p>
            <a:pPr algn="ctr"/>
            <a:r>
              <a:rPr lang="en-US" dirty="0"/>
              <a:t>Symbol</a:t>
            </a:r>
          </a:p>
        </p:txBody>
      </p:sp>
    </p:spTree>
    <p:extLst>
      <p:ext uri="{BB962C8B-B14F-4D97-AF65-F5344CB8AC3E}">
        <p14:creationId xmlns:p14="http://schemas.microsoft.com/office/powerpoint/2010/main" val="12695821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Decoders with an Enable Input</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3477301" y="27901"/>
            <a:ext cx="2275124" cy="5572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7929747" y="1452379"/>
            <a:ext cx="1980830" cy="242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5333379" y="4020171"/>
            <a:ext cx="2096742" cy="2324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2895600" y="3886200"/>
            <a:ext cx="3248026" cy="369332"/>
          </a:xfrm>
          <a:prstGeom prst="rect">
            <a:avLst/>
          </a:prstGeom>
          <a:noFill/>
        </p:spPr>
        <p:txBody>
          <a:bodyPr wrap="square" rtlCol="0">
            <a:spAutoFit/>
          </a:bodyPr>
          <a:lstStyle/>
          <a:p>
            <a:pPr algn="ctr"/>
            <a:r>
              <a:rPr lang="en-US" dirty="0"/>
              <a:t>Logic Diagram</a:t>
            </a:r>
          </a:p>
        </p:txBody>
      </p:sp>
      <p:sp>
        <p:nvSpPr>
          <p:cNvPr id="8" name="TextBox 7"/>
          <p:cNvSpPr txBox="1"/>
          <p:nvPr/>
        </p:nvSpPr>
        <p:spPr>
          <a:xfrm>
            <a:off x="4724400" y="6260068"/>
            <a:ext cx="3248026" cy="369332"/>
          </a:xfrm>
          <a:prstGeom prst="rect">
            <a:avLst/>
          </a:prstGeom>
          <a:noFill/>
        </p:spPr>
        <p:txBody>
          <a:bodyPr wrap="square" rtlCol="0">
            <a:spAutoFit/>
          </a:bodyPr>
          <a:lstStyle/>
          <a:p>
            <a:pPr algn="ctr"/>
            <a:r>
              <a:rPr lang="en-US" dirty="0"/>
              <a:t>Truth Table</a:t>
            </a:r>
          </a:p>
        </p:txBody>
      </p:sp>
      <p:sp>
        <p:nvSpPr>
          <p:cNvPr id="9" name="TextBox 8"/>
          <p:cNvSpPr txBox="1"/>
          <p:nvPr/>
        </p:nvSpPr>
        <p:spPr>
          <a:xfrm>
            <a:off x="7467600" y="3581399"/>
            <a:ext cx="3248026" cy="369332"/>
          </a:xfrm>
          <a:prstGeom prst="rect">
            <a:avLst/>
          </a:prstGeom>
          <a:noFill/>
        </p:spPr>
        <p:txBody>
          <a:bodyPr wrap="square" rtlCol="0">
            <a:spAutoFit/>
          </a:bodyPr>
          <a:lstStyle/>
          <a:p>
            <a:pPr algn="ctr"/>
            <a:r>
              <a:rPr lang="en-US" dirty="0"/>
              <a:t>Symbol</a:t>
            </a:r>
          </a:p>
        </p:txBody>
      </p:sp>
    </p:spTree>
    <p:extLst>
      <p:ext uri="{BB962C8B-B14F-4D97-AF65-F5344CB8AC3E}">
        <p14:creationId xmlns:p14="http://schemas.microsoft.com/office/powerpoint/2010/main" val="34552452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Decoder</a:t>
            </a:r>
          </a:p>
        </p:txBody>
      </p:sp>
      <p:sp>
        <p:nvSpPr>
          <p:cNvPr id="3" name="Content Placeholder 2"/>
          <p:cNvSpPr>
            <a:spLocks noGrp="1"/>
          </p:cNvSpPr>
          <p:nvPr>
            <p:ph idx="1"/>
          </p:nvPr>
        </p:nvSpPr>
        <p:spPr/>
        <p:txBody>
          <a:bodyPr/>
          <a:lstStyle/>
          <a:p>
            <a:r>
              <a:rPr lang="en-US" dirty="0"/>
              <a:t>Input combinations can be regarded as binary numbers with the consequences that the j-</a:t>
            </a:r>
            <a:r>
              <a:rPr lang="en-US" dirty="0" err="1"/>
              <a:t>th</a:t>
            </a:r>
            <a:r>
              <a:rPr lang="en-US" dirty="0"/>
              <a:t> output line is at logic-1 for j = 0, 1, . . , 7 only when input combination j is applied.</a:t>
            </a:r>
          </a:p>
        </p:txBody>
      </p:sp>
    </p:spTree>
    <p:extLst>
      <p:ext uri="{BB962C8B-B14F-4D97-AF65-F5344CB8AC3E}">
        <p14:creationId xmlns:p14="http://schemas.microsoft.com/office/powerpoint/2010/main" val="14874378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Design Using Decoders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An </a:t>
                </a:r>
                <a14:m>
                  <m:oMath xmlns:m="http://schemas.openxmlformats.org/officeDocument/2006/math">
                    <m:r>
                      <a:rPr lang="en-US" b="0" i="1" smtClean="0">
                        <a:latin typeface="Cambria Math"/>
                      </a:rPr>
                      <m:t>𝑛</m:t>
                    </m:r>
                  </m:oMath>
                </a14:m>
                <a:r>
                  <a:rPr lang="en-US" dirty="0"/>
                  <a:t>-to-</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2</m:t>
                        </m:r>
                      </m:e>
                      <m:sup>
                        <m:r>
                          <a:rPr lang="en-US" b="0" i="1" smtClean="0">
                            <a:latin typeface="Cambria Math"/>
                          </a:rPr>
                          <m:t>𝑛</m:t>
                        </m:r>
                      </m:sup>
                    </m:sSup>
                  </m:oMath>
                </a14:m>
                <a:r>
                  <a:rPr lang="en-US" dirty="0"/>
                  <a:t> line decoder is a </a:t>
                </a:r>
                <a:r>
                  <a:rPr lang="en-US" dirty="0" err="1"/>
                  <a:t>minterm</a:t>
                </a:r>
                <a:r>
                  <a:rPr lang="en-US" dirty="0"/>
                  <a:t> generator.</a:t>
                </a:r>
              </a:p>
              <a:p>
                <a:r>
                  <a:rPr lang="en-US" dirty="0"/>
                  <a:t>By using or-gates in conjunction with an </a:t>
                </a:r>
                <a14:m>
                  <m:oMath xmlns:m="http://schemas.openxmlformats.org/officeDocument/2006/math">
                    <m:r>
                      <a:rPr lang="en-US" b="0" i="1" smtClean="0">
                        <a:latin typeface="Cambria Math"/>
                      </a:rPr>
                      <m:t>𝑛</m:t>
                    </m:r>
                  </m:oMath>
                </a14:m>
                <a:r>
                  <a:rPr lang="en-US" dirty="0"/>
                  <a:t>-to-</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2</m:t>
                        </m:r>
                      </m:e>
                      <m:sup>
                        <m:r>
                          <a:rPr lang="en-US" b="0" i="1" smtClean="0">
                            <a:latin typeface="Cambria Math"/>
                          </a:rPr>
                          <m:t>𝑛</m:t>
                        </m:r>
                      </m:sup>
                    </m:sSup>
                  </m:oMath>
                </a14:m>
                <a:r>
                  <a:rPr lang="en-US" dirty="0"/>
                  <a:t> line decoder, realizations of Boolean functions are possible.</a:t>
                </a:r>
              </a:p>
              <a:p>
                <a:r>
                  <a:rPr lang="en-US" dirty="0"/>
                  <a:t>Do not correspond to minimal sum-of-products.</a:t>
                </a:r>
              </a:p>
              <a:p>
                <a:r>
                  <a:rPr lang="en-US" dirty="0"/>
                  <a:t>Are simple to produce.  Particularly convenient when several functions of the same variable have to be realized.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781723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41B772-2D73-FBBC-4823-2FC21E54FA96}"/>
              </a:ext>
            </a:extLst>
          </p:cNvPr>
          <p:cNvPicPr>
            <a:picLocks noChangeAspect="1"/>
          </p:cNvPicPr>
          <p:nvPr/>
        </p:nvPicPr>
        <p:blipFill>
          <a:blip r:embed="rId2"/>
          <a:stretch>
            <a:fillRect/>
          </a:stretch>
        </p:blipFill>
        <p:spPr>
          <a:xfrm>
            <a:off x="633046" y="48568"/>
            <a:ext cx="11240086" cy="6760864"/>
          </a:xfrm>
          <a:prstGeom prst="rect">
            <a:avLst/>
          </a:prstGeom>
        </p:spPr>
      </p:pic>
    </p:spTree>
    <p:extLst>
      <p:ext uri="{BB962C8B-B14F-4D97-AF65-F5344CB8AC3E}">
        <p14:creationId xmlns:p14="http://schemas.microsoft.com/office/powerpoint/2010/main" val="11293629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22853C-A36A-A2AB-A797-64FBD1E007B0}"/>
              </a:ext>
            </a:extLst>
          </p:cNvPr>
          <p:cNvPicPr>
            <a:picLocks noChangeAspect="1"/>
          </p:cNvPicPr>
          <p:nvPr/>
        </p:nvPicPr>
        <p:blipFill>
          <a:blip r:embed="rId2"/>
          <a:stretch>
            <a:fillRect/>
          </a:stretch>
        </p:blipFill>
        <p:spPr>
          <a:xfrm>
            <a:off x="294508" y="174858"/>
            <a:ext cx="11691165" cy="6459561"/>
          </a:xfrm>
          <a:prstGeom prst="rect">
            <a:avLst/>
          </a:prstGeom>
        </p:spPr>
      </p:pic>
    </p:spTree>
    <p:extLst>
      <p:ext uri="{BB962C8B-B14F-4D97-AF65-F5344CB8AC3E}">
        <p14:creationId xmlns:p14="http://schemas.microsoft.com/office/powerpoint/2010/main" val="35158223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965085-C574-59C6-91DF-02BF1A0F62E9}"/>
              </a:ext>
            </a:extLst>
          </p:cNvPr>
          <p:cNvPicPr>
            <a:picLocks noChangeAspect="1"/>
          </p:cNvPicPr>
          <p:nvPr/>
        </p:nvPicPr>
        <p:blipFill>
          <a:blip r:embed="rId2"/>
          <a:stretch>
            <a:fillRect/>
          </a:stretch>
        </p:blipFill>
        <p:spPr>
          <a:xfrm>
            <a:off x="576776" y="283045"/>
            <a:ext cx="10761784" cy="6056575"/>
          </a:xfrm>
          <a:prstGeom prst="rect">
            <a:avLst/>
          </a:prstGeom>
        </p:spPr>
      </p:pic>
    </p:spTree>
    <p:extLst>
      <p:ext uri="{BB962C8B-B14F-4D97-AF65-F5344CB8AC3E}">
        <p14:creationId xmlns:p14="http://schemas.microsoft.com/office/powerpoint/2010/main" val="21454792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819EC8-C50A-70E6-BB53-C5ED8E862035}"/>
              </a:ext>
            </a:extLst>
          </p:cNvPr>
          <p:cNvPicPr>
            <a:picLocks noChangeAspect="1"/>
          </p:cNvPicPr>
          <p:nvPr/>
        </p:nvPicPr>
        <p:blipFill>
          <a:blip r:embed="rId2"/>
          <a:stretch>
            <a:fillRect/>
          </a:stretch>
        </p:blipFill>
        <p:spPr>
          <a:xfrm>
            <a:off x="874721" y="90194"/>
            <a:ext cx="9958176" cy="6767806"/>
          </a:xfrm>
          <a:prstGeom prst="rect">
            <a:avLst/>
          </a:prstGeom>
        </p:spPr>
      </p:pic>
    </p:spTree>
    <p:extLst>
      <p:ext uri="{BB962C8B-B14F-4D97-AF65-F5344CB8AC3E}">
        <p14:creationId xmlns:p14="http://schemas.microsoft.com/office/powerpoint/2010/main" val="19169806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034" y="-53182"/>
            <a:ext cx="10515600" cy="1325563"/>
          </a:xfrm>
        </p:spPr>
        <p:txBody>
          <a:bodyPr>
            <a:normAutofit/>
          </a:bodyPr>
          <a:lstStyle/>
          <a:p>
            <a:r>
              <a:rPr lang="en-US" dirty="0"/>
              <a:t>Decoders with Active Low Outputs: </a:t>
            </a:r>
            <a:br>
              <a:rPr lang="en-US" dirty="0"/>
            </a:br>
            <a:r>
              <a:rPr lang="en-US" sz="2400" dirty="0"/>
              <a:t>(Implementing a Decoder using AND/NAND)</a:t>
            </a:r>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592026">
            <a:off x="7013083" y="1018381"/>
            <a:ext cx="3757006" cy="54314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576866">
            <a:off x="803210" y="801339"/>
            <a:ext cx="4988169" cy="56233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7239000" y="3581399"/>
            <a:ext cx="3248026" cy="369332"/>
          </a:xfrm>
          <a:prstGeom prst="rect">
            <a:avLst/>
          </a:prstGeom>
          <a:noFill/>
        </p:spPr>
        <p:txBody>
          <a:bodyPr wrap="square" rtlCol="0">
            <a:spAutoFit/>
          </a:bodyPr>
          <a:lstStyle/>
          <a:p>
            <a:pPr algn="ctr"/>
            <a:r>
              <a:rPr lang="en-US" dirty="0"/>
              <a:t>Symbol</a:t>
            </a:r>
          </a:p>
        </p:txBody>
      </p:sp>
      <p:sp>
        <p:nvSpPr>
          <p:cNvPr id="3" name="TextBox 2">
            <a:extLst>
              <a:ext uri="{FF2B5EF4-FFF2-40B4-BE49-F238E27FC236}">
                <a16:creationId xmlns:a16="http://schemas.microsoft.com/office/drawing/2014/main" id="{A7334478-3DC8-E071-907B-C5692DEED6D5}"/>
              </a:ext>
            </a:extLst>
          </p:cNvPr>
          <p:cNvSpPr txBox="1"/>
          <p:nvPr/>
        </p:nvSpPr>
        <p:spPr>
          <a:xfrm>
            <a:off x="6233517" y="5635522"/>
            <a:ext cx="3248026" cy="369332"/>
          </a:xfrm>
          <a:prstGeom prst="rect">
            <a:avLst/>
          </a:prstGeom>
          <a:noFill/>
        </p:spPr>
        <p:txBody>
          <a:bodyPr wrap="square" rtlCol="0">
            <a:spAutoFit/>
          </a:bodyPr>
          <a:lstStyle/>
          <a:p>
            <a:pPr algn="ctr"/>
            <a:r>
              <a:rPr lang="en-US" dirty="0"/>
              <a:t>Symbol</a:t>
            </a:r>
          </a:p>
        </p:txBody>
      </p:sp>
      <p:sp>
        <p:nvSpPr>
          <p:cNvPr id="4" name="TextBox 3">
            <a:extLst>
              <a:ext uri="{FF2B5EF4-FFF2-40B4-BE49-F238E27FC236}">
                <a16:creationId xmlns:a16="http://schemas.microsoft.com/office/drawing/2014/main" id="{DBA00F5C-DC39-6F2E-E87A-D92FB0498AEF}"/>
              </a:ext>
            </a:extLst>
          </p:cNvPr>
          <p:cNvSpPr txBox="1"/>
          <p:nvPr/>
        </p:nvSpPr>
        <p:spPr>
          <a:xfrm>
            <a:off x="1673281" y="6254471"/>
            <a:ext cx="3248026" cy="369332"/>
          </a:xfrm>
          <a:prstGeom prst="rect">
            <a:avLst/>
          </a:prstGeom>
          <a:noFill/>
        </p:spPr>
        <p:txBody>
          <a:bodyPr wrap="square" rtlCol="0">
            <a:spAutoFit/>
          </a:bodyPr>
          <a:lstStyle/>
          <a:p>
            <a:pPr algn="ctr"/>
            <a:r>
              <a:rPr lang="en-US" dirty="0"/>
              <a:t>Truth Table</a:t>
            </a:r>
          </a:p>
        </p:txBody>
      </p:sp>
    </p:spTree>
    <p:extLst>
      <p:ext uri="{BB962C8B-B14F-4D97-AF65-F5344CB8AC3E}">
        <p14:creationId xmlns:p14="http://schemas.microsoft.com/office/powerpoint/2010/main" val="29171834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586073">
            <a:off x="2527952" y="-500558"/>
            <a:ext cx="6012595" cy="75733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C26F2714-8F28-1B57-7662-41396B426B7E}"/>
              </a:ext>
            </a:extLst>
          </p:cNvPr>
          <p:cNvSpPr txBox="1"/>
          <p:nvPr/>
        </p:nvSpPr>
        <p:spPr>
          <a:xfrm>
            <a:off x="3910237" y="6308209"/>
            <a:ext cx="3248026" cy="369332"/>
          </a:xfrm>
          <a:prstGeom prst="rect">
            <a:avLst/>
          </a:prstGeom>
          <a:noFill/>
        </p:spPr>
        <p:txBody>
          <a:bodyPr wrap="square" rtlCol="0">
            <a:spAutoFit/>
          </a:bodyPr>
          <a:lstStyle/>
          <a:p>
            <a:pPr algn="ctr"/>
            <a:r>
              <a:rPr lang="en-US" dirty="0"/>
              <a:t>Logic Diagram</a:t>
            </a:r>
          </a:p>
        </p:txBody>
      </p:sp>
    </p:spTree>
    <p:extLst>
      <p:ext uri="{BB962C8B-B14F-4D97-AF65-F5344CB8AC3E}">
        <p14:creationId xmlns:p14="http://schemas.microsoft.com/office/powerpoint/2010/main" val="192608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533548B-A701-F058-C969-0E2A5B4E0942}"/>
              </a:ext>
            </a:extLst>
          </p:cNvPr>
          <p:cNvPicPr>
            <a:picLocks noChangeAspect="1"/>
          </p:cNvPicPr>
          <p:nvPr/>
        </p:nvPicPr>
        <p:blipFill>
          <a:blip r:embed="rId2"/>
          <a:stretch>
            <a:fillRect/>
          </a:stretch>
        </p:blipFill>
        <p:spPr>
          <a:xfrm>
            <a:off x="829994" y="313542"/>
            <a:ext cx="11043186" cy="6230916"/>
          </a:xfrm>
          <a:prstGeom prst="rect">
            <a:avLst/>
          </a:prstGeom>
        </p:spPr>
      </p:pic>
    </p:spTree>
    <p:extLst>
      <p:ext uri="{BB962C8B-B14F-4D97-AF65-F5344CB8AC3E}">
        <p14:creationId xmlns:p14="http://schemas.microsoft.com/office/powerpoint/2010/main" val="3116827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7289E8-8477-18D5-7C93-45ADDB33B495}"/>
              </a:ext>
            </a:extLst>
          </p:cNvPr>
          <p:cNvPicPr>
            <a:picLocks noChangeAspect="1"/>
          </p:cNvPicPr>
          <p:nvPr/>
        </p:nvPicPr>
        <p:blipFill>
          <a:blip r:embed="rId2"/>
          <a:stretch>
            <a:fillRect/>
          </a:stretch>
        </p:blipFill>
        <p:spPr>
          <a:xfrm>
            <a:off x="676275" y="371475"/>
            <a:ext cx="10839450" cy="6115050"/>
          </a:xfrm>
          <a:prstGeom prst="rect">
            <a:avLst/>
          </a:prstGeom>
        </p:spPr>
      </p:pic>
    </p:spTree>
    <p:extLst>
      <p:ext uri="{BB962C8B-B14F-4D97-AF65-F5344CB8AC3E}">
        <p14:creationId xmlns:p14="http://schemas.microsoft.com/office/powerpoint/2010/main" val="9972179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69649F-0B0D-6CC6-E2FB-55526DB9639C}"/>
              </a:ext>
            </a:extLst>
          </p:cNvPr>
          <p:cNvPicPr>
            <a:picLocks noChangeAspect="1"/>
          </p:cNvPicPr>
          <p:nvPr/>
        </p:nvPicPr>
        <p:blipFill>
          <a:blip r:embed="rId2"/>
          <a:stretch>
            <a:fillRect/>
          </a:stretch>
        </p:blipFill>
        <p:spPr>
          <a:xfrm>
            <a:off x="1237956" y="0"/>
            <a:ext cx="9917723" cy="5216740"/>
          </a:xfrm>
          <a:prstGeom prst="rect">
            <a:avLst/>
          </a:prstGeom>
        </p:spPr>
      </p:pic>
      <p:pic>
        <p:nvPicPr>
          <p:cNvPr id="5" name="Picture 4">
            <a:extLst>
              <a:ext uri="{FF2B5EF4-FFF2-40B4-BE49-F238E27FC236}">
                <a16:creationId xmlns:a16="http://schemas.microsoft.com/office/drawing/2014/main" id="{B3354361-B24A-110A-AF9E-37D094201EB7}"/>
              </a:ext>
            </a:extLst>
          </p:cNvPr>
          <p:cNvPicPr>
            <a:picLocks noChangeAspect="1"/>
          </p:cNvPicPr>
          <p:nvPr/>
        </p:nvPicPr>
        <p:blipFill>
          <a:blip r:embed="rId3"/>
          <a:stretch>
            <a:fillRect/>
          </a:stretch>
        </p:blipFill>
        <p:spPr>
          <a:xfrm>
            <a:off x="391551" y="5216740"/>
            <a:ext cx="11408898" cy="1641260"/>
          </a:xfrm>
          <a:prstGeom prst="rect">
            <a:avLst/>
          </a:prstGeom>
        </p:spPr>
      </p:pic>
    </p:spTree>
    <p:extLst>
      <p:ext uri="{BB962C8B-B14F-4D97-AF65-F5344CB8AC3E}">
        <p14:creationId xmlns:p14="http://schemas.microsoft.com/office/powerpoint/2010/main" val="1662352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6468"/>
            <a:ext cx="5573151" cy="958948"/>
          </a:xfrm>
        </p:spPr>
        <p:txBody>
          <a:bodyPr>
            <a:normAutofit fontScale="90000"/>
          </a:bodyPr>
          <a:lstStyle/>
          <a:p>
            <a:r>
              <a:rPr lang="en-US" dirty="0"/>
              <a:t>Constructing Larger Decoders</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4037638" y="337415"/>
            <a:ext cx="6963090" cy="62882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5579426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1A177D-C09C-FD2B-C2D3-479647481A61}"/>
              </a:ext>
            </a:extLst>
          </p:cNvPr>
          <p:cNvPicPr>
            <a:picLocks noChangeAspect="1"/>
          </p:cNvPicPr>
          <p:nvPr/>
        </p:nvPicPr>
        <p:blipFill>
          <a:blip r:embed="rId2"/>
          <a:stretch>
            <a:fillRect/>
          </a:stretch>
        </p:blipFill>
        <p:spPr>
          <a:xfrm>
            <a:off x="1237957" y="-5996"/>
            <a:ext cx="10424160" cy="6863996"/>
          </a:xfrm>
          <a:prstGeom prst="rect">
            <a:avLst/>
          </a:prstGeom>
        </p:spPr>
      </p:pic>
    </p:spTree>
    <p:extLst>
      <p:ext uri="{BB962C8B-B14F-4D97-AF65-F5344CB8AC3E}">
        <p14:creationId xmlns:p14="http://schemas.microsoft.com/office/powerpoint/2010/main" val="21132956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5C7D98F-47B0-B984-CEC8-DA0000EA2948}"/>
              </a:ext>
            </a:extLst>
          </p:cNvPr>
          <p:cNvSpPr txBox="1"/>
          <p:nvPr/>
        </p:nvSpPr>
        <p:spPr>
          <a:xfrm>
            <a:off x="0" y="166718"/>
            <a:ext cx="3628103" cy="5632311"/>
          </a:xfrm>
          <a:prstGeom prst="rect">
            <a:avLst/>
          </a:prstGeom>
          <a:noFill/>
        </p:spPr>
        <p:txBody>
          <a:bodyPr wrap="square" rtlCol="0">
            <a:spAutoFit/>
          </a:bodyPr>
          <a:lstStyle/>
          <a:p>
            <a:r>
              <a:rPr lang="en-US" sz="2400" u="sng" dirty="0">
                <a:solidFill>
                  <a:srgbClr val="FF0000"/>
                </a:solidFill>
              </a:rPr>
              <a:t>Realization of Binary to Gray Code Converter and vice-versa using IC 74139</a:t>
            </a:r>
          </a:p>
          <a:p>
            <a:endParaRPr lang="en-US" sz="2400" u="sng" dirty="0">
              <a:solidFill>
                <a:srgbClr val="FF0000"/>
              </a:solidFill>
            </a:endParaRPr>
          </a:p>
          <a:p>
            <a:r>
              <a:rPr lang="en-US" sz="2400" b="1" u="sng" dirty="0">
                <a:solidFill>
                  <a:srgbClr val="002060"/>
                </a:solidFill>
              </a:rPr>
              <a:t>Preparation of </a:t>
            </a:r>
            <a:r>
              <a:rPr lang="en-US" sz="2400" b="1" u="sng" dirty="0" err="1">
                <a:solidFill>
                  <a:srgbClr val="002060"/>
                </a:solidFill>
              </a:rPr>
              <a:t>Greycode</a:t>
            </a:r>
            <a:endParaRPr lang="en-US" sz="2400" b="1" u="sng" dirty="0">
              <a:solidFill>
                <a:srgbClr val="002060"/>
              </a:solidFill>
            </a:endParaRPr>
          </a:p>
          <a:p>
            <a:r>
              <a:rPr lang="en-US" sz="2400" dirty="0">
                <a:solidFill>
                  <a:srgbClr val="FF0000"/>
                </a:solidFill>
              </a:rPr>
              <a:t>                            </a:t>
            </a:r>
            <a:r>
              <a:rPr lang="en-US" sz="2400" dirty="0">
                <a:solidFill>
                  <a:srgbClr val="00B050"/>
                </a:solidFill>
              </a:rPr>
              <a:t>0    0 0</a:t>
            </a:r>
          </a:p>
          <a:p>
            <a:r>
              <a:rPr lang="en-US" sz="2400" dirty="0">
                <a:solidFill>
                  <a:srgbClr val="00B050"/>
                </a:solidFill>
              </a:rPr>
              <a:t>                            0    0 1</a:t>
            </a:r>
          </a:p>
          <a:p>
            <a:r>
              <a:rPr lang="en-US" sz="2400" dirty="0">
                <a:solidFill>
                  <a:srgbClr val="00B050"/>
                </a:solidFill>
              </a:rPr>
              <a:t>                                ------</a:t>
            </a:r>
          </a:p>
          <a:p>
            <a:r>
              <a:rPr lang="en-US" sz="2400" dirty="0">
                <a:solidFill>
                  <a:srgbClr val="00B050"/>
                </a:solidFill>
              </a:rPr>
              <a:t>                            0    1 1</a:t>
            </a:r>
          </a:p>
          <a:p>
            <a:r>
              <a:rPr lang="en-US" sz="2400" dirty="0">
                <a:solidFill>
                  <a:srgbClr val="00B050"/>
                </a:solidFill>
              </a:rPr>
              <a:t>                            0    1 0</a:t>
            </a:r>
          </a:p>
          <a:p>
            <a:r>
              <a:rPr lang="en-US" sz="2400" dirty="0">
                <a:solidFill>
                  <a:srgbClr val="00B050"/>
                </a:solidFill>
              </a:rPr>
              <a:t>                        -----------</a:t>
            </a:r>
          </a:p>
          <a:p>
            <a:r>
              <a:rPr lang="en-IN" sz="2400" dirty="0">
                <a:solidFill>
                  <a:srgbClr val="00B050"/>
                </a:solidFill>
              </a:rPr>
              <a:t>                            1    1 0</a:t>
            </a:r>
          </a:p>
          <a:p>
            <a:r>
              <a:rPr lang="en-IN" sz="2400" dirty="0">
                <a:solidFill>
                  <a:srgbClr val="00B050"/>
                </a:solidFill>
              </a:rPr>
              <a:t>                            1    1 1</a:t>
            </a:r>
          </a:p>
          <a:p>
            <a:r>
              <a:rPr lang="en-IN" sz="2400" dirty="0">
                <a:solidFill>
                  <a:srgbClr val="00B050"/>
                </a:solidFill>
              </a:rPr>
              <a:t>                            1    0 1</a:t>
            </a:r>
          </a:p>
          <a:p>
            <a:r>
              <a:rPr lang="en-IN" sz="2400" dirty="0">
                <a:solidFill>
                  <a:srgbClr val="00B050"/>
                </a:solidFill>
              </a:rPr>
              <a:t>                            1    0 0</a:t>
            </a:r>
          </a:p>
        </p:txBody>
      </p:sp>
      <p:pic>
        <p:nvPicPr>
          <p:cNvPr id="19" name="Picture 18">
            <a:extLst>
              <a:ext uri="{FF2B5EF4-FFF2-40B4-BE49-F238E27FC236}">
                <a16:creationId xmlns:a16="http://schemas.microsoft.com/office/drawing/2014/main" id="{277542C5-7972-736C-0497-75EEA42DA788}"/>
              </a:ext>
            </a:extLst>
          </p:cNvPr>
          <p:cNvPicPr>
            <a:picLocks noChangeAspect="1"/>
          </p:cNvPicPr>
          <p:nvPr/>
        </p:nvPicPr>
        <p:blipFill>
          <a:blip r:embed="rId2"/>
          <a:stretch>
            <a:fillRect/>
          </a:stretch>
        </p:blipFill>
        <p:spPr>
          <a:xfrm>
            <a:off x="4798396" y="1356852"/>
            <a:ext cx="7219357" cy="4734232"/>
          </a:xfrm>
          <a:prstGeom prst="rect">
            <a:avLst/>
          </a:prstGeom>
        </p:spPr>
      </p:pic>
      <p:pic>
        <p:nvPicPr>
          <p:cNvPr id="18" name="Picture 17">
            <a:extLst>
              <a:ext uri="{FF2B5EF4-FFF2-40B4-BE49-F238E27FC236}">
                <a16:creationId xmlns:a16="http://schemas.microsoft.com/office/drawing/2014/main" id="{524A2D07-1CE5-E589-91FD-CA751686642F}"/>
              </a:ext>
            </a:extLst>
          </p:cNvPr>
          <p:cNvPicPr>
            <a:picLocks noChangeAspect="1"/>
          </p:cNvPicPr>
          <p:nvPr/>
        </p:nvPicPr>
        <p:blipFill>
          <a:blip r:embed="rId3"/>
          <a:stretch>
            <a:fillRect/>
          </a:stretch>
        </p:blipFill>
        <p:spPr>
          <a:xfrm>
            <a:off x="3691528" y="0"/>
            <a:ext cx="4341779" cy="6770880"/>
          </a:xfrm>
          <a:prstGeom prst="rect">
            <a:avLst/>
          </a:prstGeom>
        </p:spPr>
      </p:pic>
    </p:spTree>
    <p:extLst>
      <p:ext uri="{BB962C8B-B14F-4D97-AF65-F5344CB8AC3E}">
        <p14:creationId xmlns:p14="http://schemas.microsoft.com/office/powerpoint/2010/main" val="31223956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D876F866-D86E-803A-4DEC-BA5D1CAAC2C9}"/>
              </a:ext>
            </a:extLst>
          </p:cNvPr>
          <p:cNvPicPr>
            <a:picLocks noChangeAspect="1"/>
          </p:cNvPicPr>
          <p:nvPr/>
        </p:nvPicPr>
        <p:blipFill>
          <a:blip r:embed="rId2"/>
          <a:stretch>
            <a:fillRect/>
          </a:stretch>
        </p:blipFill>
        <p:spPr>
          <a:xfrm>
            <a:off x="0" y="461665"/>
            <a:ext cx="12192000" cy="6160361"/>
          </a:xfrm>
          <a:prstGeom prst="rect">
            <a:avLst/>
          </a:prstGeom>
        </p:spPr>
      </p:pic>
    </p:spTree>
    <p:extLst>
      <p:ext uri="{BB962C8B-B14F-4D97-AF65-F5344CB8AC3E}">
        <p14:creationId xmlns:p14="http://schemas.microsoft.com/office/powerpoint/2010/main" val="12894461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0" name="Picture 6" descr="Image result for common anode display">
            <a:extLst>
              <a:ext uri="{FF2B5EF4-FFF2-40B4-BE49-F238E27FC236}">
                <a16:creationId xmlns:a16="http://schemas.microsoft.com/office/drawing/2014/main" id="{9ED5A59F-71CF-772E-AC65-EA728A6AED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0821" y="639610"/>
            <a:ext cx="4902994" cy="1483004"/>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Image result for common anode display">
            <a:extLst>
              <a:ext uri="{FF2B5EF4-FFF2-40B4-BE49-F238E27FC236}">
                <a16:creationId xmlns:a16="http://schemas.microsoft.com/office/drawing/2014/main" id="{D1BAA6D4-4708-D72D-F22E-519BA83D0B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0932" y="2769118"/>
            <a:ext cx="8303752" cy="3834719"/>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Image result for common anode display">
            <a:extLst>
              <a:ext uri="{FF2B5EF4-FFF2-40B4-BE49-F238E27FC236}">
                <a16:creationId xmlns:a16="http://schemas.microsoft.com/office/drawing/2014/main" id="{F4F538CC-4B2D-24A0-E7DD-E12BF18B88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0851" y="3734329"/>
            <a:ext cx="2953154" cy="3183040"/>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3A5CDE9-7877-74F0-BC94-43EB84D0C9AF}"/>
              </a:ext>
            </a:extLst>
          </p:cNvPr>
          <p:cNvPicPr>
            <a:picLocks noChangeAspect="1"/>
          </p:cNvPicPr>
          <p:nvPr/>
        </p:nvPicPr>
        <p:blipFill>
          <a:blip r:embed="rId5">
            <a:grayscl/>
          </a:blip>
          <a:srcRect/>
          <a:stretch>
            <a:fillRect/>
          </a:stretch>
        </p:blipFill>
        <p:spPr bwMode="auto">
          <a:xfrm>
            <a:off x="114373" y="254163"/>
            <a:ext cx="4591453" cy="4056642"/>
          </a:xfrm>
          <a:prstGeom prst="rect">
            <a:avLst/>
          </a:prstGeom>
          <a:noFill/>
          <a:ln w="9525">
            <a:noFill/>
            <a:miter lim="800000"/>
            <a:headEnd/>
            <a:tailEnd/>
          </a:ln>
        </p:spPr>
      </p:pic>
      <p:sp>
        <p:nvSpPr>
          <p:cNvPr id="9" name="TextBox 8">
            <a:extLst>
              <a:ext uri="{FF2B5EF4-FFF2-40B4-BE49-F238E27FC236}">
                <a16:creationId xmlns:a16="http://schemas.microsoft.com/office/drawing/2014/main" id="{2AB331AF-F63F-57B8-0E00-CA9BE70F3E53}"/>
              </a:ext>
            </a:extLst>
          </p:cNvPr>
          <p:cNvSpPr txBox="1"/>
          <p:nvPr/>
        </p:nvSpPr>
        <p:spPr>
          <a:xfrm>
            <a:off x="5338872" y="254163"/>
            <a:ext cx="7656827" cy="332783"/>
          </a:xfrm>
          <a:prstGeom prst="rect">
            <a:avLst/>
          </a:prstGeom>
          <a:noFill/>
        </p:spPr>
        <p:txBody>
          <a:bodyPr wrap="square">
            <a:spAutoFit/>
          </a:bodyPr>
          <a:lstStyle/>
          <a:p>
            <a:pPr marR="684530">
              <a:lnSpc>
                <a:spcPts val="1545"/>
              </a:lnSpc>
              <a:spcAft>
                <a:spcPts val="60"/>
              </a:spcAft>
              <a:tabLst>
                <a:tab pos="6000750" algn="l"/>
              </a:tabLst>
            </a:pPr>
            <a:r>
              <a:rPr lang="en-US" sz="3200" b="1" dirty="0">
                <a:solidFill>
                  <a:srgbClr val="FF0000"/>
                </a:solidFill>
                <a:effectLst/>
                <a:latin typeface="Times New Roman" panose="02020603050405020304" pitchFamily="18" charset="0"/>
                <a:ea typeface="Times New Roman" panose="02020603050405020304" pitchFamily="18" charset="0"/>
              </a:rPr>
              <a:t>Realization of Decoder using I</a:t>
            </a:r>
            <a:r>
              <a:rPr lang="en-US" sz="3200" b="1" spc="5" dirty="0">
                <a:solidFill>
                  <a:srgbClr val="FF0000"/>
                </a:solidFill>
                <a:effectLst/>
                <a:latin typeface="Times New Roman" panose="02020603050405020304" pitchFamily="18" charset="0"/>
                <a:ea typeface="Times New Roman" panose="02020603050405020304" pitchFamily="18" charset="0"/>
              </a:rPr>
              <a:t>C</a:t>
            </a:r>
            <a:r>
              <a:rPr lang="en-US" sz="3200" b="1" dirty="0">
                <a:solidFill>
                  <a:srgbClr val="FF0000"/>
                </a:solidFill>
                <a:effectLst/>
                <a:latin typeface="Times New Roman" panose="02020603050405020304" pitchFamily="18" charset="0"/>
                <a:ea typeface="Times New Roman" panose="02020603050405020304" pitchFamily="18" charset="0"/>
              </a:rPr>
              <a:t>-7447</a:t>
            </a:r>
          </a:p>
        </p:txBody>
      </p:sp>
    </p:spTree>
    <p:extLst>
      <p:ext uri="{BB962C8B-B14F-4D97-AF65-F5344CB8AC3E}">
        <p14:creationId xmlns:p14="http://schemas.microsoft.com/office/powerpoint/2010/main" val="3769010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7F93FD-71A4-1B74-1F72-841DBA9ADB40}"/>
              </a:ext>
            </a:extLst>
          </p:cNvPr>
          <p:cNvSpPr txBox="1"/>
          <p:nvPr/>
        </p:nvSpPr>
        <p:spPr>
          <a:xfrm>
            <a:off x="5879326" y="544820"/>
            <a:ext cx="6098344" cy="4998676"/>
          </a:xfrm>
          <a:prstGeom prst="rect">
            <a:avLst/>
          </a:prstGeom>
          <a:noFill/>
        </p:spPr>
        <p:txBody>
          <a:bodyPr wrap="square">
            <a:spAutoFit/>
          </a:bodyPr>
          <a:lstStyle/>
          <a:p>
            <a:pPr marR="684530">
              <a:lnSpc>
                <a:spcPts val="1545"/>
              </a:lnSpc>
              <a:spcAft>
                <a:spcPts val="60"/>
              </a:spcAft>
              <a:tabLst>
                <a:tab pos="6000750" algn="l"/>
              </a:tabLst>
            </a:pPr>
            <a:endParaRPr lang="en-US" sz="2400" b="1" dirty="0">
              <a:solidFill>
                <a:srgbClr val="FF0000"/>
              </a:solidFill>
              <a:effectLst/>
              <a:latin typeface="Times New Roman" panose="02020603050405020304" pitchFamily="18" charset="0"/>
              <a:ea typeface="Times New Roman" panose="02020603050405020304" pitchFamily="18" charset="0"/>
            </a:endParaRPr>
          </a:p>
          <a:p>
            <a:pPr marR="265430" algn="just">
              <a:lnSpc>
                <a:spcPct val="115000"/>
              </a:lnSpc>
              <a:spcAft>
                <a:spcPts val="120"/>
              </a:spcAft>
              <a:tabLst>
                <a:tab pos="6000750" algn="l"/>
              </a:tabLst>
            </a:pPr>
            <a:r>
              <a:rPr lang="en-US" sz="1800" b="1" dirty="0">
                <a:solidFill>
                  <a:srgbClr val="000000"/>
                </a:solidFill>
                <a:effectLst/>
                <a:latin typeface="Times New Roman" panose="02020603050405020304" pitchFamily="18" charset="0"/>
                <a:ea typeface="Times New Roman" panose="02020603050405020304" pitchFamily="18" charset="0"/>
              </a:rPr>
              <a:t>74LS47</a:t>
            </a:r>
            <a:r>
              <a:rPr lang="en-US" sz="1800" b="1" spc="255" dirty="0">
                <a:solidFill>
                  <a:srgbClr val="323232"/>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a:t>
            </a:r>
            <a:r>
              <a:rPr lang="en-US" sz="1800" spc="23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a:t>
            </a:r>
            <a:r>
              <a:rPr lang="en-US" sz="1800" spc="20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BCD</a:t>
            </a:r>
            <a:r>
              <a:rPr lang="en-US" sz="1800" spc="20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to</a:t>
            </a:r>
            <a:r>
              <a:rPr lang="en-US" sz="1800" spc="235" dirty="0">
                <a:solidFill>
                  <a:srgbClr val="000000"/>
                </a:solidFill>
                <a:effectLst/>
                <a:latin typeface="Times New Roman" panose="02020603050405020304" pitchFamily="18" charset="0"/>
                <a:ea typeface="Times New Roman" panose="02020603050405020304" pitchFamily="18" charset="0"/>
              </a:rPr>
              <a:t> </a:t>
            </a:r>
            <a:r>
              <a:rPr lang="en-US" sz="1800" spc="40" dirty="0">
                <a:solidFill>
                  <a:srgbClr val="000000"/>
                </a:solidFill>
                <a:effectLst/>
                <a:latin typeface="Times New Roman" panose="02020603050405020304" pitchFamily="18" charset="0"/>
                <a:ea typeface="Times New Roman" panose="02020603050405020304" pitchFamily="18" charset="0"/>
              </a:rPr>
              <a:t>7</a:t>
            </a:r>
            <a:r>
              <a:rPr lang="en-US" sz="1800" dirty="0">
                <a:solidFill>
                  <a:srgbClr val="000000"/>
                </a:solidFill>
                <a:effectLst/>
                <a:latin typeface="Times New Roman" panose="02020603050405020304" pitchFamily="18" charset="0"/>
                <a:ea typeface="Times New Roman" panose="02020603050405020304" pitchFamily="18" charset="0"/>
              </a:rPr>
              <a:t>-se</a:t>
            </a:r>
            <a:r>
              <a:rPr lang="en-US" sz="1800" spc="20" dirty="0">
                <a:solidFill>
                  <a:srgbClr val="000000"/>
                </a:solidFill>
                <a:effectLst/>
                <a:latin typeface="Times New Roman" panose="02020603050405020304" pitchFamily="18" charset="0"/>
                <a:ea typeface="Times New Roman" panose="02020603050405020304" pitchFamily="18" charset="0"/>
              </a:rPr>
              <a:t>g</a:t>
            </a:r>
            <a:r>
              <a:rPr lang="en-US" sz="1800" dirty="0">
                <a:solidFill>
                  <a:srgbClr val="000000"/>
                </a:solidFill>
                <a:effectLst/>
                <a:latin typeface="Times New Roman" panose="02020603050405020304" pitchFamily="18" charset="0"/>
                <a:ea typeface="Times New Roman" panose="02020603050405020304" pitchFamily="18" charset="0"/>
              </a:rPr>
              <a:t>ment</a:t>
            </a:r>
            <a:r>
              <a:rPr lang="en-US" sz="1800" spc="23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de</a:t>
            </a:r>
            <a:r>
              <a:rPr lang="en-US" sz="1800" spc="25" dirty="0">
                <a:solidFill>
                  <a:srgbClr val="000000"/>
                </a:solidFill>
                <a:effectLst/>
                <a:latin typeface="Times New Roman" panose="02020603050405020304" pitchFamily="18" charset="0"/>
                <a:ea typeface="Times New Roman" panose="02020603050405020304" pitchFamily="18" charset="0"/>
              </a:rPr>
              <a:t>c</a:t>
            </a:r>
            <a:r>
              <a:rPr lang="en-US" sz="1800" dirty="0">
                <a:solidFill>
                  <a:srgbClr val="000000"/>
                </a:solidFill>
                <a:effectLst/>
                <a:latin typeface="Times New Roman" panose="02020603050405020304" pitchFamily="18" charset="0"/>
                <a:ea typeface="Times New Roman" panose="02020603050405020304" pitchFamily="18" charset="0"/>
              </a:rPr>
              <a:t>oder/dr</a:t>
            </a:r>
            <a:r>
              <a:rPr lang="en-US" sz="1800" spc="30" dirty="0">
                <a:solidFill>
                  <a:srgbClr val="000000"/>
                </a:solidFill>
                <a:effectLst/>
                <a:latin typeface="Times New Roman" panose="02020603050405020304" pitchFamily="18" charset="0"/>
                <a:ea typeface="Times New Roman" panose="02020603050405020304" pitchFamily="18" charset="0"/>
              </a:rPr>
              <a:t>i</a:t>
            </a:r>
            <a:r>
              <a:rPr lang="en-US" sz="1800" spc="20" dirty="0">
                <a:solidFill>
                  <a:srgbClr val="000000"/>
                </a:solidFill>
                <a:effectLst/>
                <a:latin typeface="Times New Roman" panose="02020603050405020304" pitchFamily="18" charset="0"/>
                <a:ea typeface="Times New Roman" panose="02020603050405020304" pitchFamily="18" charset="0"/>
              </a:rPr>
              <a:t>v</a:t>
            </a:r>
            <a:r>
              <a:rPr lang="en-US" sz="1800" dirty="0">
                <a:solidFill>
                  <a:srgbClr val="000000"/>
                </a:solidFill>
                <a:effectLst/>
                <a:latin typeface="Times New Roman" panose="02020603050405020304" pitchFamily="18" charset="0"/>
                <a:ea typeface="Times New Roman" panose="02020603050405020304" pitchFamily="18" charset="0"/>
              </a:rPr>
              <a:t>er</a:t>
            </a:r>
            <a:r>
              <a:rPr lang="en-US" sz="1800" spc="2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IC.</a:t>
            </a:r>
            <a:r>
              <a:rPr lang="en-US" sz="1800" spc="1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It</a:t>
            </a:r>
            <a:r>
              <a:rPr lang="en-US" sz="1800" spc="20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accepts</a:t>
            </a:r>
            <a:r>
              <a:rPr lang="en-US" sz="1800" spc="2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a:t>
            </a:r>
            <a:r>
              <a:rPr lang="en-US" sz="1800" spc="2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bin</a:t>
            </a:r>
            <a:r>
              <a:rPr lang="en-US" sz="1800" spc="10" dirty="0">
                <a:solidFill>
                  <a:srgbClr val="000000"/>
                </a:solidFill>
                <a:effectLst/>
                <a:latin typeface="Times New Roman" panose="02020603050405020304" pitchFamily="18" charset="0"/>
                <a:ea typeface="Times New Roman" panose="02020603050405020304" pitchFamily="18" charset="0"/>
              </a:rPr>
              <a:t>a</a:t>
            </a:r>
            <a:r>
              <a:rPr lang="en-US" sz="1800" spc="20" dirty="0">
                <a:solidFill>
                  <a:srgbClr val="000000"/>
                </a:solidFill>
                <a:effectLst/>
                <a:latin typeface="Times New Roman" panose="02020603050405020304" pitchFamily="18" charset="0"/>
                <a:ea typeface="Times New Roman" panose="02020603050405020304" pitchFamily="18" charset="0"/>
              </a:rPr>
              <a:t>r</a:t>
            </a:r>
            <a:r>
              <a:rPr lang="en-US" sz="1800" dirty="0">
                <a:solidFill>
                  <a:srgbClr val="000000"/>
                </a:solidFill>
                <a:effectLst/>
                <a:latin typeface="Times New Roman" panose="02020603050405020304" pitchFamily="18" charset="0"/>
                <a:ea typeface="Times New Roman" panose="02020603050405020304" pitchFamily="18" charset="0"/>
              </a:rPr>
              <a:t>y</a:t>
            </a:r>
            <a:r>
              <a:rPr lang="en-US" sz="1800" spc="2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a:t>
            </a:r>
            <a:r>
              <a:rPr lang="en-US" sz="1800" spc="20" dirty="0">
                <a:solidFill>
                  <a:srgbClr val="000000"/>
                </a:solidFill>
                <a:effectLst/>
                <a:latin typeface="Times New Roman" panose="02020603050405020304" pitchFamily="18" charset="0"/>
                <a:ea typeface="Times New Roman" panose="02020603050405020304" pitchFamily="18" charset="0"/>
              </a:rPr>
              <a:t>o</a:t>
            </a:r>
            <a:r>
              <a:rPr lang="en-US" sz="1800" dirty="0">
                <a:solidFill>
                  <a:srgbClr val="000000"/>
                </a:solidFill>
                <a:effectLst/>
                <a:latin typeface="Times New Roman" panose="02020603050405020304" pitchFamily="18" charset="0"/>
                <a:ea typeface="Times New Roman" panose="02020603050405020304" pitchFamily="18" charset="0"/>
              </a:rPr>
              <a:t>ded</a:t>
            </a:r>
            <a:r>
              <a:rPr lang="en-US" sz="1800" spc="2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dec</a:t>
            </a:r>
            <a:r>
              <a:rPr lang="en-US" sz="1800" spc="20" dirty="0">
                <a:solidFill>
                  <a:srgbClr val="000000"/>
                </a:solidFill>
                <a:effectLst/>
                <a:latin typeface="Times New Roman" panose="02020603050405020304" pitchFamily="18" charset="0"/>
                <a:ea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rPr>
              <a:t>mal</a:t>
            </a:r>
            <a:r>
              <a:rPr lang="en-US" sz="1800" spc="2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as input</a:t>
            </a:r>
            <a:r>
              <a:rPr lang="en-US" sz="1800" spc="16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and</a:t>
            </a:r>
            <a:r>
              <a:rPr lang="en-US" sz="1800" spc="17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conver</a:t>
            </a:r>
            <a:r>
              <a:rPr lang="en-US" sz="1800" spc="10" dirty="0">
                <a:solidFill>
                  <a:srgbClr val="000000"/>
                </a:solidFill>
                <a:effectLst/>
                <a:latin typeface="Times New Roman" panose="02020603050405020304" pitchFamily="18" charset="0"/>
                <a:ea typeface="Times New Roman" panose="02020603050405020304" pitchFamily="18" charset="0"/>
              </a:rPr>
              <a:t>t</a:t>
            </a:r>
            <a:r>
              <a:rPr lang="en-US" sz="1800" dirty="0">
                <a:solidFill>
                  <a:srgbClr val="000000"/>
                </a:solidFill>
                <a:effectLst/>
                <a:latin typeface="Times New Roman" panose="02020603050405020304" pitchFamily="18" charset="0"/>
                <a:ea typeface="Times New Roman" panose="02020603050405020304" pitchFamily="18" charset="0"/>
              </a:rPr>
              <a:t>s</a:t>
            </a:r>
            <a:r>
              <a:rPr lang="en-US" sz="1800" spc="17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it</a:t>
            </a:r>
            <a:r>
              <a:rPr lang="en-US" sz="1800" spc="16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into</a:t>
            </a:r>
            <a:r>
              <a:rPr lang="en-US" sz="1800" spc="17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a:t>
            </a:r>
            <a:r>
              <a:rPr lang="en-US" sz="1800" spc="17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pattern</a:t>
            </a:r>
            <a:r>
              <a:rPr lang="en-US" sz="1800" spc="16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to</a:t>
            </a:r>
            <a:r>
              <a:rPr lang="en-US" sz="1800" spc="17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drive</a:t>
            </a:r>
            <a:r>
              <a:rPr lang="en-US" sz="1800" spc="175" dirty="0">
                <a:solidFill>
                  <a:srgbClr val="000000"/>
                </a:solidFill>
                <a:effectLst/>
                <a:latin typeface="Times New Roman" panose="02020603050405020304" pitchFamily="18" charset="0"/>
                <a:ea typeface="Times New Roman" panose="02020603050405020304" pitchFamily="18" charset="0"/>
              </a:rPr>
              <a:t> </a:t>
            </a:r>
            <a:r>
              <a:rPr lang="en-US" sz="1800" spc="35" dirty="0">
                <a:solidFill>
                  <a:srgbClr val="000000"/>
                </a:solidFill>
                <a:effectLst/>
                <a:latin typeface="Times New Roman" panose="02020603050405020304" pitchFamily="18" charset="0"/>
                <a:ea typeface="Times New Roman" panose="02020603050405020304" pitchFamily="18" charset="0"/>
              </a:rPr>
              <a:t>a</a:t>
            </a:r>
            <a:r>
              <a:rPr lang="en-US" sz="1800" spc="17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a:t>
            </a:r>
            <a:r>
              <a:rPr lang="en-US" sz="1800" spc="40" dirty="0">
                <a:solidFill>
                  <a:srgbClr val="000000"/>
                </a:solidFill>
                <a:effectLst/>
                <a:latin typeface="Times New Roman" panose="02020603050405020304" pitchFamily="18" charset="0"/>
                <a:ea typeface="Times New Roman" panose="02020603050405020304" pitchFamily="18" charset="0"/>
              </a:rPr>
              <a:t>e</a:t>
            </a:r>
            <a:r>
              <a:rPr lang="en-US" sz="1800" dirty="0">
                <a:solidFill>
                  <a:srgbClr val="000000"/>
                </a:solidFill>
                <a:effectLst/>
                <a:latin typeface="Times New Roman" panose="02020603050405020304" pitchFamily="18" charset="0"/>
                <a:ea typeface="Times New Roman" panose="02020603050405020304" pitchFamily="18" charset="0"/>
              </a:rPr>
              <a:t>ven-se</a:t>
            </a:r>
            <a:r>
              <a:rPr lang="en-US" sz="1800" spc="20" dirty="0">
                <a:solidFill>
                  <a:srgbClr val="000000"/>
                </a:solidFill>
                <a:effectLst/>
                <a:latin typeface="Times New Roman" panose="02020603050405020304" pitchFamily="18" charset="0"/>
                <a:ea typeface="Times New Roman" panose="02020603050405020304" pitchFamily="18" charset="0"/>
              </a:rPr>
              <a:t>g</a:t>
            </a:r>
            <a:r>
              <a:rPr lang="en-US" sz="1800" dirty="0">
                <a:solidFill>
                  <a:srgbClr val="000000"/>
                </a:solidFill>
                <a:effectLst/>
                <a:latin typeface="Times New Roman" panose="02020603050405020304" pitchFamily="18" charset="0"/>
                <a:ea typeface="Times New Roman" panose="02020603050405020304" pitchFamily="18" charset="0"/>
              </a:rPr>
              <a:t>me</a:t>
            </a:r>
            <a:r>
              <a:rPr lang="en-US" sz="1800" spc="20" dirty="0">
                <a:solidFill>
                  <a:srgbClr val="000000"/>
                </a:solidFill>
                <a:effectLst/>
                <a:latin typeface="Times New Roman" panose="02020603050405020304" pitchFamily="18" charset="0"/>
                <a:ea typeface="Times New Roman" panose="02020603050405020304" pitchFamily="18" charset="0"/>
              </a:rPr>
              <a:t>n</a:t>
            </a:r>
            <a:r>
              <a:rPr lang="en-US" sz="1800" dirty="0">
                <a:solidFill>
                  <a:srgbClr val="000000"/>
                </a:solidFill>
                <a:effectLst/>
                <a:latin typeface="Times New Roman" panose="02020603050405020304" pitchFamily="18" charset="0"/>
                <a:ea typeface="Times New Roman" panose="02020603050405020304" pitchFamily="18" charset="0"/>
              </a:rPr>
              <a:t>t</a:t>
            </a:r>
            <a:r>
              <a:rPr lang="en-US" sz="1800" spc="190" dirty="0">
                <a:solidFill>
                  <a:srgbClr val="000000"/>
                </a:solidFill>
                <a:effectLst/>
                <a:latin typeface="Times New Roman" panose="02020603050405020304" pitchFamily="18" charset="0"/>
                <a:ea typeface="Times New Roman" panose="02020603050405020304" pitchFamily="18" charset="0"/>
              </a:rPr>
              <a:t> </a:t>
            </a:r>
            <a:r>
              <a:rPr lang="en-US" sz="1800" spc="20" dirty="0">
                <a:solidFill>
                  <a:srgbClr val="000000"/>
                </a:solidFill>
                <a:effectLst/>
                <a:latin typeface="Times New Roman" panose="02020603050405020304" pitchFamily="18" charset="0"/>
                <a:ea typeface="Times New Roman" panose="02020603050405020304" pitchFamily="18" charset="0"/>
              </a:rPr>
              <a:t>f</a:t>
            </a:r>
            <a:r>
              <a:rPr lang="en-US" sz="1800" dirty="0">
                <a:solidFill>
                  <a:srgbClr val="000000"/>
                </a:solidFill>
                <a:effectLst/>
                <a:latin typeface="Times New Roman" panose="02020603050405020304" pitchFamily="18" charset="0"/>
                <a:ea typeface="Times New Roman" panose="02020603050405020304" pitchFamily="18" charset="0"/>
              </a:rPr>
              <a:t>or</a:t>
            </a:r>
            <a:r>
              <a:rPr lang="en-US" sz="1800" spc="18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displ</a:t>
            </a:r>
            <a:r>
              <a:rPr lang="en-US" sz="1800" spc="40" dirty="0">
                <a:solidFill>
                  <a:srgbClr val="000000"/>
                </a:solidFill>
                <a:effectLst/>
                <a:latin typeface="Times New Roman" panose="02020603050405020304" pitchFamily="18" charset="0"/>
                <a:ea typeface="Times New Roman" panose="02020603050405020304" pitchFamily="18" charset="0"/>
              </a:rPr>
              <a:t>a</a:t>
            </a:r>
            <a:r>
              <a:rPr lang="en-US" sz="1800" dirty="0">
                <a:solidFill>
                  <a:srgbClr val="000000"/>
                </a:solidFill>
                <a:effectLst/>
                <a:latin typeface="Times New Roman" panose="02020603050405020304" pitchFamily="18" charset="0"/>
                <a:ea typeface="Times New Roman" panose="02020603050405020304" pitchFamily="18" charset="0"/>
              </a:rPr>
              <a:t>ying</a:t>
            </a:r>
            <a:r>
              <a:rPr lang="en-US" sz="1800" spc="19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digits</a:t>
            </a:r>
            <a:r>
              <a:rPr lang="en-US" sz="1800" spc="17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0</a:t>
            </a:r>
            <a:r>
              <a:rPr lang="en-US" sz="1800" spc="17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to</a:t>
            </a:r>
            <a:r>
              <a:rPr lang="en-US" sz="1800" spc="17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9.</a:t>
            </a:r>
            <a:endParaRPr lang="en-IN" sz="1800" dirty="0">
              <a:effectLst/>
              <a:latin typeface="Times New Roman" panose="02020603050405020304" pitchFamily="18" charset="0"/>
              <a:ea typeface="Times New Roman" panose="02020603050405020304" pitchFamily="18" charset="0"/>
            </a:endParaRPr>
          </a:p>
          <a:p>
            <a:pPr marR="265430" algn="just">
              <a:lnSpc>
                <a:spcPct val="115000"/>
              </a:lnSpc>
              <a:spcAft>
                <a:spcPts val="120"/>
              </a:spcAft>
              <a:tabLst>
                <a:tab pos="6000750" algn="l"/>
              </a:tabLst>
            </a:pPr>
            <a:r>
              <a:rPr lang="en-US" sz="1800" dirty="0">
                <a:solidFill>
                  <a:srgbClr val="000000"/>
                </a:solidFill>
                <a:effectLst/>
                <a:latin typeface="Times New Roman" panose="02020603050405020304" pitchFamily="18" charset="0"/>
                <a:ea typeface="Times New Roman" panose="02020603050405020304" pitchFamily="18" charset="0"/>
              </a:rPr>
              <a:t>Bina</a:t>
            </a:r>
            <a:r>
              <a:rPr lang="en-US" sz="1800" spc="20" dirty="0">
                <a:solidFill>
                  <a:srgbClr val="000000"/>
                </a:solidFill>
                <a:effectLst/>
                <a:latin typeface="Times New Roman" panose="02020603050405020304" pitchFamily="18" charset="0"/>
                <a:ea typeface="Times New Roman" panose="02020603050405020304" pitchFamily="18" charset="0"/>
              </a:rPr>
              <a:t>r</a:t>
            </a:r>
            <a:r>
              <a:rPr lang="en-US" sz="1800" dirty="0">
                <a:solidFill>
                  <a:srgbClr val="000000"/>
                </a:solidFill>
                <a:effectLst/>
                <a:latin typeface="Times New Roman" panose="02020603050405020304" pitchFamily="18" charset="0"/>
                <a:ea typeface="Times New Roman" panose="02020603050405020304" pitchFamily="18" charset="0"/>
              </a:rPr>
              <a:t>y</a:t>
            </a:r>
            <a:r>
              <a:rPr lang="en-US" sz="1800" spc="50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coded</a:t>
            </a:r>
            <a:r>
              <a:rPr lang="en-US" sz="1800" spc="5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dec</a:t>
            </a:r>
            <a:r>
              <a:rPr lang="en-US" sz="1800" spc="5" dirty="0">
                <a:solidFill>
                  <a:srgbClr val="000000"/>
                </a:solidFill>
                <a:effectLst/>
                <a:latin typeface="Times New Roman" panose="02020603050405020304" pitchFamily="18" charset="0"/>
                <a:ea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rPr>
              <a:t>ma</a:t>
            </a:r>
            <a:r>
              <a:rPr lang="en-US" sz="1800" spc="10" dirty="0">
                <a:solidFill>
                  <a:srgbClr val="000000"/>
                </a:solidFill>
                <a:effectLst/>
                <a:latin typeface="Times New Roman" panose="02020603050405020304" pitchFamily="18" charset="0"/>
                <a:ea typeface="Times New Roman" panose="02020603050405020304" pitchFamily="18" charset="0"/>
              </a:rPr>
              <a:t>l</a:t>
            </a:r>
            <a:r>
              <a:rPr lang="en-US" sz="1800" spc="50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(BCD)</a:t>
            </a:r>
            <a:r>
              <a:rPr lang="en-US" sz="1800" spc="50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a:t>
            </a:r>
            <a:r>
              <a:rPr lang="en-US" sz="1800" spc="5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an</a:t>
            </a:r>
            <a:r>
              <a:rPr lang="en-US" sz="1800" spc="5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encod</a:t>
            </a:r>
            <a:r>
              <a:rPr lang="en-US" sz="1800" spc="10" dirty="0">
                <a:solidFill>
                  <a:srgbClr val="000000"/>
                </a:solidFill>
                <a:effectLst/>
                <a:latin typeface="Times New Roman" panose="02020603050405020304" pitchFamily="18" charset="0"/>
                <a:ea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rPr>
              <a:t>ng</a:t>
            </a:r>
            <a:r>
              <a:rPr lang="en-US" sz="1800" spc="5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in</a:t>
            </a:r>
            <a:r>
              <a:rPr lang="en-US" sz="1800" spc="5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which</a:t>
            </a:r>
            <a:r>
              <a:rPr lang="en-US" sz="1800" spc="5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each</a:t>
            </a:r>
            <a:r>
              <a:rPr lang="en-US" sz="1800" spc="5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a:t>
            </a:r>
            <a:r>
              <a:rPr lang="en-US" sz="1800" spc="10" dirty="0">
                <a:solidFill>
                  <a:srgbClr val="000000"/>
                </a:solidFill>
                <a:effectLst/>
                <a:latin typeface="Times New Roman" panose="02020603050405020304" pitchFamily="18" charset="0"/>
                <a:ea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rPr>
              <a:t>git</a:t>
            </a:r>
            <a:r>
              <a:rPr lang="en-US" sz="1800" spc="50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a:t>
            </a:r>
            <a:r>
              <a:rPr lang="en-US" sz="1800" spc="20" dirty="0">
                <a:solidFill>
                  <a:srgbClr val="000000"/>
                </a:solidFill>
                <a:effectLst/>
                <a:latin typeface="Times New Roman" panose="02020603050405020304" pitchFamily="18" charset="0"/>
                <a:ea typeface="Times New Roman" panose="02020603050405020304" pitchFamily="18" charset="0"/>
              </a:rPr>
              <a:t>f</a:t>
            </a:r>
            <a:r>
              <a:rPr lang="en-US" sz="1800" spc="5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a:t>
            </a:r>
            <a:r>
              <a:rPr lang="en-US" sz="1800" spc="5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number</a:t>
            </a:r>
            <a:r>
              <a:rPr lang="en-US" sz="1800" spc="51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 represented</a:t>
            </a:r>
            <a:r>
              <a:rPr lang="en-US" sz="1800" spc="30" dirty="0">
                <a:solidFill>
                  <a:srgbClr val="000000"/>
                </a:solidFill>
                <a:effectLst/>
                <a:latin typeface="Times New Roman" panose="02020603050405020304" pitchFamily="18" charset="0"/>
                <a:ea typeface="Times New Roman" panose="02020603050405020304" pitchFamily="18" charset="0"/>
              </a:rPr>
              <a:t> </a:t>
            </a:r>
            <a:r>
              <a:rPr lang="en-US" sz="1800" spc="15" dirty="0">
                <a:solidFill>
                  <a:srgbClr val="000000"/>
                </a:solidFill>
                <a:effectLst/>
                <a:latin typeface="Times New Roman" panose="02020603050405020304" pitchFamily="18" charset="0"/>
                <a:ea typeface="Times New Roman" panose="02020603050405020304" pitchFamily="18" charset="0"/>
              </a:rPr>
              <a:t>b</a:t>
            </a:r>
            <a:r>
              <a:rPr lang="en-US" sz="1800" dirty="0">
                <a:solidFill>
                  <a:srgbClr val="000000"/>
                </a:solidFill>
                <a:effectLst/>
                <a:latin typeface="Times New Roman" panose="02020603050405020304" pitchFamily="18" charset="0"/>
                <a:ea typeface="Times New Roman" panose="02020603050405020304" pitchFamily="18" charset="0"/>
              </a:rPr>
              <a:t>y</a:t>
            </a:r>
            <a:r>
              <a:rPr lang="en-US" sz="1800" spc="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its</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own</a:t>
            </a:r>
            <a:r>
              <a:rPr lang="en-US" sz="1800" spc="3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bina</a:t>
            </a:r>
            <a:r>
              <a:rPr lang="en-US" sz="1800" spc="15" dirty="0">
                <a:solidFill>
                  <a:srgbClr val="000000"/>
                </a:solidFill>
                <a:effectLst/>
                <a:latin typeface="Times New Roman" panose="02020603050405020304" pitchFamily="18" charset="0"/>
                <a:ea typeface="Times New Roman" panose="02020603050405020304" pitchFamily="18" charset="0"/>
              </a:rPr>
              <a:t>r</a:t>
            </a:r>
            <a:r>
              <a:rPr lang="en-US" sz="1800" dirty="0">
                <a:solidFill>
                  <a:srgbClr val="000000"/>
                </a:solidFill>
                <a:effectLst/>
                <a:latin typeface="Times New Roman" panose="02020603050405020304" pitchFamily="18" charset="0"/>
                <a:ea typeface="Times New Roman" panose="02020603050405020304" pitchFamily="18" charset="0"/>
              </a:rPr>
              <a:t>y</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seq</a:t>
            </a:r>
            <a:r>
              <a:rPr lang="en-US" sz="1800" spc="5" dirty="0">
                <a:solidFill>
                  <a:srgbClr val="000000"/>
                </a:solidFill>
                <a:effectLst/>
                <a:latin typeface="Times New Roman" panose="02020603050405020304" pitchFamily="18" charset="0"/>
                <a:ea typeface="Times New Roman" panose="02020603050405020304" pitchFamily="18" charset="0"/>
              </a:rPr>
              <a:t>u</a:t>
            </a:r>
            <a:r>
              <a:rPr lang="en-US" sz="1800" dirty="0">
                <a:solidFill>
                  <a:srgbClr val="000000"/>
                </a:solidFill>
                <a:effectLst/>
                <a:latin typeface="Times New Roman" panose="02020603050405020304" pitchFamily="18" charset="0"/>
                <a:ea typeface="Times New Roman" panose="02020603050405020304" pitchFamily="18" charset="0"/>
              </a:rPr>
              <a:t>ence</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(u</a:t>
            </a:r>
            <a:r>
              <a:rPr lang="en-US" sz="1800" spc="5" dirty="0">
                <a:solidFill>
                  <a:srgbClr val="000000"/>
                </a:solidFill>
                <a:effectLst/>
                <a:latin typeface="Times New Roman" panose="02020603050405020304" pitchFamily="18" charset="0"/>
                <a:ea typeface="Times New Roman" panose="02020603050405020304" pitchFamily="18" charset="0"/>
              </a:rPr>
              <a:t>s</a:t>
            </a:r>
            <a:r>
              <a:rPr lang="en-US" sz="1800" dirty="0">
                <a:solidFill>
                  <a:srgbClr val="000000"/>
                </a:solidFill>
                <a:effectLst/>
                <a:latin typeface="Times New Roman" panose="02020603050405020304" pitchFamily="18" charset="0"/>
                <a:ea typeface="Times New Roman" panose="02020603050405020304" pitchFamily="18" charset="0"/>
              </a:rPr>
              <a:t>ual</a:t>
            </a:r>
            <a:r>
              <a:rPr lang="en-US" sz="1800" spc="5" dirty="0">
                <a:solidFill>
                  <a:srgbClr val="000000"/>
                </a:solidFill>
                <a:effectLst/>
                <a:latin typeface="Times New Roman" panose="02020603050405020304" pitchFamily="18" charset="0"/>
                <a:ea typeface="Times New Roman" panose="02020603050405020304" pitchFamily="18" charset="0"/>
              </a:rPr>
              <a:t>l</a:t>
            </a:r>
            <a:r>
              <a:rPr lang="en-US" sz="1800" dirty="0">
                <a:solidFill>
                  <a:srgbClr val="000000"/>
                </a:solidFill>
                <a:effectLst/>
                <a:latin typeface="Times New Roman" panose="02020603050405020304" pitchFamily="18" charset="0"/>
                <a:ea typeface="Times New Roman" panose="02020603050405020304" pitchFamily="18" charset="0"/>
              </a:rPr>
              <a:t>y</a:t>
            </a:r>
            <a:r>
              <a:rPr lang="en-US" sz="1800" spc="3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a:t>
            </a:r>
            <a:r>
              <a:rPr lang="en-US" sz="1800" spc="5" dirty="0">
                <a:solidFill>
                  <a:srgbClr val="000000"/>
                </a:solidFill>
                <a:effectLst/>
                <a:latin typeface="Times New Roman" panose="02020603050405020304" pitchFamily="18" charset="0"/>
                <a:ea typeface="Times New Roman" panose="02020603050405020304" pitchFamily="18" charset="0"/>
              </a:rPr>
              <a:t>f</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spc="10" dirty="0">
                <a:solidFill>
                  <a:srgbClr val="000000"/>
                </a:solidFill>
                <a:effectLst/>
                <a:latin typeface="Times New Roman" panose="02020603050405020304" pitchFamily="18" charset="0"/>
                <a:ea typeface="Times New Roman" panose="02020603050405020304" pitchFamily="18" charset="0"/>
              </a:rPr>
              <a:t>f</a:t>
            </a:r>
            <a:r>
              <a:rPr lang="en-US" sz="1800" dirty="0">
                <a:solidFill>
                  <a:srgbClr val="000000"/>
                </a:solidFill>
                <a:effectLst/>
                <a:latin typeface="Times New Roman" panose="02020603050405020304" pitchFamily="18" charset="0"/>
                <a:ea typeface="Times New Roman" panose="02020603050405020304" pitchFamily="18" charset="0"/>
              </a:rPr>
              <a:t>our</a:t>
            </a:r>
            <a:r>
              <a:rPr lang="en-US" sz="1800" spc="2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bits).</a:t>
            </a:r>
            <a:r>
              <a:rPr lang="en-US" sz="1800" spc="5" dirty="0">
                <a:solidFill>
                  <a:srgbClr val="000000"/>
                </a:solidFill>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R="265430" algn="just">
              <a:lnSpc>
                <a:spcPct val="115000"/>
              </a:lnSpc>
              <a:spcAft>
                <a:spcPts val="230"/>
              </a:spcAft>
              <a:tabLst>
                <a:tab pos="6000750" algn="l"/>
              </a:tabLst>
            </a:pPr>
            <a:r>
              <a:rPr lang="en-US" sz="1800" dirty="0">
                <a:solidFill>
                  <a:srgbClr val="000000"/>
                </a:solidFill>
                <a:effectLst/>
                <a:latin typeface="Times New Roman" panose="02020603050405020304" pitchFamily="18" charset="0"/>
                <a:ea typeface="Times New Roman" panose="02020603050405020304" pitchFamily="18" charset="0"/>
              </a:rPr>
              <a:t>For</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ex</a:t>
            </a:r>
            <a:r>
              <a:rPr lang="en-US" sz="1800" spc="5" dirty="0">
                <a:solidFill>
                  <a:srgbClr val="000000"/>
                </a:solidFill>
                <a:effectLst/>
                <a:latin typeface="Times New Roman" panose="02020603050405020304" pitchFamily="18" charset="0"/>
                <a:ea typeface="Times New Roman" panose="02020603050405020304" pitchFamily="18" charset="0"/>
              </a:rPr>
              <a:t>a</a:t>
            </a:r>
            <a:r>
              <a:rPr lang="en-US" sz="1800" dirty="0">
                <a:solidFill>
                  <a:srgbClr val="000000"/>
                </a:solidFill>
                <a:effectLst/>
                <a:latin typeface="Times New Roman" panose="02020603050405020304" pitchFamily="18" charset="0"/>
                <a:ea typeface="Times New Roman" panose="02020603050405020304" pitchFamily="18" charset="0"/>
              </a:rPr>
              <a:t>mp</a:t>
            </a:r>
            <a:r>
              <a:rPr lang="en-US" sz="1800" spc="5" dirty="0">
                <a:solidFill>
                  <a:srgbClr val="000000"/>
                </a:solidFill>
                <a:effectLst/>
                <a:latin typeface="Times New Roman" panose="02020603050405020304" pitchFamily="18" charset="0"/>
                <a:ea typeface="Times New Roman" panose="02020603050405020304" pitchFamily="18" charset="0"/>
              </a:rPr>
              <a:t>l</a:t>
            </a:r>
            <a:r>
              <a:rPr lang="en-US" sz="1800" dirty="0">
                <a:solidFill>
                  <a:srgbClr val="000000"/>
                </a:solidFill>
                <a:effectLst/>
                <a:latin typeface="Times New Roman" panose="02020603050405020304" pitchFamily="18" charset="0"/>
                <a:ea typeface="Times New Roman" panose="02020603050405020304" pitchFamily="18" charset="0"/>
              </a:rPr>
              <a:t>e</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239</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spc="10" dirty="0">
                <a:solidFill>
                  <a:srgbClr val="000000"/>
                </a:solidFill>
                <a:effectLst/>
                <a:latin typeface="Times New Roman" panose="02020603050405020304" pitchFamily="18" charset="0"/>
                <a:ea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rPr>
              <a:t>n</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a:t>
            </a:r>
            <a:r>
              <a:rPr lang="en-US" sz="1800" spc="10" dirty="0">
                <a:solidFill>
                  <a:srgbClr val="000000"/>
                </a:solidFill>
                <a:effectLst/>
                <a:latin typeface="Times New Roman" panose="02020603050405020304" pitchFamily="18" charset="0"/>
                <a:ea typeface="Times New Roman" panose="02020603050405020304" pitchFamily="18" charset="0"/>
              </a:rPr>
              <a:t>C</a:t>
            </a:r>
            <a:r>
              <a:rPr lang="en-US" sz="1800" dirty="0">
                <a:solidFill>
                  <a:srgbClr val="000000"/>
                </a:solidFill>
                <a:effectLst/>
                <a:latin typeface="Times New Roman" panose="02020603050405020304" pitchFamily="18" charset="0"/>
                <a:ea typeface="Times New Roman" panose="02020603050405020304" pitchFamily="18" charset="0"/>
              </a:rPr>
              <a:t>D</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a:t>
            </a:r>
            <a:r>
              <a:rPr lang="en-US" sz="1800" spc="1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repres</a:t>
            </a:r>
            <a:r>
              <a:rPr lang="en-US" sz="1800" spc="10" dirty="0">
                <a:solidFill>
                  <a:srgbClr val="000000"/>
                </a:solidFill>
                <a:effectLst/>
                <a:latin typeface="Times New Roman" panose="02020603050405020304" pitchFamily="18" charset="0"/>
                <a:ea typeface="Times New Roman" panose="02020603050405020304" pitchFamily="18" charset="0"/>
              </a:rPr>
              <a:t>e</a:t>
            </a:r>
            <a:r>
              <a:rPr lang="en-US" sz="1800" dirty="0">
                <a:solidFill>
                  <a:srgbClr val="000000"/>
                </a:solidFill>
                <a:effectLst/>
                <a:latin typeface="Times New Roman" panose="02020603050405020304" pitchFamily="18" charset="0"/>
                <a:ea typeface="Times New Roman" panose="02020603050405020304" pitchFamily="18" charset="0"/>
              </a:rPr>
              <a:t>nted</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as</a:t>
            </a:r>
            <a:r>
              <a:rPr lang="en-US" sz="1800" spc="3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00</a:t>
            </a:r>
            <a:r>
              <a:rPr lang="en-US" sz="1800" spc="10" dirty="0">
                <a:solidFill>
                  <a:srgbClr val="000000"/>
                </a:solidFill>
                <a:effectLst/>
                <a:latin typeface="Times New Roman" panose="02020603050405020304" pitchFamily="18" charset="0"/>
                <a:ea typeface="Times New Roman" panose="02020603050405020304" pitchFamily="18" charset="0"/>
              </a:rPr>
              <a:t>1</a:t>
            </a:r>
            <a:r>
              <a:rPr lang="en-US" sz="1800" dirty="0">
                <a:solidFill>
                  <a:srgbClr val="000000"/>
                </a:solidFill>
                <a:effectLst/>
                <a:latin typeface="Times New Roman" panose="02020603050405020304" pitchFamily="18" charset="0"/>
                <a:ea typeface="Times New Roman" panose="02020603050405020304" pitchFamily="18" charset="0"/>
              </a:rPr>
              <a:t>0</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0011</a:t>
            </a:r>
            <a:r>
              <a:rPr lang="en-US" sz="1800" spc="2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1</a:t>
            </a:r>
            <a:r>
              <a:rPr lang="en-US" sz="1800" spc="10" dirty="0">
                <a:solidFill>
                  <a:srgbClr val="000000"/>
                </a:solidFill>
                <a:effectLst/>
                <a:latin typeface="Times New Roman" panose="02020603050405020304" pitchFamily="18" charset="0"/>
                <a:ea typeface="Times New Roman" panose="02020603050405020304" pitchFamily="18" charset="0"/>
              </a:rPr>
              <a:t>0</a:t>
            </a:r>
            <a:r>
              <a:rPr lang="en-US" sz="1800" dirty="0">
                <a:solidFill>
                  <a:srgbClr val="000000"/>
                </a:solidFill>
                <a:effectLst/>
                <a:latin typeface="Times New Roman" panose="02020603050405020304" pitchFamily="18" charset="0"/>
                <a:ea typeface="Times New Roman" panose="02020603050405020304" pitchFamily="18" charset="0"/>
              </a:rPr>
              <a:t>01.</a:t>
            </a:r>
            <a:endParaRPr lang="en-IN" sz="1800" dirty="0">
              <a:effectLst/>
              <a:latin typeface="Times New Roman" panose="02020603050405020304" pitchFamily="18" charset="0"/>
              <a:ea typeface="Times New Roman" panose="02020603050405020304" pitchFamily="18" charset="0"/>
            </a:endParaRPr>
          </a:p>
          <a:p>
            <a:pPr marR="265430" algn="just">
              <a:lnSpc>
                <a:spcPct val="115000"/>
              </a:lnSpc>
              <a:tabLst>
                <a:tab pos="6000750" algn="l"/>
              </a:tabLst>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IN" sz="1800" dirty="0">
              <a:effectLst/>
              <a:latin typeface="Times New Roman" panose="02020603050405020304" pitchFamily="18" charset="0"/>
              <a:ea typeface="Times New Roman" panose="02020603050405020304" pitchFamily="18" charset="0"/>
            </a:endParaRPr>
          </a:p>
          <a:p>
            <a:pPr marR="265430" algn="just">
              <a:lnSpc>
                <a:spcPct val="115000"/>
              </a:lnSpc>
              <a:spcAft>
                <a:spcPts val="120"/>
              </a:spcAft>
              <a:tabLst>
                <a:tab pos="6000750" algn="l"/>
              </a:tabLst>
            </a:pPr>
            <a:r>
              <a:rPr lang="en-US" sz="1800" b="1" dirty="0">
                <a:solidFill>
                  <a:srgbClr val="000000"/>
                </a:solidFill>
                <a:effectLst/>
                <a:latin typeface="Times New Roman" panose="02020603050405020304" pitchFamily="18" charset="0"/>
                <a:ea typeface="Times New Roman" panose="02020603050405020304" pitchFamily="18" charset="0"/>
              </a:rPr>
              <a:t>74LS47</a:t>
            </a:r>
            <a:r>
              <a:rPr lang="en-US" sz="1800" b="1" spc="50" dirty="0">
                <a:solidFill>
                  <a:srgbClr val="000000"/>
                </a:solidFill>
                <a:effectLst/>
                <a:latin typeface="Times New Roman" panose="02020603050405020304" pitchFamily="18" charset="0"/>
                <a:ea typeface="Times New Roman" panose="02020603050405020304" pitchFamily="18" charset="0"/>
              </a:rPr>
              <a:t> </a:t>
            </a:r>
            <a:r>
              <a:rPr lang="en-US" sz="1800" b="1" dirty="0">
                <a:solidFill>
                  <a:srgbClr val="323232"/>
                </a:solidFill>
                <a:effectLst/>
                <a:latin typeface="Times New Roman" panose="02020603050405020304" pitchFamily="18" charset="0"/>
                <a:ea typeface="Times New Roman" panose="02020603050405020304" pitchFamily="18" charset="0"/>
              </a:rPr>
              <a:t>IC</a:t>
            </a:r>
            <a:r>
              <a:rPr lang="en-US" sz="1800" b="1" spc="40" dirty="0">
                <a:solidFill>
                  <a:srgbClr val="323232"/>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acc</a:t>
            </a:r>
            <a:r>
              <a:rPr lang="en-US" sz="1800" spc="10" dirty="0">
                <a:solidFill>
                  <a:srgbClr val="000000"/>
                </a:solidFill>
                <a:effectLst/>
                <a:latin typeface="Times New Roman" panose="02020603050405020304" pitchFamily="18" charset="0"/>
                <a:ea typeface="Times New Roman" panose="02020603050405020304" pitchFamily="18" charset="0"/>
              </a:rPr>
              <a:t>e</a:t>
            </a:r>
            <a:r>
              <a:rPr lang="en-US" sz="1800" dirty="0">
                <a:solidFill>
                  <a:srgbClr val="000000"/>
                </a:solidFill>
                <a:effectLst/>
                <a:latin typeface="Times New Roman" panose="02020603050405020304" pitchFamily="18" charset="0"/>
                <a:ea typeface="Times New Roman" panose="02020603050405020304" pitchFamily="18" charset="0"/>
              </a:rPr>
              <a:t>pts</a:t>
            </a:r>
            <a:r>
              <a:rPr lang="en-US" sz="1800" spc="40" dirty="0">
                <a:solidFill>
                  <a:srgbClr val="000000"/>
                </a:solidFill>
                <a:effectLst/>
                <a:latin typeface="Times New Roman" panose="02020603050405020304" pitchFamily="18" charset="0"/>
                <a:ea typeface="Times New Roman" panose="02020603050405020304" pitchFamily="18" charset="0"/>
              </a:rPr>
              <a:t> </a:t>
            </a:r>
            <a:r>
              <a:rPr lang="en-US" sz="1800" spc="10" dirty="0">
                <a:solidFill>
                  <a:srgbClr val="000000"/>
                </a:solidFill>
                <a:effectLst/>
                <a:latin typeface="Times New Roman" panose="02020603050405020304" pitchFamily="18" charset="0"/>
                <a:ea typeface="Times New Roman" panose="02020603050405020304" pitchFamily="18" charset="0"/>
              </a:rPr>
              <a:t>f</a:t>
            </a:r>
            <a:r>
              <a:rPr lang="en-US" sz="1800" dirty="0">
                <a:solidFill>
                  <a:srgbClr val="000000"/>
                </a:solidFill>
                <a:effectLst/>
                <a:latin typeface="Times New Roman" panose="02020603050405020304" pitchFamily="18" charset="0"/>
                <a:ea typeface="Times New Roman" panose="02020603050405020304" pitchFamily="18" charset="0"/>
              </a:rPr>
              <a:t>o</a:t>
            </a:r>
            <a:r>
              <a:rPr lang="en-US" sz="1800" spc="10" dirty="0">
                <a:solidFill>
                  <a:srgbClr val="000000"/>
                </a:solidFill>
                <a:effectLst/>
                <a:latin typeface="Times New Roman" panose="02020603050405020304" pitchFamily="18" charset="0"/>
                <a:ea typeface="Times New Roman" panose="02020603050405020304" pitchFamily="18" charset="0"/>
              </a:rPr>
              <a:t>u</a:t>
            </a:r>
            <a:r>
              <a:rPr lang="en-US" sz="1800" dirty="0">
                <a:solidFill>
                  <a:srgbClr val="000000"/>
                </a:solidFill>
                <a:effectLst/>
                <a:latin typeface="Times New Roman" panose="02020603050405020304" pitchFamily="18" charset="0"/>
                <a:ea typeface="Times New Roman" panose="02020603050405020304" pitchFamily="18" charset="0"/>
              </a:rPr>
              <a:t>r</a:t>
            </a:r>
            <a:r>
              <a:rPr lang="en-US" sz="1800" spc="4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lines</a:t>
            </a:r>
            <a:r>
              <a:rPr lang="en-US" sz="1800" spc="4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a:t>
            </a:r>
            <a:r>
              <a:rPr lang="en-US" sz="1800" spc="10" dirty="0">
                <a:solidFill>
                  <a:srgbClr val="000000"/>
                </a:solidFill>
                <a:effectLst/>
                <a:latin typeface="Times New Roman" panose="02020603050405020304" pitchFamily="18" charset="0"/>
                <a:ea typeface="Times New Roman" panose="02020603050405020304" pitchFamily="18" charset="0"/>
              </a:rPr>
              <a:t>f</a:t>
            </a:r>
            <a:r>
              <a:rPr lang="en-US" sz="1800" spc="5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BC</a:t>
            </a:r>
            <a:r>
              <a:rPr lang="en-US" sz="1800" spc="10" dirty="0">
                <a:solidFill>
                  <a:srgbClr val="000000"/>
                </a:solidFill>
                <a:effectLst/>
                <a:latin typeface="Times New Roman" panose="02020603050405020304" pitchFamily="18" charset="0"/>
                <a:ea typeface="Times New Roman" panose="02020603050405020304" pitchFamily="18" charset="0"/>
              </a:rPr>
              <a:t>D</a:t>
            </a:r>
            <a:r>
              <a:rPr lang="en-US" sz="1800" spc="4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(842</a:t>
            </a:r>
            <a:r>
              <a:rPr lang="en-US" sz="1800" spc="10" dirty="0">
                <a:solidFill>
                  <a:srgbClr val="000000"/>
                </a:solidFill>
                <a:effectLst/>
                <a:latin typeface="Times New Roman" panose="02020603050405020304" pitchFamily="18" charset="0"/>
                <a:ea typeface="Times New Roman" panose="02020603050405020304" pitchFamily="18" charset="0"/>
              </a:rPr>
              <a:t>1</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spc="50" dirty="0">
                <a:solidFill>
                  <a:srgbClr val="000000"/>
                </a:solidFill>
                <a:effectLst/>
                <a:latin typeface="Times New Roman" panose="02020603050405020304" pitchFamily="18" charset="0"/>
                <a:ea typeface="Times New Roman" panose="02020603050405020304" pitchFamily="18" charset="0"/>
              </a:rPr>
              <a:t> </a:t>
            </a:r>
            <a:r>
              <a:rPr lang="en-US" sz="1800" spc="10" dirty="0">
                <a:solidFill>
                  <a:srgbClr val="000000"/>
                </a:solidFill>
                <a:effectLst/>
                <a:latin typeface="Times New Roman" panose="02020603050405020304" pitchFamily="18" charset="0"/>
                <a:ea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rPr>
              <a:t>nput</a:t>
            </a:r>
            <a:r>
              <a:rPr lang="en-US" sz="1800" spc="4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dat</a:t>
            </a:r>
            <a:r>
              <a:rPr lang="en-US" sz="1800" spc="10" dirty="0">
                <a:solidFill>
                  <a:srgbClr val="000000"/>
                </a:solidFill>
                <a:effectLst/>
                <a:latin typeface="Times New Roman" panose="02020603050405020304" pitchFamily="18" charset="0"/>
                <a:ea typeface="Times New Roman" panose="02020603050405020304" pitchFamily="18" charset="0"/>
              </a:rPr>
              <a:t>a</a:t>
            </a:r>
            <a:r>
              <a:rPr lang="en-US" sz="1800" spc="5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and</a:t>
            </a:r>
            <a:r>
              <a:rPr lang="en-US" sz="1800" spc="5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g</a:t>
            </a:r>
            <a:r>
              <a:rPr lang="en-US" sz="1800" spc="15" dirty="0">
                <a:solidFill>
                  <a:srgbClr val="000000"/>
                </a:solidFill>
                <a:effectLst/>
                <a:latin typeface="Times New Roman" panose="02020603050405020304" pitchFamily="18" charset="0"/>
                <a:ea typeface="Times New Roman" panose="02020603050405020304" pitchFamily="18" charset="0"/>
              </a:rPr>
              <a:t>e</a:t>
            </a:r>
            <a:r>
              <a:rPr lang="en-US" sz="1800" dirty="0">
                <a:solidFill>
                  <a:srgbClr val="000000"/>
                </a:solidFill>
                <a:effectLst/>
                <a:latin typeface="Times New Roman" panose="02020603050405020304" pitchFamily="18" charset="0"/>
                <a:ea typeface="Times New Roman" panose="02020603050405020304" pitchFamily="18" charset="0"/>
              </a:rPr>
              <a:t>nerat</a:t>
            </a:r>
            <a:r>
              <a:rPr lang="en-US" sz="1800" spc="10" dirty="0">
                <a:solidFill>
                  <a:srgbClr val="000000"/>
                </a:solidFill>
                <a:effectLst/>
                <a:latin typeface="Times New Roman" panose="02020603050405020304" pitchFamily="18" charset="0"/>
                <a:ea typeface="Times New Roman" panose="02020603050405020304" pitchFamily="18" charset="0"/>
              </a:rPr>
              <a:t>e</a:t>
            </a:r>
            <a:r>
              <a:rPr lang="en-US" sz="1800" dirty="0">
                <a:solidFill>
                  <a:srgbClr val="000000"/>
                </a:solidFill>
                <a:effectLst/>
                <a:latin typeface="Times New Roman" panose="02020603050405020304" pitchFamily="18" charset="0"/>
                <a:ea typeface="Times New Roman" panose="02020603050405020304" pitchFamily="18" charset="0"/>
              </a:rPr>
              <a:t>s</a:t>
            </a:r>
            <a:r>
              <a:rPr lang="en-US" sz="1800" spc="4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their</a:t>
            </a:r>
            <a:r>
              <a:rPr lang="en-US" sz="1800" spc="5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a:t>
            </a:r>
            <a:r>
              <a:rPr lang="en-US" sz="1800" spc="10" dirty="0">
                <a:solidFill>
                  <a:srgbClr val="000000"/>
                </a:solidFill>
                <a:effectLst/>
                <a:latin typeface="Times New Roman" panose="02020603050405020304" pitchFamily="18" charset="0"/>
                <a:ea typeface="Times New Roman" panose="02020603050405020304" pitchFamily="18" charset="0"/>
              </a:rPr>
              <a:t>o</a:t>
            </a:r>
            <a:r>
              <a:rPr lang="en-US" sz="1800" dirty="0">
                <a:solidFill>
                  <a:srgbClr val="000000"/>
                </a:solidFill>
                <a:effectLst/>
                <a:latin typeface="Times New Roman" panose="02020603050405020304" pitchFamily="18" charset="0"/>
                <a:ea typeface="Times New Roman" panose="02020603050405020304" pitchFamily="18" charset="0"/>
              </a:rPr>
              <a:t>mpl</a:t>
            </a:r>
            <a:r>
              <a:rPr lang="en-US" sz="1800" spc="10" dirty="0">
                <a:solidFill>
                  <a:srgbClr val="000000"/>
                </a:solidFill>
                <a:effectLst/>
                <a:latin typeface="Times New Roman" panose="02020603050405020304" pitchFamily="18" charset="0"/>
                <a:ea typeface="Times New Roman" panose="02020603050405020304" pitchFamily="18" charset="0"/>
              </a:rPr>
              <a:t>e</a:t>
            </a:r>
            <a:r>
              <a:rPr lang="en-US" sz="1800" dirty="0">
                <a:solidFill>
                  <a:srgbClr val="000000"/>
                </a:solidFill>
                <a:effectLst/>
                <a:latin typeface="Times New Roman" panose="02020603050405020304" pitchFamily="18" charset="0"/>
                <a:ea typeface="Times New Roman" panose="02020603050405020304" pitchFamily="18" charset="0"/>
              </a:rPr>
              <a:t>m</a:t>
            </a:r>
            <a:r>
              <a:rPr lang="en-US" sz="1800" spc="10" dirty="0">
                <a:solidFill>
                  <a:srgbClr val="000000"/>
                </a:solidFill>
                <a:effectLst/>
                <a:latin typeface="Times New Roman" panose="02020603050405020304" pitchFamily="18" charset="0"/>
                <a:ea typeface="Times New Roman" panose="02020603050405020304" pitchFamily="18" charset="0"/>
              </a:rPr>
              <a:t>e</a:t>
            </a:r>
            <a:r>
              <a:rPr lang="en-US" sz="1800" dirty="0">
                <a:solidFill>
                  <a:srgbClr val="000000"/>
                </a:solidFill>
                <a:effectLst/>
                <a:latin typeface="Times New Roman" panose="02020603050405020304" pitchFamily="18" charset="0"/>
                <a:ea typeface="Times New Roman" panose="02020603050405020304" pitchFamily="18" charset="0"/>
              </a:rPr>
              <a:t>nts internal</a:t>
            </a:r>
            <a:r>
              <a:rPr lang="en-US" sz="1800" spc="5" dirty="0">
                <a:solidFill>
                  <a:srgbClr val="000000"/>
                </a:solidFill>
                <a:effectLst/>
                <a:latin typeface="Times New Roman" panose="02020603050405020304" pitchFamily="18" charset="0"/>
                <a:ea typeface="Times New Roman" panose="02020603050405020304" pitchFamily="18" charset="0"/>
              </a:rPr>
              <a:t>l</a:t>
            </a:r>
            <a:r>
              <a:rPr lang="en-US" sz="1800" spc="15" dirty="0">
                <a:solidFill>
                  <a:srgbClr val="000000"/>
                </a:solidFill>
                <a:effectLst/>
                <a:latin typeface="Times New Roman" panose="02020603050405020304" pitchFamily="18" charset="0"/>
                <a:ea typeface="Times New Roman" panose="02020603050405020304" pitchFamily="18" charset="0"/>
              </a:rPr>
              <a:t>y</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spc="6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a:t>
            </a:r>
            <a:r>
              <a:rPr lang="en-US" sz="1800" spc="10" dirty="0">
                <a:solidFill>
                  <a:srgbClr val="000000"/>
                </a:solidFill>
                <a:effectLst/>
                <a:latin typeface="Times New Roman" panose="02020603050405020304" pitchFamily="18" charset="0"/>
                <a:ea typeface="Times New Roman" panose="02020603050405020304" pitchFamily="18" charset="0"/>
              </a:rPr>
              <a:t>h</a:t>
            </a:r>
            <a:r>
              <a:rPr lang="en-US" sz="1800" dirty="0">
                <a:solidFill>
                  <a:srgbClr val="000000"/>
                </a:solidFill>
                <a:effectLst/>
                <a:latin typeface="Times New Roman" panose="02020603050405020304" pitchFamily="18" charset="0"/>
                <a:ea typeface="Times New Roman" panose="02020603050405020304" pitchFamily="18" charset="0"/>
              </a:rPr>
              <a:t>e</a:t>
            </a:r>
            <a:r>
              <a:rPr lang="en-US" sz="1800" spc="7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data</a:t>
            </a:r>
            <a:r>
              <a:rPr lang="en-US" sz="1800" spc="7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is</a:t>
            </a:r>
            <a:r>
              <a:rPr lang="en-US" sz="1800" spc="7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decoded</a:t>
            </a:r>
            <a:r>
              <a:rPr lang="en-US" sz="1800" spc="7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with</a:t>
            </a:r>
            <a:r>
              <a:rPr lang="en-US" sz="1800" spc="6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a:t>
            </a:r>
            <a:r>
              <a:rPr lang="en-US" sz="1800" spc="15" dirty="0">
                <a:solidFill>
                  <a:srgbClr val="000000"/>
                </a:solidFill>
                <a:effectLst/>
                <a:latin typeface="Times New Roman" panose="02020603050405020304" pitchFamily="18" charset="0"/>
                <a:ea typeface="Times New Roman" panose="02020603050405020304" pitchFamily="18" charset="0"/>
              </a:rPr>
              <a:t>e</a:t>
            </a:r>
            <a:r>
              <a:rPr lang="en-US" sz="1800" dirty="0">
                <a:solidFill>
                  <a:srgbClr val="000000"/>
                </a:solidFill>
                <a:effectLst/>
                <a:latin typeface="Times New Roman" panose="02020603050405020304" pitchFamily="18" charset="0"/>
                <a:ea typeface="Times New Roman" panose="02020603050405020304" pitchFamily="18" charset="0"/>
              </a:rPr>
              <a:t>ven</a:t>
            </a:r>
            <a:r>
              <a:rPr lang="en-US" sz="1800" spc="65" dirty="0">
                <a:solidFill>
                  <a:srgbClr val="000000"/>
                </a:solidFill>
                <a:effectLst/>
                <a:latin typeface="Times New Roman" panose="02020603050405020304" pitchFamily="18" charset="0"/>
                <a:ea typeface="Times New Roman" panose="02020603050405020304" pitchFamily="18" charset="0"/>
              </a:rPr>
              <a:t> </a:t>
            </a:r>
            <a:r>
              <a:rPr lang="en-US" sz="1800" spc="10" dirty="0">
                <a:solidFill>
                  <a:srgbClr val="000000"/>
                </a:solidFill>
                <a:effectLst/>
                <a:latin typeface="Times New Roman" panose="02020603050405020304" pitchFamily="18" charset="0"/>
                <a:ea typeface="Times New Roman" panose="02020603050405020304" pitchFamily="18" charset="0"/>
              </a:rPr>
              <a:t>A</a:t>
            </a:r>
            <a:r>
              <a:rPr lang="en-US" sz="1800" dirty="0">
                <a:solidFill>
                  <a:srgbClr val="000000"/>
                </a:solidFill>
                <a:effectLst/>
                <a:latin typeface="Times New Roman" panose="02020603050405020304" pitchFamily="18" charset="0"/>
                <a:ea typeface="Times New Roman" panose="02020603050405020304" pitchFamily="18" charset="0"/>
              </a:rPr>
              <a:t>ND/OR</a:t>
            </a:r>
            <a:r>
              <a:rPr lang="en-US" sz="1800" spc="6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gat</a:t>
            </a:r>
            <a:r>
              <a:rPr lang="en-US" sz="1800" spc="15" dirty="0">
                <a:solidFill>
                  <a:srgbClr val="000000"/>
                </a:solidFill>
                <a:effectLst/>
                <a:latin typeface="Times New Roman" panose="02020603050405020304" pitchFamily="18" charset="0"/>
                <a:ea typeface="Times New Roman" panose="02020603050405020304" pitchFamily="18" charset="0"/>
              </a:rPr>
              <a:t>e</a:t>
            </a:r>
            <a:r>
              <a:rPr lang="en-US" sz="1800" dirty="0">
                <a:solidFill>
                  <a:srgbClr val="000000"/>
                </a:solidFill>
                <a:effectLst/>
                <a:latin typeface="Times New Roman" panose="02020603050405020304" pitchFamily="18" charset="0"/>
                <a:ea typeface="Times New Roman" panose="02020603050405020304" pitchFamily="18" charset="0"/>
              </a:rPr>
              <a:t>s</a:t>
            </a:r>
            <a:r>
              <a:rPr lang="en-US" sz="1800" spc="6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to</a:t>
            </a:r>
            <a:r>
              <a:rPr lang="en-US" sz="1800" spc="7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drive</a:t>
            </a:r>
            <a:r>
              <a:rPr lang="en-US" sz="1800" spc="70" dirty="0">
                <a:solidFill>
                  <a:srgbClr val="000000"/>
                </a:solidFill>
                <a:effectLst/>
                <a:latin typeface="Times New Roman" panose="02020603050405020304" pitchFamily="18" charset="0"/>
                <a:ea typeface="Times New Roman" panose="02020603050405020304" pitchFamily="18" charset="0"/>
              </a:rPr>
              <a:t> </a:t>
            </a:r>
            <a:r>
              <a:rPr lang="en-US" sz="1800" spc="10" dirty="0">
                <a:solidFill>
                  <a:srgbClr val="000000"/>
                </a:solidFill>
                <a:effectLst/>
                <a:latin typeface="Times New Roman" panose="02020603050405020304" pitchFamily="18" charset="0"/>
                <a:ea typeface="Times New Roman" panose="02020603050405020304" pitchFamily="18" charset="0"/>
              </a:rPr>
              <a:t>i</a:t>
            </a:r>
            <a:r>
              <a:rPr lang="en-US" sz="1800" dirty="0">
                <a:solidFill>
                  <a:srgbClr val="000000"/>
                </a:solidFill>
                <a:effectLst/>
                <a:latin typeface="Times New Roman" panose="02020603050405020304" pitchFamily="18" charset="0"/>
                <a:ea typeface="Times New Roman" panose="02020603050405020304" pitchFamily="18" charset="0"/>
              </a:rPr>
              <a:t>ndicator</a:t>
            </a:r>
            <a:r>
              <a:rPr lang="en-US" sz="1800" spc="6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LE</a:t>
            </a:r>
            <a:r>
              <a:rPr lang="en-US" sz="1800" spc="10" dirty="0">
                <a:solidFill>
                  <a:srgbClr val="000000"/>
                </a:solidFill>
                <a:effectLst/>
                <a:latin typeface="Times New Roman" panose="02020603050405020304" pitchFamily="18" charset="0"/>
                <a:ea typeface="Times New Roman" panose="02020603050405020304" pitchFamily="18" charset="0"/>
              </a:rPr>
              <a:t>D</a:t>
            </a:r>
            <a:r>
              <a:rPr lang="en-US" sz="1800" dirty="0">
                <a:solidFill>
                  <a:srgbClr val="000000"/>
                </a:solidFill>
                <a:effectLst/>
                <a:latin typeface="Times New Roman" panose="02020603050405020304" pitchFamily="18" charset="0"/>
                <a:ea typeface="Times New Roman" panose="02020603050405020304" pitchFamily="18" charset="0"/>
              </a:rPr>
              <a:t>s</a:t>
            </a:r>
            <a:r>
              <a:rPr lang="en-US" sz="1800" spc="6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a:t>
            </a:r>
            <a:r>
              <a:rPr lang="en-US" sz="1800" spc="10" dirty="0">
                <a:solidFill>
                  <a:srgbClr val="000000"/>
                </a:solidFill>
                <a:effectLst/>
                <a:latin typeface="Times New Roman" panose="02020603050405020304" pitchFamily="18" charset="0"/>
                <a:ea typeface="Times New Roman" panose="02020603050405020304" pitchFamily="18" charset="0"/>
              </a:rPr>
              <a:t>f</a:t>
            </a:r>
            <a:r>
              <a:rPr lang="en-US" sz="1800" spc="6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 seven</a:t>
            </a:r>
            <a:r>
              <a:rPr lang="en-US" sz="1800" spc="5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se</a:t>
            </a:r>
            <a:r>
              <a:rPr lang="en-US" sz="1800" spc="5" dirty="0">
                <a:solidFill>
                  <a:srgbClr val="000000"/>
                </a:solidFill>
                <a:effectLst/>
                <a:latin typeface="Times New Roman" panose="02020603050405020304" pitchFamily="18" charset="0"/>
                <a:ea typeface="Times New Roman" panose="02020603050405020304" pitchFamily="18" charset="0"/>
              </a:rPr>
              <a:t>g</a:t>
            </a:r>
            <a:r>
              <a:rPr lang="en-US" sz="1800" dirty="0">
                <a:solidFill>
                  <a:srgbClr val="000000"/>
                </a:solidFill>
                <a:effectLst/>
                <a:latin typeface="Times New Roman" panose="02020603050405020304" pitchFamily="18" charset="0"/>
                <a:ea typeface="Times New Roman" panose="02020603050405020304" pitchFamily="18" charset="0"/>
              </a:rPr>
              <a:t>ment</a:t>
            </a:r>
            <a:r>
              <a:rPr lang="en-US" sz="1800" spc="7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direct</a:t>
            </a:r>
            <a:r>
              <a:rPr lang="en-US" sz="1800" spc="25" dirty="0">
                <a:solidFill>
                  <a:srgbClr val="000000"/>
                </a:solidFill>
                <a:effectLst/>
                <a:latin typeface="Times New Roman" panose="02020603050405020304" pitchFamily="18" charset="0"/>
                <a:ea typeface="Times New Roman" panose="02020603050405020304" pitchFamily="18" charset="0"/>
              </a:rPr>
              <a:t>l</a:t>
            </a:r>
            <a:r>
              <a:rPr lang="en-US" sz="1800" dirty="0">
                <a:solidFill>
                  <a:srgbClr val="000000"/>
                </a:solidFill>
                <a:effectLst/>
                <a:latin typeface="Times New Roman" panose="02020603050405020304" pitchFamily="18" charset="0"/>
                <a:ea typeface="Times New Roman" panose="02020603050405020304" pitchFamily="18" charset="0"/>
              </a:rPr>
              <a:t>y.</a:t>
            </a:r>
            <a:r>
              <a:rPr lang="en-US" sz="1800" spc="3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a:t>
            </a:r>
            <a:r>
              <a:rPr lang="en-US" sz="1800" spc="50" dirty="0">
                <a:solidFill>
                  <a:srgbClr val="000000"/>
                </a:solidFill>
                <a:effectLst/>
                <a:latin typeface="Times New Roman" panose="02020603050405020304" pitchFamily="18" charset="0"/>
                <a:ea typeface="Times New Roman" panose="02020603050405020304" pitchFamily="18" charset="0"/>
              </a:rPr>
              <a:t> </a:t>
            </a:r>
            <a:r>
              <a:rPr lang="en-US" sz="1800" spc="5" dirty="0">
                <a:solidFill>
                  <a:srgbClr val="000000"/>
                </a:solidFill>
                <a:effectLst/>
                <a:latin typeface="Times New Roman" panose="02020603050405020304" pitchFamily="18" charset="0"/>
                <a:ea typeface="Times New Roman" panose="02020603050405020304" pitchFamily="18" charset="0"/>
              </a:rPr>
              <a:t>o</a:t>
            </a:r>
            <a:r>
              <a:rPr lang="en-US" sz="1800" dirty="0">
                <a:solidFill>
                  <a:srgbClr val="000000"/>
                </a:solidFill>
                <a:effectLst/>
                <a:latin typeface="Times New Roman" panose="02020603050405020304" pitchFamily="18" charset="0"/>
                <a:ea typeface="Times New Roman" panose="02020603050405020304" pitchFamily="18" charset="0"/>
              </a:rPr>
              <a:t>utput</a:t>
            </a:r>
            <a:r>
              <a:rPr lang="en-US" sz="1800" spc="5" dirty="0">
                <a:solidFill>
                  <a:srgbClr val="000000"/>
                </a:solidFill>
                <a:effectLst/>
                <a:latin typeface="Times New Roman" panose="02020603050405020304" pitchFamily="18" charset="0"/>
                <a:ea typeface="Times New Roman" panose="02020603050405020304" pitchFamily="18" charset="0"/>
              </a:rPr>
              <a:t>s</a:t>
            </a:r>
            <a:r>
              <a:rPr lang="en-US" sz="1800" spc="5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corres</a:t>
            </a:r>
            <a:r>
              <a:rPr lang="en-US" sz="1800" spc="15" dirty="0">
                <a:solidFill>
                  <a:srgbClr val="000000"/>
                </a:solidFill>
                <a:effectLst/>
                <a:latin typeface="Times New Roman" panose="02020603050405020304" pitchFamily="18" charset="0"/>
                <a:ea typeface="Times New Roman" panose="02020603050405020304" pitchFamily="18" charset="0"/>
              </a:rPr>
              <a:t>p</a:t>
            </a:r>
            <a:r>
              <a:rPr lang="en-US" sz="1800" spc="10" dirty="0">
                <a:solidFill>
                  <a:srgbClr val="000000"/>
                </a:solidFill>
                <a:effectLst/>
                <a:latin typeface="Times New Roman" panose="02020603050405020304" pitchFamily="18" charset="0"/>
                <a:ea typeface="Times New Roman" panose="02020603050405020304" pitchFamily="18" charset="0"/>
              </a:rPr>
              <a:t>o</a:t>
            </a:r>
            <a:r>
              <a:rPr lang="en-US" sz="1800" dirty="0">
                <a:solidFill>
                  <a:srgbClr val="000000"/>
                </a:solidFill>
                <a:effectLst/>
                <a:latin typeface="Times New Roman" panose="02020603050405020304" pitchFamily="18" charset="0"/>
                <a:ea typeface="Times New Roman" panose="02020603050405020304" pitchFamily="18" charset="0"/>
              </a:rPr>
              <a:t>nd</a:t>
            </a:r>
            <a:r>
              <a:rPr lang="en-US" sz="1800" spc="5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to</a:t>
            </a:r>
            <a:r>
              <a:rPr lang="en-US" sz="1800" spc="6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a:t>
            </a:r>
            <a:r>
              <a:rPr lang="en-US" sz="1800" spc="10" dirty="0">
                <a:solidFill>
                  <a:srgbClr val="000000"/>
                </a:solidFill>
                <a:effectLst/>
                <a:latin typeface="Times New Roman" panose="02020603050405020304" pitchFamily="18" charset="0"/>
                <a:ea typeface="Times New Roman" panose="02020603050405020304" pitchFamily="18" charset="0"/>
              </a:rPr>
              <a:t>o</a:t>
            </a:r>
            <a:r>
              <a:rPr lang="en-US" sz="1800" dirty="0">
                <a:solidFill>
                  <a:srgbClr val="000000"/>
                </a:solidFill>
                <a:effectLst/>
                <a:latin typeface="Times New Roman" panose="02020603050405020304" pitchFamily="18" charset="0"/>
                <a:ea typeface="Times New Roman" panose="02020603050405020304" pitchFamily="18" charset="0"/>
              </a:rPr>
              <a:t>mm</a:t>
            </a:r>
            <a:r>
              <a:rPr lang="en-US" sz="1800" spc="10" dirty="0">
                <a:solidFill>
                  <a:srgbClr val="000000"/>
                </a:solidFill>
                <a:effectLst/>
                <a:latin typeface="Times New Roman" panose="02020603050405020304" pitchFamily="18" charset="0"/>
                <a:ea typeface="Times New Roman" panose="02020603050405020304" pitchFamily="18" charset="0"/>
              </a:rPr>
              <a:t>o</a:t>
            </a:r>
            <a:r>
              <a:rPr lang="en-US" sz="1800" dirty="0">
                <a:solidFill>
                  <a:srgbClr val="000000"/>
                </a:solidFill>
                <a:effectLst/>
                <a:latin typeface="Times New Roman" panose="02020603050405020304" pitchFamily="18" charset="0"/>
                <a:ea typeface="Times New Roman" panose="02020603050405020304" pitchFamily="18" charset="0"/>
              </a:rPr>
              <a:t>n</a:t>
            </a:r>
            <a:r>
              <a:rPr lang="en-US" sz="1800" spc="5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an</a:t>
            </a:r>
            <a:r>
              <a:rPr lang="en-US" sz="1800" spc="10" dirty="0">
                <a:solidFill>
                  <a:srgbClr val="000000"/>
                </a:solidFill>
                <a:effectLst/>
                <a:latin typeface="Times New Roman" panose="02020603050405020304" pitchFamily="18" charset="0"/>
                <a:ea typeface="Times New Roman" panose="02020603050405020304" pitchFamily="18" charset="0"/>
              </a:rPr>
              <a:t>o</a:t>
            </a:r>
            <a:r>
              <a:rPr lang="en-US" sz="1800" dirty="0">
                <a:solidFill>
                  <a:srgbClr val="000000"/>
                </a:solidFill>
                <a:effectLst/>
                <a:latin typeface="Times New Roman" panose="02020603050405020304" pitchFamily="18" charset="0"/>
                <a:ea typeface="Times New Roman" panose="02020603050405020304" pitchFamily="18" charset="0"/>
              </a:rPr>
              <a:t>de</a:t>
            </a:r>
            <a:r>
              <a:rPr lang="en-US" sz="1800" spc="50" dirty="0">
                <a:solidFill>
                  <a:srgbClr val="000000"/>
                </a:solidFill>
                <a:effectLst/>
                <a:latin typeface="Times New Roman" panose="02020603050405020304" pitchFamily="18" charset="0"/>
                <a:ea typeface="Times New Roman" panose="02020603050405020304" pitchFamily="18" charset="0"/>
              </a:rPr>
              <a:t> </a:t>
            </a:r>
            <a:r>
              <a:rPr lang="en-US" sz="1800" spc="10" dirty="0">
                <a:solidFill>
                  <a:srgbClr val="000000"/>
                </a:solidFill>
                <a:effectLst/>
                <a:latin typeface="Times New Roman" panose="02020603050405020304" pitchFamily="18" charset="0"/>
                <a:ea typeface="Times New Roman" panose="02020603050405020304" pitchFamily="18" charset="0"/>
              </a:rPr>
              <a:t>(</a:t>
            </a:r>
            <a:r>
              <a:rPr lang="en-US" sz="1800" dirty="0">
                <a:solidFill>
                  <a:srgbClr val="000000"/>
                </a:solidFill>
                <a:effectLst/>
                <a:latin typeface="Times New Roman" panose="02020603050405020304" pitchFamily="18" charset="0"/>
                <a:ea typeface="Times New Roman" panose="02020603050405020304" pitchFamily="18" charset="0"/>
              </a:rPr>
              <a:t>CA)</a:t>
            </a:r>
            <a:r>
              <a:rPr lang="en-US" sz="1800" spc="45"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con</a:t>
            </a:r>
            <a:r>
              <a:rPr lang="en-US" sz="1800" spc="10" dirty="0">
                <a:solidFill>
                  <a:srgbClr val="000000"/>
                </a:solidFill>
                <a:effectLst/>
                <a:latin typeface="Times New Roman" panose="02020603050405020304" pitchFamily="18" charset="0"/>
                <a:ea typeface="Times New Roman" panose="02020603050405020304" pitchFamily="18" charset="0"/>
              </a:rPr>
              <a:t>f</a:t>
            </a:r>
            <a:r>
              <a:rPr lang="en-US" sz="1800" dirty="0">
                <a:solidFill>
                  <a:srgbClr val="000000"/>
                </a:solidFill>
                <a:effectLst/>
                <a:latin typeface="Times New Roman" panose="02020603050405020304" pitchFamily="18" charset="0"/>
                <a:ea typeface="Times New Roman" panose="02020603050405020304" pitchFamily="18" charset="0"/>
              </a:rPr>
              <a:t>igurati</a:t>
            </a:r>
            <a:r>
              <a:rPr lang="en-US" sz="1800" spc="10" dirty="0">
                <a:solidFill>
                  <a:srgbClr val="000000"/>
                </a:solidFill>
                <a:effectLst/>
                <a:latin typeface="Times New Roman" panose="02020603050405020304" pitchFamily="18" charset="0"/>
                <a:ea typeface="Times New Roman" panose="02020603050405020304" pitchFamily="18" charset="0"/>
              </a:rPr>
              <a:t>o</a:t>
            </a:r>
            <a:r>
              <a:rPr lang="en-US" sz="1800" dirty="0">
                <a:solidFill>
                  <a:srgbClr val="000000"/>
                </a:solidFill>
                <a:effectLst/>
                <a:latin typeface="Times New Roman" panose="02020603050405020304" pitchFamily="18" charset="0"/>
                <a:ea typeface="Times New Roman" panose="02020603050405020304" pitchFamily="18" charset="0"/>
              </a:rPr>
              <a:t>n</a:t>
            </a:r>
            <a:r>
              <a:rPr lang="en-US" sz="1800" spc="5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of seven</a:t>
            </a:r>
            <a:r>
              <a:rPr lang="en-US" sz="1800" spc="40"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se</a:t>
            </a:r>
            <a:r>
              <a:rPr lang="en-US" sz="1800" spc="15" dirty="0">
                <a:solidFill>
                  <a:srgbClr val="000000"/>
                </a:solidFill>
                <a:effectLst/>
                <a:latin typeface="Times New Roman" panose="02020603050405020304" pitchFamily="18" charset="0"/>
                <a:ea typeface="Times New Roman" panose="02020603050405020304" pitchFamily="18" charset="0"/>
              </a:rPr>
              <a:t>g</a:t>
            </a:r>
            <a:r>
              <a:rPr lang="en-US" sz="1800" dirty="0">
                <a:solidFill>
                  <a:srgbClr val="000000"/>
                </a:solidFill>
                <a:effectLst/>
                <a:latin typeface="Times New Roman" panose="02020603050405020304" pitchFamily="18" charset="0"/>
                <a:ea typeface="Times New Roman" panose="02020603050405020304" pitchFamily="18" charset="0"/>
              </a:rPr>
              <a:t>ment.</a:t>
            </a:r>
            <a:endParaRPr lang="en-IN" sz="1800" dirty="0">
              <a:effectLst/>
              <a:latin typeface="Times New Roman" panose="02020603050405020304" pitchFamily="18" charset="0"/>
              <a:ea typeface="Times New Roman" panose="02020603050405020304" pitchFamily="18" charset="0"/>
            </a:endParaRPr>
          </a:p>
          <a:p>
            <a:pPr marR="684530">
              <a:lnSpc>
                <a:spcPts val="1545"/>
              </a:lnSpc>
              <a:spcAft>
                <a:spcPts val="60"/>
              </a:spcAft>
              <a:tabLst>
                <a:tab pos="6000750" algn="l"/>
              </a:tabLst>
            </a:pPr>
            <a:endParaRPr lang="en-IN" sz="1100" dirty="0">
              <a:effectLst/>
              <a:latin typeface="Times New Roman" panose="02020603050405020304" pitchFamily="18" charset="0"/>
              <a:ea typeface="Times New Roman" panose="02020603050405020304" pitchFamily="18" charset="0"/>
            </a:endParaRPr>
          </a:p>
        </p:txBody>
      </p:sp>
      <p:pic>
        <p:nvPicPr>
          <p:cNvPr id="3" name="Picture 2" descr="Image result for 7447 outputs">
            <a:extLst>
              <a:ext uri="{FF2B5EF4-FFF2-40B4-BE49-F238E27FC236}">
                <a16:creationId xmlns:a16="http://schemas.microsoft.com/office/drawing/2014/main" id="{121DADE5-D623-61B9-4CE7-5162C2BAC1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30" y="1258479"/>
            <a:ext cx="5483085" cy="3571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49438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7 Segment Display Truth Table - Karnaugh Maps - Alford Reichel">
            <a:extLst>
              <a:ext uri="{FF2B5EF4-FFF2-40B4-BE49-F238E27FC236}">
                <a16:creationId xmlns:a16="http://schemas.microsoft.com/office/drawing/2014/main" id="{92531C77-3809-BE10-BD2D-5965FF7E83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1687" y="0"/>
            <a:ext cx="9509760" cy="6699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151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Decoders with enable inputs</a:t>
            </a:r>
          </a:p>
        </p:txBody>
      </p:sp>
      <p:sp>
        <p:nvSpPr>
          <p:cNvPr id="3" name="Content Placeholder 2"/>
          <p:cNvSpPr>
            <a:spLocks noGrp="1"/>
          </p:cNvSpPr>
          <p:nvPr>
            <p:ph idx="1"/>
          </p:nvPr>
        </p:nvSpPr>
        <p:spPr>
          <a:xfrm>
            <a:off x="1981200" y="1295400"/>
            <a:ext cx="8229600" cy="5334000"/>
          </a:xfrm>
        </p:spPr>
        <p:txBody>
          <a:bodyPr>
            <a:normAutofit fontScale="92500" lnSpcReduction="20000"/>
          </a:bodyPr>
          <a:lstStyle/>
          <a:p>
            <a:r>
              <a:rPr lang="en-US" dirty="0"/>
              <a:t>When disabled, all outputs of the decoder can either be at logic-0 or logic-1.</a:t>
            </a:r>
          </a:p>
          <a:p>
            <a:r>
              <a:rPr lang="en-US" dirty="0"/>
              <a:t>Enable input provides the decoder with additional flexibility.  Idea:  data is applied to the enable input.</a:t>
            </a:r>
          </a:p>
          <a:p>
            <a:r>
              <a:rPr lang="en-US" dirty="0"/>
              <a:t>Process is known as </a:t>
            </a:r>
            <a:r>
              <a:rPr lang="en-US" dirty="0" err="1"/>
              <a:t>demultiplexing</a:t>
            </a:r>
            <a:r>
              <a:rPr lang="en-US" dirty="0"/>
              <a:t>.</a:t>
            </a:r>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endParaRPr lang="en-US" dirty="0"/>
          </a:p>
          <a:p>
            <a:r>
              <a:rPr lang="en-US" dirty="0"/>
              <a:t>Enable inputs are useful when constructing  larger decoders from smaller decoders.</a:t>
            </a: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4796023" y="3205348"/>
            <a:ext cx="1980830" cy="242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3657600" y="4724400"/>
            <a:ext cx="1219200" cy="381000"/>
          </a:xfrm>
          <a:prstGeom prst="rect">
            <a:avLst/>
          </a:prstGeom>
          <a:noFill/>
        </p:spPr>
        <p:txBody>
          <a:bodyPr wrap="square" rtlCol="0">
            <a:spAutoFit/>
          </a:bodyPr>
          <a:lstStyle/>
          <a:p>
            <a:pPr algn="ctr"/>
            <a:r>
              <a:rPr lang="en-US" dirty="0"/>
              <a:t>Data</a:t>
            </a:r>
          </a:p>
        </p:txBody>
      </p:sp>
      <mc:AlternateContent xmlns:mc="http://schemas.openxmlformats.org/markup-compatibility/2006" xmlns:a14="http://schemas.microsoft.com/office/drawing/2010/main">
        <mc:Choice Requires="a14">
          <p:sp>
            <p:nvSpPr>
              <p:cNvPr id="6" name="TextBox 5"/>
              <p:cNvSpPr txBox="1"/>
              <p:nvPr/>
            </p:nvSpPr>
            <p:spPr>
              <a:xfrm>
                <a:off x="6477000" y="3593068"/>
                <a:ext cx="221932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bar>
                            <m:barPr>
                              <m:pos m:val="top"/>
                              <m:ctrlPr>
                                <a:rPr lang="en-US" i="1">
                                  <a:latin typeface="Cambria Math" panose="02040503050406030204" pitchFamily="18" charset="0"/>
                                </a:rPr>
                              </m:ctrlPr>
                            </m:barPr>
                            <m:e>
                              <m:r>
                                <a:rPr lang="en-US" i="1">
                                  <a:latin typeface="Cambria Math"/>
                                </a:rPr>
                                <m:t>𝑥</m:t>
                              </m:r>
                            </m:e>
                          </m:bar>
                        </m:e>
                        <m:sub>
                          <m:r>
                            <a:rPr lang="en-US" i="1">
                              <a:latin typeface="Cambria Math"/>
                            </a:rPr>
                            <m:t>0</m:t>
                          </m:r>
                        </m:sub>
                      </m:sSub>
                      <m:sSub>
                        <m:sSubPr>
                          <m:ctrlPr>
                            <a:rPr lang="en-US" i="1">
                              <a:latin typeface="Cambria Math" panose="02040503050406030204" pitchFamily="18" charset="0"/>
                            </a:rPr>
                          </m:ctrlPr>
                        </m:sSubPr>
                        <m:e>
                          <m:bar>
                            <m:barPr>
                              <m:pos m:val="top"/>
                              <m:ctrlPr>
                                <a:rPr lang="en-US" i="1">
                                  <a:latin typeface="Cambria Math" panose="02040503050406030204" pitchFamily="18" charset="0"/>
                                </a:rPr>
                              </m:ctrlPr>
                            </m:barPr>
                            <m:e>
                              <m:r>
                                <a:rPr lang="en-US" i="1">
                                  <a:latin typeface="Cambria Math"/>
                                </a:rPr>
                                <m:t>𝑥</m:t>
                              </m:r>
                            </m:e>
                          </m:bar>
                        </m:e>
                        <m:sub>
                          <m:r>
                            <a:rPr lang="en-US" i="1">
                              <a:latin typeface="Cambria Math"/>
                            </a:rPr>
                            <m:t>1</m:t>
                          </m:r>
                        </m:sub>
                      </m:sSub>
                      <m:r>
                        <a:rPr lang="en-US" i="1">
                          <a:latin typeface="Cambria Math"/>
                        </a:rPr>
                        <m:t>𝐸</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6477000" y="3593068"/>
                <a:ext cx="2219324"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91400" y="4114800"/>
                <a:ext cx="2514600" cy="990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If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0</m:t>
                        </m:r>
                      </m:sub>
                    </m:sSub>
                    <m:r>
                      <a:rPr lang="en-US" i="1">
                        <a:latin typeface="Cambria Math"/>
                      </a:rPr>
                      <m:t>=0, </m:t>
                    </m:r>
                    <m:sSub>
                      <m:sSubPr>
                        <m:ctrlPr>
                          <a:rPr lang="en-US" i="1">
                            <a:latin typeface="Cambria Math" panose="02040503050406030204" pitchFamily="18" charset="0"/>
                          </a:rPr>
                        </m:ctrlPr>
                      </m:sSubPr>
                      <m:e>
                        <m:r>
                          <a:rPr lang="en-US" i="1">
                            <a:latin typeface="Cambria Math"/>
                          </a:rPr>
                          <m:t>𝑥</m:t>
                        </m:r>
                      </m:e>
                      <m:sub>
                        <m:r>
                          <a:rPr lang="en-US" i="1">
                            <a:latin typeface="Cambria Math"/>
                          </a:rPr>
                          <m:t>1</m:t>
                        </m:r>
                      </m:sub>
                    </m:sSub>
                    <m:r>
                      <a:rPr lang="en-US" i="1">
                        <a:latin typeface="Cambria Math"/>
                      </a:rPr>
                      <m:t>=0</m:t>
                    </m:r>
                  </m:oMath>
                </a14:m>
                <a:r>
                  <a:rPr lang="en-US" dirty="0"/>
                  <a:t> then data appears on line </a:t>
                </a:r>
                <a14:m>
                  <m:oMath xmlns:m="http://schemas.openxmlformats.org/officeDocument/2006/math">
                    <m:sSub>
                      <m:sSubPr>
                        <m:ctrlPr>
                          <a:rPr lang="en-US" i="1">
                            <a:latin typeface="Cambria Math" panose="02040503050406030204" pitchFamily="18" charset="0"/>
                          </a:rPr>
                        </m:ctrlPr>
                      </m:sSubPr>
                      <m:e>
                        <m:r>
                          <a:rPr lang="en-US" i="1">
                            <a:latin typeface="Cambria Math"/>
                          </a:rPr>
                          <m:t>𝑧</m:t>
                        </m:r>
                      </m:e>
                      <m:sub>
                        <m:r>
                          <a:rPr lang="en-US" i="1">
                            <a:latin typeface="Cambria Math"/>
                          </a:rPr>
                          <m:t>0</m:t>
                        </m:r>
                      </m:sub>
                    </m:sSub>
                  </m:oMath>
                </a14:m>
                <a:r>
                  <a:rPr lang="en-US" dirty="0"/>
                  <a:t>.</a:t>
                </a:r>
              </a:p>
            </p:txBody>
          </p:sp>
        </mc:Choice>
        <mc:Fallback xmlns="">
          <p:sp>
            <p:nvSpPr>
              <p:cNvPr id="7" name="Rounded Rectangle 6"/>
              <p:cNvSpPr>
                <a:spLocks noRot="1" noChangeAspect="1" noMove="1" noResize="1" noEditPoints="1" noAdjustHandles="1" noChangeArrowheads="1" noChangeShapeType="1" noTextEdit="1"/>
              </p:cNvSpPr>
              <p:nvPr/>
            </p:nvSpPr>
            <p:spPr>
              <a:xfrm>
                <a:off x="7391400" y="4114800"/>
                <a:ext cx="2514600" cy="990600"/>
              </a:xfrm>
              <a:prstGeom prst="round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317719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6" grpId="0"/>
      <p:bldP spid="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A225AEF-8D2F-F35B-6FF2-B74F1AE0A46E}"/>
              </a:ext>
            </a:extLst>
          </p:cNvPr>
          <p:cNvPicPr>
            <a:picLocks noChangeAspect="1"/>
          </p:cNvPicPr>
          <p:nvPr/>
        </p:nvPicPr>
        <p:blipFill>
          <a:blip r:embed="rId2"/>
          <a:stretch>
            <a:fillRect/>
          </a:stretch>
        </p:blipFill>
        <p:spPr>
          <a:xfrm>
            <a:off x="764345" y="0"/>
            <a:ext cx="10663310" cy="6805158"/>
          </a:xfrm>
          <a:prstGeom prst="rect">
            <a:avLst/>
          </a:prstGeom>
        </p:spPr>
      </p:pic>
    </p:spTree>
    <p:extLst>
      <p:ext uri="{BB962C8B-B14F-4D97-AF65-F5344CB8AC3E}">
        <p14:creationId xmlns:p14="http://schemas.microsoft.com/office/powerpoint/2010/main" val="13736332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Encoders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81200" y="1371601"/>
                <a:ext cx="8229600" cy="4525963"/>
              </a:xfrm>
            </p:spPr>
            <p:txBody>
              <a:bodyPr>
                <a:normAutofit/>
              </a:bodyPr>
              <a:lstStyle/>
              <a:p>
                <a:r>
                  <a:rPr lang="en-US" dirty="0"/>
                  <a:t>Encoders provide for the conversion of binary information from one form to another.</a:t>
                </a:r>
              </a:p>
              <a:p>
                <a:r>
                  <a:rPr lang="en-US" dirty="0"/>
                  <a:t>Encoders are essentially the inverse of decoders.  </a:t>
                </a:r>
              </a:p>
              <a:p>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2</m:t>
                        </m:r>
                      </m:e>
                      <m:sup>
                        <m:r>
                          <a:rPr lang="en-US" b="0" i="1" smtClean="0">
                            <a:latin typeface="Cambria Math"/>
                          </a:rPr>
                          <m:t>𝑛</m:t>
                        </m:r>
                      </m:sup>
                    </m:sSup>
                  </m:oMath>
                </a14:m>
                <a:r>
                  <a:rPr lang="en-US" dirty="0"/>
                  <a:t>-to-</a:t>
                </a:r>
                <a14:m>
                  <m:oMath xmlns:m="http://schemas.openxmlformats.org/officeDocument/2006/math">
                    <m:r>
                      <a:rPr lang="en-US" b="0" i="1" dirty="0" smtClean="0">
                        <a:latin typeface="Cambria Math"/>
                      </a:rPr>
                      <m:t>𝑛</m:t>
                    </m:r>
                  </m:oMath>
                </a14:m>
                <a:r>
                  <a:rPr lang="en-US" dirty="0"/>
                  <a:t>-line encoder in which an assertive logic value on one of its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2</m:t>
                        </m:r>
                      </m:e>
                      <m:sup>
                        <m:r>
                          <a:rPr lang="en-US" b="0" i="1" smtClean="0">
                            <a:latin typeface="Cambria Math"/>
                          </a:rPr>
                          <m:t>𝑛</m:t>
                        </m:r>
                      </m:sup>
                    </m:sSup>
                  </m:oMath>
                </a14:m>
                <a:r>
                  <a:rPr lang="en-US" dirty="0"/>
                  <a:t>-input lines causes the corresponding binary code to appear at the output lines.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81200" y="1371601"/>
                <a:ext cx="8229600" cy="4525963"/>
              </a:xfrm>
              <a:blipFill>
                <a:blip r:embed="rId2"/>
                <a:stretch>
                  <a:fillRect l="-1333" t="-2156" r="-1185"/>
                </a:stretch>
              </a:blipFill>
            </p:spPr>
            <p:txBody>
              <a:bodyPr/>
              <a:lstStyle/>
              <a:p>
                <a:r>
                  <a:rPr lang="en-IN">
                    <a:noFill/>
                  </a:rPr>
                  <a:t> </a:t>
                </a:r>
              </a:p>
            </p:txBody>
          </p:sp>
        </mc:Fallback>
      </mc:AlternateContent>
    </p:spTree>
    <p:extLst>
      <p:ext uri="{BB962C8B-B14F-4D97-AF65-F5344CB8AC3E}">
        <p14:creationId xmlns:p14="http://schemas.microsoft.com/office/powerpoint/2010/main" val="3597873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Encoders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81200" y="1219201"/>
                <a:ext cx="8229600" cy="4525963"/>
              </a:xfrm>
            </p:spPr>
            <p:txBody>
              <a:bodyPr>
                <a:normAutofit/>
              </a:bodyPr>
              <a:lstStyle/>
              <a:p>
                <a:r>
                  <a:rPr lang="en-US" sz="2000" dirty="0"/>
                  <a:t>Equations for 8-to-3-line encoder:</a:t>
                </a:r>
              </a:p>
              <a:p>
                <a:pPr marL="457200" lvl="1"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a:rPr>
                            <m:t>𝑧</m:t>
                          </m:r>
                        </m:e>
                        <m:sub>
                          <m:r>
                            <a:rPr lang="en-US" sz="2000" i="1">
                              <a:latin typeface="Cambria Math"/>
                            </a:rPr>
                            <m:t>0</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1</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3</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5</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7</m:t>
                          </m:r>
                        </m:sub>
                      </m:sSub>
                    </m:oMath>
                  </m:oMathPara>
                </a14:m>
                <a:endParaRPr lang="en-US" sz="2000" dirty="0"/>
              </a:p>
              <a:p>
                <a:pPr marL="457200" lvl="1"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a:rPr>
                            <m:t>𝑧</m:t>
                          </m:r>
                        </m:e>
                        <m:sub>
                          <m:r>
                            <a:rPr lang="en-US" sz="2000" i="1">
                              <a:latin typeface="Cambria Math"/>
                            </a:rPr>
                            <m:t>1</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2</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3</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6</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7</m:t>
                          </m:r>
                        </m:sub>
                      </m:sSub>
                    </m:oMath>
                  </m:oMathPara>
                </a14:m>
                <a:endParaRPr lang="en-US" sz="2000" dirty="0"/>
              </a:p>
              <a:p>
                <a:pPr marL="457200" lvl="1"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a:rPr>
                            <m:t>𝑧</m:t>
                          </m:r>
                        </m:e>
                        <m:sub>
                          <m:r>
                            <a:rPr lang="en-US" sz="2000" i="1">
                              <a:latin typeface="Cambria Math"/>
                            </a:rPr>
                            <m:t>2</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4</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5</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6</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7</m:t>
                          </m:r>
                        </m:sub>
                      </m:sSub>
                    </m:oMath>
                  </m:oMathPara>
                </a14:m>
                <a:endParaRPr lang="en-US" sz="2000" dirty="0"/>
              </a:p>
              <a:p>
                <a:r>
                  <a:rPr lang="en-US" sz="2000" dirty="0"/>
                  <a:t>In general, the Boolean expression for the output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𝑧</m:t>
                        </m:r>
                      </m:e>
                      <m:sub>
                        <m:r>
                          <a:rPr lang="en-US" sz="2000" i="1">
                            <a:latin typeface="Cambria Math"/>
                          </a:rPr>
                          <m:t>𝑖</m:t>
                        </m:r>
                      </m:sub>
                    </m:sSub>
                  </m:oMath>
                </a14:m>
                <a:r>
                  <a:rPr lang="en-US" sz="2000" dirty="0"/>
                  <a:t> is the sum of each input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𝑗</m:t>
                        </m:r>
                      </m:sub>
                    </m:sSub>
                  </m:oMath>
                </a14:m>
                <a:r>
                  <a:rPr lang="en-US" sz="2000" dirty="0"/>
                  <a:t> in which the binary representation of </a:t>
                </a:r>
                <a14:m>
                  <m:oMath xmlns:m="http://schemas.openxmlformats.org/officeDocument/2006/math">
                    <m:r>
                      <a:rPr lang="en-US" sz="2000" i="1">
                        <a:latin typeface="Cambria Math"/>
                      </a:rPr>
                      <m:t>𝑗</m:t>
                    </m:r>
                  </m:oMath>
                </a14:m>
                <a:r>
                  <a:rPr lang="en-US" sz="2000" dirty="0"/>
                  <a:t> has a 1 in the </a:t>
                </a:r>
                <a14:m>
                  <m:oMath xmlns:m="http://schemas.openxmlformats.org/officeDocument/2006/math">
                    <m:sSup>
                      <m:sSupPr>
                        <m:ctrlPr>
                          <a:rPr lang="en-US" sz="2000" i="1">
                            <a:latin typeface="Cambria Math" panose="02040503050406030204" pitchFamily="18" charset="0"/>
                          </a:rPr>
                        </m:ctrlPr>
                      </m:sSupPr>
                      <m:e>
                        <m:r>
                          <a:rPr lang="en-US" sz="2000" i="1">
                            <a:latin typeface="Cambria Math"/>
                          </a:rPr>
                          <m:t>2</m:t>
                        </m:r>
                      </m:e>
                      <m:sup>
                        <m:r>
                          <a:rPr lang="en-US" sz="2000" i="1">
                            <a:latin typeface="Cambria Math"/>
                          </a:rPr>
                          <m:t>𝑖</m:t>
                        </m:r>
                      </m:sup>
                    </m:sSup>
                  </m:oMath>
                </a14:m>
                <a:r>
                  <a:rPr lang="en-US" sz="2000" dirty="0"/>
                  <a:t>-bit position.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81200" y="1219201"/>
                <a:ext cx="8229600" cy="4525963"/>
              </a:xfrm>
              <a:blipFill>
                <a:blip r:embed="rId2"/>
                <a:stretch>
                  <a:fillRect l="-667" t="-1348"/>
                </a:stretch>
              </a:blipFill>
            </p:spPr>
            <p:txBody>
              <a:bodyPr/>
              <a:lstStyle/>
              <a:p>
                <a:r>
                  <a:rPr lang="en-IN">
                    <a:noFill/>
                  </a:rPr>
                  <a:t> </a:t>
                </a:r>
              </a:p>
            </p:txBody>
          </p:sp>
        </mc:Fallback>
      </mc:AlternateContent>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2343150" y="3524250"/>
            <a:ext cx="3086100" cy="2895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6791326" y="3181351"/>
            <a:ext cx="3057525" cy="3533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8793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Encoder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assumption that at most a single input to the encoder is asserted at any time is significant in its operation.</a:t>
                </a:r>
              </a:p>
              <a:p>
                <a:pPr lvl="1"/>
                <a:r>
                  <a:rPr lang="en-US" dirty="0"/>
                  <a:t>Example: Both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3</m:t>
                        </m:r>
                      </m:sub>
                    </m:sSub>
                    <m:r>
                      <a:rPr lang="en-US" b="0" i="1" smtClean="0">
                        <a:latin typeface="Cambria Math"/>
                      </a:rPr>
                      <m:t> (11)</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5</m:t>
                        </m:r>
                      </m:sub>
                    </m:sSub>
                    <m:r>
                      <a:rPr lang="en-US" b="0" i="1" smtClean="0">
                        <a:latin typeface="Cambria Math"/>
                      </a:rPr>
                      <m:t> (101)</m:t>
                    </m:r>
                  </m:oMath>
                </a14:m>
                <a:r>
                  <a:rPr lang="en-US" dirty="0"/>
                  <a:t> are asserted.  What is the output?</a:t>
                </a:r>
              </a:p>
              <a:p>
                <a:pPr lvl="1"/>
                <a14:m>
                  <m:oMath xmlns:m="http://schemas.openxmlformats.org/officeDocument/2006/math">
                    <m:r>
                      <a:rPr lang="en-US" b="0" i="1" smtClean="0">
                        <a:latin typeface="Cambria Math"/>
                      </a:rPr>
                      <m:t>111 </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7</m:t>
                            </m:r>
                          </m:sub>
                        </m:sSub>
                      </m:e>
                    </m:d>
                  </m:oMath>
                </a14:m>
                <a:endParaRPr lang="en-US" b="0" dirty="0"/>
              </a:p>
              <a:p>
                <a:r>
                  <a:rPr lang="en-US" dirty="0"/>
                  <a:t>Priority Encoder:</a:t>
                </a:r>
              </a:p>
              <a:p>
                <a:pPr lvl="1"/>
                <a:r>
                  <a:rPr lang="en-US" dirty="0"/>
                  <a:t>A priority scheme is assigned to the input lines so that whenever more than one input line is asserted at any time, the output is determined by the input line having the highest priority.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754"/>
                </a:stretch>
              </a:blipFill>
            </p:spPr>
            <p:txBody>
              <a:bodyPr/>
              <a:lstStyle/>
              <a:p>
                <a:r>
                  <a:rPr lang="en-IN">
                    <a:noFill/>
                  </a:rPr>
                  <a:t> </a:t>
                </a:r>
              </a:p>
            </p:txBody>
          </p:sp>
        </mc:Fallback>
      </mc:AlternateContent>
    </p:spTree>
    <p:extLst>
      <p:ext uri="{BB962C8B-B14F-4D97-AF65-F5344CB8AC3E}">
        <p14:creationId xmlns:p14="http://schemas.microsoft.com/office/powerpoint/2010/main" val="3688451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Encoder</a:t>
            </a:r>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4371473" y="-657726"/>
            <a:ext cx="3505200" cy="75638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2514600" y="5105401"/>
                <a:ext cx="7239000" cy="1499641"/>
              </a:xfrm>
              <a:prstGeom prst="rect">
                <a:avLst/>
              </a:prstGeom>
              <a:noFill/>
            </p:spPr>
            <p:txBody>
              <a:bodyPr wrap="square" rtlCol="0">
                <a:spAutoFit/>
              </a:bodyPr>
              <a:lstStyle/>
              <a:p>
                <a:r>
                  <a:rPr lang="en-US" dirty="0"/>
                  <a:t>The output is determined by the asserted input having the highest index.</a:t>
                </a:r>
              </a:p>
              <a:p>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𝑖</m:t>
                        </m:r>
                      </m:sub>
                    </m:sSub>
                  </m:oMath>
                </a14:m>
                <a:r>
                  <a:rPr lang="en-US" dirty="0"/>
                  <a:t> has higher priority than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𝑗</m:t>
                        </m:r>
                      </m:sub>
                    </m:sSub>
                  </m:oMath>
                </a14:m>
                <a:r>
                  <a:rPr lang="en-US" dirty="0"/>
                  <a:t> if </a:t>
                </a:r>
                <a14:m>
                  <m:oMath xmlns:m="http://schemas.openxmlformats.org/officeDocument/2006/math">
                    <m:r>
                      <a:rPr lang="en-US" i="1">
                        <a:latin typeface="Cambria Math"/>
                      </a:rPr>
                      <m:t>𝑖</m:t>
                    </m:r>
                    <m:r>
                      <a:rPr lang="en-US" i="1">
                        <a:latin typeface="Cambria Math"/>
                      </a:rPr>
                      <m:t>&gt;</m:t>
                    </m:r>
                    <m:r>
                      <a:rPr lang="en-US" i="1">
                        <a:latin typeface="Cambria Math"/>
                      </a:rPr>
                      <m:t>𝑗</m:t>
                    </m:r>
                    <m:r>
                      <a:rPr lang="en-US" i="1">
                        <a:latin typeface="Cambria Math"/>
                      </a:rPr>
                      <m:t>.</m:t>
                    </m:r>
                  </m:oMath>
                </a14:m>
                <a:endParaRPr lang="en-US" dirty="0"/>
              </a:p>
              <a:p>
                <a:r>
                  <a:rPr lang="en-US" dirty="0"/>
                  <a:t>“Valid” indicates that at least one input line is asserted.</a:t>
                </a:r>
              </a:p>
              <a:p>
                <a:r>
                  <a:rPr lang="en-US" dirty="0"/>
                  <a:t>This distinguishes the situation that no input line is asserted from when the </a:t>
                </a:r>
                <a14:m>
                  <m:oMath xmlns:m="http://schemas.openxmlformats.org/officeDocument/2006/math">
                    <m:sSub>
                      <m:sSubPr>
                        <m:ctrlPr>
                          <a:rPr lang="en-US" i="1">
                            <a:latin typeface="Cambria Math" panose="02040503050406030204" pitchFamily="18" charset="0"/>
                          </a:rPr>
                        </m:ctrlPr>
                      </m:sSubPr>
                      <m:e>
                        <m:r>
                          <a:rPr lang="en-US" i="1">
                            <a:latin typeface="Cambria Math"/>
                          </a:rPr>
                          <m:t>𝑥</m:t>
                        </m:r>
                      </m:e>
                      <m:sub>
                        <m:r>
                          <a:rPr lang="en-US" i="1">
                            <a:latin typeface="Cambria Math"/>
                          </a:rPr>
                          <m:t>0</m:t>
                        </m:r>
                      </m:sub>
                    </m:sSub>
                  </m:oMath>
                </a14:m>
                <a:r>
                  <a:rPr lang="en-US" dirty="0"/>
                  <a:t> input line is asserted, since in both cases </a:t>
                </a:r>
                <a14:m>
                  <m:oMath xmlns:m="http://schemas.openxmlformats.org/officeDocument/2006/math">
                    <m:sSub>
                      <m:sSubPr>
                        <m:ctrlPr>
                          <a:rPr lang="en-US" i="1">
                            <a:latin typeface="Cambria Math" panose="02040503050406030204" pitchFamily="18" charset="0"/>
                          </a:rPr>
                        </m:ctrlPr>
                      </m:sSubPr>
                      <m:e>
                        <m:r>
                          <a:rPr lang="en-US" i="1">
                            <a:latin typeface="Cambria Math"/>
                          </a:rPr>
                          <m:t>𝑧</m:t>
                        </m:r>
                      </m:e>
                      <m:sub>
                        <m:r>
                          <a:rPr lang="en-US" i="1">
                            <a:latin typeface="Cambria Math"/>
                          </a:rPr>
                          <m:t>2</m:t>
                        </m:r>
                      </m:sub>
                    </m:sSub>
                    <m:sSub>
                      <m:sSubPr>
                        <m:ctrlPr>
                          <a:rPr lang="en-US" i="1">
                            <a:latin typeface="Cambria Math" panose="02040503050406030204" pitchFamily="18" charset="0"/>
                          </a:rPr>
                        </m:ctrlPr>
                      </m:sSubPr>
                      <m:e>
                        <m:r>
                          <a:rPr lang="en-US" i="1">
                            <a:latin typeface="Cambria Math"/>
                          </a:rPr>
                          <m:t>𝑧</m:t>
                        </m:r>
                      </m:e>
                      <m:sub>
                        <m:r>
                          <a:rPr lang="en-US" i="1">
                            <a:latin typeface="Cambria Math"/>
                          </a:rPr>
                          <m:t>1</m:t>
                        </m:r>
                      </m:sub>
                    </m:sSub>
                    <m:sSub>
                      <m:sSubPr>
                        <m:ctrlPr>
                          <a:rPr lang="en-US" i="1">
                            <a:latin typeface="Cambria Math" panose="02040503050406030204" pitchFamily="18" charset="0"/>
                          </a:rPr>
                        </m:ctrlPr>
                      </m:sSubPr>
                      <m:e>
                        <m:r>
                          <a:rPr lang="en-US" i="1">
                            <a:latin typeface="Cambria Math"/>
                          </a:rPr>
                          <m:t>𝑧</m:t>
                        </m:r>
                      </m:e>
                      <m:sub>
                        <m:r>
                          <a:rPr lang="en-US" i="1">
                            <a:latin typeface="Cambria Math"/>
                          </a:rPr>
                          <m:t>0</m:t>
                        </m:r>
                      </m:sub>
                    </m:sSub>
                    <m:r>
                      <a:rPr lang="en-US">
                        <a:latin typeface="Cambria Math"/>
                      </a:rPr>
                      <m:t>=000.</m:t>
                    </m:r>
                  </m:oMath>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514600" y="5105401"/>
                <a:ext cx="7239000" cy="1499641"/>
              </a:xfrm>
              <a:prstGeom prst="rect">
                <a:avLst/>
              </a:prstGeom>
              <a:blipFill>
                <a:blip r:embed="rId3"/>
                <a:stretch>
                  <a:fillRect l="-758" t="-2439" r="-590" b="-5285"/>
                </a:stretch>
              </a:blipFill>
            </p:spPr>
            <p:txBody>
              <a:bodyPr/>
              <a:lstStyle/>
              <a:p>
                <a:r>
                  <a:rPr lang="en-IN">
                    <a:noFill/>
                  </a:rPr>
                  <a:t> </a:t>
                </a:r>
              </a:p>
            </p:txBody>
          </p:sp>
        </mc:Fallback>
      </mc:AlternateContent>
    </p:spTree>
    <p:extLst>
      <p:ext uri="{BB962C8B-B14F-4D97-AF65-F5344CB8AC3E}">
        <p14:creationId xmlns:p14="http://schemas.microsoft.com/office/powerpoint/2010/main" val="3971752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6EF6D7-E28E-4815-F305-35F069338CA1}"/>
              </a:ext>
            </a:extLst>
          </p:cNvPr>
          <p:cNvPicPr>
            <a:picLocks noChangeAspect="1"/>
          </p:cNvPicPr>
          <p:nvPr/>
        </p:nvPicPr>
        <p:blipFill>
          <a:blip r:embed="rId2"/>
          <a:srcRect/>
          <a:stretch>
            <a:fillRect/>
          </a:stretch>
        </p:blipFill>
        <p:spPr bwMode="auto">
          <a:xfrm rot="-7080000">
            <a:off x="409869" y="-75361"/>
            <a:ext cx="2205752" cy="2888950"/>
          </a:xfrm>
          <a:prstGeom prst="rect">
            <a:avLst/>
          </a:prstGeom>
          <a:noFill/>
          <a:ln w="9525">
            <a:noFill/>
            <a:miter lim="800000"/>
            <a:headEnd/>
            <a:tailEnd/>
          </a:ln>
        </p:spPr>
      </p:pic>
      <p:pic>
        <p:nvPicPr>
          <p:cNvPr id="5" name="Picture 4">
            <a:extLst>
              <a:ext uri="{FF2B5EF4-FFF2-40B4-BE49-F238E27FC236}">
                <a16:creationId xmlns:a16="http://schemas.microsoft.com/office/drawing/2014/main" id="{8F91495E-6384-702C-90DB-F8FEBCD5933D}"/>
              </a:ext>
            </a:extLst>
          </p:cNvPr>
          <p:cNvPicPr>
            <a:picLocks noChangeAspect="1"/>
          </p:cNvPicPr>
          <p:nvPr/>
        </p:nvPicPr>
        <p:blipFill>
          <a:blip r:embed="rId3"/>
          <a:stretch>
            <a:fillRect/>
          </a:stretch>
        </p:blipFill>
        <p:spPr>
          <a:xfrm>
            <a:off x="3077307" y="847295"/>
            <a:ext cx="4709408" cy="5816991"/>
          </a:xfrm>
          <a:prstGeom prst="rect">
            <a:avLst/>
          </a:prstGeom>
        </p:spPr>
      </p:pic>
      <p:pic>
        <p:nvPicPr>
          <p:cNvPr id="6" name="Picture 4" descr="Image result for 74147">
            <a:extLst>
              <a:ext uri="{FF2B5EF4-FFF2-40B4-BE49-F238E27FC236}">
                <a16:creationId xmlns:a16="http://schemas.microsoft.com/office/drawing/2014/main" id="{0C39F073-FB8B-C8B7-12DC-C2C3F93D57C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968" y="3021036"/>
            <a:ext cx="2729132" cy="346481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A943242-AE6F-CBD6-CB04-C6B6E15EACBC}"/>
              </a:ext>
            </a:extLst>
          </p:cNvPr>
          <p:cNvSpPr txBox="1"/>
          <p:nvPr/>
        </p:nvSpPr>
        <p:spPr>
          <a:xfrm>
            <a:off x="8449409" y="1215800"/>
            <a:ext cx="3385623" cy="4870692"/>
          </a:xfrm>
          <a:prstGeom prst="rect">
            <a:avLst/>
          </a:prstGeom>
          <a:noFill/>
        </p:spPr>
        <p:txBody>
          <a:bodyPr wrap="square">
            <a:spAutoFit/>
          </a:bodyPr>
          <a:lstStyle/>
          <a:p>
            <a:pPr marR="85090" algn="just">
              <a:lnSpc>
                <a:spcPct val="115000"/>
              </a:lnSpc>
              <a:spcAft>
                <a:spcPts val="120"/>
              </a:spcAft>
              <a:tabLst>
                <a:tab pos="6000750" algn="l"/>
              </a:tabLst>
            </a:pPr>
            <a:r>
              <a:rPr lang="en-US" dirty="0">
                <a:solidFill>
                  <a:srgbClr val="002060"/>
                </a:solidFill>
                <a:effectLst/>
                <a:latin typeface="Times New Roman" panose="02020603050405020304" pitchFamily="18" charset="0"/>
                <a:ea typeface="Times New Roman" panose="02020603050405020304" pitchFamily="18" charset="0"/>
              </a:rPr>
              <a:t>A</a:t>
            </a:r>
            <a:r>
              <a:rPr lang="en-US" spc="26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priori</a:t>
            </a:r>
            <a:r>
              <a:rPr lang="en-US" spc="5" dirty="0">
                <a:solidFill>
                  <a:srgbClr val="002060"/>
                </a:solidFill>
                <a:effectLst/>
                <a:latin typeface="Times New Roman" panose="02020603050405020304" pitchFamily="18" charset="0"/>
                <a:ea typeface="Times New Roman" panose="02020603050405020304" pitchFamily="18" charset="0"/>
              </a:rPr>
              <a:t>t</a:t>
            </a:r>
            <a:r>
              <a:rPr lang="en-US" dirty="0">
                <a:solidFill>
                  <a:srgbClr val="002060"/>
                </a:solidFill>
                <a:effectLst/>
                <a:latin typeface="Times New Roman" panose="02020603050405020304" pitchFamily="18" charset="0"/>
                <a:ea typeface="Times New Roman" panose="02020603050405020304" pitchFamily="18" charset="0"/>
              </a:rPr>
              <a:t>y</a:t>
            </a:r>
            <a:r>
              <a:rPr lang="en-US" spc="28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is</a:t>
            </a:r>
            <a:r>
              <a:rPr lang="en-US" spc="26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assi</a:t>
            </a:r>
            <a:r>
              <a:rPr lang="en-US" spc="5" dirty="0">
                <a:solidFill>
                  <a:srgbClr val="002060"/>
                </a:solidFill>
                <a:effectLst/>
                <a:latin typeface="Times New Roman" panose="02020603050405020304" pitchFamily="18" charset="0"/>
                <a:ea typeface="Times New Roman" panose="02020603050405020304" pitchFamily="18" charset="0"/>
              </a:rPr>
              <a:t>g</a:t>
            </a:r>
            <a:r>
              <a:rPr lang="en-US" dirty="0">
                <a:solidFill>
                  <a:srgbClr val="002060"/>
                </a:solidFill>
                <a:effectLst/>
                <a:latin typeface="Times New Roman" panose="02020603050405020304" pitchFamily="18" charset="0"/>
                <a:ea typeface="Times New Roman" panose="02020603050405020304" pitchFamily="18" charset="0"/>
              </a:rPr>
              <a:t>ned</a:t>
            </a:r>
            <a:r>
              <a:rPr lang="en-US" spc="27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to</a:t>
            </a:r>
            <a:r>
              <a:rPr lang="en-US" spc="26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each</a:t>
            </a:r>
            <a:r>
              <a:rPr lang="en-US" spc="27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input</a:t>
            </a:r>
            <a:r>
              <a:rPr lang="en-US" spc="27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so</a:t>
            </a:r>
            <a:r>
              <a:rPr lang="en-US" spc="27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that</a:t>
            </a:r>
            <a:r>
              <a:rPr lang="en-US" spc="27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when</a:t>
            </a:r>
            <a:r>
              <a:rPr lang="en-US" spc="27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tw</a:t>
            </a:r>
            <a:r>
              <a:rPr lang="en-US" spc="15" dirty="0">
                <a:solidFill>
                  <a:srgbClr val="002060"/>
                </a:solidFill>
                <a:effectLst/>
                <a:latin typeface="Times New Roman" panose="02020603050405020304" pitchFamily="18" charset="0"/>
                <a:ea typeface="Times New Roman" panose="02020603050405020304" pitchFamily="18" charset="0"/>
              </a:rPr>
              <a:t>o</a:t>
            </a:r>
            <a:r>
              <a:rPr lang="en-US" spc="27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or</a:t>
            </a:r>
            <a:r>
              <a:rPr lang="en-US" spc="26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more</a:t>
            </a:r>
            <a:r>
              <a:rPr lang="en-US" spc="27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inpu</a:t>
            </a:r>
            <a:r>
              <a:rPr lang="en-US" spc="15" dirty="0">
                <a:solidFill>
                  <a:srgbClr val="002060"/>
                </a:solidFill>
                <a:effectLst/>
                <a:latin typeface="Times New Roman" panose="02020603050405020304" pitchFamily="18" charset="0"/>
                <a:ea typeface="Times New Roman" panose="02020603050405020304" pitchFamily="18" charset="0"/>
              </a:rPr>
              <a:t>t</a:t>
            </a:r>
            <a:r>
              <a:rPr lang="en-US" dirty="0">
                <a:solidFill>
                  <a:srgbClr val="002060"/>
                </a:solidFill>
                <a:effectLst/>
                <a:latin typeface="Times New Roman" panose="02020603050405020304" pitchFamily="18" charset="0"/>
                <a:ea typeface="Times New Roman" panose="02020603050405020304" pitchFamily="18" charset="0"/>
              </a:rPr>
              <a:t>s</a:t>
            </a:r>
            <a:r>
              <a:rPr lang="en-US" spc="27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are s</a:t>
            </a:r>
            <a:r>
              <a:rPr lang="en-US" spc="5" dirty="0">
                <a:solidFill>
                  <a:srgbClr val="002060"/>
                </a:solidFill>
                <a:effectLst/>
                <a:latin typeface="Times New Roman" panose="02020603050405020304" pitchFamily="18" charset="0"/>
                <a:ea typeface="Times New Roman" panose="02020603050405020304" pitchFamily="18" charset="0"/>
              </a:rPr>
              <a:t>i</a:t>
            </a:r>
            <a:r>
              <a:rPr lang="en-US" dirty="0">
                <a:solidFill>
                  <a:srgbClr val="002060"/>
                </a:solidFill>
                <a:effectLst/>
                <a:latin typeface="Times New Roman" panose="02020603050405020304" pitchFamily="18" charset="0"/>
                <a:ea typeface="Times New Roman" panose="02020603050405020304" pitchFamily="18" charset="0"/>
              </a:rPr>
              <a:t>multane</a:t>
            </a:r>
            <a:r>
              <a:rPr lang="en-US" spc="15" dirty="0">
                <a:solidFill>
                  <a:srgbClr val="002060"/>
                </a:solidFill>
                <a:effectLst/>
                <a:latin typeface="Times New Roman" panose="02020603050405020304" pitchFamily="18" charset="0"/>
                <a:ea typeface="Times New Roman" panose="02020603050405020304" pitchFamily="18" charset="0"/>
              </a:rPr>
              <a:t>o</a:t>
            </a:r>
            <a:r>
              <a:rPr lang="en-US" dirty="0">
                <a:solidFill>
                  <a:srgbClr val="002060"/>
                </a:solidFill>
                <a:effectLst/>
                <a:latin typeface="Times New Roman" panose="02020603050405020304" pitchFamily="18" charset="0"/>
                <a:ea typeface="Times New Roman" panose="02020603050405020304" pitchFamily="18" charset="0"/>
              </a:rPr>
              <a:t>us</a:t>
            </a:r>
            <a:r>
              <a:rPr lang="en-US" spc="35" dirty="0">
                <a:solidFill>
                  <a:srgbClr val="002060"/>
                </a:solidFill>
                <a:effectLst/>
                <a:latin typeface="Times New Roman" panose="02020603050405020304" pitchFamily="18" charset="0"/>
                <a:ea typeface="Times New Roman" panose="02020603050405020304" pitchFamily="18" charset="0"/>
              </a:rPr>
              <a:t>l</a:t>
            </a:r>
            <a:r>
              <a:rPr lang="en-US" dirty="0">
                <a:solidFill>
                  <a:srgbClr val="002060"/>
                </a:solidFill>
                <a:effectLst/>
                <a:latin typeface="Times New Roman" panose="02020603050405020304" pitchFamily="18" charset="0"/>
                <a:ea typeface="Times New Roman" panose="02020603050405020304" pitchFamily="18" charset="0"/>
              </a:rPr>
              <a:t>y</a:t>
            </a:r>
            <a:r>
              <a:rPr lang="en-US" spc="31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active</a:t>
            </a:r>
            <a:r>
              <a:rPr lang="en-US" spc="20" dirty="0">
                <a:solidFill>
                  <a:srgbClr val="002060"/>
                </a:solidFill>
                <a:effectLst/>
                <a:latin typeface="Times New Roman" panose="02020603050405020304" pitchFamily="18" charset="0"/>
                <a:ea typeface="Times New Roman" panose="02020603050405020304" pitchFamily="18" charset="0"/>
              </a:rPr>
              <a:t>,</a:t>
            </a:r>
            <a:r>
              <a:rPr lang="en-US" spc="31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the</a:t>
            </a:r>
            <a:r>
              <a:rPr lang="en-US" spc="32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input</a:t>
            </a:r>
            <a:r>
              <a:rPr lang="en-US" spc="32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with</a:t>
            </a:r>
            <a:r>
              <a:rPr lang="en-US" spc="32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the</a:t>
            </a:r>
            <a:r>
              <a:rPr lang="en-US" spc="32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h</a:t>
            </a:r>
            <a:r>
              <a:rPr lang="en-US" spc="10" dirty="0">
                <a:solidFill>
                  <a:srgbClr val="002060"/>
                </a:solidFill>
                <a:effectLst/>
                <a:latin typeface="Times New Roman" panose="02020603050405020304" pitchFamily="18" charset="0"/>
                <a:ea typeface="Times New Roman" panose="02020603050405020304" pitchFamily="18" charset="0"/>
              </a:rPr>
              <a:t>i</a:t>
            </a:r>
            <a:r>
              <a:rPr lang="en-US" dirty="0">
                <a:solidFill>
                  <a:srgbClr val="002060"/>
                </a:solidFill>
                <a:effectLst/>
                <a:latin typeface="Times New Roman" panose="02020603050405020304" pitchFamily="18" charset="0"/>
                <a:ea typeface="Times New Roman" panose="02020603050405020304" pitchFamily="18" charset="0"/>
              </a:rPr>
              <a:t>ghest</a:t>
            </a:r>
            <a:r>
              <a:rPr lang="en-US" spc="32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priori</a:t>
            </a:r>
            <a:r>
              <a:rPr lang="en-US" spc="30" dirty="0">
                <a:solidFill>
                  <a:srgbClr val="002060"/>
                </a:solidFill>
                <a:effectLst/>
                <a:latin typeface="Times New Roman" panose="02020603050405020304" pitchFamily="18" charset="0"/>
                <a:ea typeface="Times New Roman" panose="02020603050405020304" pitchFamily="18" charset="0"/>
              </a:rPr>
              <a:t>t</a:t>
            </a:r>
            <a:r>
              <a:rPr lang="en-US" dirty="0">
                <a:solidFill>
                  <a:srgbClr val="002060"/>
                </a:solidFill>
                <a:effectLst/>
                <a:latin typeface="Times New Roman" panose="02020603050405020304" pitchFamily="18" charset="0"/>
                <a:ea typeface="Times New Roman" panose="02020603050405020304" pitchFamily="18" charset="0"/>
              </a:rPr>
              <a:t>y</a:t>
            </a:r>
            <a:r>
              <a:rPr lang="en-US" spc="33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is</a:t>
            </a:r>
            <a:r>
              <a:rPr lang="en-US" spc="33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rep</a:t>
            </a:r>
            <a:r>
              <a:rPr lang="en-US" spc="20" dirty="0">
                <a:solidFill>
                  <a:srgbClr val="002060"/>
                </a:solidFill>
                <a:effectLst/>
                <a:latin typeface="Times New Roman" panose="02020603050405020304" pitchFamily="18" charset="0"/>
                <a:ea typeface="Times New Roman" panose="02020603050405020304" pitchFamily="18" charset="0"/>
              </a:rPr>
              <a:t>r</a:t>
            </a:r>
            <a:r>
              <a:rPr lang="en-US" dirty="0">
                <a:solidFill>
                  <a:srgbClr val="002060"/>
                </a:solidFill>
                <a:effectLst/>
                <a:latin typeface="Times New Roman" panose="02020603050405020304" pitchFamily="18" charset="0"/>
                <a:ea typeface="Times New Roman" panose="02020603050405020304" pitchFamily="18" charset="0"/>
              </a:rPr>
              <a:t>e</a:t>
            </a:r>
            <a:r>
              <a:rPr lang="en-US" spc="20" dirty="0">
                <a:solidFill>
                  <a:srgbClr val="002060"/>
                </a:solidFill>
                <a:effectLst/>
                <a:latin typeface="Times New Roman" panose="02020603050405020304" pitchFamily="18" charset="0"/>
                <a:ea typeface="Times New Roman" panose="02020603050405020304" pitchFamily="18" charset="0"/>
              </a:rPr>
              <a:t>s</a:t>
            </a:r>
            <a:r>
              <a:rPr lang="en-US" dirty="0">
                <a:solidFill>
                  <a:srgbClr val="002060"/>
                </a:solidFill>
                <a:effectLst/>
                <a:latin typeface="Times New Roman" panose="02020603050405020304" pitchFamily="18" charset="0"/>
                <a:ea typeface="Times New Roman" panose="02020603050405020304" pitchFamily="18" charset="0"/>
              </a:rPr>
              <a:t>ented</a:t>
            </a:r>
            <a:r>
              <a:rPr lang="en-US" spc="33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on</a:t>
            </a:r>
            <a:r>
              <a:rPr lang="en-US" spc="32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the</a:t>
            </a:r>
            <a:r>
              <a:rPr lang="en-US" spc="33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output, with</a:t>
            </a:r>
            <a:r>
              <a:rPr lang="en-US" spc="17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inp</a:t>
            </a:r>
            <a:r>
              <a:rPr lang="en-US" spc="10" dirty="0">
                <a:solidFill>
                  <a:srgbClr val="002060"/>
                </a:solidFill>
                <a:effectLst/>
                <a:latin typeface="Times New Roman" panose="02020603050405020304" pitchFamily="18" charset="0"/>
                <a:ea typeface="Times New Roman" panose="02020603050405020304" pitchFamily="18" charset="0"/>
              </a:rPr>
              <a:t>u</a:t>
            </a:r>
            <a:r>
              <a:rPr lang="en-US" dirty="0">
                <a:solidFill>
                  <a:srgbClr val="002060"/>
                </a:solidFill>
                <a:effectLst/>
                <a:latin typeface="Times New Roman" panose="02020603050405020304" pitchFamily="18" charset="0"/>
                <a:ea typeface="Times New Roman" panose="02020603050405020304" pitchFamily="18" charset="0"/>
              </a:rPr>
              <a:t>t</a:t>
            </a:r>
            <a:r>
              <a:rPr lang="en-US" spc="18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line</a:t>
            </a:r>
            <a:r>
              <a:rPr lang="en-US" spc="220" dirty="0">
                <a:solidFill>
                  <a:srgbClr val="002060"/>
                </a:solidFill>
                <a:effectLst/>
                <a:latin typeface="Times New Roman" panose="02020603050405020304" pitchFamily="18" charset="0"/>
                <a:ea typeface="Times New Roman" panose="02020603050405020304" pitchFamily="18" charset="0"/>
              </a:rPr>
              <a:t> </a:t>
            </a:r>
            <a:r>
              <a:rPr lang="en-US" spc="220" dirty="0">
                <a:solidFill>
                  <a:srgbClr val="002060"/>
                </a:solidFill>
                <a:latin typeface="Times New Roman" panose="02020603050405020304" pitchFamily="18" charset="0"/>
                <a:ea typeface="Times New Roman" panose="02020603050405020304" pitchFamily="18" charset="0"/>
              </a:rPr>
              <a:t>9,</a:t>
            </a:r>
            <a:r>
              <a:rPr lang="en-US" spc="18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h</a:t>
            </a:r>
            <a:r>
              <a:rPr lang="en-US" spc="25" dirty="0">
                <a:solidFill>
                  <a:srgbClr val="002060"/>
                </a:solidFill>
                <a:effectLst/>
                <a:latin typeface="Times New Roman" panose="02020603050405020304" pitchFamily="18" charset="0"/>
                <a:ea typeface="Times New Roman" panose="02020603050405020304" pitchFamily="18" charset="0"/>
              </a:rPr>
              <a:t>a</a:t>
            </a:r>
            <a:r>
              <a:rPr lang="en-US" spc="20" dirty="0">
                <a:solidFill>
                  <a:srgbClr val="002060"/>
                </a:solidFill>
                <a:effectLst/>
                <a:latin typeface="Times New Roman" panose="02020603050405020304" pitchFamily="18" charset="0"/>
                <a:ea typeface="Times New Roman" panose="02020603050405020304" pitchFamily="18" charset="0"/>
              </a:rPr>
              <a:t>v</a:t>
            </a:r>
            <a:r>
              <a:rPr lang="en-US" dirty="0">
                <a:solidFill>
                  <a:srgbClr val="002060"/>
                </a:solidFill>
                <a:effectLst/>
                <a:latin typeface="Times New Roman" panose="02020603050405020304" pitchFamily="18" charset="0"/>
                <a:ea typeface="Times New Roman" panose="02020603050405020304" pitchFamily="18" charset="0"/>
              </a:rPr>
              <a:t>ing</a:t>
            </a:r>
            <a:r>
              <a:rPr lang="en-US" spc="19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the</a:t>
            </a:r>
            <a:r>
              <a:rPr lang="en-US" spc="195" dirty="0">
                <a:solidFill>
                  <a:srgbClr val="002060"/>
                </a:solidFill>
                <a:effectLst/>
                <a:latin typeface="Times New Roman" panose="02020603050405020304" pitchFamily="18" charset="0"/>
                <a:ea typeface="Times New Roman" panose="02020603050405020304" pitchFamily="18" charset="0"/>
              </a:rPr>
              <a:t> </a:t>
            </a:r>
            <a:r>
              <a:rPr lang="en-US" spc="20" dirty="0">
                <a:solidFill>
                  <a:srgbClr val="002060"/>
                </a:solidFill>
                <a:effectLst/>
                <a:latin typeface="Times New Roman" panose="02020603050405020304" pitchFamily="18" charset="0"/>
                <a:ea typeface="Times New Roman" panose="02020603050405020304" pitchFamily="18" charset="0"/>
              </a:rPr>
              <a:t>h</a:t>
            </a:r>
            <a:r>
              <a:rPr lang="en-US" dirty="0">
                <a:solidFill>
                  <a:srgbClr val="002060"/>
                </a:solidFill>
                <a:effectLst/>
                <a:latin typeface="Times New Roman" panose="02020603050405020304" pitchFamily="18" charset="0"/>
                <a:ea typeface="Times New Roman" panose="02020603050405020304" pitchFamily="18" charset="0"/>
              </a:rPr>
              <a:t>ighest</a:t>
            </a:r>
            <a:r>
              <a:rPr lang="en-US" spc="21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priori</a:t>
            </a:r>
            <a:r>
              <a:rPr lang="en-US" spc="50" dirty="0">
                <a:solidFill>
                  <a:srgbClr val="002060"/>
                </a:solidFill>
                <a:effectLst/>
                <a:latin typeface="Times New Roman" panose="02020603050405020304" pitchFamily="18" charset="0"/>
                <a:ea typeface="Times New Roman" panose="02020603050405020304" pitchFamily="18" charset="0"/>
              </a:rPr>
              <a:t>t</a:t>
            </a:r>
            <a:r>
              <a:rPr lang="en-US" dirty="0">
                <a:solidFill>
                  <a:srgbClr val="002060"/>
                </a:solidFill>
                <a:effectLst/>
                <a:latin typeface="Times New Roman" panose="02020603050405020304" pitchFamily="18" charset="0"/>
                <a:ea typeface="Times New Roman" panose="02020603050405020304" pitchFamily="18" charset="0"/>
              </a:rPr>
              <a:t>y.</a:t>
            </a:r>
            <a:r>
              <a:rPr lang="en-US" spc="95" dirty="0">
                <a:solidFill>
                  <a:srgbClr val="002060"/>
                </a:solidFill>
                <a:effectLst/>
                <a:latin typeface="Times New Roman" panose="02020603050405020304" pitchFamily="18" charset="0"/>
                <a:ea typeface="Times New Roman" panose="02020603050405020304" pitchFamily="18" charset="0"/>
              </a:rPr>
              <a:t> </a:t>
            </a:r>
          </a:p>
          <a:p>
            <a:pPr marR="85090" algn="just">
              <a:lnSpc>
                <a:spcPct val="115000"/>
              </a:lnSpc>
              <a:spcAft>
                <a:spcPts val="120"/>
              </a:spcAft>
              <a:tabLst>
                <a:tab pos="6000750" algn="l"/>
              </a:tabLst>
            </a:pPr>
            <a:endParaRPr lang="en-US" spc="95" dirty="0">
              <a:solidFill>
                <a:srgbClr val="002060"/>
              </a:solidFill>
              <a:latin typeface="Times New Roman" panose="02020603050405020304" pitchFamily="18" charset="0"/>
              <a:ea typeface="Times New Roman" panose="02020603050405020304" pitchFamily="18" charset="0"/>
            </a:endParaRPr>
          </a:p>
          <a:p>
            <a:pPr marR="85090" algn="just">
              <a:lnSpc>
                <a:spcPct val="115000"/>
              </a:lnSpc>
              <a:spcAft>
                <a:spcPts val="120"/>
              </a:spcAft>
              <a:tabLst>
                <a:tab pos="6000750" algn="l"/>
              </a:tabLst>
            </a:pPr>
            <a:r>
              <a:rPr lang="en-US" dirty="0">
                <a:solidFill>
                  <a:srgbClr val="002060"/>
                </a:solidFill>
                <a:effectLst/>
                <a:latin typeface="Times New Roman" panose="02020603050405020304" pitchFamily="18" charset="0"/>
                <a:ea typeface="Times New Roman" panose="02020603050405020304" pitchFamily="18" charset="0"/>
              </a:rPr>
              <a:t>The</a:t>
            </a:r>
            <a:r>
              <a:rPr lang="en-US" spc="17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de</a:t>
            </a:r>
            <a:r>
              <a:rPr lang="en-US" spc="30" dirty="0">
                <a:solidFill>
                  <a:srgbClr val="002060"/>
                </a:solidFill>
                <a:effectLst/>
                <a:latin typeface="Times New Roman" panose="02020603050405020304" pitchFamily="18" charset="0"/>
                <a:ea typeface="Times New Roman" panose="02020603050405020304" pitchFamily="18" charset="0"/>
              </a:rPr>
              <a:t>v</a:t>
            </a:r>
            <a:r>
              <a:rPr lang="en-US" dirty="0">
                <a:solidFill>
                  <a:srgbClr val="002060"/>
                </a:solidFill>
                <a:effectLst/>
                <a:latin typeface="Times New Roman" panose="02020603050405020304" pitchFamily="18" charset="0"/>
                <a:ea typeface="Times New Roman" panose="02020603050405020304" pitchFamily="18" charset="0"/>
              </a:rPr>
              <a:t>ice</a:t>
            </a:r>
            <a:r>
              <a:rPr lang="en-US" spc="18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p</a:t>
            </a:r>
            <a:r>
              <a:rPr lang="en-US" spc="20" dirty="0">
                <a:solidFill>
                  <a:srgbClr val="002060"/>
                </a:solidFill>
                <a:effectLst/>
                <a:latin typeface="Times New Roman" panose="02020603050405020304" pitchFamily="18" charset="0"/>
                <a:ea typeface="Times New Roman" panose="02020603050405020304" pitchFamily="18" charset="0"/>
              </a:rPr>
              <a:t>r</a:t>
            </a:r>
            <a:r>
              <a:rPr lang="en-US" dirty="0">
                <a:solidFill>
                  <a:srgbClr val="002060"/>
                </a:solidFill>
                <a:effectLst/>
                <a:latin typeface="Times New Roman" panose="02020603050405020304" pitchFamily="18" charset="0"/>
                <a:ea typeface="Times New Roman" panose="02020603050405020304" pitchFamily="18" charset="0"/>
              </a:rPr>
              <a:t>ovide</a:t>
            </a:r>
            <a:r>
              <a:rPr lang="en-US" spc="195" dirty="0">
                <a:solidFill>
                  <a:srgbClr val="002060"/>
                </a:solidFill>
                <a:effectLst/>
                <a:latin typeface="Times New Roman" panose="02020603050405020304" pitchFamily="18" charset="0"/>
                <a:ea typeface="Times New Roman" panose="02020603050405020304" pitchFamily="18" charset="0"/>
              </a:rPr>
              <a:t> </a:t>
            </a:r>
            <a:r>
              <a:rPr lang="en-US" spc="20" dirty="0">
                <a:solidFill>
                  <a:srgbClr val="002060"/>
                </a:solidFill>
                <a:effectLst/>
                <a:latin typeface="Times New Roman" panose="02020603050405020304" pitchFamily="18" charset="0"/>
                <a:ea typeface="Times New Roman" panose="02020603050405020304" pitchFamily="18" charset="0"/>
              </a:rPr>
              <a:t>t</a:t>
            </a:r>
            <a:r>
              <a:rPr lang="en-US" dirty="0">
                <a:solidFill>
                  <a:srgbClr val="002060"/>
                </a:solidFill>
                <a:effectLst/>
                <a:latin typeface="Times New Roman" panose="02020603050405020304" pitchFamily="18" charset="0"/>
                <a:ea typeface="Times New Roman" panose="02020603050405020304" pitchFamily="18" charset="0"/>
              </a:rPr>
              <a:t>he</a:t>
            </a:r>
            <a:r>
              <a:rPr lang="en-US" spc="19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to</a:t>
            </a:r>
            <a:r>
              <a:rPr lang="en-US" spc="195" dirty="0">
                <a:solidFill>
                  <a:srgbClr val="002060"/>
                </a:solidFill>
                <a:effectLst/>
                <a:latin typeface="Times New Roman" panose="02020603050405020304" pitchFamily="18" charset="0"/>
                <a:ea typeface="Times New Roman" panose="02020603050405020304" pitchFamily="18" charset="0"/>
              </a:rPr>
              <a:t> </a:t>
            </a:r>
            <a:r>
              <a:rPr lang="en-US" spc="75" dirty="0">
                <a:solidFill>
                  <a:srgbClr val="002060"/>
                </a:solidFill>
                <a:effectLst/>
                <a:latin typeface="Times New Roman" panose="02020603050405020304" pitchFamily="18" charset="0"/>
                <a:ea typeface="Times New Roman" panose="02020603050405020304" pitchFamily="18" charset="0"/>
              </a:rPr>
              <a:t>4</a:t>
            </a:r>
            <a:r>
              <a:rPr lang="en-US" dirty="0">
                <a:solidFill>
                  <a:srgbClr val="002060"/>
                </a:solidFill>
                <a:effectLst/>
                <a:latin typeface="Times New Roman" panose="02020603050405020304" pitchFamily="18" charset="0"/>
                <a:ea typeface="Times New Roman" panose="02020603050405020304" pitchFamily="18" charset="0"/>
              </a:rPr>
              <a:t>-l</a:t>
            </a:r>
            <a:r>
              <a:rPr lang="en-US" spc="20" dirty="0">
                <a:solidFill>
                  <a:srgbClr val="002060"/>
                </a:solidFill>
                <a:effectLst/>
                <a:latin typeface="Times New Roman" panose="02020603050405020304" pitchFamily="18" charset="0"/>
                <a:ea typeface="Times New Roman" panose="02020603050405020304" pitchFamily="18" charset="0"/>
              </a:rPr>
              <a:t>i</a:t>
            </a:r>
            <a:r>
              <a:rPr lang="en-US" dirty="0">
                <a:solidFill>
                  <a:srgbClr val="002060"/>
                </a:solidFill>
                <a:effectLst/>
                <a:latin typeface="Times New Roman" panose="02020603050405020304" pitchFamily="18" charset="0"/>
                <a:ea typeface="Times New Roman" panose="02020603050405020304" pitchFamily="18" charset="0"/>
              </a:rPr>
              <a:t>ne</a:t>
            </a:r>
            <a:r>
              <a:rPr lang="en-US" spc="19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pri</a:t>
            </a:r>
            <a:r>
              <a:rPr lang="en-US" spc="20" dirty="0">
                <a:solidFill>
                  <a:srgbClr val="002060"/>
                </a:solidFill>
                <a:effectLst/>
                <a:latin typeface="Times New Roman" panose="02020603050405020304" pitchFamily="18" charset="0"/>
                <a:ea typeface="Times New Roman" panose="02020603050405020304" pitchFamily="18" charset="0"/>
              </a:rPr>
              <a:t>o</a:t>
            </a:r>
            <a:r>
              <a:rPr lang="en-US" dirty="0">
                <a:solidFill>
                  <a:srgbClr val="002060"/>
                </a:solidFill>
                <a:effectLst/>
                <a:latin typeface="Times New Roman" panose="02020603050405020304" pitchFamily="18" charset="0"/>
                <a:ea typeface="Times New Roman" panose="02020603050405020304" pitchFamily="18" charset="0"/>
              </a:rPr>
              <a:t>ri</a:t>
            </a:r>
            <a:r>
              <a:rPr lang="en-US" spc="45" dirty="0">
                <a:solidFill>
                  <a:srgbClr val="002060"/>
                </a:solidFill>
                <a:effectLst/>
                <a:latin typeface="Times New Roman" panose="02020603050405020304" pitchFamily="18" charset="0"/>
                <a:ea typeface="Times New Roman" panose="02020603050405020304" pitchFamily="18" charset="0"/>
              </a:rPr>
              <a:t>t</a:t>
            </a:r>
            <a:r>
              <a:rPr lang="en-US" dirty="0">
                <a:solidFill>
                  <a:srgbClr val="002060"/>
                </a:solidFill>
                <a:effectLst/>
                <a:latin typeface="Times New Roman" panose="02020603050405020304" pitchFamily="18" charset="0"/>
                <a:ea typeface="Times New Roman" panose="02020603050405020304" pitchFamily="18" charset="0"/>
              </a:rPr>
              <a:t>y encoding</a:t>
            </a:r>
            <a:r>
              <a:rPr lang="en-US" spc="195" dirty="0">
                <a:solidFill>
                  <a:srgbClr val="002060"/>
                </a:solidFill>
                <a:effectLst/>
                <a:latin typeface="Times New Roman" panose="02020603050405020304" pitchFamily="18" charset="0"/>
                <a:ea typeface="Times New Roman" panose="02020603050405020304" pitchFamily="18" charset="0"/>
              </a:rPr>
              <a:t> </a:t>
            </a:r>
            <a:r>
              <a:rPr lang="en-US" spc="10" dirty="0">
                <a:solidFill>
                  <a:srgbClr val="002060"/>
                </a:solidFill>
                <a:effectLst/>
                <a:latin typeface="Times New Roman" panose="02020603050405020304" pitchFamily="18" charset="0"/>
                <a:ea typeface="Times New Roman" panose="02020603050405020304" pitchFamily="18" charset="0"/>
              </a:rPr>
              <a:t>f</a:t>
            </a:r>
            <a:r>
              <a:rPr lang="en-US" dirty="0">
                <a:solidFill>
                  <a:srgbClr val="002060"/>
                </a:solidFill>
                <a:effectLst/>
                <a:latin typeface="Times New Roman" panose="02020603050405020304" pitchFamily="18" charset="0"/>
                <a:ea typeface="Times New Roman" panose="02020603050405020304" pitchFamily="18" charset="0"/>
              </a:rPr>
              <a:t>unction</a:t>
            </a:r>
            <a:r>
              <a:rPr lang="en-US" spc="200" dirty="0">
                <a:solidFill>
                  <a:srgbClr val="002060"/>
                </a:solidFill>
                <a:effectLst/>
                <a:latin typeface="Times New Roman" panose="02020603050405020304" pitchFamily="18" charset="0"/>
                <a:ea typeface="Times New Roman" panose="02020603050405020304" pitchFamily="18" charset="0"/>
              </a:rPr>
              <a:t> </a:t>
            </a:r>
            <a:r>
              <a:rPr lang="en-US" spc="35" dirty="0">
                <a:solidFill>
                  <a:srgbClr val="002060"/>
                </a:solidFill>
                <a:effectLst/>
                <a:latin typeface="Times New Roman" panose="02020603050405020304" pitchFamily="18" charset="0"/>
                <a:ea typeface="Times New Roman" panose="02020603050405020304" pitchFamily="18" charset="0"/>
              </a:rPr>
              <a:t>b</a:t>
            </a:r>
            <a:r>
              <a:rPr lang="en-US" dirty="0">
                <a:solidFill>
                  <a:srgbClr val="002060"/>
                </a:solidFill>
                <a:effectLst/>
                <a:latin typeface="Times New Roman" panose="02020603050405020304" pitchFamily="18" charset="0"/>
                <a:ea typeface="Times New Roman" panose="02020603050405020304" pitchFamily="18" charset="0"/>
              </a:rPr>
              <a:t>y</a:t>
            </a:r>
            <a:r>
              <a:rPr lang="en-US" spc="195" dirty="0">
                <a:solidFill>
                  <a:srgbClr val="002060"/>
                </a:solidFill>
                <a:effectLst/>
                <a:latin typeface="Times New Roman" panose="02020603050405020304" pitchFamily="18" charset="0"/>
                <a:ea typeface="Times New Roman" panose="02020603050405020304" pitchFamily="18" charset="0"/>
              </a:rPr>
              <a:t> </a:t>
            </a:r>
            <a:r>
              <a:rPr lang="en-US" spc="15" dirty="0">
                <a:solidFill>
                  <a:srgbClr val="002060"/>
                </a:solidFill>
                <a:effectLst/>
                <a:latin typeface="Times New Roman" panose="02020603050405020304" pitchFamily="18" charset="0"/>
                <a:ea typeface="Times New Roman" panose="02020603050405020304" pitchFamily="18" charset="0"/>
              </a:rPr>
              <a:t>u</a:t>
            </a:r>
            <a:r>
              <a:rPr lang="en-US" dirty="0">
                <a:solidFill>
                  <a:srgbClr val="002060"/>
                </a:solidFill>
                <a:effectLst/>
                <a:latin typeface="Times New Roman" panose="02020603050405020304" pitchFamily="18" charset="0"/>
                <a:ea typeface="Times New Roman" panose="02020603050405020304" pitchFamily="18" charset="0"/>
              </a:rPr>
              <a:t>se</a:t>
            </a:r>
            <a:r>
              <a:rPr lang="en-US" spc="19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o</a:t>
            </a:r>
            <a:r>
              <a:rPr lang="en-US" spc="25" dirty="0">
                <a:solidFill>
                  <a:srgbClr val="002060"/>
                </a:solidFill>
                <a:effectLst/>
                <a:latin typeface="Times New Roman" panose="02020603050405020304" pitchFamily="18" charset="0"/>
                <a:ea typeface="Times New Roman" panose="02020603050405020304" pitchFamily="18" charset="0"/>
              </a:rPr>
              <a:t>f</a:t>
            </a:r>
            <a:r>
              <a:rPr lang="en-US" spc="20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the</a:t>
            </a:r>
            <a:r>
              <a:rPr lang="en-US" spc="19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implied</a:t>
            </a:r>
            <a:r>
              <a:rPr lang="en-US" spc="19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dec</a:t>
            </a:r>
            <a:r>
              <a:rPr lang="en-US" spc="15" dirty="0">
                <a:solidFill>
                  <a:srgbClr val="002060"/>
                </a:solidFill>
                <a:effectLst/>
                <a:latin typeface="Times New Roman" panose="02020603050405020304" pitchFamily="18" charset="0"/>
                <a:ea typeface="Times New Roman" panose="02020603050405020304" pitchFamily="18" charset="0"/>
              </a:rPr>
              <a:t>i</a:t>
            </a:r>
            <a:r>
              <a:rPr lang="en-US" dirty="0">
                <a:solidFill>
                  <a:srgbClr val="002060"/>
                </a:solidFill>
                <a:effectLst/>
                <a:latin typeface="Times New Roman" panose="02020603050405020304" pitchFamily="18" charset="0"/>
                <a:ea typeface="Times New Roman" panose="02020603050405020304" pitchFamily="18" charset="0"/>
              </a:rPr>
              <a:t>mal</a:t>
            </a:r>
            <a:r>
              <a:rPr lang="en-US" spc="22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a:t>
            </a:r>
            <a:r>
              <a:rPr lang="en-US" spc="10" dirty="0">
                <a:solidFill>
                  <a:srgbClr val="002060"/>
                </a:solidFill>
                <a:effectLst/>
                <a:latin typeface="Times New Roman" panose="02020603050405020304" pitchFamily="18" charset="0"/>
                <a:ea typeface="Times New Roman" panose="02020603050405020304" pitchFamily="18" charset="0"/>
              </a:rPr>
              <a:t>z</a:t>
            </a:r>
            <a:r>
              <a:rPr lang="en-US" dirty="0">
                <a:solidFill>
                  <a:srgbClr val="002060"/>
                </a:solidFill>
                <a:effectLst/>
                <a:latin typeface="Times New Roman" panose="02020603050405020304" pitchFamily="18" charset="0"/>
                <a:ea typeface="Times New Roman" panose="02020603050405020304" pitchFamily="18" charset="0"/>
              </a:rPr>
              <a:t>ero".</a:t>
            </a:r>
            <a:r>
              <a:rPr lang="en-US" spc="9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The</a:t>
            </a:r>
            <a:r>
              <a:rPr lang="en-US" spc="19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"ze</a:t>
            </a:r>
            <a:r>
              <a:rPr lang="en-US" spc="10" dirty="0">
                <a:solidFill>
                  <a:srgbClr val="002060"/>
                </a:solidFill>
                <a:effectLst/>
                <a:latin typeface="Times New Roman" panose="02020603050405020304" pitchFamily="18" charset="0"/>
                <a:ea typeface="Times New Roman" panose="02020603050405020304" pitchFamily="18" charset="0"/>
              </a:rPr>
              <a:t>r</a:t>
            </a:r>
            <a:r>
              <a:rPr lang="en-US" dirty="0">
                <a:solidFill>
                  <a:srgbClr val="002060"/>
                </a:solidFill>
                <a:effectLst/>
                <a:latin typeface="Times New Roman" panose="02020603050405020304" pitchFamily="18" charset="0"/>
                <a:ea typeface="Times New Roman" panose="02020603050405020304" pitchFamily="18" charset="0"/>
              </a:rPr>
              <a:t>o</a:t>
            </a:r>
            <a:r>
              <a:rPr lang="en-US" spc="25" dirty="0">
                <a:solidFill>
                  <a:srgbClr val="002060"/>
                </a:solidFill>
                <a:effectLst/>
                <a:latin typeface="Times New Roman" panose="02020603050405020304" pitchFamily="18" charset="0"/>
                <a:ea typeface="Times New Roman" panose="02020603050405020304" pitchFamily="18" charset="0"/>
              </a:rPr>
              <a:t>"</a:t>
            </a:r>
            <a:r>
              <a:rPr lang="en-US" spc="19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is</a:t>
            </a:r>
            <a:r>
              <a:rPr lang="en-US" spc="20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encoded</a:t>
            </a:r>
            <a:r>
              <a:rPr lang="en-US" spc="19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when</a:t>
            </a:r>
            <a:r>
              <a:rPr lang="en-US" spc="18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all nine</a:t>
            </a:r>
            <a:r>
              <a:rPr lang="en-US" spc="2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data</a:t>
            </a:r>
            <a:r>
              <a:rPr lang="en-US" spc="2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i</a:t>
            </a:r>
            <a:r>
              <a:rPr lang="en-US" spc="15" dirty="0">
                <a:solidFill>
                  <a:srgbClr val="002060"/>
                </a:solidFill>
                <a:effectLst/>
                <a:latin typeface="Times New Roman" panose="02020603050405020304" pitchFamily="18" charset="0"/>
                <a:ea typeface="Times New Roman" panose="02020603050405020304" pitchFamily="18" charset="0"/>
              </a:rPr>
              <a:t>n</a:t>
            </a:r>
            <a:r>
              <a:rPr lang="en-US" dirty="0">
                <a:solidFill>
                  <a:srgbClr val="002060"/>
                </a:solidFill>
                <a:effectLst/>
                <a:latin typeface="Times New Roman" panose="02020603050405020304" pitchFamily="18" charset="0"/>
                <a:ea typeface="Times New Roman" panose="02020603050405020304" pitchFamily="18" charset="0"/>
              </a:rPr>
              <a:t>puts</a:t>
            </a:r>
            <a:r>
              <a:rPr lang="en-US" spc="25"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are</a:t>
            </a:r>
            <a:r>
              <a:rPr lang="en-US" spc="3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H</a:t>
            </a:r>
            <a:r>
              <a:rPr lang="en-US" spc="10" dirty="0">
                <a:solidFill>
                  <a:srgbClr val="002060"/>
                </a:solidFill>
                <a:effectLst/>
                <a:latin typeface="Times New Roman" panose="02020603050405020304" pitchFamily="18" charset="0"/>
                <a:ea typeface="Times New Roman" panose="02020603050405020304" pitchFamily="18" charset="0"/>
              </a:rPr>
              <a:t>I</a:t>
            </a:r>
            <a:r>
              <a:rPr lang="en-US" dirty="0">
                <a:solidFill>
                  <a:srgbClr val="002060"/>
                </a:solidFill>
                <a:effectLst/>
                <a:latin typeface="Times New Roman" panose="02020603050405020304" pitchFamily="18" charset="0"/>
                <a:ea typeface="Times New Roman" panose="02020603050405020304" pitchFamily="18" charset="0"/>
              </a:rPr>
              <a:t>GH,</a:t>
            </a:r>
            <a:r>
              <a:rPr lang="en-US" spc="20" dirty="0">
                <a:solidFill>
                  <a:srgbClr val="002060"/>
                </a:solidFill>
                <a:effectLst/>
                <a:latin typeface="Times New Roman" panose="02020603050405020304" pitchFamily="18" charset="0"/>
                <a:ea typeface="Times New Roman" panose="02020603050405020304" pitchFamily="18" charset="0"/>
              </a:rPr>
              <a:t> </a:t>
            </a:r>
            <a:r>
              <a:rPr lang="en-US" spc="15" dirty="0">
                <a:solidFill>
                  <a:srgbClr val="002060"/>
                </a:solidFill>
                <a:effectLst/>
                <a:latin typeface="Times New Roman" panose="02020603050405020304" pitchFamily="18" charset="0"/>
                <a:ea typeface="Times New Roman" panose="02020603050405020304" pitchFamily="18" charset="0"/>
              </a:rPr>
              <a:t>f</a:t>
            </a:r>
            <a:r>
              <a:rPr lang="en-US" dirty="0">
                <a:solidFill>
                  <a:srgbClr val="002060"/>
                </a:solidFill>
                <a:effectLst/>
                <a:latin typeface="Times New Roman" panose="02020603050405020304" pitchFamily="18" charset="0"/>
                <a:ea typeface="Times New Roman" panose="02020603050405020304" pitchFamily="18" charset="0"/>
              </a:rPr>
              <a:t>orcing</a:t>
            </a:r>
            <a:r>
              <a:rPr lang="en-US" spc="2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all</a:t>
            </a:r>
            <a:r>
              <a:rPr lang="en-US" spc="20" dirty="0">
                <a:solidFill>
                  <a:srgbClr val="002060"/>
                </a:solidFill>
                <a:effectLst/>
                <a:latin typeface="Times New Roman" panose="02020603050405020304" pitchFamily="18" charset="0"/>
                <a:ea typeface="Times New Roman" panose="02020603050405020304" pitchFamily="18" charset="0"/>
              </a:rPr>
              <a:t> </a:t>
            </a:r>
            <a:r>
              <a:rPr lang="en-US" spc="10" dirty="0">
                <a:solidFill>
                  <a:srgbClr val="002060"/>
                </a:solidFill>
                <a:effectLst/>
                <a:latin typeface="Times New Roman" panose="02020603050405020304" pitchFamily="18" charset="0"/>
                <a:ea typeface="Times New Roman" panose="02020603050405020304" pitchFamily="18" charset="0"/>
              </a:rPr>
              <a:t>f</a:t>
            </a:r>
            <a:r>
              <a:rPr lang="en-US" dirty="0">
                <a:solidFill>
                  <a:srgbClr val="002060"/>
                </a:solidFill>
                <a:effectLst/>
                <a:latin typeface="Times New Roman" panose="02020603050405020304" pitchFamily="18" charset="0"/>
                <a:ea typeface="Times New Roman" panose="02020603050405020304" pitchFamily="18" charset="0"/>
              </a:rPr>
              <a:t>our</a:t>
            </a:r>
            <a:r>
              <a:rPr lang="en-US" spc="2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o</a:t>
            </a:r>
            <a:r>
              <a:rPr lang="en-US" spc="10" dirty="0">
                <a:solidFill>
                  <a:srgbClr val="002060"/>
                </a:solidFill>
                <a:effectLst/>
                <a:latin typeface="Times New Roman" panose="02020603050405020304" pitchFamily="18" charset="0"/>
                <a:ea typeface="Times New Roman" panose="02020603050405020304" pitchFamily="18" charset="0"/>
              </a:rPr>
              <a:t>u</a:t>
            </a:r>
            <a:r>
              <a:rPr lang="en-US" dirty="0">
                <a:solidFill>
                  <a:srgbClr val="002060"/>
                </a:solidFill>
                <a:effectLst/>
                <a:latin typeface="Times New Roman" panose="02020603050405020304" pitchFamily="18" charset="0"/>
                <a:ea typeface="Times New Roman" panose="02020603050405020304" pitchFamily="18" charset="0"/>
              </a:rPr>
              <a:t>tputs</a:t>
            </a:r>
            <a:r>
              <a:rPr lang="en-US" spc="20" dirty="0">
                <a:solidFill>
                  <a:srgbClr val="002060"/>
                </a:solidFill>
                <a:effectLst/>
                <a:latin typeface="Times New Roman" panose="02020603050405020304" pitchFamily="18" charset="0"/>
                <a:ea typeface="Times New Roman" panose="02020603050405020304" pitchFamily="18" charset="0"/>
              </a:rPr>
              <a:t> </a:t>
            </a:r>
            <a:r>
              <a:rPr lang="en-US" dirty="0">
                <a:solidFill>
                  <a:srgbClr val="002060"/>
                </a:solidFill>
                <a:effectLst/>
                <a:latin typeface="Times New Roman" panose="02020603050405020304" pitchFamily="18" charset="0"/>
                <a:ea typeface="Times New Roman" panose="02020603050405020304" pitchFamily="18" charset="0"/>
              </a:rPr>
              <a:t>HI</a:t>
            </a:r>
            <a:r>
              <a:rPr lang="en-US" spc="10" dirty="0">
                <a:solidFill>
                  <a:srgbClr val="002060"/>
                </a:solidFill>
                <a:effectLst/>
                <a:latin typeface="Times New Roman" panose="02020603050405020304" pitchFamily="18" charset="0"/>
                <a:ea typeface="Times New Roman" panose="02020603050405020304" pitchFamily="18" charset="0"/>
              </a:rPr>
              <a:t>G</a:t>
            </a:r>
            <a:r>
              <a:rPr lang="en-US" dirty="0">
                <a:solidFill>
                  <a:srgbClr val="002060"/>
                </a:solidFill>
                <a:effectLst/>
                <a:latin typeface="Times New Roman" panose="02020603050405020304" pitchFamily="18" charset="0"/>
                <a:ea typeface="Times New Roman" panose="02020603050405020304" pitchFamily="18" charset="0"/>
              </a:rPr>
              <a:t>H.</a:t>
            </a:r>
            <a:endParaRPr lang="en-IN" dirty="0">
              <a:solidFill>
                <a:srgbClr val="002060"/>
              </a:solidFill>
              <a:effectLst/>
              <a:latin typeface="Times New Roman" panose="02020603050405020304" pitchFamily="18" charset="0"/>
              <a:ea typeface="Times New Roman" panose="02020603050405020304" pitchFamily="18" charset="0"/>
            </a:endParaRPr>
          </a:p>
        </p:txBody>
      </p:sp>
      <p:sp>
        <p:nvSpPr>
          <p:cNvPr id="11" name="TextBox 10">
            <a:extLst>
              <a:ext uri="{FF2B5EF4-FFF2-40B4-BE49-F238E27FC236}">
                <a16:creationId xmlns:a16="http://schemas.microsoft.com/office/drawing/2014/main" id="{48DE10A2-A44D-F2FD-7589-89F416835E5C}"/>
              </a:ext>
            </a:extLst>
          </p:cNvPr>
          <p:cNvSpPr txBox="1"/>
          <p:nvPr/>
        </p:nvSpPr>
        <p:spPr>
          <a:xfrm>
            <a:off x="6341012" y="193714"/>
            <a:ext cx="7093634" cy="311111"/>
          </a:xfrm>
          <a:prstGeom prst="rect">
            <a:avLst/>
          </a:prstGeom>
          <a:noFill/>
        </p:spPr>
        <p:txBody>
          <a:bodyPr wrap="square">
            <a:spAutoFit/>
          </a:bodyPr>
          <a:lstStyle/>
          <a:p>
            <a:pPr marR="681990">
              <a:lnSpc>
                <a:spcPts val="1380"/>
              </a:lnSpc>
              <a:spcAft>
                <a:spcPts val="1295"/>
              </a:spcAft>
              <a:tabLst>
                <a:tab pos="6000750" algn="l"/>
              </a:tabLst>
            </a:pPr>
            <a:r>
              <a:rPr lang="en-US" sz="2800" dirty="0">
                <a:solidFill>
                  <a:srgbClr val="FF0000"/>
                </a:solidFill>
                <a:effectLst/>
                <a:latin typeface="Times New Roman" panose="02020603050405020304" pitchFamily="18" charset="0"/>
                <a:ea typeface="Times New Roman" panose="02020603050405020304" pitchFamily="18" charset="0"/>
              </a:rPr>
              <a:t>To</a:t>
            </a:r>
            <a:r>
              <a:rPr lang="en-US" sz="2800" spc="25" dirty="0">
                <a:solidFill>
                  <a:srgbClr val="FF0000"/>
                </a:solidFill>
                <a:effectLst/>
                <a:latin typeface="Times New Roman" panose="02020603050405020304" pitchFamily="18" charset="0"/>
                <a:ea typeface="Times New Roman" panose="02020603050405020304" pitchFamily="18" charset="0"/>
              </a:rPr>
              <a:t> </a:t>
            </a:r>
            <a:r>
              <a:rPr lang="en-US" sz="2800" dirty="0">
                <a:solidFill>
                  <a:srgbClr val="FF0000"/>
                </a:solidFill>
                <a:effectLst/>
                <a:latin typeface="Times New Roman" panose="02020603050405020304" pitchFamily="18" charset="0"/>
                <a:ea typeface="Times New Roman" panose="02020603050405020304" pitchFamily="18" charset="0"/>
              </a:rPr>
              <a:t>rea</a:t>
            </a:r>
            <a:r>
              <a:rPr lang="en-US" sz="2800" spc="15" dirty="0">
                <a:solidFill>
                  <a:srgbClr val="FF0000"/>
                </a:solidFill>
                <a:effectLst/>
                <a:latin typeface="Times New Roman" panose="02020603050405020304" pitchFamily="18" charset="0"/>
                <a:ea typeface="Times New Roman" panose="02020603050405020304" pitchFamily="18" charset="0"/>
              </a:rPr>
              <a:t>l</a:t>
            </a:r>
            <a:r>
              <a:rPr lang="en-US" sz="2800" dirty="0">
                <a:solidFill>
                  <a:srgbClr val="FF0000"/>
                </a:solidFill>
                <a:effectLst/>
                <a:latin typeface="Times New Roman" panose="02020603050405020304" pitchFamily="18" charset="0"/>
                <a:ea typeface="Times New Roman" panose="02020603050405020304" pitchFamily="18" charset="0"/>
              </a:rPr>
              <a:t>ize</a:t>
            </a:r>
            <a:r>
              <a:rPr lang="en-US" sz="2800" spc="30" dirty="0">
                <a:solidFill>
                  <a:srgbClr val="FF0000"/>
                </a:solidFill>
                <a:effectLst/>
                <a:latin typeface="Times New Roman" panose="02020603050405020304" pitchFamily="18" charset="0"/>
                <a:ea typeface="Times New Roman" panose="02020603050405020304" pitchFamily="18" charset="0"/>
              </a:rPr>
              <a:t> </a:t>
            </a:r>
            <a:r>
              <a:rPr lang="en-US" sz="2800" dirty="0">
                <a:solidFill>
                  <a:srgbClr val="FF0000"/>
                </a:solidFill>
                <a:effectLst/>
                <a:latin typeface="Times New Roman" panose="02020603050405020304" pitchFamily="18" charset="0"/>
                <a:ea typeface="Times New Roman" panose="02020603050405020304" pitchFamily="18" charset="0"/>
              </a:rPr>
              <a:t>an Encoder using IC 74147</a:t>
            </a:r>
            <a:endParaRPr lang="en-IN" sz="2800" dirty="0">
              <a:solidFill>
                <a:srgbClr val="FF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41312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2" name="Picture 6" descr="PPT - OTHER COMBINATIONAL LOGIC CIRCUITS PowerPoint Presentation, free ...">
            <a:extLst>
              <a:ext uri="{FF2B5EF4-FFF2-40B4-BE49-F238E27FC236}">
                <a16:creationId xmlns:a16="http://schemas.microsoft.com/office/drawing/2014/main" id="{60AF7F74-490F-6952-E349-DA82E523A8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7586"/>
            <a:ext cx="11915334" cy="6875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37043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Multiplexer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Also called data selectors.  </a:t>
                </a:r>
              </a:p>
              <a:p>
                <a:r>
                  <a:rPr lang="en-US" dirty="0"/>
                  <a:t>Basic function:  select one of its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2</m:t>
                        </m:r>
                      </m:e>
                      <m:sup>
                        <m:r>
                          <a:rPr lang="en-US" b="0" i="1" smtClean="0">
                            <a:latin typeface="Cambria Math"/>
                          </a:rPr>
                          <m:t>𝑛</m:t>
                        </m:r>
                      </m:sup>
                    </m:sSup>
                  </m:oMath>
                </a14:m>
                <a:r>
                  <a:rPr lang="en-US" dirty="0"/>
                  <a:t> data input lines and place the corresponding information onto a single output line.</a:t>
                </a:r>
              </a:p>
              <a:p>
                <a14:m>
                  <m:oMath xmlns:m="http://schemas.openxmlformats.org/officeDocument/2006/math">
                    <m:r>
                      <a:rPr lang="en-US" b="0" i="1" smtClean="0">
                        <a:latin typeface="Cambria Math"/>
                      </a:rPr>
                      <m:t>𝑛</m:t>
                    </m:r>
                  </m:oMath>
                </a14:m>
                <a:r>
                  <a:rPr lang="en-US" dirty="0"/>
                  <a:t> input bits needed to specify which input line is to be selected.  </a:t>
                </a:r>
              </a:p>
              <a:p>
                <a:pPr lvl="1"/>
                <a:r>
                  <a:rPr lang="en-US" dirty="0"/>
                  <a:t>Place binary code for a desired data input line onto its </a:t>
                </a:r>
                <a14:m>
                  <m:oMath xmlns:m="http://schemas.openxmlformats.org/officeDocument/2006/math">
                    <m:r>
                      <a:rPr lang="en-US" b="0" i="1" smtClean="0">
                        <a:latin typeface="Cambria Math"/>
                      </a:rPr>
                      <m:t>𝑛</m:t>
                    </m:r>
                  </m:oMath>
                </a14:m>
                <a:r>
                  <a:rPr lang="en-US" dirty="0"/>
                  <a:t> select input lines.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752" r="-2370"/>
                </a:stretch>
              </a:blipFill>
            </p:spPr>
            <p:txBody>
              <a:bodyPr/>
              <a:lstStyle/>
              <a:p>
                <a:r>
                  <a:rPr lang="en-US">
                    <a:noFill/>
                  </a:rPr>
                  <a:t> </a:t>
                </a:r>
              </a:p>
            </p:txBody>
          </p:sp>
        </mc:Fallback>
      </mc:AlternateContent>
    </p:spTree>
    <p:extLst>
      <p:ext uri="{BB962C8B-B14F-4D97-AF65-F5344CB8AC3E}">
        <p14:creationId xmlns:p14="http://schemas.microsoft.com/office/powerpoint/2010/main" val="65168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dirty="0"/>
              <a:t>Realization of 4-to-1 line multiplexer</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7291387" y="966789"/>
            <a:ext cx="2743200" cy="3400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2418659" y="485085"/>
            <a:ext cx="3725656" cy="50577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3742766" y="4182036"/>
            <a:ext cx="2420471" cy="228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5"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6477073" y="4114872"/>
            <a:ext cx="2457305" cy="2266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TextBox 7"/>
          <p:cNvSpPr txBox="1"/>
          <p:nvPr/>
        </p:nvSpPr>
        <p:spPr>
          <a:xfrm>
            <a:off x="1295400" y="4953000"/>
            <a:ext cx="3248026" cy="369332"/>
          </a:xfrm>
          <a:prstGeom prst="rect">
            <a:avLst/>
          </a:prstGeom>
          <a:noFill/>
        </p:spPr>
        <p:txBody>
          <a:bodyPr wrap="square" rtlCol="0">
            <a:spAutoFit/>
          </a:bodyPr>
          <a:lstStyle/>
          <a:p>
            <a:pPr algn="ctr"/>
            <a:r>
              <a:rPr lang="en-US" dirty="0"/>
              <a:t>Logic Diagram</a:t>
            </a:r>
          </a:p>
        </p:txBody>
      </p:sp>
      <p:sp>
        <p:nvSpPr>
          <p:cNvPr id="9" name="TextBox 8"/>
          <p:cNvSpPr txBox="1"/>
          <p:nvPr/>
        </p:nvSpPr>
        <p:spPr>
          <a:xfrm>
            <a:off x="3352800" y="6412468"/>
            <a:ext cx="3248026" cy="369332"/>
          </a:xfrm>
          <a:prstGeom prst="rect">
            <a:avLst/>
          </a:prstGeom>
          <a:noFill/>
        </p:spPr>
        <p:txBody>
          <a:bodyPr wrap="square" rtlCol="0">
            <a:spAutoFit/>
          </a:bodyPr>
          <a:lstStyle/>
          <a:p>
            <a:pPr algn="ctr"/>
            <a:r>
              <a:rPr lang="en-US" dirty="0"/>
              <a:t>Truth Table</a:t>
            </a:r>
          </a:p>
        </p:txBody>
      </p:sp>
      <p:sp>
        <p:nvSpPr>
          <p:cNvPr id="10" name="TextBox 9"/>
          <p:cNvSpPr txBox="1"/>
          <p:nvPr/>
        </p:nvSpPr>
        <p:spPr>
          <a:xfrm>
            <a:off x="7419974" y="4126468"/>
            <a:ext cx="3248026" cy="369332"/>
          </a:xfrm>
          <a:prstGeom prst="rect">
            <a:avLst/>
          </a:prstGeom>
          <a:noFill/>
        </p:spPr>
        <p:txBody>
          <a:bodyPr wrap="square" rtlCol="0">
            <a:spAutoFit/>
          </a:bodyPr>
          <a:lstStyle/>
          <a:p>
            <a:pPr algn="ctr"/>
            <a:r>
              <a:rPr lang="en-US" dirty="0"/>
              <a:t>Symbol</a:t>
            </a:r>
          </a:p>
        </p:txBody>
      </p:sp>
    </p:spTree>
    <p:extLst>
      <p:ext uri="{BB962C8B-B14F-4D97-AF65-F5344CB8AC3E}">
        <p14:creationId xmlns:p14="http://schemas.microsoft.com/office/powerpoint/2010/main" val="21048190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Realization of 4-to-1 line multiplexer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Alternate description:</a:t>
                </a:r>
              </a:p>
              <a:p>
                <a:endParaRPr lang="en-US" dirty="0"/>
              </a:p>
              <a:p>
                <a:endParaRPr lang="en-US" dirty="0"/>
              </a:p>
              <a:p>
                <a:endParaRPr lang="en-US" dirty="0"/>
              </a:p>
              <a:p>
                <a:endParaRPr lang="en-US" dirty="0"/>
              </a:p>
              <a:p>
                <a:endParaRPr lang="en-US" dirty="0"/>
              </a:p>
              <a:p>
                <a:r>
                  <a:rPr lang="en-US" dirty="0"/>
                  <a:t>Algebraic description of multiplexer:</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r>
                        <a:rPr lang="en-US" b="0" i="1" smtClean="0">
                          <a:latin typeface="Cambria Math"/>
                        </a:rPr>
                        <m:t>= </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0</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1</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1</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2</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1</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3</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2</m:t>
                              </m:r>
                            </m:sub>
                          </m:sSub>
                        </m:e>
                      </m:d>
                      <m:r>
                        <a:rPr lang="en-US" b="0" i="1" smtClean="0">
                          <a:latin typeface="Cambria Math"/>
                        </a:rPr>
                        <m:t>𝐸</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4900614" y="1538289"/>
            <a:ext cx="2390775" cy="37814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51085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1143000"/>
          </a:xfrm>
        </p:spPr>
        <p:txBody>
          <a:bodyPr>
            <a:normAutofit/>
          </a:bodyPr>
          <a:lstStyle/>
          <a:p>
            <a:r>
              <a:rPr lang="en-US" dirty="0"/>
              <a:t>Building a Large Multiplexer</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3051752" y="2358451"/>
            <a:ext cx="5934211" cy="2893714"/>
          </a:xfrm>
          <a:prstGeom prst="rect">
            <a:avLst/>
          </a:prstGeom>
          <a:noFill/>
          <a:ln>
            <a:noFill/>
          </a:ln>
          <a:scene3d>
            <a:camera prst="orthographicFront">
              <a:rot lat="0" lon="0" rev="21510000"/>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214463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Multiplexers</a:t>
            </a:r>
          </a:p>
        </p:txBody>
      </p:sp>
      <p:sp>
        <p:nvSpPr>
          <p:cNvPr id="3" name="Content Placeholder 2"/>
          <p:cNvSpPr>
            <a:spLocks noGrp="1"/>
          </p:cNvSpPr>
          <p:nvPr>
            <p:ph idx="1"/>
          </p:nvPr>
        </p:nvSpPr>
        <p:spPr/>
        <p:txBody>
          <a:bodyPr/>
          <a:lstStyle/>
          <a:p>
            <a:r>
              <a:rPr lang="en-US" dirty="0"/>
              <a:t>One of the primary applications of multiplexers is to provide for the transmission of information from several sources over a single path.</a:t>
            </a:r>
          </a:p>
          <a:p>
            <a:r>
              <a:rPr lang="en-US" dirty="0"/>
              <a:t>This process is known as multiplexing.  </a:t>
            </a:r>
          </a:p>
          <a:p>
            <a:r>
              <a:rPr lang="en-US" dirty="0" err="1"/>
              <a:t>Demultiplexer</a:t>
            </a:r>
            <a:r>
              <a:rPr lang="en-US" dirty="0"/>
              <a:t> = decoder with an enable input.</a:t>
            </a:r>
          </a:p>
        </p:txBody>
      </p:sp>
    </p:spTree>
    <p:extLst>
      <p:ext uri="{BB962C8B-B14F-4D97-AF65-F5344CB8AC3E}">
        <p14:creationId xmlns:p14="http://schemas.microsoft.com/office/powerpoint/2010/main" val="3236119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445"/>
            <a:ext cx="10515600" cy="1325563"/>
          </a:xfrm>
        </p:spPr>
        <p:txBody>
          <a:bodyPr>
            <a:normAutofit/>
          </a:bodyPr>
          <a:lstStyle/>
          <a:p>
            <a:r>
              <a:rPr lang="en-US" dirty="0"/>
              <a:t>Multiplexer/</a:t>
            </a:r>
            <a:r>
              <a:rPr lang="en-US" dirty="0" err="1"/>
              <a:t>Demultiplexer</a:t>
            </a:r>
            <a:r>
              <a:rPr lang="en-US" dirty="0"/>
              <a:t> for information transmission</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3688460" y="1492948"/>
            <a:ext cx="4800792" cy="5014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564092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1437"/>
            <a:ext cx="10515600" cy="1325563"/>
          </a:xfrm>
        </p:spPr>
        <p:txBody>
          <a:bodyPr/>
          <a:lstStyle/>
          <a:p>
            <a:r>
              <a:rPr lang="en-US" dirty="0"/>
              <a:t>Logic Design with Multiplexers</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3048000" y="1397000"/>
              <a:ext cx="6096000" cy="33375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𝒚</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𝒛</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𝒇</m:t>
                                </m:r>
                              </m:oMath>
                            </m:oMathPara>
                          </a14:m>
                          <a:endParaRPr lang="en-US" dirty="0"/>
                        </a:p>
                      </a:txBody>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0</m:t>
                                    </m:r>
                                  </m:sub>
                                </m:sSub>
                              </m:oMath>
                            </m:oMathPara>
                          </a14:m>
                          <a:endParaRPr lang="en-US" dirty="0"/>
                        </a:p>
                      </a:txBody>
                      <a:tcPr/>
                    </a:tc>
                    <a:extLst>
                      <a:ext uri="{0D108BD9-81ED-4DB2-BD59-A6C34878D82A}">
                        <a16:rowId xmlns:a16="http://schemas.microsoft.com/office/drawing/2014/main" val="10001"/>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1</m:t>
                                    </m:r>
                                  </m:sub>
                                </m:sSub>
                              </m:oMath>
                            </m:oMathPara>
                          </a14:m>
                          <a:endParaRPr lang="en-US" dirty="0"/>
                        </a:p>
                      </a:txBody>
                      <a:tcPr/>
                    </a:tc>
                    <a:extLst>
                      <a:ext uri="{0D108BD9-81ED-4DB2-BD59-A6C34878D82A}">
                        <a16:rowId xmlns:a16="http://schemas.microsoft.com/office/drawing/2014/main" val="1000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2</m:t>
                                    </m:r>
                                  </m:sub>
                                </m:sSub>
                              </m:oMath>
                            </m:oMathPara>
                          </a14:m>
                          <a:endParaRPr lang="en-US" dirty="0"/>
                        </a:p>
                      </a:txBody>
                      <a:tcPr/>
                    </a:tc>
                    <a:extLst>
                      <a:ext uri="{0D108BD9-81ED-4DB2-BD59-A6C34878D82A}">
                        <a16:rowId xmlns:a16="http://schemas.microsoft.com/office/drawing/2014/main" val="10003"/>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3</m:t>
                                    </m:r>
                                  </m:sub>
                                </m:sSub>
                              </m:oMath>
                            </m:oMathPara>
                          </a14:m>
                          <a:endParaRPr lang="en-US" dirty="0"/>
                        </a:p>
                      </a:txBody>
                      <a:tcPr/>
                    </a:tc>
                    <a:extLst>
                      <a:ext uri="{0D108BD9-81ED-4DB2-BD59-A6C34878D82A}">
                        <a16:rowId xmlns:a16="http://schemas.microsoft.com/office/drawing/2014/main" val="10004"/>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4</m:t>
                                    </m:r>
                                  </m:sub>
                                </m:sSub>
                              </m:oMath>
                            </m:oMathPara>
                          </a14:m>
                          <a:endParaRPr lang="en-US" dirty="0"/>
                        </a:p>
                      </a:txBody>
                      <a:tcPr/>
                    </a:tc>
                    <a:extLst>
                      <a:ext uri="{0D108BD9-81ED-4DB2-BD59-A6C34878D82A}">
                        <a16:rowId xmlns:a16="http://schemas.microsoft.com/office/drawing/2014/main" val="10005"/>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5</m:t>
                                    </m:r>
                                  </m:sub>
                                </m:sSub>
                              </m:oMath>
                            </m:oMathPara>
                          </a14:m>
                          <a:endParaRPr lang="en-US" dirty="0"/>
                        </a:p>
                      </a:txBody>
                      <a:tcPr/>
                    </a:tc>
                    <a:extLst>
                      <a:ext uri="{0D108BD9-81ED-4DB2-BD59-A6C34878D82A}">
                        <a16:rowId xmlns:a16="http://schemas.microsoft.com/office/drawing/2014/main" val="1000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6</m:t>
                                    </m:r>
                                  </m:sub>
                                </m:sSub>
                              </m:oMath>
                            </m:oMathPara>
                          </a14:m>
                          <a:endParaRPr lang="en-US" dirty="0"/>
                        </a:p>
                      </a:txBody>
                      <a:tcPr/>
                    </a:tc>
                    <a:extLst>
                      <a:ext uri="{0D108BD9-81ED-4DB2-BD59-A6C34878D82A}">
                        <a16:rowId xmlns:a16="http://schemas.microsoft.com/office/drawing/2014/main" val="10007"/>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7</m:t>
                                    </m:r>
                                  </m:sub>
                                </m:sSub>
                              </m:oMath>
                            </m:oMathPara>
                          </a14:m>
                          <a:endParaRPr lang="en-US" dirty="0"/>
                        </a:p>
                      </a:txBody>
                      <a:tcPr/>
                    </a:tc>
                    <a:extLst>
                      <a:ext uri="{0D108BD9-81ED-4DB2-BD59-A6C34878D82A}">
                        <a16:rowId xmlns:a16="http://schemas.microsoft.com/office/drawing/2014/main" val="10008"/>
                      </a:ext>
                    </a:extLst>
                  </a:tr>
                </a:tbl>
              </a:graphicData>
            </a:graphic>
          </p:graphicFrame>
        </mc:Choice>
        <mc:Fallback xmlns="">
          <p:graphicFrame>
            <p:nvGraphicFramePr>
              <p:cNvPr id="4" name="Table 3"/>
              <p:cNvGraphicFramePr>
                <a:graphicFrameLocks noGrp="1"/>
              </p:cNvGraphicFramePr>
              <p:nvPr/>
            </p:nvGraphicFramePr>
            <p:xfrm>
              <a:off x="3048000" y="1397000"/>
              <a:ext cx="6096000" cy="3337560"/>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endParaRPr lang="en-US"/>
                        </a:p>
                      </a:txBody>
                      <a:tcPr>
                        <a:blipFill>
                          <a:blip r:embed="rId2"/>
                          <a:stretch>
                            <a:fillRect l="-800" t="-1639" r="-302000" b="-822951"/>
                          </a:stretch>
                        </a:blipFill>
                      </a:tcPr>
                    </a:tc>
                    <a:tc>
                      <a:txBody>
                        <a:bodyPr/>
                        <a:lstStyle/>
                        <a:p>
                          <a:endParaRPr lang="en-US"/>
                        </a:p>
                      </a:txBody>
                      <a:tcPr>
                        <a:blipFill>
                          <a:blip r:embed="rId2"/>
                          <a:stretch>
                            <a:fillRect l="-100800" t="-1639" r="-202000" b="-822951"/>
                          </a:stretch>
                        </a:blipFill>
                      </a:tcPr>
                    </a:tc>
                    <a:tc>
                      <a:txBody>
                        <a:bodyPr/>
                        <a:lstStyle/>
                        <a:p>
                          <a:endParaRPr lang="en-US"/>
                        </a:p>
                      </a:txBody>
                      <a:tcPr>
                        <a:blipFill>
                          <a:blip r:embed="rId2"/>
                          <a:stretch>
                            <a:fillRect l="-200800" t="-1639" r="-102000" b="-822951"/>
                          </a:stretch>
                        </a:blipFill>
                      </a:tcPr>
                    </a:tc>
                    <a:tc>
                      <a:txBody>
                        <a:bodyPr/>
                        <a:lstStyle/>
                        <a:p>
                          <a:endParaRPr lang="en-US"/>
                        </a:p>
                      </a:txBody>
                      <a:tcPr>
                        <a:blipFill>
                          <a:blip r:embed="rId2"/>
                          <a:stretch>
                            <a:fillRect l="-300800" t="-1639" r="-2000" b="-822951"/>
                          </a:stretch>
                        </a:blipFill>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300800" t="-101639" r="-2000" b="-722951"/>
                          </a:stretch>
                        </a:blipFill>
                      </a:tcPr>
                    </a:tc>
                    <a:extLst>
                      <a:ext uri="{0D108BD9-81ED-4DB2-BD59-A6C34878D82A}">
                        <a16:rowId xmlns:a16="http://schemas.microsoft.com/office/drawing/2014/main" val="10001"/>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0800" t="-201639" r="-2000" b="-622951"/>
                          </a:stretch>
                        </a:blipFill>
                      </a:tcPr>
                    </a:tc>
                    <a:extLst>
                      <a:ext uri="{0D108BD9-81ED-4DB2-BD59-A6C34878D82A}">
                        <a16:rowId xmlns:a16="http://schemas.microsoft.com/office/drawing/2014/main" val="1000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a:blip r:embed="rId2"/>
                          <a:stretch>
                            <a:fillRect l="-300800" t="-301639" r="-2000" b="-522951"/>
                          </a:stretch>
                        </a:blipFill>
                      </a:tcPr>
                    </a:tc>
                    <a:extLst>
                      <a:ext uri="{0D108BD9-81ED-4DB2-BD59-A6C34878D82A}">
                        <a16:rowId xmlns:a16="http://schemas.microsoft.com/office/drawing/2014/main" val="10003"/>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2"/>
                          <a:stretch>
                            <a:fillRect l="-300800" t="-408333" r="-2000" b="-431667"/>
                          </a:stretch>
                        </a:blipFill>
                      </a:tcPr>
                    </a:tc>
                    <a:extLst>
                      <a:ext uri="{0D108BD9-81ED-4DB2-BD59-A6C34878D82A}">
                        <a16:rowId xmlns:a16="http://schemas.microsoft.com/office/drawing/2014/main" val="10004"/>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300800" t="-500000" r="-2000" b="-324590"/>
                          </a:stretch>
                        </a:blipFill>
                      </a:tcPr>
                    </a:tc>
                    <a:extLst>
                      <a:ext uri="{0D108BD9-81ED-4DB2-BD59-A6C34878D82A}">
                        <a16:rowId xmlns:a16="http://schemas.microsoft.com/office/drawing/2014/main" val="10005"/>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0800" t="-600000" r="-2000" b="-224590"/>
                          </a:stretch>
                        </a:blipFill>
                      </a:tcPr>
                    </a:tc>
                    <a:extLst>
                      <a:ext uri="{0D108BD9-81ED-4DB2-BD59-A6C34878D82A}">
                        <a16:rowId xmlns:a16="http://schemas.microsoft.com/office/drawing/2014/main" val="1000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a:blip r:embed="rId2"/>
                          <a:stretch>
                            <a:fillRect l="-300800" t="-700000" r="-2000" b="-124590"/>
                          </a:stretch>
                        </a:blipFill>
                      </a:tcPr>
                    </a:tc>
                    <a:extLst>
                      <a:ext uri="{0D108BD9-81ED-4DB2-BD59-A6C34878D82A}">
                        <a16:rowId xmlns:a16="http://schemas.microsoft.com/office/drawing/2014/main" val="10007"/>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2"/>
                          <a:stretch>
                            <a:fillRect l="-300800" t="-800000" r="-2000" b="-24590"/>
                          </a:stretch>
                        </a:blipFill>
                      </a:tcPr>
                    </a:tc>
                    <a:extLst>
                      <a:ext uri="{0D108BD9-81ED-4DB2-BD59-A6C34878D82A}">
                        <a16:rowId xmlns:a16="http://schemas.microsoft.com/office/drawing/2014/main" val="10008"/>
                      </a:ext>
                    </a:extLst>
                  </a:tr>
                </a:tbl>
              </a:graphicData>
            </a:graphic>
          </p:graphicFrame>
        </mc:Fallback>
      </mc:AlternateContent>
      <mc:AlternateContent xmlns:mc="http://schemas.openxmlformats.org/markup-compatibility/2006" xmlns:a14="http://schemas.microsoft.com/office/drawing/2010/main">
        <mc:Choice Requires="a14">
          <p:sp>
            <p:nvSpPr>
              <p:cNvPr id="5" name="TextBox 4"/>
              <p:cNvSpPr txBox="1"/>
              <p:nvPr/>
            </p:nvSpPr>
            <p:spPr>
              <a:xfrm>
                <a:off x="2438400" y="4953001"/>
                <a:ext cx="7315200" cy="1616981"/>
              </a:xfrm>
              <a:prstGeom prst="rect">
                <a:avLst/>
              </a:prstGeom>
              <a:noFill/>
            </p:spPr>
            <p:txBody>
              <a:bodyPr wrap="square" rtlCol="0">
                <a:spAutoFit/>
              </a:bodyPr>
              <a:lstStyle/>
              <a:p>
                <a:r>
                  <a:rPr lang="en-US" sz="2000" dirty="0"/>
                  <a:t>The Boolean expression corresponding to this truth table can be written as:</a:t>
                </a:r>
              </a:p>
              <a:p>
                <a:pPr/>
                <a14:m>
                  <m:oMathPara xmlns:m="http://schemas.openxmlformats.org/officeDocument/2006/math">
                    <m:oMathParaPr>
                      <m:jc m:val="centerGroup"/>
                    </m:oMathParaPr>
                    <m:oMath xmlns:m="http://schemas.openxmlformats.org/officeDocument/2006/math">
                      <m:r>
                        <a:rPr lang="en-US" sz="2000" i="1">
                          <a:latin typeface="Cambria Math"/>
                        </a:rPr>
                        <m:t>𝑓</m:t>
                      </m:r>
                      <m:d>
                        <m:dPr>
                          <m:ctrlPr>
                            <a:rPr lang="en-US" sz="2000" i="1">
                              <a:latin typeface="Cambria Math" panose="02040503050406030204" pitchFamily="18" charset="0"/>
                            </a:rPr>
                          </m:ctrlPr>
                        </m:dPr>
                        <m:e>
                          <m:r>
                            <a:rPr lang="en-US" sz="2000" i="1">
                              <a:latin typeface="Cambria Math"/>
                            </a:rPr>
                            <m:t>𝑥</m:t>
                          </m:r>
                          <m:r>
                            <a:rPr lang="en-US" sz="2000" i="1">
                              <a:latin typeface="Cambria Math"/>
                            </a:rPr>
                            <m:t>,</m:t>
                          </m:r>
                          <m:r>
                            <a:rPr lang="en-US" sz="2000" i="1">
                              <a:latin typeface="Cambria Math"/>
                            </a:rPr>
                            <m:t>𝑦</m:t>
                          </m:r>
                          <m:r>
                            <a:rPr lang="en-US" sz="2000" i="1">
                              <a:latin typeface="Cambria Math"/>
                            </a:rPr>
                            <m:t>,</m:t>
                          </m:r>
                          <m:r>
                            <a:rPr lang="en-US" sz="2000" i="1">
                              <a:latin typeface="Cambria Math"/>
                            </a:rPr>
                            <m:t>𝑧</m:t>
                          </m:r>
                        </m:e>
                      </m:d>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𝑓</m:t>
                          </m:r>
                        </m:e>
                        <m:sub>
                          <m:r>
                            <a:rPr lang="en-US" sz="2000" i="1">
                              <a:latin typeface="Cambria Math"/>
                            </a:rPr>
                            <m:t>0</m:t>
                          </m:r>
                        </m:sub>
                      </m:sSub>
                      <m:r>
                        <a:rPr lang="en-US" sz="2000" i="1">
                          <a:latin typeface="Cambria Math"/>
                        </a:rPr>
                        <m:t>⋅</m:t>
                      </m:r>
                      <m:bar>
                        <m:barPr>
                          <m:pos m:val="top"/>
                          <m:ctrlPr>
                            <a:rPr lang="en-US" sz="2000" i="1">
                              <a:latin typeface="Cambria Math" panose="02040503050406030204" pitchFamily="18" charset="0"/>
                            </a:rPr>
                          </m:ctrlPr>
                        </m:barPr>
                        <m:e>
                          <m:r>
                            <a:rPr lang="en-US" sz="2000" i="1">
                              <a:latin typeface="Cambria Math"/>
                            </a:rPr>
                            <m:t>𝑥</m:t>
                          </m:r>
                        </m:e>
                      </m:bar>
                      <m:r>
                        <a:rPr lang="en-US" sz="2000" i="1">
                          <a:latin typeface="Cambria Math"/>
                        </a:rPr>
                        <m:t> </m:t>
                      </m:r>
                      <m:bar>
                        <m:barPr>
                          <m:pos m:val="top"/>
                          <m:ctrlPr>
                            <a:rPr lang="en-US" sz="2000" i="1">
                              <a:latin typeface="Cambria Math" panose="02040503050406030204" pitchFamily="18" charset="0"/>
                            </a:rPr>
                          </m:ctrlPr>
                        </m:barPr>
                        <m:e>
                          <m:r>
                            <a:rPr lang="en-US" sz="2000" i="1">
                              <a:latin typeface="Cambria Math"/>
                            </a:rPr>
                            <m:t>𝑦</m:t>
                          </m:r>
                        </m:e>
                      </m:bar>
                      <m:r>
                        <a:rPr lang="en-US" sz="2000" i="1">
                          <a:latin typeface="Cambria Math"/>
                        </a:rPr>
                        <m:t> </m:t>
                      </m:r>
                      <m:bar>
                        <m:barPr>
                          <m:pos m:val="top"/>
                          <m:ctrlPr>
                            <a:rPr lang="en-US" sz="2000" i="1">
                              <a:latin typeface="Cambria Math" panose="02040503050406030204" pitchFamily="18" charset="0"/>
                            </a:rPr>
                          </m:ctrlPr>
                        </m:barPr>
                        <m:e>
                          <m:r>
                            <a:rPr lang="en-US" sz="2000" i="1">
                              <a:latin typeface="Cambria Math"/>
                            </a:rPr>
                            <m:t>𝑧</m:t>
                          </m:r>
                        </m:e>
                      </m:ba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𝑓</m:t>
                          </m:r>
                        </m:e>
                        <m:sub>
                          <m:r>
                            <a:rPr lang="en-US" sz="2000" i="1">
                              <a:latin typeface="Cambria Math"/>
                            </a:rPr>
                            <m:t>1</m:t>
                          </m:r>
                        </m:sub>
                      </m:sSub>
                      <m:r>
                        <a:rPr lang="en-US" sz="2000" i="1">
                          <a:latin typeface="Cambria Math"/>
                        </a:rPr>
                        <m:t>⋅</m:t>
                      </m:r>
                      <m:bar>
                        <m:barPr>
                          <m:pos m:val="top"/>
                          <m:ctrlPr>
                            <a:rPr lang="en-US" sz="2000" i="1">
                              <a:latin typeface="Cambria Math" panose="02040503050406030204" pitchFamily="18" charset="0"/>
                            </a:rPr>
                          </m:ctrlPr>
                        </m:barPr>
                        <m:e>
                          <m:r>
                            <a:rPr lang="en-US" sz="2000" i="1">
                              <a:latin typeface="Cambria Math"/>
                            </a:rPr>
                            <m:t>𝑥</m:t>
                          </m:r>
                        </m:e>
                      </m:bar>
                      <m:r>
                        <a:rPr lang="en-US" sz="2000" i="1">
                          <a:latin typeface="Cambria Math"/>
                        </a:rPr>
                        <m:t> </m:t>
                      </m:r>
                      <m:bar>
                        <m:barPr>
                          <m:pos m:val="top"/>
                          <m:ctrlPr>
                            <a:rPr lang="en-US" sz="2000" i="1">
                              <a:latin typeface="Cambria Math" panose="02040503050406030204" pitchFamily="18" charset="0"/>
                            </a:rPr>
                          </m:ctrlPr>
                        </m:barPr>
                        <m:e>
                          <m:r>
                            <a:rPr lang="en-US" sz="2000" i="1">
                              <a:latin typeface="Cambria Math"/>
                            </a:rPr>
                            <m:t>𝑦</m:t>
                          </m:r>
                        </m:e>
                      </m:bar>
                      <m:r>
                        <a:rPr lang="en-US" sz="2000" i="1">
                          <a:latin typeface="Cambria Math"/>
                        </a:rPr>
                        <m:t> </m:t>
                      </m:r>
                      <m:r>
                        <a:rPr lang="en-US" sz="2000" i="1">
                          <a:latin typeface="Cambria Math"/>
                        </a:rPr>
                        <m:t>𝑧</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𝑓</m:t>
                          </m:r>
                        </m:e>
                        <m:sub>
                          <m:r>
                            <a:rPr lang="en-US" sz="2000" i="1">
                              <a:latin typeface="Cambria Math"/>
                            </a:rPr>
                            <m:t>2</m:t>
                          </m:r>
                        </m:sub>
                      </m:sSub>
                      <m:r>
                        <a:rPr lang="en-US" sz="2000" i="1">
                          <a:latin typeface="Cambria Math"/>
                        </a:rPr>
                        <m:t>⋅</m:t>
                      </m:r>
                      <m:bar>
                        <m:barPr>
                          <m:pos m:val="top"/>
                          <m:ctrlPr>
                            <a:rPr lang="en-US" sz="2000" i="1">
                              <a:latin typeface="Cambria Math" panose="02040503050406030204" pitchFamily="18" charset="0"/>
                            </a:rPr>
                          </m:ctrlPr>
                        </m:barPr>
                        <m:e>
                          <m:r>
                            <a:rPr lang="en-US" sz="2000" i="1">
                              <a:latin typeface="Cambria Math"/>
                            </a:rPr>
                            <m:t>𝑥</m:t>
                          </m:r>
                        </m:e>
                      </m:bar>
                      <m:r>
                        <a:rPr lang="en-US" sz="2000" i="1">
                          <a:latin typeface="Cambria Math"/>
                        </a:rPr>
                        <m:t>𝑦</m:t>
                      </m:r>
                      <m:bar>
                        <m:barPr>
                          <m:pos m:val="top"/>
                          <m:ctrlPr>
                            <a:rPr lang="en-US" sz="2000" i="1">
                              <a:latin typeface="Cambria Math" panose="02040503050406030204" pitchFamily="18" charset="0"/>
                            </a:rPr>
                          </m:ctrlPr>
                        </m:barPr>
                        <m:e>
                          <m:r>
                            <a:rPr lang="en-US" sz="2000" i="1">
                              <a:latin typeface="Cambria Math"/>
                            </a:rPr>
                            <m:t>𝑧</m:t>
                          </m:r>
                        </m:e>
                      </m:ba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𝑓</m:t>
                          </m:r>
                        </m:e>
                        <m:sub>
                          <m:r>
                            <a:rPr lang="en-US" sz="2000" i="1">
                              <a:latin typeface="Cambria Math"/>
                            </a:rPr>
                            <m:t>3</m:t>
                          </m:r>
                        </m:sub>
                      </m:sSub>
                      <m:r>
                        <a:rPr lang="en-US" sz="2000" i="1">
                          <a:latin typeface="Cambria Math"/>
                        </a:rPr>
                        <m:t>⋅</m:t>
                      </m:r>
                      <m:bar>
                        <m:barPr>
                          <m:pos m:val="top"/>
                          <m:ctrlPr>
                            <a:rPr lang="en-US" sz="2000" i="1">
                              <a:latin typeface="Cambria Math" panose="02040503050406030204" pitchFamily="18" charset="0"/>
                            </a:rPr>
                          </m:ctrlPr>
                        </m:barPr>
                        <m:e>
                          <m:r>
                            <a:rPr lang="en-US" sz="2000" i="1">
                              <a:latin typeface="Cambria Math"/>
                            </a:rPr>
                            <m:t>𝑥</m:t>
                          </m:r>
                        </m:e>
                      </m:bar>
                      <m:r>
                        <a:rPr lang="en-US" sz="2000" i="1">
                          <a:latin typeface="Cambria Math"/>
                        </a:rPr>
                        <m:t>𝑦𝑧</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𝑓</m:t>
                          </m:r>
                        </m:e>
                        <m:sub>
                          <m:r>
                            <a:rPr lang="en-US" sz="2000" i="1">
                              <a:latin typeface="Cambria Math"/>
                            </a:rPr>
                            <m:t>4</m:t>
                          </m:r>
                        </m:sub>
                      </m:sSub>
                      <m:r>
                        <a:rPr lang="en-US" sz="2000" i="1">
                          <a:latin typeface="Cambria Math"/>
                        </a:rPr>
                        <m:t>⋅</m:t>
                      </m:r>
                      <m:r>
                        <a:rPr lang="en-US" sz="2000" i="1">
                          <a:latin typeface="Cambria Math"/>
                        </a:rPr>
                        <m:t>𝑥</m:t>
                      </m:r>
                      <m:bar>
                        <m:barPr>
                          <m:pos m:val="top"/>
                          <m:ctrlPr>
                            <a:rPr lang="en-US" sz="2000" i="1">
                              <a:latin typeface="Cambria Math" panose="02040503050406030204" pitchFamily="18" charset="0"/>
                            </a:rPr>
                          </m:ctrlPr>
                        </m:barPr>
                        <m:e>
                          <m:r>
                            <a:rPr lang="en-US" sz="2000" i="1">
                              <a:latin typeface="Cambria Math"/>
                            </a:rPr>
                            <m:t>𝑦</m:t>
                          </m:r>
                        </m:e>
                      </m:bar>
                      <m:r>
                        <a:rPr lang="en-US" sz="2000" i="1">
                          <a:latin typeface="Cambria Math"/>
                        </a:rPr>
                        <m:t> </m:t>
                      </m:r>
                      <m:bar>
                        <m:barPr>
                          <m:pos m:val="top"/>
                          <m:ctrlPr>
                            <a:rPr lang="en-US" sz="2000" i="1">
                              <a:latin typeface="Cambria Math" panose="02040503050406030204" pitchFamily="18" charset="0"/>
                            </a:rPr>
                          </m:ctrlPr>
                        </m:barPr>
                        <m:e>
                          <m:r>
                            <a:rPr lang="en-US" sz="2000" i="1">
                              <a:latin typeface="Cambria Math"/>
                            </a:rPr>
                            <m:t>𝑧</m:t>
                          </m:r>
                        </m:e>
                      </m:ba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𝑓</m:t>
                          </m:r>
                        </m:e>
                        <m:sub>
                          <m:r>
                            <a:rPr lang="en-US" sz="2000" i="1">
                              <a:latin typeface="Cambria Math"/>
                            </a:rPr>
                            <m:t>5</m:t>
                          </m:r>
                        </m:sub>
                      </m:sSub>
                      <m:r>
                        <a:rPr lang="en-US" sz="2000" i="1">
                          <a:latin typeface="Cambria Math"/>
                        </a:rPr>
                        <m:t>⋅</m:t>
                      </m:r>
                      <m:r>
                        <a:rPr lang="en-US" sz="2000" i="1">
                          <a:latin typeface="Cambria Math"/>
                        </a:rPr>
                        <m:t>𝑥</m:t>
                      </m:r>
                      <m:bar>
                        <m:barPr>
                          <m:pos m:val="top"/>
                          <m:ctrlPr>
                            <a:rPr lang="en-US" sz="2000" i="1">
                              <a:latin typeface="Cambria Math" panose="02040503050406030204" pitchFamily="18" charset="0"/>
                            </a:rPr>
                          </m:ctrlPr>
                        </m:barPr>
                        <m:e>
                          <m:r>
                            <a:rPr lang="en-US" sz="2000" i="1">
                              <a:latin typeface="Cambria Math"/>
                            </a:rPr>
                            <m:t>𝑦</m:t>
                          </m:r>
                        </m:e>
                      </m:bar>
                      <m:r>
                        <a:rPr lang="en-US" sz="2000" i="1">
                          <a:latin typeface="Cambria Math"/>
                        </a:rPr>
                        <m:t>𝑧</m:t>
                      </m: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𝑓</m:t>
                          </m:r>
                        </m:e>
                        <m:sub>
                          <m:r>
                            <a:rPr lang="en-US" sz="2000" i="1">
                              <a:latin typeface="Cambria Math"/>
                            </a:rPr>
                            <m:t>6</m:t>
                          </m:r>
                        </m:sub>
                      </m:sSub>
                      <m:r>
                        <a:rPr lang="en-US" sz="2000" i="1">
                          <a:latin typeface="Cambria Math"/>
                        </a:rPr>
                        <m:t>𝑥𝑦</m:t>
                      </m:r>
                      <m:bar>
                        <m:barPr>
                          <m:pos m:val="top"/>
                          <m:ctrlPr>
                            <a:rPr lang="en-US" sz="2000" i="1">
                              <a:latin typeface="Cambria Math" panose="02040503050406030204" pitchFamily="18" charset="0"/>
                            </a:rPr>
                          </m:ctrlPr>
                        </m:barPr>
                        <m:e>
                          <m:r>
                            <a:rPr lang="en-US" sz="2000" i="1">
                              <a:latin typeface="Cambria Math"/>
                            </a:rPr>
                            <m:t>𝑧</m:t>
                          </m:r>
                        </m:e>
                      </m:bar>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𝑓</m:t>
                          </m:r>
                        </m:e>
                        <m:sub>
                          <m:r>
                            <a:rPr lang="en-US" sz="2000" i="1">
                              <a:latin typeface="Cambria Math"/>
                            </a:rPr>
                            <m:t>7</m:t>
                          </m:r>
                        </m:sub>
                      </m:sSub>
                      <m:r>
                        <a:rPr lang="en-US" sz="2000" i="1">
                          <a:latin typeface="Cambria Math"/>
                        </a:rPr>
                        <m:t>⋅</m:t>
                      </m:r>
                      <m:r>
                        <a:rPr lang="en-US" sz="2000" i="1">
                          <a:latin typeface="Cambria Math"/>
                        </a:rPr>
                        <m:t>𝑥𝑦𝑧</m:t>
                      </m:r>
                      <m:r>
                        <a:rPr lang="en-US" sz="2000" i="1">
                          <a:latin typeface="Cambria Math"/>
                        </a:rPr>
                        <m:t>.</m:t>
                      </m:r>
                    </m:oMath>
                  </m:oMathPara>
                </a14:m>
                <a:endParaRPr lang="en-US"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2438400" y="4953001"/>
                <a:ext cx="7315200" cy="1616981"/>
              </a:xfrm>
              <a:prstGeom prst="rect">
                <a:avLst/>
              </a:prstGeom>
              <a:blipFill>
                <a:blip r:embed="rId3"/>
                <a:stretch>
                  <a:fillRect l="-833" t="-2264" b="-2642"/>
                </a:stretch>
              </a:blipFill>
            </p:spPr>
            <p:txBody>
              <a:bodyPr/>
              <a:lstStyle/>
              <a:p>
                <a:r>
                  <a:rPr lang="en-IN">
                    <a:noFill/>
                  </a:rPr>
                  <a:t> </a:t>
                </a:r>
              </a:p>
            </p:txBody>
          </p:sp>
        </mc:Fallback>
      </mc:AlternateContent>
    </p:spTree>
    <p:extLst>
      <p:ext uri="{BB962C8B-B14F-4D97-AF65-F5344CB8AC3E}">
        <p14:creationId xmlns:p14="http://schemas.microsoft.com/office/powerpoint/2010/main" val="249149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Design with Multiplexers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Boolean expression corresponding to this truth table can be written as:</a:t>
                </a:r>
              </a:p>
              <a:p>
                <a:pPr marL="0" indent="0">
                  <a:buNone/>
                </a:pPr>
                <a:r>
                  <a:rPr lang="en-US" b="0" dirty="0"/>
                  <a:t>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r>
                          <a:rPr lang="en-US" b="0" i="1" smtClean="0">
                            <a:latin typeface="Cambria Math"/>
                          </a:rPr>
                          <m:t>𝑧</m:t>
                        </m:r>
                      </m:e>
                    </m:d>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0</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𝑥</m:t>
                        </m:r>
                      </m:e>
                    </m:bar>
                    <m:r>
                      <a:rPr lang="en-US" b="0" i="1" smtClean="0">
                        <a:latin typeface="Cambria Math"/>
                      </a:rPr>
                      <m:t> </m:t>
                    </m:r>
                    <m:bar>
                      <m:barPr>
                        <m:pos m:val="top"/>
                        <m:ctrlPr>
                          <a:rPr lang="en-US" b="0" i="1" smtClean="0">
                            <a:latin typeface="Cambria Math" panose="02040503050406030204" pitchFamily="18" charset="0"/>
                          </a:rPr>
                        </m:ctrlPr>
                      </m:barPr>
                      <m:e>
                        <m:r>
                          <a:rPr lang="en-US" b="0" i="1" smtClean="0">
                            <a:latin typeface="Cambria Math"/>
                          </a:rPr>
                          <m:t>𝑦</m:t>
                        </m:r>
                      </m:e>
                    </m:bar>
                    <m:r>
                      <a:rPr lang="en-US" b="0" i="1" smtClean="0">
                        <a:latin typeface="Cambria Math"/>
                      </a:rPr>
                      <m:t> </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1</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𝑥</m:t>
                        </m:r>
                      </m:e>
                    </m:bar>
                    <m:r>
                      <a:rPr lang="en-US" b="0" i="1" smtClean="0">
                        <a:latin typeface="Cambria Math"/>
                      </a:rPr>
                      <m:t> </m:t>
                    </m:r>
                    <m:bar>
                      <m:barPr>
                        <m:pos m:val="top"/>
                        <m:ctrlPr>
                          <a:rPr lang="en-US" b="0" i="1" smtClean="0">
                            <a:latin typeface="Cambria Math" panose="02040503050406030204" pitchFamily="18" charset="0"/>
                          </a:rPr>
                        </m:ctrlPr>
                      </m:barPr>
                      <m:e>
                        <m:r>
                          <a:rPr lang="en-US" b="0" i="1" smtClean="0">
                            <a:latin typeface="Cambria Math"/>
                          </a:rPr>
                          <m:t>𝑦</m:t>
                        </m:r>
                      </m:e>
                    </m:bar>
                    <m:r>
                      <a:rPr lang="en-US" b="0" i="1" smtClean="0">
                        <a:latin typeface="Cambria Math"/>
                      </a:rPr>
                      <m:t> </m:t>
                    </m:r>
                    <m:r>
                      <a:rPr lang="en-US" b="0" i="1" smtClean="0">
                        <a:latin typeface="Cambria Math"/>
                      </a:rPr>
                      <m:t>𝑧</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2</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𝑥</m:t>
                        </m:r>
                      </m:e>
                    </m:bar>
                    <m:r>
                      <a:rPr lang="en-US" b="0" i="1" smtClean="0">
                        <a:latin typeface="Cambria Math"/>
                      </a:rPr>
                      <m:t>𝑦</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3</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𝑥</m:t>
                        </m:r>
                      </m:e>
                    </m:bar>
                    <m:r>
                      <a:rPr lang="en-US" b="0" i="1" smtClean="0">
                        <a:latin typeface="Cambria Math"/>
                      </a:rPr>
                      <m:t>𝑦𝑧</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4</m:t>
                        </m:r>
                      </m:sub>
                    </m:sSub>
                    <m:r>
                      <a:rPr lang="en-US" b="0" i="1" smtClean="0">
                        <a:latin typeface="Cambria Math"/>
                      </a:rPr>
                      <m:t>⋅</m:t>
                    </m:r>
                    <m:r>
                      <a:rPr lang="en-US" b="0" i="1" smtClean="0">
                        <a:latin typeface="Cambria Math"/>
                      </a:rPr>
                      <m:t>𝑥</m:t>
                    </m:r>
                    <m:bar>
                      <m:barPr>
                        <m:pos m:val="top"/>
                        <m:ctrlPr>
                          <a:rPr lang="en-US" b="0" i="1" smtClean="0">
                            <a:latin typeface="Cambria Math" panose="02040503050406030204" pitchFamily="18" charset="0"/>
                          </a:rPr>
                        </m:ctrlPr>
                      </m:barPr>
                      <m:e>
                        <m:r>
                          <a:rPr lang="en-US" b="0" i="1" smtClean="0">
                            <a:latin typeface="Cambria Math"/>
                          </a:rPr>
                          <m:t>𝑦</m:t>
                        </m:r>
                      </m:e>
                    </m:bar>
                    <m:r>
                      <a:rPr lang="en-US" b="0" i="1" smtClean="0">
                        <a:latin typeface="Cambria Math"/>
                      </a:rPr>
                      <m:t> </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5</m:t>
                        </m:r>
                      </m:sub>
                    </m:sSub>
                    <m:r>
                      <a:rPr lang="en-US" b="0" i="1" smtClean="0">
                        <a:latin typeface="Cambria Math"/>
                      </a:rPr>
                      <m:t>⋅</m:t>
                    </m:r>
                    <m:r>
                      <a:rPr lang="en-US" b="0" i="1" smtClean="0">
                        <a:latin typeface="Cambria Math"/>
                      </a:rPr>
                      <m:t>𝑥</m:t>
                    </m:r>
                    <m:bar>
                      <m:barPr>
                        <m:pos m:val="top"/>
                        <m:ctrlPr>
                          <a:rPr lang="en-US" b="0" i="1" smtClean="0">
                            <a:latin typeface="Cambria Math" panose="02040503050406030204" pitchFamily="18" charset="0"/>
                          </a:rPr>
                        </m:ctrlPr>
                      </m:barPr>
                      <m:e>
                        <m:r>
                          <a:rPr lang="en-US" b="0" i="1" smtClean="0">
                            <a:latin typeface="Cambria Math"/>
                          </a:rPr>
                          <m:t>𝑦</m:t>
                        </m:r>
                      </m:e>
                    </m:bar>
                    <m:r>
                      <a:rPr lang="en-US" b="0" i="1" smtClean="0">
                        <a:latin typeface="Cambria Math"/>
                      </a:rPr>
                      <m:t>𝑧</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6</m:t>
                        </m:r>
                      </m:sub>
                    </m:sSub>
                    <m:r>
                      <a:rPr lang="en-US" b="0" i="1" smtClean="0">
                        <a:latin typeface="Cambria Math"/>
                      </a:rPr>
                      <m:t>𝑥𝑦</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7</m:t>
                        </m:r>
                      </m:sub>
                    </m:sSub>
                    <m:r>
                      <a:rPr lang="en-US" b="0" i="1" smtClean="0">
                        <a:latin typeface="Cambria Math"/>
                      </a:rPr>
                      <m:t>⋅</m:t>
                    </m:r>
                    <m:r>
                      <a:rPr lang="en-US" b="0" i="1" smtClean="0">
                        <a:latin typeface="Cambria Math"/>
                      </a:rPr>
                      <m:t>𝑥𝑦𝑧</m:t>
                    </m:r>
                    <m:r>
                      <a:rPr lang="en-US" b="0" i="1" smtClean="0">
                        <a:latin typeface="Cambria Math"/>
                      </a:rPr>
                      <m:t>.</m:t>
                    </m:r>
                  </m:oMath>
                </a14:m>
                <a:endParaRPr lang="en-US" b="0" dirty="0"/>
              </a:p>
              <a:p>
                <a:r>
                  <a:rPr lang="en-US" dirty="0"/>
                  <a:t>The Boolean expression for an 8-to-1-line multiplexer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r>
                        <a:rPr lang="en-US" b="0" i="1" smtClean="0">
                          <a:latin typeface="Cambria Math"/>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0</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2</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1</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1</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2</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2</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2</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1</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3</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2</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4</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2</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1</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5</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2</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6</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2</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1</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7</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2</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0</m:t>
                              </m:r>
                            </m:sub>
                          </m:sSub>
                        </m:e>
                      </m:d>
                      <m:r>
                        <a:rPr lang="en-US" b="0" i="1" smtClean="0">
                          <a:latin typeface="Cambria Math"/>
                        </a:rPr>
                        <m:t>.</m:t>
                      </m:r>
                    </m:oMath>
                  </m:oMathPara>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70733207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637"/>
            <a:ext cx="10515600" cy="1325563"/>
          </a:xfrm>
        </p:spPr>
        <p:txBody>
          <a:bodyPr/>
          <a:lstStyle/>
          <a:p>
            <a:r>
              <a:rPr lang="en-US" dirty="0"/>
              <a:t>Logic Design with Multiplexers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28800" y="1219201"/>
                <a:ext cx="8534400" cy="4525963"/>
              </a:xfrm>
            </p:spPr>
            <p:txBody>
              <a:bodyPr>
                <a:normAutofit/>
              </a:bodyPr>
              <a:lstStyle/>
              <a:p>
                <a:r>
                  <a:rPr lang="en-US" sz="2400" dirty="0"/>
                  <a:t>If E is logic-1 then the latter is transformed into the former by replacing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𝑖</m:t>
                        </m:r>
                      </m:sub>
                    </m:sSub>
                  </m:oMath>
                </a14:m>
                <a:r>
                  <a:rPr lang="en-US" sz="2400" dirty="0"/>
                  <a:t> with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𝑓</m:t>
                        </m:r>
                      </m:e>
                      <m:sub>
                        <m:r>
                          <a:rPr lang="en-US" sz="2400" i="1">
                            <a:latin typeface="Cambria Math"/>
                          </a:rPr>
                          <m:t>𝑖</m:t>
                        </m:r>
                      </m:sub>
                    </m:sSub>
                  </m:oMath>
                </a14:m>
                <a:r>
                  <a:rPr lang="en-US" sz="2400" dirty="0"/>
                  <a:t>,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a:rPr>
                          <m:t>𝑆</m:t>
                        </m:r>
                      </m:e>
                      <m:sub>
                        <m:r>
                          <a:rPr lang="en-US" sz="2400" i="1" dirty="0">
                            <a:latin typeface="Cambria Math"/>
                          </a:rPr>
                          <m:t>2</m:t>
                        </m:r>
                      </m:sub>
                    </m:sSub>
                  </m:oMath>
                </a14:m>
                <a:r>
                  <a:rPr lang="en-US" sz="2400" dirty="0"/>
                  <a:t> with </a:t>
                </a:r>
                <a14:m>
                  <m:oMath xmlns:m="http://schemas.openxmlformats.org/officeDocument/2006/math">
                    <m:r>
                      <a:rPr lang="en-US" sz="2400" i="1">
                        <a:latin typeface="Cambria Math"/>
                      </a:rPr>
                      <m:t>𝑥</m:t>
                    </m:r>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𝑆</m:t>
                        </m:r>
                      </m:e>
                      <m:sub>
                        <m:r>
                          <a:rPr lang="en-US" sz="2400" i="1">
                            <a:latin typeface="Cambria Math"/>
                          </a:rPr>
                          <m:t>1</m:t>
                        </m:r>
                      </m:sub>
                    </m:sSub>
                  </m:oMath>
                </a14:m>
                <a:r>
                  <a:rPr lang="en-US" sz="2400" dirty="0"/>
                  <a:t> with </a:t>
                </a:r>
                <a14:m>
                  <m:oMath xmlns:m="http://schemas.openxmlformats.org/officeDocument/2006/math">
                    <m:r>
                      <a:rPr lang="en-US" sz="2400" i="1">
                        <a:latin typeface="Cambria Math"/>
                      </a:rPr>
                      <m:t>𝑦</m:t>
                    </m:r>
                  </m:oMath>
                </a14:m>
                <a:r>
                  <a:rPr lang="en-US" sz="2400" dirty="0"/>
                  <a:t>, and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𝑆</m:t>
                        </m:r>
                      </m:e>
                      <m:sub>
                        <m:r>
                          <a:rPr lang="en-US" sz="2400" i="1">
                            <a:latin typeface="Cambria Math"/>
                          </a:rPr>
                          <m:t>0</m:t>
                        </m:r>
                      </m:sub>
                    </m:sSub>
                  </m:oMath>
                </a14:m>
                <a:r>
                  <a:rPr lang="en-US" sz="2400" dirty="0"/>
                  <a:t> with z.</a:t>
                </a:r>
              </a:p>
              <a:p>
                <a:r>
                  <a:rPr lang="en-US" sz="2400" dirty="0"/>
                  <a:t>Placing </a:t>
                </a:r>
                <a14:m>
                  <m:oMath xmlns:m="http://schemas.openxmlformats.org/officeDocument/2006/math">
                    <m:r>
                      <a:rPr lang="en-US" sz="2400" i="1">
                        <a:latin typeface="Cambria Math"/>
                      </a:rPr>
                      <m:t>𝑥</m:t>
                    </m:r>
                    <m:r>
                      <a:rPr lang="en-US" sz="2400" i="1">
                        <a:latin typeface="Cambria Math"/>
                      </a:rPr>
                      <m:t>,</m:t>
                    </m:r>
                    <m:r>
                      <a:rPr lang="en-US" sz="2400" i="1">
                        <a:latin typeface="Cambria Math"/>
                      </a:rPr>
                      <m:t>𝑦</m:t>
                    </m:r>
                    <m:r>
                      <a:rPr lang="en-US" sz="2400" i="1">
                        <a:latin typeface="Cambria Math"/>
                      </a:rPr>
                      <m:t>,</m:t>
                    </m:r>
                    <m:r>
                      <a:rPr lang="en-US" sz="2400" i="1">
                        <a:latin typeface="Cambria Math"/>
                      </a:rPr>
                      <m:t>𝑧</m:t>
                    </m:r>
                  </m:oMath>
                </a14:m>
                <a:r>
                  <a:rPr lang="en-US" sz="2400" dirty="0"/>
                  <a:t> on the select lines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𝑆</m:t>
                        </m:r>
                      </m:e>
                      <m:sub>
                        <m:r>
                          <a:rPr lang="en-US" sz="2400" i="1">
                            <a:latin typeface="Cambria Math"/>
                          </a:rPr>
                          <m:t>2</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𝑆</m:t>
                        </m:r>
                      </m:e>
                      <m:sub>
                        <m:r>
                          <a:rPr lang="en-US" sz="2400" i="1">
                            <a:latin typeface="Cambria Math"/>
                          </a:rPr>
                          <m:t>1</m:t>
                        </m:r>
                      </m:sub>
                    </m:sSub>
                    <m:r>
                      <a:rPr lang="en-US" sz="2400" i="1">
                        <a:latin typeface="Cambria Math"/>
                      </a:rPr>
                      <m:t>,</m:t>
                    </m:r>
                    <m:sSub>
                      <m:sSubPr>
                        <m:ctrlPr>
                          <a:rPr lang="en-US" sz="2400" i="1">
                            <a:latin typeface="Cambria Math" panose="02040503050406030204" pitchFamily="18" charset="0"/>
                          </a:rPr>
                        </m:ctrlPr>
                      </m:sSubPr>
                      <m:e>
                        <m:r>
                          <a:rPr lang="en-US" sz="2400" i="1">
                            <a:latin typeface="Cambria Math"/>
                          </a:rPr>
                          <m:t>𝑆</m:t>
                        </m:r>
                      </m:e>
                      <m:sub>
                        <m:r>
                          <a:rPr lang="en-US" sz="2400" i="1">
                            <a:latin typeface="Cambria Math"/>
                          </a:rPr>
                          <m:t>0</m:t>
                        </m:r>
                      </m:sub>
                    </m:sSub>
                  </m:oMath>
                </a14:m>
                <a:r>
                  <a:rPr lang="en-US" sz="2400" dirty="0"/>
                  <a:t>, respectively and placing the functional values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𝑓</m:t>
                        </m:r>
                      </m:e>
                      <m:sub>
                        <m:r>
                          <a:rPr lang="en-US" sz="2400" i="1">
                            <a:latin typeface="Cambria Math"/>
                          </a:rPr>
                          <m:t>𝑖</m:t>
                        </m:r>
                      </m:sub>
                    </m:sSub>
                  </m:oMath>
                </a14:m>
                <a:r>
                  <a:rPr lang="en-US" sz="2400" dirty="0"/>
                  <a:t> on data input lines </a:t>
                </a:r>
                <a14:m>
                  <m:oMath xmlns:m="http://schemas.openxmlformats.org/officeDocument/2006/math">
                    <m:sSub>
                      <m:sSubPr>
                        <m:ctrlPr>
                          <a:rPr lang="en-US" sz="2400" i="1">
                            <a:latin typeface="Cambria Math" panose="02040503050406030204" pitchFamily="18" charset="0"/>
                          </a:rPr>
                        </m:ctrlPr>
                      </m:sSubPr>
                      <m:e>
                        <m:r>
                          <a:rPr lang="en-US" sz="2400" i="1">
                            <a:latin typeface="Cambria Math"/>
                          </a:rPr>
                          <m:t>𝐼</m:t>
                        </m:r>
                      </m:e>
                      <m:sub>
                        <m:r>
                          <a:rPr lang="en-US" sz="2400" i="1">
                            <a:latin typeface="Cambria Math"/>
                          </a:rPr>
                          <m:t>𝑖</m:t>
                        </m:r>
                      </m:sub>
                    </m:sSub>
                  </m:oMath>
                </a14:m>
                <a:r>
                  <a:rPr lang="en-US" sz="24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28800" y="1219201"/>
                <a:ext cx="8534400" cy="4525963"/>
              </a:xfrm>
              <a:blipFill>
                <a:blip r:embed="rId2"/>
                <a:stretch>
                  <a:fillRect l="-929" t="-1887"/>
                </a:stretch>
              </a:blipFill>
            </p:spPr>
            <p:txBody>
              <a:bodyPr/>
              <a:lstStyle/>
              <a:p>
                <a:r>
                  <a:rPr lang="en-IN">
                    <a:noFill/>
                  </a:rPr>
                  <a:t> </a:t>
                </a:r>
              </a:p>
            </p:txBody>
          </p:sp>
        </mc:Fallback>
      </mc:AlternateContent>
      <p:grpSp>
        <p:nvGrpSpPr>
          <p:cNvPr id="111" name="Group 110"/>
          <p:cNvGrpSpPr/>
          <p:nvPr/>
        </p:nvGrpSpPr>
        <p:grpSpPr>
          <a:xfrm>
            <a:off x="4419600" y="3212068"/>
            <a:ext cx="2781300" cy="3408196"/>
            <a:chOff x="4419600" y="1371600"/>
            <a:chExt cx="4038600" cy="5568055"/>
          </a:xfrm>
        </p:grpSpPr>
        <p:sp>
          <p:nvSpPr>
            <p:cNvPr id="71" name="Rectangle 70"/>
            <p:cNvSpPr/>
            <p:nvPr/>
          </p:nvSpPr>
          <p:spPr>
            <a:xfrm>
              <a:off x="5562600" y="1371600"/>
              <a:ext cx="2286000" cy="457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p:cNvSpPr txBox="1"/>
            <p:nvPr/>
          </p:nvSpPr>
          <p:spPr>
            <a:xfrm>
              <a:off x="5715000" y="1524000"/>
              <a:ext cx="1905000" cy="1055927"/>
            </a:xfrm>
            <a:prstGeom prst="rect">
              <a:avLst/>
            </a:prstGeom>
            <a:noFill/>
          </p:spPr>
          <p:txBody>
            <a:bodyPr wrap="square" rtlCol="0">
              <a:spAutoFit/>
            </a:bodyPr>
            <a:lstStyle/>
            <a:p>
              <a:pPr algn="ctr"/>
              <a:r>
                <a:rPr lang="en-US" dirty="0"/>
                <a:t>8-to-1 </a:t>
              </a:r>
            </a:p>
            <a:p>
              <a:pPr algn="ctr"/>
              <a:r>
                <a:rPr lang="en-US" dirty="0"/>
                <a:t>MUX</a:t>
              </a:r>
            </a:p>
          </p:txBody>
        </p:sp>
        <p:cxnSp>
          <p:nvCxnSpPr>
            <p:cNvPr id="73" name="Straight Connector 72"/>
            <p:cNvCxnSpPr/>
            <p:nvPr/>
          </p:nvCxnSpPr>
          <p:spPr>
            <a:xfrm>
              <a:off x="4953000" y="1804570"/>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4953000" y="2243405"/>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4953000" y="2642770"/>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4953000" y="3081605"/>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4953000" y="3557170"/>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4953000" y="3996005"/>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4953000" y="4395370"/>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4953000" y="4834205"/>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4953000" y="5562600"/>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7848600" y="3581400"/>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6172200" y="5943600"/>
              <a:ext cx="0" cy="365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6705600" y="5943600"/>
              <a:ext cx="0" cy="365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239000" y="5943600"/>
              <a:ext cx="0" cy="365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TextBox 85"/>
                <p:cNvSpPr txBox="1"/>
                <p:nvPr/>
              </p:nvSpPr>
              <p:spPr>
                <a:xfrm>
                  <a:off x="5562599" y="1611869"/>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0</m:t>
                            </m:r>
                          </m:sub>
                        </m:sSub>
                      </m:oMath>
                    </m:oMathPara>
                  </a14:m>
                  <a:endParaRPr lang="en-US" dirty="0"/>
                </a:p>
              </p:txBody>
            </p:sp>
          </mc:Choice>
          <mc:Fallback xmlns="">
            <p:sp>
              <p:nvSpPr>
                <p:cNvPr id="86" name="TextBox 85"/>
                <p:cNvSpPr txBox="1">
                  <a:spLocks noRot="1" noChangeAspect="1" noMove="1" noResize="1" noEditPoints="1" noAdjustHandles="1" noChangeArrowheads="1" noChangeShapeType="1" noTextEdit="1"/>
                </p:cNvSpPr>
                <p:nvPr/>
              </p:nvSpPr>
              <p:spPr>
                <a:xfrm>
                  <a:off x="5562599" y="1611869"/>
                  <a:ext cx="533401" cy="603387"/>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7" name="TextBox 86"/>
                <p:cNvSpPr txBox="1"/>
                <p:nvPr/>
              </p:nvSpPr>
              <p:spPr>
                <a:xfrm>
                  <a:off x="5562599" y="2069068"/>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1</m:t>
                            </m:r>
                          </m:sub>
                        </m:sSub>
                      </m:oMath>
                    </m:oMathPara>
                  </a14:m>
                  <a:endParaRPr lang="en-US" dirty="0"/>
                </a:p>
              </p:txBody>
            </p:sp>
          </mc:Choice>
          <mc:Fallback xmlns="">
            <p:sp>
              <p:nvSpPr>
                <p:cNvPr id="87" name="TextBox 86"/>
                <p:cNvSpPr txBox="1">
                  <a:spLocks noRot="1" noChangeAspect="1" noMove="1" noResize="1" noEditPoints="1" noAdjustHandles="1" noChangeArrowheads="1" noChangeShapeType="1" noTextEdit="1"/>
                </p:cNvSpPr>
                <p:nvPr/>
              </p:nvSpPr>
              <p:spPr>
                <a:xfrm>
                  <a:off x="5562599" y="2069068"/>
                  <a:ext cx="533401" cy="603387"/>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8" name="TextBox 87"/>
                <p:cNvSpPr txBox="1"/>
                <p:nvPr/>
              </p:nvSpPr>
              <p:spPr>
                <a:xfrm>
                  <a:off x="5562599" y="2526268"/>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2</m:t>
                            </m:r>
                          </m:sub>
                        </m:sSub>
                      </m:oMath>
                    </m:oMathPara>
                  </a14:m>
                  <a:endParaRPr lang="en-US" dirty="0"/>
                </a:p>
              </p:txBody>
            </p:sp>
          </mc:Choice>
          <mc:Fallback xmlns="">
            <p:sp>
              <p:nvSpPr>
                <p:cNvPr id="88" name="TextBox 87"/>
                <p:cNvSpPr txBox="1">
                  <a:spLocks noRot="1" noChangeAspect="1" noMove="1" noResize="1" noEditPoints="1" noAdjustHandles="1" noChangeArrowheads="1" noChangeShapeType="1" noTextEdit="1"/>
                </p:cNvSpPr>
                <p:nvPr/>
              </p:nvSpPr>
              <p:spPr>
                <a:xfrm>
                  <a:off x="5562599" y="2526268"/>
                  <a:ext cx="533401" cy="60338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9" name="TextBox 88"/>
                <p:cNvSpPr txBox="1"/>
                <p:nvPr/>
              </p:nvSpPr>
              <p:spPr>
                <a:xfrm>
                  <a:off x="5562599" y="2971801"/>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3</m:t>
                            </m:r>
                          </m:sub>
                        </m:sSub>
                      </m:oMath>
                    </m:oMathPara>
                  </a14:m>
                  <a:endParaRPr lang="en-US" dirty="0"/>
                </a:p>
              </p:txBody>
            </p:sp>
          </mc:Choice>
          <mc:Fallback xmlns="">
            <p:sp>
              <p:nvSpPr>
                <p:cNvPr id="89" name="TextBox 88"/>
                <p:cNvSpPr txBox="1">
                  <a:spLocks noRot="1" noChangeAspect="1" noMove="1" noResize="1" noEditPoints="1" noAdjustHandles="1" noChangeArrowheads="1" noChangeShapeType="1" noTextEdit="1"/>
                </p:cNvSpPr>
                <p:nvPr/>
              </p:nvSpPr>
              <p:spPr>
                <a:xfrm>
                  <a:off x="5562599" y="2971801"/>
                  <a:ext cx="533401" cy="603387"/>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0" name="TextBox 89"/>
                <p:cNvSpPr txBox="1"/>
                <p:nvPr/>
              </p:nvSpPr>
              <p:spPr>
                <a:xfrm>
                  <a:off x="5562599" y="3352800"/>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4</m:t>
                            </m:r>
                          </m:sub>
                        </m:sSub>
                      </m:oMath>
                    </m:oMathPara>
                  </a14:m>
                  <a:endParaRPr lang="en-US" dirty="0"/>
                </a:p>
              </p:txBody>
            </p:sp>
          </mc:Choice>
          <mc:Fallback xmlns="">
            <p:sp>
              <p:nvSpPr>
                <p:cNvPr id="90" name="TextBox 89"/>
                <p:cNvSpPr txBox="1">
                  <a:spLocks noRot="1" noChangeAspect="1" noMove="1" noResize="1" noEditPoints="1" noAdjustHandles="1" noChangeArrowheads="1" noChangeShapeType="1" noTextEdit="1"/>
                </p:cNvSpPr>
                <p:nvPr/>
              </p:nvSpPr>
              <p:spPr>
                <a:xfrm>
                  <a:off x="5562599" y="3352800"/>
                  <a:ext cx="533401" cy="603387"/>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1" name="TextBox 90"/>
                <p:cNvSpPr txBox="1"/>
                <p:nvPr/>
              </p:nvSpPr>
              <p:spPr>
                <a:xfrm>
                  <a:off x="5562599" y="3821668"/>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5</m:t>
                            </m:r>
                          </m:sub>
                        </m:sSub>
                      </m:oMath>
                    </m:oMathPara>
                  </a14:m>
                  <a:endParaRPr lang="en-US" dirty="0"/>
                </a:p>
              </p:txBody>
            </p:sp>
          </mc:Choice>
          <mc:Fallback xmlns="">
            <p:sp>
              <p:nvSpPr>
                <p:cNvPr id="91" name="TextBox 90"/>
                <p:cNvSpPr txBox="1">
                  <a:spLocks noRot="1" noChangeAspect="1" noMove="1" noResize="1" noEditPoints="1" noAdjustHandles="1" noChangeArrowheads="1" noChangeShapeType="1" noTextEdit="1"/>
                </p:cNvSpPr>
                <p:nvPr/>
              </p:nvSpPr>
              <p:spPr>
                <a:xfrm>
                  <a:off x="5562599" y="3821668"/>
                  <a:ext cx="533401" cy="603387"/>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2" name="TextBox 91"/>
                <p:cNvSpPr txBox="1"/>
                <p:nvPr/>
              </p:nvSpPr>
              <p:spPr>
                <a:xfrm>
                  <a:off x="5562599" y="4267201"/>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6</m:t>
                            </m:r>
                          </m:sub>
                        </m:sSub>
                      </m:oMath>
                    </m:oMathPara>
                  </a14:m>
                  <a:endParaRPr lang="en-US" dirty="0"/>
                </a:p>
              </p:txBody>
            </p:sp>
          </mc:Choice>
          <mc:Fallback xmlns="">
            <p:sp>
              <p:nvSpPr>
                <p:cNvPr id="92" name="TextBox 91"/>
                <p:cNvSpPr txBox="1">
                  <a:spLocks noRot="1" noChangeAspect="1" noMove="1" noResize="1" noEditPoints="1" noAdjustHandles="1" noChangeArrowheads="1" noChangeShapeType="1" noTextEdit="1"/>
                </p:cNvSpPr>
                <p:nvPr/>
              </p:nvSpPr>
              <p:spPr>
                <a:xfrm>
                  <a:off x="5562599" y="4267201"/>
                  <a:ext cx="533401" cy="603387"/>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3" name="TextBox 92"/>
                <p:cNvSpPr txBox="1"/>
                <p:nvPr/>
              </p:nvSpPr>
              <p:spPr>
                <a:xfrm>
                  <a:off x="5562599" y="4736068"/>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7</m:t>
                            </m:r>
                          </m:sub>
                        </m:sSub>
                      </m:oMath>
                    </m:oMathPara>
                  </a14:m>
                  <a:endParaRPr lang="en-US" dirty="0"/>
                </a:p>
              </p:txBody>
            </p:sp>
          </mc:Choice>
          <mc:Fallback xmlns="">
            <p:sp>
              <p:nvSpPr>
                <p:cNvPr id="93" name="TextBox 92"/>
                <p:cNvSpPr txBox="1">
                  <a:spLocks noRot="1" noChangeAspect="1" noMove="1" noResize="1" noEditPoints="1" noAdjustHandles="1" noChangeArrowheads="1" noChangeShapeType="1" noTextEdit="1"/>
                </p:cNvSpPr>
                <p:nvPr/>
              </p:nvSpPr>
              <p:spPr>
                <a:xfrm>
                  <a:off x="5562599" y="4736068"/>
                  <a:ext cx="533401" cy="603387"/>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4" name="TextBox 93"/>
                <p:cNvSpPr txBox="1"/>
                <p:nvPr/>
              </p:nvSpPr>
              <p:spPr>
                <a:xfrm>
                  <a:off x="5562599" y="5421868"/>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𝐸</m:t>
                        </m:r>
                      </m:oMath>
                    </m:oMathPara>
                  </a14:m>
                  <a:endParaRPr lang="en-US" dirty="0"/>
                </a:p>
              </p:txBody>
            </p:sp>
          </mc:Choice>
          <mc:Fallback xmlns="">
            <p:sp>
              <p:nvSpPr>
                <p:cNvPr id="94" name="TextBox 93"/>
                <p:cNvSpPr txBox="1">
                  <a:spLocks noRot="1" noChangeAspect="1" noMove="1" noResize="1" noEditPoints="1" noAdjustHandles="1" noChangeArrowheads="1" noChangeShapeType="1" noTextEdit="1"/>
                </p:cNvSpPr>
                <p:nvPr/>
              </p:nvSpPr>
              <p:spPr>
                <a:xfrm>
                  <a:off x="5562599" y="5421868"/>
                  <a:ext cx="533401" cy="603387"/>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5" name="TextBox 94"/>
                <p:cNvSpPr txBox="1"/>
                <p:nvPr/>
              </p:nvSpPr>
              <p:spPr>
                <a:xfrm>
                  <a:off x="5943600" y="5410200"/>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𝑆</m:t>
                            </m:r>
                          </m:e>
                          <m:sub>
                            <m:r>
                              <a:rPr lang="en-US" i="1">
                                <a:latin typeface="Cambria Math"/>
                              </a:rPr>
                              <m:t>2</m:t>
                            </m:r>
                          </m:sub>
                        </m:sSub>
                      </m:oMath>
                    </m:oMathPara>
                  </a14:m>
                  <a:endParaRPr lang="en-US" dirty="0"/>
                </a:p>
              </p:txBody>
            </p:sp>
          </mc:Choice>
          <mc:Fallback xmlns="">
            <p:sp>
              <p:nvSpPr>
                <p:cNvPr id="95" name="TextBox 94"/>
                <p:cNvSpPr txBox="1">
                  <a:spLocks noRot="1" noChangeAspect="1" noMove="1" noResize="1" noEditPoints="1" noAdjustHandles="1" noChangeArrowheads="1" noChangeShapeType="1" noTextEdit="1"/>
                </p:cNvSpPr>
                <p:nvPr/>
              </p:nvSpPr>
              <p:spPr>
                <a:xfrm>
                  <a:off x="5943600" y="5410200"/>
                  <a:ext cx="533401" cy="603387"/>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6" name="TextBox 95"/>
                <p:cNvSpPr txBox="1"/>
                <p:nvPr/>
              </p:nvSpPr>
              <p:spPr>
                <a:xfrm>
                  <a:off x="6477000" y="5421868"/>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𝑆</m:t>
                            </m:r>
                          </m:e>
                          <m:sub>
                            <m:r>
                              <a:rPr lang="en-US" i="1">
                                <a:latin typeface="Cambria Math"/>
                              </a:rPr>
                              <m:t>1</m:t>
                            </m:r>
                          </m:sub>
                        </m:sSub>
                      </m:oMath>
                    </m:oMathPara>
                  </a14:m>
                  <a:endParaRPr lang="en-US" dirty="0"/>
                </a:p>
              </p:txBody>
            </p:sp>
          </mc:Choice>
          <mc:Fallback xmlns="">
            <p:sp>
              <p:nvSpPr>
                <p:cNvPr id="96" name="TextBox 95"/>
                <p:cNvSpPr txBox="1">
                  <a:spLocks noRot="1" noChangeAspect="1" noMove="1" noResize="1" noEditPoints="1" noAdjustHandles="1" noChangeArrowheads="1" noChangeShapeType="1" noTextEdit="1"/>
                </p:cNvSpPr>
                <p:nvPr/>
              </p:nvSpPr>
              <p:spPr>
                <a:xfrm>
                  <a:off x="6477000" y="5421868"/>
                  <a:ext cx="533401" cy="603387"/>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7" name="TextBox 96"/>
                <p:cNvSpPr txBox="1"/>
                <p:nvPr/>
              </p:nvSpPr>
              <p:spPr>
                <a:xfrm>
                  <a:off x="6934200" y="5421868"/>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𝑆</m:t>
                            </m:r>
                          </m:e>
                          <m:sub>
                            <m:r>
                              <a:rPr lang="en-US" i="1">
                                <a:latin typeface="Cambria Math"/>
                              </a:rPr>
                              <m:t>0</m:t>
                            </m:r>
                          </m:sub>
                        </m:sSub>
                      </m:oMath>
                    </m:oMathPara>
                  </a14:m>
                  <a:endParaRPr lang="en-US" dirty="0"/>
                </a:p>
              </p:txBody>
            </p:sp>
          </mc:Choice>
          <mc:Fallback xmlns="">
            <p:sp>
              <p:nvSpPr>
                <p:cNvPr id="97" name="TextBox 96"/>
                <p:cNvSpPr txBox="1">
                  <a:spLocks noRot="1" noChangeAspect="1" noMove="1" noResize="1" noEditPoints="1" noAdjustHandles="1" noChangeArrowheads="1" noChangeShapeType="1" noTextEdit="1"/>
                </p:cNvSpPr>
                <p:nvPr/>
              </p:nvSpPr>
              <p:spPr>
                <a:xfrm>
                  <a:off x="6934200" y="5421868"/>
                  <a:ext cx="533401" cy="603387"/>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8" name="TextBox 97"/>
                <p:cNvSpPr txBox="1"/>
                <p:nvPr/>
              </p:nvSpPr>
              <p:spPr>
                <a:xfrm>
                  <a:off x="7848600" y="3095395"/>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𝑓</m:t>
                        </m:r>
                      </m:oMath>
                    </m:oMathPara>
                  </a14:m>
                  <a:endParaRPr lang="en-US" dirty="0"/>
                </a:p>
              </p:txBody>
            </p:sp>
          </mc:Choice>
          <mc:Fallback xmlns="">
            <p:sp>
              <p:nvSpPr>
                <p:cNvPr id="98" name="TextBox 97"/>
                <p:cNvSpPr txBox="1">
                  <a:spLocks noRot="1" noChangeAspect="1" noMove="1" noResize="1" noEditPoints="1" noAdjustHandles="1" noChangeArrowheads="1" noChangeShapeType="1" noTextEdit="1"/>
                </p:cNvSpPr>
                <p:nvPr/>
              </p:nvSpPr>
              <p:spPr>
                <a:xfrm>
                  <a:off x="7848600" y="3095395"/>
                  <a:ext cx="533401" cy="603387"/>
                </a:xfrm>
                <a:prstGeom prst="rect">
                  <a:avLst/>
                </a:prstGeom>
                <a:blipFill>
                  <a:blip r:embed="rId15"/>
                  <a:stretch>
                    <a:fillRect b="-114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9" name="TextBox 98"/>
                <p:cNvSpPr txBox="1"/>
                <p:nvPr/>
              </p:nvSpPr>
              <p:spPr>
                <a:xfrm>
                  <a:off x="4419600" y="1600201"/>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𝑓</m:t>
                            </m:r>
                          </m:e>
                          <m:sub>
                            <m:r>
                              <a:rPr lang="en-US" i="1">
                                <a:latin typeface="Cambria Math"/>
                              </a:rPr>
                              <m:t>0</m:t>
                            </m:r>
                          </m:sub>
                        </m:sSub>
                      </m:oMath>
                    </m:oMathPara>
                  </a14:m>
                  <a:endParaRPr lang="en-US" dirty="0"/>
                </a:p>
              </p:txBody>
            </p:sp>
          </mc:Choice>
          <mc:Fallback xmlns="">
            <p:sp>
              <p:nvSpPr>
                <p:cNvPr id="99" name="TextBox 98"/>
                <p:cNvSpPr txBox="1">
                  <a:spLocks noRot="1" noChangeAspect="1" noMove="1" noResize="1" noEditPoints="1" noAdjustHandles="1" noChangeArrowheads="1" noChangeShapeType="1" noTextEdit="1"/>
                </p:cNvSpPr>
                <p:nvPr/>
              </p:nvSpPr>
              <p:spPr>
                <a:xfrm>
                  <a:off x="4419600" y="1600201"/>
                  <a:ext cx="533401" cy="603387"/>
                </a:xfrm>
                <a:prstGeom prst="rect">
                  <a:avLst/>
                </a:prstGeom>
                <a:blipFill rotWithShape="1">
                  <a:blip r:embed="rId16"/>
                  <a:stretch>
                    <a:fillRect l="-3333"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p:cNvSpPr txBox="1"/>
                <p:nvPr/>
              </p:nvSpPr>
              <p:spPr>
                <a:xfrm>
                  <a:off x="4419600" y="2057400"/>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𝑓</m:t>
                            </m:r>
                          </m:e>
                          <m:sub>
                            <m:r>
                              <a:rPr lang="en-US" i="1">
                                <a:latin typeface="Cambria Math"/>
                              </a:rPr>
                              <m:t>1</m:t>
                            </m:r>
                          </m:sub>
                        </m:sSub>
                      </m:oMath>
                    </m:oMathPara>
                  </a14:m>
                  <a:endParaRPr lang="en-US" dirty="0"/>
                </a:p>
              </p:txBody>
            </p:sp>
          </mc:Choice>
          <mc:Fallback xmlns="">
            <p:sp>
              <p:nvSpPr>
                <p:cNvPr id="100" name="TextBox 99"/>
                <p:cNvSpPr txBox="1">
                  <a:spLocks noRot="1" noChangeAspect="1" noMove="1" noResize="1" noEditPoints="1" noAdjustHandles="1" noChangeArrowheads="1" noChangeShapeType="1" noTextEdit="1"/>
                </p:cNvSpPr>
                <p:nvPr/>
              </p:nvSpPr>
              <p:spPr>
                <a:xfrm>
                  <a:off x="4419600" y="2057400"/>
                  <a:ext cx="533401" cy="603387"/>
                </a:xfrm>
                <a:prstGeom prst="rect">
                  <a:avLst/>
                </a:prstGeom>
                <a:blipFill rotWithShape="1">
                  <a:blip r:embed="rId17"/>
                  <a:stretch>
                    <a:fillRect l="-3333"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p:cNvSpPr txBox="1"/>
                <p:nvPr/>
              </p:nvSpPr>
              <p:spPr>
                <a:xfrm>
                  <a:off x="4419600" y="2514600"/>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𝑓</m:t>
                            </m:r>
                          </m:e>
                          <m:sub>
                            <m:r>
                              <a:rPr lang="en-US" i="1">
                                <a:latin typeface="Cambria Math"/>
                              </a:rPr>
                              <m:t>2</m:t>
                            </m:r>
                          </m:sub>
                        </m:sSub>
                      </m:oMath>
                    </m:oMathPara>
                  </a14:m>
                  <a:endParaRPr lang="en-US" dirty="0"/>
                </a:p>
              </p:txBody>
            </p:sp>
          </mc:Choice>
          <mc:Fallback xmlns="">
            <p:sp>
              <p:nvSpPr>
                <p:cNvPr id="101" name="TextBox 100"/>
                <p:cNvSpPr txBox="1">
                  <a:spLocks noRot="1" noChangeAspect="1" noMove="1" noResize="1" noEditPoints="1" noAdjustHandles="1" noChangeArrowheads="1" noChangeShapeType="1" noTextEdit="1"/>
                </p:cNvSpPr>
                <p:nvPr/>
              </p:nvSpPr>
              <p:spPr>
                <a:xfrm>
                  <a:off x="4419600" y="2514600"/>
                  <a:ext cx="533401" cy="603387"/>
                </a:xfrm>
                <a:prstGeom prst="rect">
                  <a:avLst/>
                </a:prstGeom>
                <a:blipFill rotWithShape="1">
                  <a:blip r:embed="rId18"/>
                  <a:stretch>
                    <a:fillRect l="-3333"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2" name="TextBox 101"/>
                <p:cNvSpPr txBox="1"/>
                <p:nvPr/>
              </p:nvSpPr>
              <p:spPr>
                <a:xfrm>
                  <a:off x="4419600" y="2960133"/>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𝑓</m:t>
                            </m:r>
                          </m:e>
                          <m:sub>
                            <m:r>
                              <a:rPr lang="en-US" i="1">
                                <a:latin typeface="Cambria Math"/>
                              </a:rPr>
                              <m:t>3</m:t>
                            </m:r>
                          </m:sub>
                        </m:sSub>
                      </m:oMath>
                    </m:oMathPara>
                  </a14:m>
                  <a:endParaRPr lang="en-US" dirty="0"/>
                </a:p>
              </p:txBody>
            </p:sp>
          </mc:Choice>
          <mc:Fallback xmlns="">
            <p:sp>
              <p:nvSpPr>
                <p:cNvPr id="102" name="TextBox 101"/>
                <p:cNvSpPr txBox="1">
                  <a:spLocks noRot="1" noChangeAspect="1" noMove="1" noResize="1" noEditPoints="1" noAdjustHandles="1" noChangeArrowheads="1" noChangeShapeType="1" noTextEdit="1"/>
                </p:cNvSpPr>
                <p:nvPr/>
              </p:nvSpPr>
              <p:spPr>
                <a:xfrm>
                  <a:off x="4419600" y="2960133"/>
                  <a:ext cx="533401" cy="603387"/>
                </a:xfrm>
                <a:prstGeom prst="rect">
                  <a:avLst/>
                </a:prstGeom>
                <a:blipFill rotWithShape="1">
                  <a:blip r:embed="rId19"/>
                  <a:stretch>
                    <a:fillRect l="-3333"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p:cNvSpPr txBox="1"/>
                <p:nvPr/>
              </p:nvSpPr>
              <p:spPr>
                <a:xfrm>
                  <a:off x="4419600" y="3341132"/>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𝑓</m:t>
                            </m:r>
                          </m:e>
                          <m:sub>
                            <m:r>
                              <a:rPr lang="en-US" i="1">
                                <a:latin typeface="Cambria Math"/>
                              </a:rPr>
                              <m:t>4</m:t>
                            </m:r>
                          </m:sub>
                        </m:sSub>
                      </m:oMath>
                    </m:oMathPara>
                  </a14:m>
                  <a:endParaRPr lang="en-US" dirty="0"/>
                </a:p>
              </p:txBody>
            </p:sp>
          </mc:Choice>
          <mc:Fallback xmlns="">
            <p:sp>
              <p:nvSpPr>
                <p:cNvPr id="103" name="TextBox 102"/>
                <p:cNvSpPr txBox="1">
                  <a:spLocks noRot="1" noChangeAspect="1" noMove="1" noResize="1" noEditPoints="1" noAdjustHandles="1" noChangeArrowheads="1" noChangeShapeType="1" noTextEdit="1"/>
                </p:cNvSpPr>
                <p:nvPr/>
              </p:nvSpPr>
              <p:spPr>
                <a:xfrm>
                  <a:off x="4419600" y="3341132"/>
                  <a:ext cx="533401" cy="603387"/>
                </a:xfrm>
                <a:prstGeom prst="rect">
                  <a:avLst/>
                </a:prstGeom>
                <a:blipFill rotWithShape="1">
                  <a:blip r:embed="rId20"/>
                  <a:stretch>
                    <a:fillRect l="-3333"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TextBox 103"/>
                <p:cNvSpPr txBox="1"/>
                <p:nvPr/>
              </p:nvSpPr>
              <p:spPr>
                <a:xfrm>
                  <a:off x="4419600" y="3809999"/>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𝑓</m:t>
                            </m:r>
                          </m:e>
                          <m:sub>
                            <m:r>
                              <a:rPr lang="en-US" i="1">
                                <a:latin typeface="Cambria Math"/>
                              </a:rPr>
                              <m:t>5</m:t>
                            </m:r>
                          </m:sub>
                        </m:sSub>
                      </m:oMath>
                    </m:oMathPara>
                  </a14:m>
                  <a:endParaRPr lang="en-US" dirty="0"/>
                </a:p>
              </p:txBody>
            </p:sp>
          </mc:Choice>
          <mc:Fallback xmlns="">
            <p:sp>
              <p:nvSpPr>
                <p:cNvPr id="104" name="TextBox 103"/>
                <p:cNvSpPr txBox="1">
                  <a:spLocks noRot="1" noChangeAspect="1" noMove="1" noResize="1" noEditPoints="1" noAdjustHandles="1" noChangeArrowheads="1" noChangeShapeType="1" noTextEdit="1"/>
                </p:cNvSpPr>
                <p:nvPr/>
              </p:nvSpPr>
              <p:spPr>
                <a:xfrm>
                  <a:off x="4419600" y="3809999"/>
                  <a:ext cx="533401" cy="603387"/>
                </a:xfrm>
                <a:prstGeom prst="rect">
                  <a:avLst/>
                </a:prstGeom>
                <a:blipFill rotWithShape="1">
                  <a:blip r:embed="rId21"/>
                  <a:stretch>
                    <a:fillRect l="-3333"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p:cNvSpPr txBox="1"/>
                <p:nvPr/>
              </p:nvSpPr>
              <p:spPr>
                <a:xfrm>
                  <a:off x="4419600" y="4255532"/>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𝑓</m:t>
                            </m:r>
                          </m:e>
                          <m:sub>
                            <m:r>
                              <a:rPr lang="en-US" i="1">
                                <a:latin typeface="Cambria Math"/>
                              </a:rPr>
                              <m:t>6</m:t>
                            </m:r>
                          </m:sub>
                        </m:sSub>
                      </m:oMath>
                    </m:oMathPara>
                  </a14:m>
                  <a:endParaRPr lang="en-US" dirty="0"/>
                </a:p>
              </p:txBody>
            </p:sp>
          </mc:Choice>
          <mc:Fallback xmlns="">
            <p:sp>
              <p:nvSpPr>
                <p:cNvPr id="105" name="TextBox 104"/>
                <p:cNvSpPr txBox="1">
                  <a:spLocks noRot="1" noChangeAspect="1" noMove="1" noResize="1" noEditPoints="1" noAdjustHandles="1" noChangeArrowheads="1" noChangeShapeType="1" noTextEdit="1"/>
                </p:cNvSpPr>
                <p:nvPr/>
              </p:nvSpPr>
              <p:spPr>
                <a:xfrm>
                  <a:off x="4419600" y="4255532"/>
                  <a:ext cx="533401" cy="603387"/>
                </a:xfrm>
                <a:prstGeom prst="rect">
                  <a:avLst/>
                </a:prstGeom>
                <a:blipFill rotWithShape="1">
                  <a:blip r:embed="rId22"/>
                  <a:stretch>
                    <a:fillRect l="-3333"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p:cNvSpPr txBox="1"/>
                <p:nvPr/>
              </p:nvSpPr>
              <p:spPr>
                <a:xfrm>
                  <a:off x="4419600" y="4724400"/>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𝑓</m:t>
                            </m:r>
                          </m:e>
                          <m:sub>
                            <m:r>
                              <a:rPr lang="en-US" i="1">
                                <a:latin typeface="Cambria Math"/>
                              </a:rPr>
                              <m:t>7</m:t>
                            </m:r>
                          </m:sub>
                        </m:sSub>
                      </m:oMath>
                    </m:oMathPara>
                  </a14:m>
                  <a:endParaRPr lang="en-US" dirty="0"/>
                </a:p>
              </p:txBody>
            </p:sp>
          </mc:Choice>
          <mc:Fallback xmlns="">
            <p:sp>
              <p:nvSpPr>
                <p:cNvPr id="106" name="TextBox 105"/>
                <p:cNvSpPr txBox="1">
                  <a:spLocks noRot="1" noChangeAspect="1" noMove="1" noResize="1" noEditPoints="1" noAdjustHandles="1" noChangeArrowheads="1" noChangeShapeType="1" noTextEdit="1"/>
                </p:cNvSpPr>
                <p:nvPr/>
              </p:nvSpPr>
              <p:spPr>
                <a:xfrm>
                  <a:off x="4419600" y="4724400"/>
                  <a:ext cx="533401" cy="603387"/>
                </a:xfrm>
                <a:prstGeom prst="rect">
                  <a:avLst/>
                </a:prstGeom>
                <a:blipFill rotWithShape="1">
                  <a:blip r:embed="rId23"/>
                  <a:stretch>
                    <a:fillRect l="-3333"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7" name="TextBox 106"/>
                <p:cNvSpPr txBox="1"/>
                <p:nvPr/>
              </p:nvSpPr>
              <p:spPr>
                <a:xfrm>
                  <a:off x="4419600" y="5410200"/>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107" name="TextBox 106"/>
                <p:cNvSpPr txBox="1">
                  <a:spLocks noRot="1" noChangeAspect="1" noMove="1" noResize="1" noEditPoints="1" noAdjustHandles="1" noChangeArrowheads="1" noChangeShapeType="1" noTextEdit="1"/>
                </p:cNvSpPr>
                <p:nvPr/>
              </p:nvSpPr>
              <p:spPr>
                <a:xfrm>
                  <a:off x="4419600" y="5410200"/>
                  <a:ext cx="533401" cy="603387"/>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8" name="TextBox 107"/>
                <p:cNvSpPr txBox="1"/>
                <p:nvPr/>
              </p:nvSpPr>
              <p:spPr>
                <a:xfrm>
                  <a:off x="5943600" y="6324601"/>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𝑥</m:t>
                        </m:r>
                      </m:oMath>
                    </m:oMathPara>
                  </a14:m>
                  <a:endParaRPr lang="en-US" dirty="0"/>
                </a:p>
              </p:txBody>
            </p:sp>
          </mc:Choice>
          <mc:Fallback xmlns="">
            <p:sp>
              <p:nvSpPr>
                <p:cNvPr id="108" name="TextBox 107"/>
                <p:cNvSpPr txBox="1">
                  <a:spLocks noRot="1" noChangeAspect="1" noMove="1" noResize="1" noEditPoints="1" noAdjustHandles="1" noChangeArrowheads="1" noChangeShapeType="1" noTextEdit="1"/>
                </p:cNvSpPr>
                <p:nvPr/>
              </p:nvSpPr>
              <p:spPr>
                <a:xfrm>
                  <a:off x="5943600" y="6324601"/>
                  <a:ext cx="533401" cy="603387"/>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9" name="TextBox 108"/>
                <p:cNvSpPr txBox="1"/>
                <p:nvPr/>
              </p:nvSpPr>
              <p:spPr>
                <a:xfrm>
                  <a:off x="6477000" y="6336268"/>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𝑦</m:t>
                        </m:r>
                      </m:oMath>
                    </m:oMathPara>
                  </a14:m>
                  <a:endParaRPr lang="en-US" dirty="0"/>
                </a:p>
              </p:txBody>
            </p:sp>
          </mc:Choice>
          <mc:Fallback xmlns="">
            <p:sp>
              <p:nvSpPr>
                <p:cNvPr id="109" name="TextBox 108"/>
                <p:cNvSpPr txBox="1">
                  <a:spLocks noRot="1" noChangeAspect="1" noMove="1" noResize="1" noEditPoints="1" noAdjustHandles="1" noChangeArrowheads="1" noChangeShapeType="1" noTextEdit="1"/>
                </p:cNvSpPr>
                <p:nvPr/>
              </p:nvSpPr>
              <p:spPr>
                <a:xfrm>
                  <a:off x="6477000" y="6336268"/>
                  <a:ext cx="533401" cy="603387"/>
                </a:xfrm>
                <a:prstGeom prst="rect">
                  <a:avLst/>
                </a:prstGeom>
                <a:blipFill>
                  <a:blip r:embed="rId26"/>
                  <a:stretch>
                    <a:fillRect b="-655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0" name="TextBox 109"/>
                <p:cNvSpPr txBox="1"/>
                <p:nvPr/>
              </p:nvSpPr>
              <p:spPr>
                <a:xfrm>
                  <a:off x="6934200" y="6336268"/>
                  <a:ext cx="533401" cy="60338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𝑧</m:t>
                        </m:r>
                      </m:oMath>
                    </m:oMathPara>
                  </a14:m>
                  <a:endParaRPr lang="en-US" dirty="0"/>
                </a:p>
              </p:txBody>
            </p:sp>
          </mc:Choice>
          <mc:Fallback xmlns="">
            <p:sp>
              <p:nvSpPr>
                <p:cNvPr id="110" name="TextBox 109"/>
                <p:cNvSpPr txBox="1">
                  <a:spLocks noRot="1" noChangeAspect="1" noMove="1" noResize="1" noEditPoints="1" noAdjustHandles="1" noChangeArrowheads="1" noChangeShapeType="1" noTextEdit="1"/>
                </p:cNvSpPr>
                <p:nvPr/>
              </p:nvSpPr>
              <p:spPr>
                <a:xfrm>
                  <a:off x="6934200" y="6336268"/>
                  <a:ext cx="533401" cy="603387"/>
                </a:xfrm>
                <a:prstGeom prst="rect">
                  <a:avLst/>
                </a:prstGeom>
                <a:blipFill>
                  <a:blip r:embed="rId27"/>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957938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nvGraphicFramePr>
            <p:xfrm>
              <a:off x="3048001" y="1397000"/>
              <a:ext cx="1455419" cy="3337560"/>
            </p:xfrm>
            <a:graphic>
              <a:graphicData uri="http://schemas.openxmlformats.org/drawingml/2006/table">
                <a:tbl>
                  <a:tblPr firstRow="1" bandRow="1">
                    <a:tableStyleId>{5C22544A-7EE6-4342-B048-85BDC9FD1C3A}</a:tableStyleId>
                  </a:tblPr>
                  <a:tblGrid>
                    <a:gridCol w="367030">
                      <a:extLst>
                        <a:ext uri="{9D8B030D-6E8A-4147-A177-3AD203B41FA5}">
                          <a16:colId xmlns:a16="http://schemas.microsoft.com/office/drawing/2014/main" val="20000"/>
                        </a:ext>
                      </a:extLst>
                    </a:gridCol>
                    <a:gridCol w="371792">
                      <a:extLst>
                        <a:ext uri="{9D8B030D-6E8A-4147-A177-3AD203B41FA5}">
                          <a16:colId xmlns:a16="http://schemas.microsoft.com/office/drawing/2014/main" val="20001"/>
                        </a:ext>
                      </a:extLst>
                    </a:gridCol>
                    <a:gridCol w="352742">
                      <a:extLst>
                        <a:ext uri="{9D8B030D-6E8A-4147-A177-3AD203B41FA5}">
                          <a16:colId xmlns:a16="http://schemas.microsoft.com/office/drawing/2014/main" val="20002"/>
                        </a:ext>
                      </a:extLst>
                    </a:gridCol>
                    <a:gridCol w="363855">
                      <a:extLst>
                        <a:ext uri="{9D8B030D-6E8A-4147-A177-3AD203B41FA5}">
                          <a16:colId xmlns:a16="http://schemas.microsoft.com/office/drawing/2014/main" val="20003"/>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𝒚</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𝒛</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𝒇</m:t>
                                </m:r>
                              </m:oMath>
                            </m:oMathPara>
                          </a14:m>
                          <a:endParaRPr lang="en-US" dirty="0"/>
                        </a:p>
                      </a:txBody>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1"/>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3"/>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4"/>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5"/>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7"/>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8"/>
                      </a:ext>
                    </a:extLst>
                  </a:tr>
                </a:tbl>
              </a:graphicData>
            </a:graphic>
          </p:graphicFrame>
        </mc:Choice>
        <mc:Fallback xmlns="">
          <p:graphicFrame>
            <p:nvGraphicFramePr>
              <p:cNvPr id="5" name="Table 4"/>
              <p:cNvGraphicFramePr>
                <a:graphicFrameLocks noGrp="1"/>
              </p:cNvGraphicFramePr>
              <p:nvPr/>
            </p:nvGraphicFramePr>
            <p:xfrm>
              <a:off x="3048001" y="1397000"/>
              <a:ext cx="1455419" cy="3337560"/>
            </p:xfrm>
            <a:graphic>
              <a:graphicData uri="http://schemas.openxmlformats.org/drawingml/2006/table">
                <a:tbl>
                  <a:tblPr firstRow="1" bandRow="1">
                    <a:tableStyleId>{5C22544A-7EE6-4342-B048-85BDC9FD1C3A}</a:tableStyleId>
                  </a:tblPr>
                  <a:tblGrid>
                    <a:gridCol w="367030">
                      <a:extLst>
                        <a:ext uri="{9D8B030D-6E8A-4147-A177-3AD203B41FA5}">
                          <a16:colId xmlns:a16="http://schemas.microsoft.com/office/drawing/2014/main" val="20000"/>
                        </a:ext>
                      </a:extLst>
                    </a:gridCol>
                    <a:gridCol w="371792">
                      <a:extLst>
                        <a:ext uri="{9D8B030D-6E8A-4147-A177-3AD203B41FA5}">
                          <a16:colId xmlns:a16="http://schemas.microsoft.com/office/drawing/2014/main" val="20001"/>
                        </a:ext>
                      </a:extLst>
                    </a:gridCol>
                    <a:gridCol w="352742">
                      <a:extLst>
                        <a:ext uri="{9D8B030D-6E8A-4147-A177-3AD203B41FA5}">
                          <a16:colId xmlns:a16="http://schemas.microsoft.com/office/drawing/2014/main" val="20002"/>
                        </a:ext>
                      </a:extLst>
                    </a:gridCol>
                    <a:gridCol w="363855">
                      <a:extLst>
                        <a:ext uri="{9D8B030D-6E8A-4147-A177-3AD203B41FA5}">
                          <a16:colId xmlns:a16="http://schemas.microsoft.com/office/drawing/2014/main" val="20003"/>
                        </a:ext>
                      </a:extLst>
                    </a:gridCol>
                  </a:tblGrid>
                  <a:tr h="370840">
                    <a:tc>
                      <a:txBody>
                        <a:bodyPr/>
                        <a:lstStyle/>
                        <a:p>
                          <a:endParaRPr lang="en-US"/>
                        </a:p>
                      </a:txBody>
                      <a:tcPr>
                        <a:blipFill>
                          <a:blip r:embed="rId2"/>
                          <a:stretch>
                            <a:fillRect l="-3333" t="-1639" r="-305000" b="-822951"/>
                          </a:stretch>
                        </a:blipFill>
                      </a:tcPr>
                    </a:tc>
                    <a:tc>
                      <a:txBody>
                        <a:bodyPr/>
                        <a:lstStyle/>
                        <a:p>
                          <a:endParaRPr lang="en-US"/>
                        </a:p>
                      </a:txBody>
                      <a:tcPr>
                        <a:blipFill>
                          <a:blip r:embed="rId2"/>
                          <a:stretch>
                            <a:fillRect l="-101639" t="-1639" r="-200000" b="-822951"/>
                          </a:stretch>
                        </a:blipFill>
                      </a:tcPr>
                    </a:tc>
                    <a:tc>
                      <a:txBody>
                        <a:bodyPr/>
                        <a:lstStyle/>
                        <a:p>
                          <a:endParaRPr lang="en-US"/>
                        </a:p>
                      </a:txBody>
                      <a:tcPr>
                        <a:blipFill>
                          <a:blip r:embed="rId2"/>
                          <a:stretch>
                            <a:fillRect l="-212069" t="-1639" r="-110345" b="-822951"/>
                          </a:stretch>
                        </a:blipFill>
                      </a:tcPr>
                    </a:tc>
                    <a:tc>
                      <a:txBody>
                        <a:bodyPr/>
                        <a:lstStyle/>
                        <a:p>
                          <a:endParaRPr lang="en-US"/>
                        </a:p>
                      </a:txBody>
                      <a:tcPr>
                        <a:blipFill>
                          <a:blip r:embed="rId2"/>
                          <a:stretch>
                            <a:fillRect l="-301667" t="-1639" r="-6667" b="-822951"/>
                          </a:stretch>
                        </a:blipFill>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301667" t="-101639" r="-6667" b="-722951"/>
                          </a:stretch>
                        </a:blipFill>
                      </a:tcPr>
                    </a:tc>
                    <a:extLst>
                      <a:ext uri="{0D108BD9-81ED-4DB2-BD59-A6C34878D82A}">
                        <a16:rowId xmlns:a16="http://schemas.microsoft.com/office/drawing/2014/main" val="10001"/>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1667" t="-201639" r="-6667" b="-622951"/>
                          </a:stretch>
                        </a:blipFill>
                      </a:tcPr>
                    </a:tc>
                    <a:extLst>
                      <a:ext uri="{0D108BD9-81ED-4DB2-BD59-A6C34878D82A}">
                        <a16:rowId xmlns:a16="http://schemas.microsoft.com/office/drawing/2014/main" val="1000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a:blip r:embed="rId2"/>
                          <a:stretch>
                            <a:fillRect l="-301667" t="-301639" r="-6667" b="-522951"/>
                          </a:stretch>
                        </a:blipFill>
                      </a:tcPr>
                    </a:tc>
                    <a:extLst>
                      <a:ext uri="{0D108BD9-81ED-4DB2-BD59-A6C34878D82A}">
                        <a16:rowId xmlns:a16="http://schemas.microsoft.com/office/drawing/2014/main" val="10003"/>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2"/>
                          <a:stretch>
                            <a:fillRect l="-301667" t="-408333" r="-6667" b="-431667"/>
                          </a:stretch>
                        </a:blipFill>
                      </a:tcPr>
                    </a:tc>
                    <a:extLst>
                      <a:ext uri="{0D108BD9-81ED-4DB2-BD59-A6C34878D82A}">
                        <a16:rowId xmlns:a16="http://schemas.microsoft.com/office/drawing/2014/main" val="10004"/>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301667" t="-500000" r="-6667" b="-324590"/>
                          </a:stretch>
                        </a:blipFill>
                      </a:tcPr>
                    </a:tc>
                    <a:extLst>
                      <a:ext uri="{0D108BD9-81ED-4DB2-BD59-A6C34878D82A}">
                        <a16:rowId xmlns:a16="http://schemas.microsoft.com/office/drawing/2014/main" val="10005"/>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1667" t="-600000" r="-6667" b="-224590"/>
                          </a:stretch>
                        </a:blipFill>
                      </a:tcPr>
                    </a:tc>
                    <a:extLst>
                      <a:ext uri="{0D108BD9-81ED-4DB2-BD59-A6C34878D82A}">
                        <a16:rowId xmlns:a16="http://schemas.microsoft.com/office/drawing/2014/main" val="1000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a:blip r:embed="rId2"/>
                          <a:stretch>
                            <a:fillRect l="-301667" t="-700000" r="-6667" b="-124590"/>
                          </a:stretch>
                        </a:blipFill>
                      </a:tcPr>
                    </a:tc>
                    <a:extLst>
                      <a:ext uri="{0D108BD9-81ED-4DB2-BD59-A6C34878D82A}">
                        <a16:rowId xmlns:a16="http://schemas.microsoft.com/office/drawing/2014/main" val="10007"/>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2"/>
                          <a:stretch>
                            <a:fillRect l="-301667" t="-800000" r="-6667" b="-24590"/>
                          </a:stretch>
                        </a:blipFill>
                      </a:tcPr>
                    </a:tc>
                    <a:extLst>
                      <a:ext uri="{0D108BD9-81ED-4DB2-BD59-A6C34878D82A}">
                        <a16:rowId xmlns:a16="http://schemas.microsoft.com/office/drawing/2014/main" val="10008"/>
                      </a:ext>
                    </a:extLst>
                  </a:tr>
                </a:tbl>
              </a:graphicData>
            </a:graphic>
          </p:graphicFrame>
        </mc:Fallback>
      </mc:AlternateContent>
      <p:sp>
        <p:nvSpPr>
          <p:cNvPr id="6" name="Rectangle 5"/>
          <p:cNvSpPr/>
          <p:nvPr/>
        </p:nvSpPr>
        <p:spPr>
          <a:xfrm>
            <a:off x="7086600" y="1371600"/>
            <a:ext cx="2286000" cy="4572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7239000" y="1524001"/>
            <a:ext cx="1905000" cy="646331"/>
          </a:xfrm>
          <a:prstGeom prst="rect">
            <a:avLst/>
          </a:prstGeom>
          <a:noFill/>
        </p:spPr>
        <p:txBody>
          <a:bodyPr wrap="square" rtlCol="0">
            <a:spAutoFit/>
          </a:bodyPr>
          <a:lstStyle/>
          <a:p>
            <a:pPr algn="ctr"/>
            <a:r>
              <a:rPr lang="en-US" dirty="0"/>
              <a:t>8-to-1 </a:t>
            </a:r>
          </a:p>
          <a:p>
            <a:pPr algn="ctr"/>
            <a:r>
              <a:rPr lang="en-US" dirty="0"/>
              <a:t>MUX</a:t>
            </a:r>
          </a:p>
        </p:txBody>
      </p:sp>
      <p:cxnSp>
        <p:nvCxnSpPr>
          <p:cNvPr id="9" name="Straight Connector 8"/>
          <p:cNvCxnSpPr/>
          <p:nvPr/>
        </p:nvCxnSpPr>
        <p:spPr>
          <a:xfrm>
            <a:off x="6477000" y="1804570"/>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6477000" y="2243405"/>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6477000" y="2642770"/>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477000" y="3081605"/>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477000" y="3557170"/>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477000" y="3996005"/>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477000" y="4395370"/>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6477000" y="4834205"/>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6477000" y="5562600"/>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9372600" y="3581400"/>
            <a:ext cx="6096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7696200" y="5943600"/>
            <a:ext cx="0" cy="365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8229600" y="5943600"/>
            <a:ext cx="0" cy="365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8763000" y="5943600"/>
            <a:ext cx="0" cy="3657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p:cNvSpPr txBox="1"/>
              <p:nvPr/>
            </p:nvSpPr>
            <p:spPr>
              <a:xfrm>
                <a:off x="7086600" y="1611868"/>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0</m:t>
                          </m:r>
                        </m:sub>
                      </m:sSub>
                    </m:oMath>
                  </m:oMathPara>
                </a14:m>
                <a:endParaRPr lang="en-US" dirty="0"/>
              </a:p>
            </p:txBody>
          </p:sp>
        </mc:Choice>
        <mc:Fallback xmlns="">
          <p:sp>
            <p:nvSpPr>
              <p:cNvPr id="23" name="TextBox 22"/>
              <p:cNvSpPr txBox="1">
                <a:spLocks noRot="1" noChangeAspect="1" noMove="1" noResize="1" noEditPoints="1" noAdjustHandles="1" noChangeArrowheads="1" noChangeShapeType="1" noTextEdit="1"/>
              </p:cNvSpPr>
              <p:nvPr/>
            </p:nvSpPr>
            <p:spPr>
              <a:xfrm>
                <a:off x="7086600" y="1611868"/>
                <a:ext cx="533400"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7086600" y="2069068"/>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1</m:t>
                          </m:r>
                        </m:sub>
                      </m:sSub>
                    </m:oMath>
                  </m:oMathPara>
                </a14:m>
                <a:endParaRPr lang="en-US" dirty="0"/>
              </a:p>
            </p:txBody>
          </p:sp>
        </mc:Choice>
        <mc:Fallback xmlns="">
          <p:sp>
            <p:nvSpPr>
              <p:cNvPr id="24" name="TextBox 23"/>
              <p:cNvSpPr txBox="1">
                <a:spLocks noRot="1" noChangeAspect="1" noMove="1" noResize="1" noEditPoints="1" noAdjustHandles="1" noChangeArrowheads="1" noChangeShapeType="1" noTextEdit="1"/>
              </p:cNvSpPr>
              <p:nvPr/>
            </p:nvSpPr>
            <p:spPr>
              <a:xfrm>
                <a:off x="7086600" y="2069068"/>
                <a:ext cx="533400"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7086600" y="2526268"/>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2</m:t>
                          </m:r>
                        </m:sub>
                      </m:sSub>
                    </m:oMath>
                  </m:oMathPara>
                </a14:m>
                <a:endParaRPr lang="en-US" dirty="0"/>
              </a:p>
            </p:txBody>
          </p:sp>
        </mc:Choice>
        <mc:Fallback xmlns="">
          <p:sp>
            <p:nvSpPr>
              <p:cNvPr id="25" name="TextBox 24"/>
              <p:cNvSpPr txBox="1">
                <a:spLocks noRot="1" noChangeAspect="1" noMove="1" noResize="1" noEditPoints="1" noAdjustHandles="1" noChangeArrowheads="1" noChangeShapeType="1" noTextEdit="1"/>
              </p:cNvSpPr>
              <p:nvPr/>
            </p:nvSpPr>
            <p:spPr>
              <a:xfrm>
                <a:off x="7086600" y="2526268"/>
                <a:ext cx="533400"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7086600" y="29718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3</m:t>
                          </m:r>
                        </m:sub>
                      </m:sSub>
                    </m:oMath>
                  </m:oMathPara>
                </a14:m>
                <a:endParaRPr lang="en-US" dirty="0"/>
              </a:p>
            </p:txBody>
          </p:sp>
        </mc:Choice>
        <mc:Fallback xmlns="">
          <p:sp>
            <p:nvSpPr>
              <p:cNvPr id="26" name="TextBox 25"/>
              <p:cNvSpPr txBox="1">
                <a:spLocks noRot="1" noChangeAspect="1" noMove="1" noResize="1" noEditPoints="1" noAdjustHandles="1" noChangeArrowheads="1" noChangeShapeType="1" noTextEdit="1"/>
              </p:cNvSpPr>
              <p:nvPr/>
            </p:nvSpPr>
            <p:spPr>
              <a:xfrm>
                <a:off x="7086600" y="2971800"/>
                <a:ext cx="533400" cy="36933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7086600" y="33528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4</m:t>
                          </m:r>
                        </m:sub>
                      </m:sSub>
                    </m:oMath>
                  </m:oMathPara>
                </a14:m>
                <a:endParaRPr lang="en-US" dirty="0"/>
              </a:p>
            </p:txBody>
          </p:sp>
        </mc:Choice>
        <mc:Fallback xmlns="">
          <p:sp>
            <p:nvSpPr>
              <p:cNvPr id="27" name="TextBox 26"/>
              <p:cNvSpPr txBox="1">
                <a:spLocks noRot="1" noChangeAspect="1" noMove="1" noResize="1" noEditPoints="1" noAdjustHandles="1" noChangeArrowheads="1" noChangeShapeType="1" noTextEdit="1"/>
              </p:cNvSpPr>
              <p:nvPr/>
            </p:nvSpPr>
            <p:spPr>
              <a:xfrm>
                <a:off x="7086600" y="3352800"/>
                <a:ext cx="533400" cy="36933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7086600" y="3821668"/>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5</m:t>
                          </m:r>
                        </m:sub>
                      </m:sSub>
                    </m:oMath>
                  </m:oMathPara>
                </a14:m>
                <a:endParaRPr lang="en-US" dirty="0"/>
              </a:p>
            </p:txBody>
          </p:sp>
        </mc:Choice>
        <mc:Fallback xmlns="">
          <p:sp>
            <p:nvSpPr>
              <p:cNvPr id="28" name="TextBox 27"/>
              <p:cNvSpPr txBox="1">
                <a:spLocks noRot="1" noChangeAspect="1" noMove="1" noResize="1" noEditPoints="1" noAdjustHandles="1" noChangeArrowheads="1" noChangeShapeType="1" noTextEdit="1"/>
              </p:cNvSpPr>
              <p:nvPr/>
            </p:nvSpPr>
            <p:spPr>
              <a:xfrm>
                <a:off x="7086600" y="3821668"/>
                <a:ext cx="533400" cy="369332"/>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9" name="TextBox 28"/>
              <p:cNvSpPr txBox="1"/>
              <p:nvPr/>
            </p:nvSpPr>
            <p:spPr>
              <a:xfrm>
                <a:off x="7086600" y="42672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6</m:t>
                          </m:r>
                        </m:sub>
                      </m:sSub>
                    </m:oMath>
                  </m:oMathPara>
                </a14:m>
                <a:endParaRPr lang="en-US" dirty="0"/>
              </a:p>
            </p:txBody>
          </p:sp>
        </mc:Choice>
        <mc:Fallback xmlns="">
          <p:sp>
            <p:nvSpPr>
              <p:cNvPr id="29" name="TextBox 28"/>
              <p:cNvSpPr txBox="1">
                <a:spLocks noRot="1" noChangeAspect="1" noMove="1" noResize="1" noEditPoints="1" noAdjustHandles="1" noChangeArrowheads="1" noChangeShapeType="1" noTextEdit="1"/>
              </p:cNvSpPr>
              <p:nvPr/>
            </p:nvSpPr>
            <p:spPr>
              <a:xfrm>
                <a:off x="7086600" y="4267200"/>
                <a:ext cx="533400" cy="36933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7086600" y="4736068"/>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7</m:t>
                          </m:r>
                        </m:sub>
                      </m:sSub>
                    </m:oMath>
                  </m:oMathPara>
                </a14:m>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7086600" y="4736068"/>
                <a:ext cx="533400" cy="369332"/>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7086600" y="5421868"/>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𝐸</m:t>
                      </m:r>
                    </m:oMath>
                  </m:oMathPara>
                </a14:m>
                <a:endParaRPr lang="en-US" dirty="0"/>
              </a:p>
            </p:txBody>
          </p:sp>
        </mc:Choice>
        <mc:Fallback xmlns="">
          <p:sp>
            <p:nvSpPr>
              <p:cNvPr id="31" name="TextBox 30"/>
              <p:cNvSpPr txBox="1">
                <a:spLocks noRot="1" noChangeAspect="1" noMove="1" noResize="1" noEditPoints="1" noAdjustHandles="1" noChangeArrowheads="1" noChangeShapeType="1" noTextEdit="1"/>
              </p:cNvSpPr>
              <p:nvPr/>
            </p:nvSpPr>
            <p:spPr>
              <a:xfrm>
                <a:off x="7086600" y="5421868"/>
                <a:ext cx="533400" cy="369332"/>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7467600" y="54102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𝑆</m:t>
                          </m:r>
                        </m:e>
                        <m:sub>
                          <m:r>
                            <a:rPr lang="en-US" i="1">
                              <a:latin typeface="Cambria Math"/>
                            </a:rPr>
                            <m:t>2</m:t>
                          </m:r>
                        </m:sub>
                      </m:sSub>
                    </m:oMath>
                  </m:oMathPara>
                </a14:m>
                <a:endParaRPr lang="en-US" dirty="0"/>
              </a:p>
            </p:txBody>
          </p:sp>
        </mc:Choice>
        <mc:Fallback xmlns="">
          <p:sp>
            <p:nvSpPr>
              <p:cNvPr id="32" name="TextBox 31"/>
              <p:cNvSpPr txBox="1">
                <a:spLocks noRot="1" noChangeAspect="1" noMove="1" noResize="1" noEditPoints="1" noAdjustHandles="1" noChangeArrowheads="1" noChangeShapeType="1" noTextEdit="1"/>
              </p:cNvSpPr>
              <p:nvPr/>
            </p:nvSpPr>
            <p:spPr>
              <a:xfrm>
                <a:off x="7467600" y="5410200"/>
                <a:ext cx="533400" cy="369332"/>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8001000" y="5421868"/>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𝑆</m:t>
                          </m:r>
                        </m:e>
                        <m:sub>
                          <m:r>
                            <a:rPr lang="en-US" i="1">
                              <a:latin typeface="Cambria Math"/>
                            </a:rPr>
                            <m:t>1</m:t>
                          </m:r>
                        </m:sub>
                      </m:sSub>
                    </m:oMath>
                  </m:oMathPara>
                </a14:m>
                <a:endParaRPr lang="en-US" dirty="0"/>
              </a:p>
            </p:txBody>
          </p:sp>
        </mc:Choice>
        <mc:Fallback xmlns="">
          <p:sp>
            <p:nvSpPr>
              <p:cNvPr id="33" name="TextBox 32"/>
              <p:cNvSpPr txBox="1">
                <a:spLocks noRot="1" noChangeAspect="1" noMove="1" noResize="1" noEditPoints="1" noAdjustHandles="1" noChangeArrowheads="1" noChangeShapeType="1" noTextEdit="1"/>
              </p:cNvSpPr>
              <p:nvPr/>
            </p:nvSpPr>
            <p:spPr>
              <a:xfrm>
                <a:off x="8001000" y="5421868"/>
                <a:ext cx="533400" cy="369332"/>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8458200" y="5421868"/>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𝑆</m:t>
                          </m:r>
                        </m:e>
                        <m:sub>
                          <m:r>
                            <a:rPr lang="en-US" i="1">
                              <a:latin typeface="Cambria Math"/>
                            </a:rPr>
                            <m:t>0</m:t>
                          </m:r>
                        </m:sub>
                      </m:sSub>
                    </m:oMath>
                  </m:oMathPara>
                </a14:m>
                <a:endParaRPr lang="en-US" dirty="0"/>
              </a:p>
            </p:txBody>
          </p:sp>
        </mc:Choice>
        <mc:Fallback xmlns="">
          <p:sp>
            <p:nvSpPr>
              <p:cNvPr id="34" name="TextBox 33"/>
              <p:cNvSpPr txBox="1">
                <a:spLocks noRot="1" noChangeAspect="1" noMove="1" noResize="1" noEditPoints="1" noAdjustHandles="1" noChangeArrowheads="1" noChangeShapeType="1" noTextEdit="1"/>
              </p:cNvSpPr>
              <p:nvPr/>
            </p:nvSpPr>
            <p:spPr>
              <a:xfrm>
                <a:off x="8458200" y="5421868"/>
                <a:ext cx="533400" cy="369332"/>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9372600" y="3212068"/>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𝑓</m:t>
                      </m:r>
                    </m:oMath>
                  </m:oMathPara>
                </a14:m>
                <a:endParaRPr lang="en-US" dirty="0"/>
              </a:p>
            </p:txBody>
          </p:sp>
        </mc:Choice>
        <mc:Fallback xmlns="">
          <p:sp>
            <p:nvSpPr>
              <p:cNvPr id="35" name="TextBox 34"/>
              <p:cNvSpPr txBox="1">
                <a:spLocks noRot="1" noChangeAspect="1" noMove="1" noResize="1" noEditPoints="1" noAdjustHandles="1" noChangeArrowheads="1" noChangeShapeType="1" noTextEdit="1"/>
              </p:cNvSpPr>
              <p:nvPr/>
            </p:nvSpPr>
            <p:spPr>
              <a:xfrm>
                <a:off x="9372600" y="3212068"/>
                <a:ext cx="533400" cy="369332"/>
              </a:xfrm>
              <a:prstGeom prst="rect">
                <a:avLst/>
              </a:prstGeom>
              <a:blipFill>
                <a:blip r:embed="rId15"/>
                <a:stretch>
                  <a:fillRect b="-114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5943600" y="16002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36" name="TextBox 35"/>
              <p:cNvSpPr txBox="1">
                <a:spLocks noRot="1" noChangeAspect="1" noMove="1" noResize="1" noEditPoints="1" noAdjustHandles="1" noChangeArrowheads="1" noChangeShapeType="1" noTextEdit="1"/>
              </p:cNvSpPr>
              <p:nvPr/>
            </p:nvSpPr>
            <p:spPr>
              <a:xfrm>
                <a:off x="5943600" y="1600200"/>
                <a:ext cx="533400" cy="369332"/>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5943600" y="20574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oMath>
                  </m:oMathPara>
                </a14:m>
                <a:endParaRPr lang="en-US" dirty="0"/>
              </a:p>
            </p:txBody>
          </p:sp>
        </mc:Choice>
        <mc:Fallback xmlns="">
          <p:sp>
            <p:nvSpPr>
              <p:cNvPr id="37" name="TextBox 36"/>
              <p:cNvSpPr txBox="1">
                <a:spLocks noRot="1" noChangeAspect="1" noMove="1" noResize="1" noEditPoints="1" noAdjustHandles="1" noChangeArrowheads="1" noChangeShapeType="1" noTextEdit="1"/>
              </p:cNvSpPr>
              <p:nvPr/>
            </p:nvSpPr>
            <p:spPr>
              <a:xfrm>
                <a:off x="5943600" y="2057400"/>
                <a:ext cx="533400" cy="369332"/>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5943600" y="25146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38" name="TextBox 37"/>
              <p:cNvSpPr txBox="1">
                <a:spLocks noRot="1" noChangeAspect="1" noMove="1" noResize="1" noEditPoints="1" noAdjustHandles="1" noChangeArrowheads="1" noChangeShapeType="1" noTextEdit="1"/>
              </p:cNvSpPr>
              <p:nvPr/>
            </p:nvSpPr>
            <p:spPr>
              <a:xfrm>
                <a:off x="5943600" y="2514600"/>
                <a:ext cx="533400" cy="369332"/>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5943600" y="2960132"/>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39" name="TextBox 38"/>
              <p:cNvSpPr txBox="1">
                <a:spLocks noRot="1" noChangeAspect="1" noMove="1" noResize="1" noEditPoints="1" noAdjustHandles="1" noChangeArrowheads="1" noChangeShapeType="1" noTextEdit="1"/>
              </p:cNvSpPr>
              <p:nvPr/>
            </p:nvSpPr>
            <p:spPr>
              <a:xfrm>
                <a:off x="5943600" y="2960132"/>
                <a:ext cx="533400" cy="369332"/>
              </a:xfrm>
              <a:prstGeom prst="rect">
                <a:avLst/>
              </a:prstGeom>
              <a:blipFill>
                <a:blip r:embed="rId1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5943600" y="3341132"/>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oMath>
                  </m:oMathPara>
                </a14:m>
                <a:endParaRPr lang="en-US" dirty="0"/>
              </a:p>
            </p:txBody>
          </p:sp>
        </mc:Choice>
        <mc:Fallback xmlns="">
          <p:sp>
            <p:nvSpPr>
              <p:cNvPr id="40" name="TextBox 39"/>
              <p:cNvSpPr txBox="1">
                <a:spLocks noRot="1" noChangeAspect="1" noMove="1" noResize="1" noEditPoints="1" noAdjustHandles="1" noChangeArrowheads="1" noChangeShapeType="1" noTextEdit="1"/>
              </p:cNvSpPr>
              <p:nvPr/>
            </p:nvSpPr>
            <p:spPr>
              <a:xfrm>
                <a:off x="5943600" y="3341132"/>
                <a:ext cx="533400" cy="369332"/>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1" name="TextBox 40"/>
              <p:cNvSpPr txBox="1"/>
              <p:nvPr/>
            </p:nvSpPr>
            <p:spPr>
              <a:xfrm>
                <a:off x="5943600" y="38100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41" name="TextBox 40"/>
              <p:cNvSpPr txBox="1">
                <a:spLocks noRot="1" noChangeAspect="1" noMove="1" noResize="1" noEditPoints="1" noAdjustHandles="1" noChangeArrowheads="1" noChangeShapeType="1" noTextEdit="1"/>
              </p:cNvSpPr>
              <p:nvPr/>
            </p:nvSpPr>
            <p:spPr>
              <a:xfrm>
                <a:off x="5943600" y="3810000"/>
                <a:ext cx="533400" cy="369332"/>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p:cNvSpPr txBox="1"/>
              <p:nvPr/>
            </p:nvSpPr>
            <p:spPr>
              <a:xfrm>
                <a:off x="5943600" y="4255532"/>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oMath>
                  </m:oMathPara>
                </a14:m>
                <a:endParaRPr lang="en-US" dirty="0"/>
              </a:p>
            </p:txBody>
          </p:sp>
        </mc:Choice>
        <mc:Fallback xmlns="">
          <p:sp>
            <p:nvSpPr>
              <p:cNvPr id="42" name="TextBox 41"/>
              <p:cNvSpPr txBox="1">
                <a:spLocks noRot="1" noChangeAspect="1" noMove="1" noResize="1" noEditPoints="1" noAdjustHandles="1" noChangeArrowheads="1" noChangeShapeType="1" noTextEdit="1"/>
              </p:cNvSpPr>
              <p:nvPr/>
            </p:nvSpPr>
            <p:spPr>
              <a:xfrm>
                <a:off x="5943600" y="4255532"/>
                <a:ext cx="533400" cy="369332"/>
              </a:xfrm>
              <a:prstGeom prst="rect">
                <a:avLst/>
              </a:prstGeom>
              <a:blipFill>
                <a:blip r:embed="rId1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5943600" y="47244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oMath>
                  </m:oMathPara>
                </a14:m>
                <a:endParaRPr lang="en-US" dirty="0"/>
              </a:p>
            </p:txBody>
          </p:sp>
        </mc:Choice>
        <mc:Fallback xmlns="">
          <p:sp>
            <p:nvSpPr>
              <p:cNvPr id="43" name="TextBox 42"/>
              <p:cNvSpPr txBox="1">
                <a:spLocks noRot="1" noChangeAspect="1" noMove="1" noResize="1" noEditPoints="1" noAdjustHandles="1" noChangeArrowheads="1" noChangeShapeType="1" noTextEdit="1"/>
              </p:cNvSpPr>
              <p:nvPr/>
            </p:nvSpPr>
            <p:spPr>
              <a:xfrm>
                <a:off x="5943600" y="4724400"/>
                <a:ext cx="533400" cy="369332"/>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5943600" y="54102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44" name="TextBox 43"/>
              <p:cNvSpPr txBox="1">
                <a:spLocks noRot="1" noChangeAspect="1" noMove="1" noResize="1" noEditPoints="1" noAdjustHandles="1" noChangeArrowheads="1" noChangeShapeType="1" noTextEdit="1"/>
              </p:cNvSpPr>
              <p:nvPr/>
            </p:nvSpPr>
            <p:spPr>
              <a:xfrm>
                <a:off x="5943600" y="5410200"/>
                <a:ext cx="533400" cy="369332"/>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6" name="TextBox 45"/>
              <p:cNvSpPr txBox="1"/>
              <p:nvPr/>
            </p:nvSpPr>
            <p:spPr>
              <a:xfrm>
                <a:off x="7467600" y="63246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𝑥</m:t>
                      </m:r>
                    </m:oMath>
                  </m:oMathPara>
                </a14:m>
                <a:endParaRPr lang="en-US" dirty="0"/>
              </a:p>
            </p:txBody>
          </p:sp>
        </mc:Choice>
        <mc:Fallback xmlns="">
          <p:sp>
            <p:nvSpPr>
              <p:cNvPr id="46" name="TextBox 45"/>
              <p:cNvSpPr txBox="1">
                <a:spLocks noRot="1" noChangeAspect="1" noMove="1" noResize="1" noEditPoints="1" noAdjustHandles="1" noChangeArrowheads="1" noChangeShapeType="1" noTextEdit="1"/>
              </p:cNvSpPr>
              <p:nvPr/>
            </p:nvSpPr>
            <p:spPr>
              <a:xfrm>
                <a:off x="7467600" y="6324600"/>
                <a:ext cx="533400" cy="369332"/>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7" name="TextBox 46"/>
              <p:cNvSpPr txBox="1"/>
              <p:nvPr/>
            </p:nvSpPr>
            <p:spPr>
              <a:xfrm>
                <a:off x="8001000" y="6336268"/>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𝑦</m:t>
                      </m:r>
                    </m:oMath>
                  </m:oMathPara>
                </a14:m>
                <a:endParaRPr lang="en-US" dirty="0"/>
              </a:p>
            </p:txBody>
          </p:sp>
        </mc:Choice>
        <mc:Fallback xmlns="">
          <p:sp>
            <p:nvSpPr>
              <p:cNvPr id="47" name="TextBox 46"/>
              <p:cNvSpPr txBox="1">
                <a:spLocks noRot="1" noChangeAspect="1" noMove="1" noResize="1" noEditPoints="1" noAdjustHandles="1" noChangeArrowheads="1" noChangeShapeType="1" noTextEdit="1"/>
              </p:cNvSpPr>
              <p:nvPr/>
            </p:nvSpPr>
            <p:spPr>
              <a:xfrm>
                <a:off x="8001000" y="6336268"/>
                <a:ext cx="533400" cy="369332"/>
              </a:xfrm>
              <a:prstGeom prst="rect">
                <a:avLst/>
              </a:prstGeom>
              <a:blipFill>
                <a:blip r:embed="rId23"/>
                <a:stretch>
                  <a:fillRect b="-655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8" name="TextBox 47"/>
              <p:cNvSpPr txBox="1"/>
              <p:nvPr/>
            </p:nvSpPr>
            <p:spPr>
              <a:xfrm>
                <a:off x="8458200" y="6336268"/>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𝑧</m:t>
                      </m:r>
                    </m:oMath>
                  </m:oMathPara>
                </a14:m>
                <a:endParaRPr lang="en-US" dirty="0"/>
              </a:p>
            </p:txBody>
          </p:sp>
        </mc:Choice>
        <mc:Fallback xmlns="">
          <p:sp>
            <p:nvSpPr>
              <p:cNvPr id="48" name="TextBox 47"/>
              <p:cNvSpPr txBox="1">
                <a:spLocks noRot="1" noChangeAspect="1" noMove="1" noResize="1" noEditPoints="1" noAdjustHandles="1" noChangeArrowheads="1" noChangeShapeType="1" noTextEdit="1"/>
              </p:cNvSpPr>
              <p:nvPr/>
            </p:nvSpPr>
            <p:spPr>
              <a:xfrm>
                <a:off x="8458200" y="6336268"/>
                <a:ext cx="533400" cy="369332"/>
              </a:xfrm>
              <a:prstGeom prst="rect">
                <a:avLst/>
              </a:prstGeom>
              <a:blipFill>
                <a:blip r:embed="rId2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865204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P spid="40" grpId="0"/>
      <p:bldP spid="41" grpId="0"/>
      <p:bldP spid="42" grpId="0"/>
      <p:bldP spid="43" grpId="0"/>
      <p:bldP spid="44"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Design with Multiplexers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US" dirty="0"/>
                  <a:t>If at least one input variable of a Boolean function is available in both its complemented and </a:t>
                </a:r>
                <a:r>
                  <a:rPr lang="en-US" dirty="0" err="1"/>
                  <a:t>uncomplemented</a:t>
                </a:r>
                <a:r>
                  <a:rPr lang="en-US" dirty="0"/>
                  <a:t> form, any </a:t>
                </a:r>
                <a14:m>
                  <m:oMath xmlns:m="http://schemas.openxmlformats.org/officeDocument/2006/math">
                    <m:r>
                      <a:rPr lang="en-US" b="0" i="1" smtClean="0">
                        <a:latin typeface="Cambria Math"/>
                      </a:rPr>
                      <m:t>𝑛</m:t>
                    </m:r>
                  </m:oMath>
                </a14:m>
                <a:r>
                  <a:rPr lang="en-US" dirty="0"/>
                  <a:t>-variable function is realizable with a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2</m:t>
                        </m:r>
                      </m:e>
                      <m:sup>
                        <m:r>
                          <a:rPr lang="en-US" b="0" i="1" smtClean="0">
                            <a:latin typeface="Cambria Math"/>
                          </a:rPr>
                          <m:t>𝑛</m:t>
                        </m:r>
                        <m:r>
                          <a:rPr lang="en-US" b="0" i="1" smtClean="0">
                            <a:latin typeface="Cambria Math"/>
                          </a:rPr>
                          <m:t>−1</m:t>
                        </m:r>
                      </m:sup>
                    </m:sSup>
                  </m:oMath>
                </a14:m>
                <a:r>
                  <a:rPr lang="en-US" dirty="0"/>
                  <a:t>-to-1-line multiplexer.</a:t>
                </a:r>
              </a:p>
              <a:p>
                <a:r>
                  <a:rPr lang="en-US" dirty="0"/>
                  <a:t>For the case of a 3-variable function, only a 4-to-1 multiplexer is needed.</a:t>
                </a:r>
              </a:p>
              <a:p>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r>
                          <a:rPr lang="en-US" b="0" i="1" smtClean="0">
                            <a:latin typeface="Cambria Math"/>
                          </a:rPr>
                          <m:t>𝑧</m:t>
                        </m:r>
                      </m:e>
                    </m:d>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0</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𝑥</m:t>
                        </m:r>
                      </m:e>
                    </m:bar>
                    <m:r>
                      <a:rPr lang="en-US" b="0" i="1" smtClean="0">
                        <a:latin typeface="Cambria Math"/>
                      </a:rPr>
                      <m:t> </m:t>
                    </m:r>
                    <m:bar>
                      <m:barPr>
                        <m:pos m:val="top"/>
                        <m:ctrlPr>
                          <a:rPr lang="en-US" b="0" i="1" smtClean="0">
                            <a:latin typeface="Cambria Math" panose="02040503050406030204" pitchFamily="18" charset="0"/>
                          </a:rPr>
                        </m:ctrlPr>
                      </m:barPr>
                      <m:e>
                        <m:r>
                          <a:rPr lang="en-US" b="0" i="1" smtClean="0">
                            <a:latin typeface="Cambria Math"/>
                          </a:rPr>
                          <m:t>𝑦</m:t>
                        </m:r>
                      </m:e>
                    </m:bar>
                    <m:r>
                      <a:rPr lang="en-US" b="0" i="1" smtClean="0">
                        <a:latin typeface="Cambria Math"/>
                      </a:rPr>
                      <m:t> </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1</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𝑥</m:t>
                        </m:r>
                      </m:e>
                    </m:bar>
                    <m:r>
                      <a:rPr lang="en-US" b="0" i="1" smtClean="0">
                        <a:latin typeface="Cambria Math"/>
                      </a:rPr>
                      <m:t> </m:t>
                    </m:r>
                    <m:bar>
                      <m:barPr>
                        <m:pos m:val="top"/>
                        <m:ctrlPr>
                          <a:rPr lang="en-US" b="0" i="1" smtClean="0">
                            <a:latin typeface="Cambria Math" panose="02040503050406030204" pitchFamily="18" charset="0"/>
                          </a:rPr>
                        </m:ctrlPr>
                      </m:barPr>
                      <m:e>
                        <m:r>
                          <a:rPr lang="en-US" b="0" i="1" smtClean="0">
                            <a:latin typeface="Cambria Math"/>
                          </a:rPr>
                          <m:t>𝑦</m:t>
                        </m:r>
                      </m:e>
                    </m:bar>
                    <m:r>
                      <a:rPr lang="en-US" b="0" i="1" smtClean="0">
                        <a:latin typeface="Cambria Math"/>
                      </a:rPr>
                      <m:t> </m:t>
                    </m:r>
                    <m:r>
                      <a:rPr lang="en-US" b="0" i="1" smtClean="0">
                        <a:latin typeface="Cambria Math"/>
                      </a:rPr>
                      <m:t>𝑧</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2</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𝑥</m:t>
                        </m:r>
                      </m:e>
                    </m:bar>
                    <m:r>
                      <a:rPr lang="en-US" b="0" i="1" smtClean="0">
                        <a:latin typeface="Cambria Math"/>
                      </a:rPr>
                      <m:t>𝑦</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3</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𝑥</m:t>
                        </m:r>
                      </m:e>
                    </m:bar>
                    <m:r>
                      <a:rPr lang="en-US" b="0" i="1" smtClean="0">
                        <a:latin typeface="Cambria Math"/>
                      </a:rPr>
                      <m:t>𝑦𝑧</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4</m:t>
                        </m:r>
                      </m:sub>
                    </m:sSub>
                    <m:r>
                      <a:rPr lang="en-US" b="0" i="1" smtClean="0">
                        <a:latin typeface="Cambria Math"/>
                      </a:rPr>
                      <m:t>⋅</m:t>
                    </m:r>
                    <m:r>
                      <a:rPr lang="en-US" b="0" i="1" smtClean="0">
                        <a:latin typeface="Cambria Math"/>
                      </a:rPr>
                      <m:t>𝑥</m:t>
                    </m:r>
                    <m:bar>
                      <m:barPr>
                        <m:pos m:val="top"/>
                        <m:ctrlPr>
                          <a:rPr lang="en-US" b="0" i="1" smtClean="0">
                            <a:latin typeface="Cambria Math" panose="02040503050406030204" pitchFamily="18" charset="0"/>
                          </a:rPr>
                        </m:ctrlPr>
                      </m:barPr>
                      <m:e>
                        <m:r>
                          <a:rPr lang="en-US" b="0" i="1" smtClean="0">
                            <a:latin typeface="Cambria Math"/>
                          </a:rPr>
                          <m:t>𝑦</m:t>
                        </m:r>
                      </m:e>
                    </m:bar>
                    <m:r>
                      <a:rPr lang="en-US" b="0" i="1" smtClean="0">
                        <a:latin typeface="Cambria Math"/>
                      </a:rPr>
                      <m:t> </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5</m:t>
                        </m:r>
                      </m:sub>
                    </m:sSub>
                    <m:r>
                      <a:rPr lang="en-US" b="0" i="1" smtClean="0">
                        <a:latin typeface="Cambria Math"/>
                      </a:rPr>
                      <m:t>⋅</m:t>
                    </m:r>
                    <m:r>
                      <a:rPr lang="en-US" b="0" i="1" smtClean="0">
                        <a:latin typeface="Cambria Math"/>
                      </a:rPr>
                      <m:t>𝑥</m:t>
                    </m:r>
                    <m:bar>
                      <m:barPr>
                        <m:pos m:val="top"/>
                        <m:ctrlPr>
                          <a:rPr lang="en-US" b="0" i="1" smtClean="0">
                            <a:latin typeface="Cambria Math" panose="02040503050406030204" pitchFamily="18" charset="0"/>
                          </a:rPr>
                        </m:ctrlPr>
                      </m:barPr>
                      <m:e>
                        <m:r>
                          <a:rPr lang="en-US" b="0" i="1" smtClean="0">
                            <a:latin typeface="Cambria Math"/>
                          </a:rPr>
                          <m:t>𝑦</m:t>
                        </m:r>
                      </m:e>
                    </m:bar>
                    <m:r>
                      <a:rPr lang="en-US" b="0" i="1" smtClean="0">
                        <a:latin typeface="Cambria Math"/>
                      </a:rPr>
                      <m:t>𝑧</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6</m:t>
                        </m:r>
                      </m:sub>
                    </m:sSub>
                    <m:r>
                      <a:rPr lang="en-US" b="0" i="1" smtClean="0">
                        <a:latin typeface="Cambria Math"/>
                      </a:rPr>
                      <m:t>𝑥𝑦</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7</m:t>
                        </m:r>
                      </m:sub>
                    </m:sSub>
                    <m:r>
                      <a:rPr lang="en-US" b="0" i="1" smtClean="0">
                        <a:latin typeface="Cambria Math"/>
                      </a:rPr>
                      <m:t>⋅</m:t>
                    </m:r>
                    <m:r>
                      <a:rPr lang="en-US" b="0" i="1" smtClean="0">
                        <a:latin typeface="Cambria Math"/>
                      </a:rPr>
                      <m:t>𝑥𝑦𝑧</m:t>
                    </m:r>
                  </m:oMath>
                </a14:m>
                <a:endParaRPr lang="en-US" b="0" dirty="0"/>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0</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1</m:t>
                              </m:r>
                            </m:sub>
                          </m:sSub>
                          <m:r>
                            <a:rPr lang="en-US" b="0" i="1" smtClean="0">
                              <a:latin typeface="Cambria Math"/>
                            </a:rPr>
                            <m:t>⋅</m:t>
                          </m:r>
                          <m:r>
                            <a:rPr lang="en-US" b="0" i="1" smtClean="0">
                              <a:latin typeface="Cambria Math"/>
                            </a:rPr>
                            <m:t>𝑧</m:t>
                          </m:r>
                        </m:e>
                      </m:d>
                      <m:bar>
                        <m:barPr>
                          <m:pos m:val="top"/>
                          <m:ctrlPr>
                            <a:rPr lang="en-US" b="0" i="1" smtClean="0">
                              <a:latin typeface="Cambria Math" panose="02040503050406030204" pitchFamily="18" charset="0"/>
                            </a:rPr>
                          </m:ctrlPr>
                        </m:barPr>
                        <m:e>
                          <m:r>
                            <a:rPr lang="en-US" b="0" i="1" smtClean="0">
                              <a:latin typeface="Cambria Math"/>
                            </a:rPr>
                            <m:t>𝑥</m:t>
                          </m:r>
                        </m:e>
                      </m:bar>
                      <m:r>
                        <a:rPr lang="en-US" b="0" i="1" smtClean="0">
                          <a:latin typeface="Cambria Math"/>
                        </a:rPr>
                        <m:t> </m:t>
                      </m:r>
                      <m:bar>
                        <m:barPr>
                          <m:pos m:val="top"/>
                          <m:ctrlPr>
                            <a:rPr lang="en-US" b="0" i="1" smtClean="0">
                              <a:latin typeface="Cambria Math" panose="02040503050406030204" pitchFamily="18" charset="0"/>
                            </a:rPr>
                          </m:ctrlPr>
                        </m:barPr>
                        <m:e>
                          <m:r>
                            <a:rPr lang="en-US" b="0" i="1" smtClean="0">
                              <a:latin typeface="Cambria Math"/>
                            </a:rPr>
                            <m:t>𝑦</m:t>
                          </m:r>
                        </m:e>
                      </m:bar>
                      <m:r>
                        <a:rPr lang="en-US" b="0" i="1" smtClean="0">
                          <a:latin typeface="Cambria Math"/>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2</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3</m:t>
                              </m:r>
                            </m:sub>
                          </m:sSub>
                          <m:r>
                            <a:rPr lang="en-US" b="0" i="1" smtClean="0">
                              <a:latin typeface="Cambria Math"/>
                            </a:rPr>
                            <m:t>⋅</m:t>
                          </m:r>
                          <m:r>
                            <a:rPr lang="en-US" b="0" i="1" smtClean="0">
                              <a:latin typeface="Cambria Math"/>
                            </a:rPr>
                            <m:t>𝑧</m:t>
                          </m:r>
                        </m:e>
                      </m:d>
                      <m:bar>
                        <m:barPr>
                          <m:pos m:val="top"/>
                          <m:ctrlPr>
                            <a:rPr lang="en-US" b="0" i="1" smtClean="0">
                              <a:latin typeface="Cambria Math" panose="02040503050406030204" pitchFamily="18" charset="0"/>
                            </a:rPr>
                          </m:ctrlPr>
                        </m:barPr>
                        <m:e>
                          <m:r>
                            <a:rPr lang="en-US" b="0" i="1" smtClean="0">
                              <a:latin typeface="Cambria Math"/>
                            </a:rPr>
                            <m:t>𝑥</m:t>
                          </m:r>
                        </m:e>
                      </m:bar>
                      <m:r>
                        <a:rPr lang="en-US" b="0" i="1" smtClean="0">
                          <a:latin typeface="Cambria Math"/>
                        </a:rPr>
                        <m:t>𝑦</m:t>
                      </m:r>
                      <m:r>
                        <a:rPr lang="en-US" b="0" i="0" smtClean="0">
                          <a:latin typeface="Cambria Math"/>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4</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5</m:t>
                              </m:r>
                            </m:sub>
                          </m:sSub>
                          <m:r>
                            <a:rPr lang="en-US" b="0" i="1" smtClean="0">
                              <a:latin typeface="Cambria Math"/>
                            </a:rPr>
                            <m:t>⋅</m:t>
                          </m:r>
                          <m:r>
                            <a:rPr lang="en-US" b="0" i="1" smtClean="0">
                              <a:latin typeface="Cambria Math"/>
                            </a:rPr>
                            <m:t>𝑧</m:t>
                          </m:r>
                        </m:e>
                      </m:d>
                      <m:r>
                        <a:rPr lang="en-US" b="0" i="1" smtClean="0">
                          <a:latin typeface="Cambria Math"/>
                        </a:rPr>
                        <m:t>𝑥</m:t>
                      </m:r>
                      <m:bar>
                        <m:barPr>
                          <m:pos m:val="top"/>
                          <m:ctrlPr>
                            <a:rPr lang="en-US" b="0" i="1" smtClean="0">
                              <a:latin typeface="Cambria Math" panose="02040503050406030204" pitchFamily="18" charset="0"/>
                            </a:rPr>
                          </m:ctrlPr>
                        </m:barPr>
                        <m:e>
                          <m:r>
                            <a:rPr lang="en-US" b="0" i="1" smtClean="0">
                              <a:latin typeface="Cambria Math"/>
                            </a:rPr>
                            <m:t>𝑦</m:t>
                          </m:r>
                        </m:e>
                      </m:bar>
                      <m:r>
                        <a:rPr lang="en-US" b="0" i="1" smtClean="0">
                          <a:latin typeface="Cambria Math"/>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6</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7</m:t>
                              </m:r>
                            </m:sub>
                          </m:sSub>
                          <m:r>
                            <a:rPr lang="en-US" b="0" i="1" smtClean="0">
                              <a:latin typeface="Cambria Math"/>
                            </a:rPr>
                            <m:t>⋅</m:t>
                          </m:r>
                          <m:r>
                            <a:rPr lang="en-US" b="0" i="1" smtClean="0">
                              <a:latin typeface="Cambria Math"/>
                            </a:rPr>
                            <m:t>𝑧</m:t>
                          </m:r>
                        </m:e>
                      </m:d>
                      <m:r>
                        <a:rPr lang="en-US" b="0" i="1" smtClean="0">
                          <a:latin typeface="Cambria Math"/>
                        </a:rPr>
                        <m:t>𝑥𝑦</m:t>
                      </m:r>
                    </m:oMath>
                  </m:oMathPara>
                </a14:m>
                <a:endParaRPr lang="en-US" b="0" dirty="0"/>
              </a:p>
              <a:p>
                <a:r>
                  <a:rPr lang="en-US" dirty="0"/>
                  <a:t>When E = 1, 4-to-1 Multiplexer has the form</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0</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1</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1</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2</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1</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3</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2</m:t>
                          </m:r>
                        </m:sub>
                      </m:sSub>
                    </m:oMath>
                  </m:oMathPara>
                </a14:m>
                <a:endParaRPr lang="en-US" dirty="0"/>
              </a:p>
              <a:p>
                <a:pPr marL="0" indent="0">
                  <a:buNone/>
                </a:pPr>
                <a:endParaRPr lang="en-US" dirty="0"/>
              </a:p>
              <a:p>
                <a:pPr marL="0" indent="0">
                  <a:buNone/>
                </a:pPr>
                <a:endParaRPr lang="en-US" b="0"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28" t="-2101"/>
                </a:stretch>
              </a:blipFill>
            </p:spPr>
            <p:txBody>
              <a:bodyPr/>
              <a:lstStyle/>
              <a:p>
                <a:r>
                  <a:rPr lang="en-IN">
                    <a:noFill/>
                  </a:rPr>
                  <a:t> </a:t>
                </a:r>
              </a:p>
            </p:txBody>
          </p:sp>
        </mc:Fallback>
      </mc:AlternateContent>
    </p:spTree>
    <p:extLst>
      <p:ext uri="{BB962C8B-B14F-4D97-AF65-F5344CB8AC3E}">
        <p14:creationId xmlns:p14="http://schemas.microsoft.com/office/powerpoint/2010/main" val="1743845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 Design with Multiplexers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81200" y="1524001"/>
                <a:ext cx="8229600" cy="4525963"/>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r>
                        <a:rPr lang="en-US" b="0" i="1" smtClean="0">
                          <a:latin typeface="Cambria Math"/>
                        </a:rPr>
                        <m:t>𝑧</m:t>
                      </m:r>
                      <m:r>
                        <a:rPr lang="en-US" b="0" i="1" smtClean="0">
                          <a:latin typeface="Cambria Math"/>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0</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1</m:t>
                              </m:r>
                            </m:sub>
                          </m:sSub>
                          <m:r>
                            <a:rPr lang="en-US" b="0" i="1" smtClean="0">
                              <a:latin typeface="Cambria Math"/>
                            </a:rPr>
                            <m:t>⋅</m:t>
                          </m:r>
                          <m:r>
                            <a:rPr lang="en-US" b="0" i="1" smtClean="0">
                              <a:latin typeface="Cambria Math"/>
                            </a:rPr>
                            <m:t>𝑧</m:t>
                          </m:r>
                        </m:e>
                      </m:d>
                      <m:bar>
                        <m:barPr>
                          <m:pos m:val="top"/>
                          <m:ctrlPr>
                            <a:rPr lang="en-US" b="0" i="1" smtClean="0">
                              <a:latin typeface="Cambria Math" panose="02040503050406030204" pitchFamily="18" charset="0"/>
                            </a:rPr>
                          </m:ctrlPr>
                        </m:barPr>
                        <m:e>
                          <m:r>
                            <a:rPr lang="en-US" b="0" i="1" smtClean="0">
                              <a:latin typeface="Cambria Math"/>
                            </a:rPr>
                            <m:t>𝑥</m:t>
                          </m:r>
                        </m:e>
                      </m:bar>
                      <m:r>
                        <a:rPr lang="en-US" b="0" i="1" smtClean="0">
                          <a:latin typeface="Cambria Math"/>
                        </a:rPr>
                        <m:t> </m:t>
                      </m:r>
                      <m:bar>
                        <m:barPr>
                          <m:pos m:val="top"/>
                          <m:ctrlPr>
                            <a:rPr lang="en-US" b="0" i="1" smtClean="0">
                              <a:latin typeface="Cambria Math" panose="02040503050406030204" pitchFamily="18" charset="0"/>
                            </a:rPr>
                          </m:ctrlPr>
                        </m:barPr>
                        <m:e>
                          <m:r>
                            <a:rPr lang="en-US" b="0" i="1" smtClean="0">
                              <a:latin typeface="Cambria Math"/>
                            </a:rPr>
                            <m:t>𝑦</m:t>
                          </m:r>
                        </m:e>
                      </m:bar>
                      <m:r>
                        <a:rPr lang="en-US" b="0" i="1" smtClean="0">
                          <a:latin typeface="Cambria Math"/>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2</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3</m:t>
                              </m:r>
                            </m:sub>
                          </m:sSub>
                          <m:r>
                            <a:rPr lang="en-US" b="0" i="1" smtClean="0">
                              <a:latin typeface="Cambria Math"/>
                            </a:rPr>
                            <m:t>⋅</m:t>
                          </m:r>
                          <m:r>
                            <a:rPr lang="en-US" b="0" i="1" smtClean="0">
                              <a:latin typeface="Cambria Math"/>
                            </a:rPr>
                            <m:t>𝑧</m:t>
                          </m:r>
                        </m:e>
                      </m:d>
                      <m:bar>
                        <m:barPr>
                          <m:pos m:val="top"/>
                          <m:ctrlPr>
                            <a:rPr lang="en-US" b="0" i="1" smtClean="0">
                              <a:latin typeface="Cambria Math" panose="02040503050406030204" pitchFamily="18" charset="0"/>
                            </a:rPr>
                          </m:ctrlPr>
                        </m:barPr>
                        <m:e>
                          <m:r>
                            <a:rPr lang="en-US" b="0" i="1" smtClean="0">
                              <a:latin typeface="Cambria Math"/>
                            </a:rPr>
                            <m:t>𝑥</m:t>
                          </m:r>
                        </m:e>
                      </m:bar>
                      <m:r>
                        <a:rPr lang="en-US" b="0" i="1" smtClean="0">
                          <a:latin typeface="Cambria Math"/>
                        </a:rPr>
                        <m:t>𝑦</m:t>
                      </m:r>
                      <m:r>
                        <a:rPr lang="en-US" b="0" i="0" smtClean="0">
                          <a:latin typeface="Cambria Math"/>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4</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5</m:t>
                              </m:r>
                            </m:sub>
                          </m:sSub>
                          <m:r>
                            <a:rPr lang="en-US" b="0" i="1" smtClean="0">
                              <a:latin typeface="Cambria Math"/>
                            </a:rPr>
                            <m:t>⋅</m:t>
                          </m:r>
                          <m:r>
                            <a:rPr lang="en-US" b="0" i="1" smtClean="0">
                              <a:latin typeface="Cambria Math"/>
                            </a:rPr>
                            <m:t>𝑧</m:t>
                          </m:r>
                        </m:e>
                      </m:d>
                      <m:r>
                        <a:rPr lang="en-US" b="0" i="1" smtClean="0">
                          <a:latin typeface="Cambria Math"/>
                        </a:rPr>
                        <m:t>𝑥</m:t>
                      </m:r>
                      <m:bar>
                        <m:barPr>
                          <m:pos m:val="top"/>
                          <m:ctrlPr>
                            <a:rPr lang="en-US" b="0" i="1" smtClean="0">
                              <a:latin typeface="Cambria Math" panose="02040503050406030204" pitchFamily="18" charset="0"/>
                            </a:rPr>
                          </m:ctrlPr>
                        </m:barPr>
                        <m:e>
                          <m:r>
                            <a:rPr lang="en-US" b="0" i="1" smtClean="0">
                              <a:latin typeface="Cambria Math"/>
                            </a:rPr>
                            <m:t>𝑦</m:t>
                          </m:r>
                        </m:e>
                      </m:bar>
                      <m:r>
                        <a:rPr lang="en-US" b="0" i="1" smtClean="0">
                          <a:latin typeface="Cambria Math"/>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6</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7</m:t>
                              </m:r>
                            </m:sub>
                          </m:sSub>
                          <m:r>
                            <a:rPr lang="en-US" b="0" i="1" smtClean="0">
                              <a:latin typeface="Cambria Math"/>
                            </a:rPr>
                            <m:t>⋅</m:t>
                          </m:r>
                          <m:r>
                            <a:rPr lang="en-US" b="0" i="1" smtClean="0">
                              <a:latin typeface="Cambria Math"/>
                            </a:rPr>
                            <m:t>𝑧</m:t>
                          </m:r>
                        </m:e>
                      </m:d>
                      <m:r>
                        <a:rPr lang="en-US" b="0" i="1" smtClean="0">
                          <a:latin typeface="Cambria Math"/>
                        </a:rPr>
                        <m:t>𝑥𝑦</m:t>
                      </m:r>
                    </m:oMath>
                  </m:oMathPara>
                </a14:m>
                <a:endParaRPr lang="en-US" b="0" dirty="0"/>
              </a:p>
              <a:p>
                <a:pPr marL="0" indent="0">
                  <a:buNone/>
                </a:pPr>
                <a:r>
                  <a:rPr lang="en-US" dirty="0"/>
                  <a:t>4-to-1 Multiplexer has the form</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0</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1</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1</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2</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1</m:t>
                          </m:r>
                        </m:sub>
                      </m:sSub>
                      <m:sSub>
                        <m:sSubPr>
                          <m:ctrlPr>
                            <a:rPr lang="en-US" b="0" i="1" smtClean="0">
                              <a:latin typeface="Cambria Math" panose="02040503050406030204" pitchFamily="18" charset="0"/>
                            </a:rPr>
                          </m:ctrlPr>
                        </m:sSubPr>
                        <m:e>
                          <m:bar>
                            <m:barPr>
                              <m:pos m:val="top"/>
                              <m:ctrlPr>
                                <a:rPr lang="en-US" b="0" i="1" smtClean="0">
                                  <a:latin typeface="Cambria Math" panose="02040503050406030204" pitchFamily="18" charset="0"/>
                                </a:rPr>
                              </m:ctrlPr>
                            </m:barPr>
                            <m:e>
                              <m:r>
                                <a:rPr lang="en-US" b="0" i="1" smtClean="0">
                                  <a:latin typeface="Cambria Math"/>
                                </a:rPr>
                                <m:t>𝑆</m:t>
                              </m:r>
                            </m:e>
                          </m:bar>
                        </m:e>
                        <m:sub>
                          <m:r>
                            <a:rPr lang="en-US" b="0" i="1" smtClean="0">
                              <a:latin typeface="Cambria Math"/>
                            </a:rPr>
                            <m:t>0</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𝐼</m:t>
                          </m:r>
                        </m:e>
                        <m:sub>
                          <m:r>
                            <a:rPr lang="en-US" b="0" i="1" smtClean="0">
                              <a:latin typeface="Cambria Math"/>
                            </a:rPr>
                            <m:t>3</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1</m:t>
                          </m:r>
                        </m:sub>
                      </m:sSub>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2</m:t>
                          </m:r>
                        </m:sub>
                      </m:sSub>
                    </m:oMath>
                  </m:oMathPara>
                </a14:m>
                <a:endParaRPr lang="en-US" b="0" dirty="0"/>
              </a:p>
              <a:p>
                <a:r>
                  <a:rPr lang="en-US" dirty="0"/>
                  <a:t>Realization of </a:t>
                </a:r>
                <a14:m>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r>
                      <a:rPr lang="en-US" b="0" i="1" smtClean="0">
                        <a:latin typeface="Cambria Math"/>
                      </a:rPr>
                      <m:t>𝑧</m:t>
                    </m:r>
                    <m:r>
                      <a:rPr lang="en-US" b="0" i="1" smtClean="0">
                        <a:latin typeface="Cambria Math"/>
                      </a:rPr>
                      <m:t>)</m:t>
                    </m:r>
                  </m:oMath>
                </a14:m>
                <a:r>
                  <a:rPr lang="en-US" dirty="0"/>
                  <a:t> is obtained by placing the </a:t>
                </a:r>
                <a14:m>
                  <m:oMath xmlns:m="http://schemas.openxmlformats.org/officeDocument/2006/math">
                    <m:r>
                      <a:rPr lang="en-US" b="0" i="1" smtClean="0">
                        <a:latin typeface="Cambria Math"/>
                      </a:rPr>
                      <m:t>𝑥</m:t>
                    </m:r>
                  </m:oMath>
                </a14:m>
                <a:r>
                  <a:rPr lang="en-US" dirty="0"/>
                  <a:t> and </a:t>
                </a:r>
                <a14:m>
                  <m:oMath xmlns:m="http://schemas.openxmlformats.org/officeDocument/2006/math">
                    <m:r>
                      <a:rPr lang="en-US" b="0" i="1" smtClean="0">
                        <a:latin typeface="Cambria Math"/>
                      </a:rPr>
                      <m:t>𝑦</m:t>
                    </m:r>
                  </m:oMath>
                </a14:m>
                <a:r>
                  <a:rPr lang="en-US" dirty="0"/>
                  <a:t> variables on the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0</m:t>
                        </m:r>
                      </m:sub>
                    </m:sSub>
                    <m:r>
                      <a:rPr lang="en-US" b="0" i="1" smtClean="0">
                        <a:latin typeface="Cambria Math"/>
                      </a:rPr>
                      <m:t> </m:t>
                    </m:r>
                  </m:oMath>
                </a14:m>
                <a:r>
                  <a:rPr lang="en-US" dirty="0"/>
                  <a:t>select lines, the single variable functions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𝑖</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𝑗</m:t>
                        </m:r>
                      </m:sub>
                    </m:sSub>
                    <m:r>
                      <a:rPr lang="en-US" b="0" i="1" smtClean="0">
                        <a:latin typeface="Cambria Math"/>
                      </a:rPr>
                      <m:t>⋅</m:t>
                    </m:r>
                    <m:r>
                      <a:rPr lang="en-US" b="0" i="1" smtClean="0">
                        <a:latin typeface="Cambria Math"/>
                      </a:rPr>
                      <m:t>𝑧</m:t>
                    </m:r>
                  </m:oMath>
                </a14:m>
                <a:r>
                  <a:rPr lang="en-US" dirty="0"/>
                  <a:t> on the data input lines and let E = 1.</a:t>
                </a:r>
              </a:p>
              <a:p>
                <a:r>
                  <a:rPr lang="en-US" dirty="0"/>
                  <a:t>Note: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𝑖</m:t>
                        </m:r>
                      </m:sub>
                    </m:sSub>
                    <m:r>
                      <a:rPr lang="en-US" b="0" i="1" smtClean="0">
                        <a:latin typeface="Cambria Math"/>
                      </a:rPr>
                      <m:t>⋅</m:t>
                    </m:r>
                    <m:bar>
                      <m:barPr>
                        <m:pos m:val="top"/>
                        <m:ctrlPr>
                          <a:rPr lang="en-US" b="0" i="1" smtClean="0">
                            <a:latin typeface="Cambria Math" panose="02040503050406030204" pitchFamily="18" charset="0"/>
                          </a:rPr>
                        </m:ctrlPr>
                      </m:barPr>
                      <m:e>
                        <m:r>
                          <a:rPr lang="en-US" b="0" i="1" smtClean="0">
                            <a:latin typeface="Cambria Math"/>
                          </a:rPr>
                          <m:t>𝑧</m:t>
                        </m:r>
                      </m:e>
                    </m:ba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𝑓</m:t>
                        </m:r>
                      </m:e>
                      <m:sub>
                        <m:r>
                          <a:rPr lang="en-US" b="0" i="1" smtClean="0">
                            <a:latin typeface="Cambria Math"/>
                          </a:rPr>
                          <m:t>𝑗</m:t>
                        </m:r>
                      </m:sub>
                    </m:sSub>
                    <m:r>
                      <a:rPr lang="en-US" b="0" i="1" smtClean="0">
                        <a:latin typeface="Cambria Math"/>
                      </a:rPr>
                      <m:t>⋅</m:t>
                    </m:r>
                    <m:r>
                      <a:rPr lang="en-US" b="0" i="1" smtClean="0">
                        <a:latin typeface="Cambria Math"/>
                      </a:rPr>
                      <m:t>𝑧</m:t>
                    </m:r>
                  </m:oMath>
                </a14:m>
                <a:r>
                  <a:rPr lang="en-US" dirty="0"/>
                  <a:t> reduce to 0,1,</a:t>
                </a:r>
                <a14:m>
                  <m:oMath xmlns:m="http://schemas.openxmlformats.org/officeDocument/2006/math">
                    <m:r>
                      <a:rPr lang="en-US" b="0" i="1" smtClean="0">
                        <a:latin typeface="Cambria Math"/>
                      </a:rPr>
                      <m:t>𝑧</m:t>
                    </m:r>
                  </m:oMath>
                </a14:m>
                <a:r>
                  <a:rPr lang="en-US" dirty="0"/>
                  <a:t> or </a:t>
                </a:r>
                <a14:m>
                  <m:oMath xmlns:m="http://schemas.openxmlformats.org/officeDocument/2006/math">
                    <m:bar>
                      <m:barPr>
                        <m:pos m:val="top"/>
                        <m:ctrlPr>
                          <a:rPr lang="en-US" b="0" i="1" smtClean="0">
                            <a:latin typeface="Cambria Math" panose="02040503050406030204" pitchFamily="18" charset="0"/>
                          </a:rPr>
                        </m:ctrlPr>
                      </m:barPr>
                      <m:e>
                        <m:r>
                          <a:rPr lang="en-US" b="0" i="1" smtClean="0">
                            <a:latin typeface="Cambria Math"/>
                          </a:rPr>
                          <m:t>𝑧</m:t>
                        </m:r>
                      </m:e>
                    </m:bar>
                  </m:oMath>
                </a14:m>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81200" y="1524001"/>
                <a:ext cx="8229600" cy="4525963"/>
              </a:xfrm>
              <a:blipFill>
                <a:blip r:embed="rId2"/>
                <a:stretch>
                  <a:fillRect l="-1481" r="-2222" b="-809"/>
                </a:stretch>
              </a:blipFill>
            </p:spPr>
            <p:txBody>
              <a:bodyPr/>
              <a:lstStyle/>
              <a:p>
                <a:r>
                  <a:rPr lang="en-IN">
                    <a:noFill/>
                  </a:rPr>
                  <a:t> </a:t>
                </a:r>
              </a:p>
            </p:txBody>
          </p:sp>
        </mc:Fallback>
      </mc:AlternateContent>
    </p:spTree>
    <p:extLst>
      <p:ext uri="{BB962C8B-B14F-4D97-AF65-F5344CB8AC3E}">
        <p14:creationId xmlns:p14="http://schemas.microsoft.com/office/powerpoint/2010/main" val="3147851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2438401" y="1844040"/>
              <a:ext cx="1455419" cy="3337560"/>
            </p:xfrm>
            <a:graphic>
              <a:graphicData uri="http://schemas.openxmlformats.org/drawingml/2006/table">
                <a:tbl>
                  <a:tblPr firstRow="1" bandRow="1">
                    <a:tableStyleId>{5C22544A-7EE6-4342-B048-85BDC9FD1C3A}</a:tableStyleId>
                  </a:tblPr>
                  <a:tblGrid>
                    <a:gridCol w="367030">
                      <a:extLst>
                        <a:ext uri="{9D8B030D-6E8A-4147-A177-3AD203B41FA5}">
                          <a16:colId xmlns:a16="http://schemas.microsoft.com/office/drawing/2014/main" val="20000"/>
                        </a:ext>
                      </a:extLst>
                    </a:gridCol>
                    <a:gridCol w="371792">
                      <a:extLst>
                        <a:ext uri="{9D8B030D-6E8A-4147-A177-3AD203B41FA5}">
                          <a16:colId xmlns:a16="http://schemas.microsoft.com/office/drawing/2014/main" val="20001"/>
                        </a:ext>
                      </a:extLst>
                    </a:gridCol>
                    <a:gridCol w="352742">
                      <a:extLst>
                        <a:ext uri="{9D8B030D-6E8A-4147-A177-3AD203B41FA5}">
                          <a16:colId xmlns:a16="http://schemas.microsoft.com/office/drawing/2014/main" val="20002"/>
                        </a:ext>
                      </a:extLst>
                    </a:gridCol>
                    <a:gridCol w="363855">
                      <a:extLst>
                        <a:ext uri="{9D8B030D-6E8A-4147-A177-3AD203B41FA5}">
                          <a16:colId xmlns:a16="http://schemas.microsoft.com/office/drawing/2014/main" val="20003"/>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𝒚</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𝒛</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𝒇</m:t>
                                </m:r>
                              </m:oMath>
                            </m:oMathPara>
                          </a14:m>
                          <a:endParaRPr lang="en-US" dirty="0"/>
                        </a:p>
                      </a:txBody>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1"/>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3"/>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4"/>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5"/>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7"/>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8"/>
                      </a:ext>
                    </a:extLst>
                  </a:tr>
                </a:tbl>
              </a:graphicData>
            </a:graphic>
          </p:graphicFrame>
        </mc:Choice>
        <mc:Fallback xmlns="">
          <p:graphicFrame>
            <p:nvGraphicFramePr>
              <p:cNvPr id="4" name="Table 3"/>
              <p:cNvGraphicFramePr>
                <a:graphicFrameLocks noGrp="1"/>
              </p:cNvGraphicFramePr>
              <p:nvPr/>
            </p:nvGraphicFramePr>
            <p:xfrm>
              <a:off x="2438401" y="1844040"/>
              <a:ext cx="1455419" cy="3337560"/>
            </p:xfrm>
            <a:graphic>
              <a:graphicData uri="http://schemas.openxmlformats.org/drawingml/2006/table">
                <a:tbl>
                  <a:tblPr firstRow="1" bandRow="1">
                    <a:tableStyleId>{5C22544A-7EE6-4342-B048-85BDC9FD1C3A}</a:tableStyleId>
                  </a:tblPr>
                  <a:tblGrid>
                    <a:gridCol w="367030">
                      <a:extLst>
                        <a:ext uri="{9D8B030D-6E8A-4147-A177-3AD203B41FA5}">
                          <a16:colId xmlns:a16="http://schemas.microsoft.com/office/drawing/2014/main" val="20000"/>
                        </a:ext>
                      </a:extLst>
                    </a:gridCol>
                    <a:gridCol w="371792">
                      <a:extLst>
                        <a:ext uri="{9D8B030D-6E8A-4147-A177-3AD203B41FA5}">
                          <a16:colId xmlns:a16="http://schemas.microsoft.com/office/drawing/2014/main" val="20001"/>
                        </a:ext>
                      </a:extLst>
                    </a:gridCol>
                    <a:gridCol w="352742">
                      <a:extLst>
                        <a:ext uri="{9D8B030D-6E8A-4147-A177-3AD203B41FA5}">
                          <a16:colId xmlns:a16="http://schemas.microsoft.com/office/drawing/2014/main" val="20002"/>
                        </a:ext>
                      </a:extLst>
                    </a:gridCol>
                    <a:gridCol w="363855">
                      <a:extLst>
                        <a:ext uri="{9D8B030D-6E8A-4147-A177-3AD203B41FA5}">
                          <a16:colId xmlns:a16="http://schemas.microsoft.com/office/drawing/2014/main" val="20003"/>
                        </a:ext>
                      </a:extLst>
                    </a:gridCol>
                  </a:tblGrid>
                  <a:tr h="370840">
                    <a:tc>
                      <a:txBody>
                        <a:bodyPr/>
                        <a:lstStyle/>
                        <a:p>
                          <a:endParaRPr lang="en-US"/>
                        </a:p>
                      </a:txBody>
                      <a:tcPr>
                        <a:blipFill>
                          <a:blip r:embed="rId2"/>
                          <a:stretch>
                            <a:fillRect l="-3333" t="-1639" r="-305000" b="-822951"/>
                          </a:stretch>
                        </a:blipFill>
                      </a:tcPr>
                    </a:tc>
                    <a:tc>
                      <a:txBody>
                        <a:bodyPr/>
                        <a:lstStyle/>
                        <a:p>
                          <a:endParaRPr lang="en-US"/>
                        </a:p>
                      </a:txBody>
                      <a:tcPr>
                        <a:blipFill>
                          <a:blip r:embed="rId2"/>
                          <a:stretch>
                            <a:fillRect l="-101639" t="-1639" r="-200000" b="-822951"/>
                          </a:stretch>
                        </a:blipFill>
                      </a:tcPr>
                    </a:tc>
                    <a:tc>
                      <a:txBody>
                        <a:bodyPr/>
                        <a:lstStyle/>
                        <a:p>
                          <a:endParaRPr lang="en-US"/>
                        </a:p>
                      </a:txBody>
                      <a:tcPr>
                        <a:blipFill>
                          <a:blip r:embed="rId2"/>
                          <a:stretch>
                            <a:fillRect l="-212069" t="-1639" r="-110345" b="-822951"/>
                          </a:stretch>
                        </a:blipFill>
                      </a:tcPr>
                    </a:tc>
                    <a:tc>
                      <a:txBody>
                        <a:bodyPr/>
                        <a:lstStyle/>
                        <a:p>
                          <a:endParaRPr lang="en-US"/>
                        </a:p>
                      </a:txBody>
                      <a:tcPr>
                        <a:blipFill>
                          <a:blip r:embed="rId2"/>
                          <a:stretch>
                            <a:fillRect l="-301667" t="-1639" r="-6667" b="-822951"/>
                          </a:stretch>
                        </a:blipFill>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301667" t="-101639" r="-6667" b="-722951"/>
                          </a:stretch>
                        </a:blipFill>
                      </a:tcPr>
                    </a:tc>
                    <a:extLst>
                      <a:ext uri="{0D108BD9-81ED-4DB2-BD59-A6C34878D82A}">
                        <a16:rowId xmlns:a16="http://schemas.microsoft.com/office/drawing/2014/main" val="10001"/>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1667" t="-201639" r="-6667" b="-622951"/>
                          </a:stretch>
                        </a:blipFill>
                      </a:tcPr>
                    </a:tc>
                    <a:extLst>
                      <a:ext uri="{0D108BD9-81ED-4DB2-BD59-A6C34878D82A}">
                        <a16:rowId xmlns:a16="http://schemas.microsoft.com/office/drawing/2014/main" val="1000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a:blip r:embed="rId2"/>
                          <a:stretch>
                            <a:fillRect l="-301667" t="-301639" r="-6667" b="-522951"/>
                          </a:stretch>
                        </a:blipFill>
                      </a:tcPr>
                    </a:tc>
                    <a:extLst>
                      <a:ext uri="{0D108BD9-81ED-4DB2-BD59-A6C34878D82A}">
                        <a16:rowId xmlns:a16="http://schemas.microsoft.com/office/drawing/2014/main" val="10003"/>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2"/>
                          <a:stretch>
                            <a:fillRect l="-301667" t="-408333" r="-6667" b="-431667"/>
                          </a:stretch>
                        </a:blipFill>
                      </a:tcPr>
                    </a:tc>
                    <a:extLst>
                      <a:ext uri="{0D108BD9-81ED-4DB2-BD59-A6C34878D82A}">
                        <a16:rowId xmlns:a16="http://schemas.microsoft.com/office/drawing/2014/main" val="10004"/>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301667" t="-500000" r="-6667" b="-324590"/>
                          </a:stretch>
                        </a:blipFill>
                      </a:tcPr>
                    </a:tc>
                    <a:extLst>
                      <a:ext uri="{0D108BD9-81ED-4DB2-BD59-A6C34878D82A}">
                        <a16:rowId xmlns:a16="http://schemas.microsoft.com/office/drawing/2014/main" val="10005"/>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1667" t="-600000" r="-6667" b="-224590"/>
                          </a:stretch>
                        </a:blipFill>
                      </a:tcPr>
                    </a:tc>
                    <a:extLst>
                      <a:ext uri="{0D108BD9-81ED-4DB2-BD59-A6C34878D82A}">
                        <a16:rowId xmlns:a16="http://schemas.microsoft.com/office/drawing/2014/main" val="1000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a:blip r:embed="rId2"/>
                          <a:stretch>
                            <a:fillRect l="-301667" t="-700000" r="-6667" b="-124590"/>
                          </a:stretch>
                        </a:blipFill>
                      </a:tcPr>
                    </a:tc>
                    <a:extLst>
                      <a:ext uri="{0D108BD9-81ED-4DB2-BD59-A6C34878D82A}">
                        <a16:rowId xmlns:a16="http://schemas.microsoft.com/office/drawing/2014/main" val="10007"/>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2"/>
                          <a:stretch>
                            <a:fillRect l="-301667" t="-800000" r="-6667" b="-24590"/>
                          </a:stretch>
                        </a:blipFill>
                      </a:tcPr>
                    </a:tc>
                    <a:extLst>
                      <a:ext uri="{0D108BD9-81ED-4DB2-BD59-A6C34878D82A}">
                        <a16:rowId xmlns:a16="http://schemas.microsoft.com/office/drawing/2014/main" val="10008"/>
                      </a:ext>
                    </a:extLst>
                  </a:tr>
                </a:tbl>
              </a:graphicData>
            </a:graphic>
          </p:graphicFrame>
        </mc:Fallback>
      </mc:AlternateContent>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564636" y="1979166"/>
            <a:ext cx="3882128" cy="3581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6" name="TextBox 5"/>
              <p:cNvSpPr txBox="1"/>
              <p:nvPr/>
            </p:nvSpPr>
            <p:spPr>
              <a:xfrm>
                <a:off x="4648200" y="2590800"/>
                <a:ext cx="1600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𝑓</m:t>
                          </m:r>
                        </m:e>
                        <m:sub>
                          <m:r>
                            <a:rPr lang="en-US" i="1">
                              <a:latin typeface="Cambria Math"/>
                            </a:rPr>
                            <m:t>0</m:t>
                          </m:r>
                        </m:sub>
                      </m:sSub>
                      <m:r>
                        <a:rPr lang="en-US" i="1">
                          <a:latin typeface="Cambria Math"/>
                        </a:rPr>
                        <m:t>⋅</m:t>
                      </m:r>
                      <m:bar>
                        <m:barPr>
                          <m:pos m:val="top"/>
                          <m:ctrlPr>
                            <a:rPr lang="en-US" i="1">
                              <a:latin typeface="Cambria Math" panose="02040503050406030204" pitchFamily="18" charset="0"/>
                            </a:rPr>
                          </m:ctrlPr>
                        </m:barPr>
                        <m:e>
                          <m:r>
                            <a:rPr lang="en-US" i="1">
                              <a:latin typeface="Cambria Math"/>
                            </a:rPr>
                            <m:t>𝑧</m:t>
                          </m:r>
                        </m:e>
                      </m:bar>
                      <m:r>
                        <a:rPr lang="en-US" i="1">
                          <a:latin typeface="Cambria Math"/>
                        </a:rPr>
                        <m:t>+</m:t>
                      </m:r>
                      <m:sSub>
                        <m:sSubPr>
                          <m:ctrlPr>
                            <a:rPr lang="en-US" i="1">
                              <a:latin typeface="Cambria Math" panose="02040503050406030204" pitchFamily="18" charset="0"/>
                            </a:rPr>
                          </m:ctrlPr>
                        </m:sSubPr>
                        <m:e>
                          <m:r>
                            <a:rPr lang="en-US" i="1">
                              <a:latin typeface="Cambria Math"/>
                            </a:rPr>
                            <m:t>𝑓</m:t>
                          </m:r>
                        </m:e>
                        <m:sub>
                          <m:r>
                            <a:rPr lang="en-US" i="1">
                              <a:latin typeface="Cambria Math"/>
                            </a:rPr>
                            <m:t>1</m:t>
                          </m:r>
                        </m:sub>
                      </m:sSub>
                      <m:r>
                        <a:rPr lang="en-US" i="1">
                          <a:latin typeface="Cambria Math"/>
                        </a:rPr>
                        <m:t>⋅</m:t>
                      </m:r>
                      <m:r>
                        <a:rPr lang="en-US" i="1">
                          <a:latin typeface="Cambria Math"/>
                        </a:rPr>
                        <m:t>𝑧</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4648200" y="2590800"/>
                <a:ext cx="1600200" cy="369332"/>
              </a:xfrm>
              <a:prstGeom prst="rect">
                <a:avLst/>
              </a:prstGeom>
              <a:blipFill>
                <a:blip r:embed="rId4"/>
                <a:stretch>
                  <a:fillRect b="-114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648200" y="2983468"/>
                <a:ext cx="1600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𝑓</m:t>
                          </m:r>
                        </m:e>
                        <m:sub>
                          <m:r>
                            <a:rPr lang="en-US" i="1">
                              <a:latin typeface="Cambria Math"/>
                            </a:rPr>
                            <m:t>2</m:t>
                          </m:r>
                        </m:sub>
                      </m:sSub>
                      <m:r>
                        <a:rPr lang="en-US" i="1">
                          <a:latin typeface="Cambria Math"/>
                        </a:rPr>
                        <m:t>⋅</m:t>
                      </m:r>
                      <m:bar>
                        <m:barPr>
                          <m:pos m:val="top"/>
                          <m:ctrlPr>
                            <a:rPr lang="en-US" i="1">
                              <a:latin typeface="Cambria Math" panose="02040503050406030204" pitchFamily="18" charset="0"/>
                            </a:rPr>
                          </m:ctrlPr>
                        </m:barPr>
                        <m:e>
                          <m:r>
                            <a:rPr lang="en-US" i="1">
                              <a:latin typeface="Cambria Math"/>
                            </a:rPr>
                            <m:t>𝑧</m:t>
                          </m:r>
                        </m:e>
                      </m:bar>
                      <m:r>
                        <a:rPr lang="en-US" i="1">
                          <a:latin typeface="Cambria Math"/>
                        </a:rPr>
                        <m:t>+</m:t>
                      </m:r>
                      <m:sSub>
                        <m:sSubPr>
                          <m:ctrlPr>
                            <a:rPr lang="en-US" i="1">
                              <a:latin typeface="Cambria Math" panose="02040503050406030204" pitchFamily="18" charset="0"/>
                            </a:rPr>
                          </m:ctrlPr>
                        </m:sSubPr>
                        <m:e>
                          <m:r>
                            <a:rPr lang="en-US" i="1">
                              <a:latin typeface="Cambria Math"/>
                            </a:rPr>
                            <m:t>𝑓</m:t>
                          </m:r>
                        </m:e>
                        <m:sub>
                          <m:r>
                            <a:rPr lang="en-US" i="1">
                              <a:latin typeface="Cambria Math"/>
                            </a:rPr>
                            <m:t>3</m:t>
                          </m:r>
                        </m:sub>
                      </m:sSub>
                      <m:r>
                        <a:rPr lang="en-US" i="1">
                          <a:latin typeface="Cambria Math"/>
                        </a:rPr>
                        <m:t>⋅</m:t>
                      </m:r>
                      <m:r>
                        <a:rPr lang="en-US" i="1">
                          <a:latin typeface="Cambria Math"/>
                        </a:rPr>
                        <m:t>𝑧</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4648200" y="2983468"/>
                <a:ext cx="1600200" cy="369332"/>
              </a:xfrm>
              <a:prstGeom prst="rect">
                <a:avLst/>
              </a:prstGeom>
              <a:blipFill>
                <a:blip r:embed="rId5"/>
                <a:stretch>
                  <a:fillRect b="-1311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648200" y="3352800"/>
                <a:ext cx="1600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𝑓</m:t>
                          </m:r>
                        </m:e>
                        <m:sub>
                          <m:r>
                            <a:rPr lang="en-US" i="1">
                              <a:latin typeface="Cambria Math"/>
                            </a:rPr>
                            <m:t>4</m:t>
                          </m:r>
                        </m:sub>
                      </m:sSub>
                      <m:r>
                        <a:rPr lang="en-US" i="1">
                          <a:latin typeface="Cambria Math"/>
                        </a:rPr>
                        <m:t>⋅</m:t>
                      </m:r>
                      <m:bar>
                        <m:barPr>
                          <m:pos m:val="top"/>
                          <m:ctrlPr>
                            <a:rPr lang="en-US" i="1">
                              <a:latin typeface="Cambria Math" panose="02040503050406030204" pitchFamily="18" charset="0"/>
                            </a:rPr>
                          </m:ctrlPr>
                        </m:barPr>
                        <m:e>
                          <m:r>
                            <a:rPr lang="en-US" i="1">
                              <a:latin typeface="Cambria Math"/>
                            </a:rPr>
                            <m:t>𝑧</m:t>
                          </m:r>
                        </m:e>
                      </m:bar>
                      <m:r>
                        <a:rPr lang="en-US" i="1">
                          <a:latin typeface="Cambria Math"/>
                        </a:rPr>
                        <m:t>+</m:t>
                      </m:r>
                      <m:sSub>
                        <m:sSubPr>
                          <m:ctrlPr>
                            <a:rPr lang="en-US" i="1">
                              <a:latin typeface="Cambria Math" panose="02040503050406030204" pitchFamily="18" charset="0"/>
                            </a:rPr>
                          </m:ctrlPr>
                        </m:sSubPr>
                        <m:e>
                          <m:r>
                            <a:rPr lang="en-US" i="1">
                              <a:latin typeface="Cambria Math"/>
                            </a:rPr>
                            <m:t>𝑓</m:t>
                          </m:r>
                        </m:e>
                        <m:sub>
                          <m:r>
                            <a:rPr lang="en-US" i="1">
                              <a:latin typeface="Cambria Math"/>
                            </a:rPr>
                            <m:t>5</m:t>
                          </m:r>
                        </m:sub>
                      </m:sSub>
                      <m:r>
                        <a:rPr lang="en-US" i="1">
                          <a:latin typeface="Cambria Math"/>
                        </a:rPr>
                        <m:t>⋅</m:t>
                      </m:r>
                      <m:r>
                        <a:rPr lang="en-US" i="1">
                          <a:latin typeface="Cambria Math"/>
                        </a:rPr>
                        <m:t>𝑧</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4648200" y="3352800"/>
                <a:ext cx="1600200" cy="369332"/>
              </a:xfrm>
              <a:prstGeom prst="rect">
                <a:avLst/>
              </a:prstGeom>
              <a:blipFill>
                <a:blip r:embed="rId6"/>
                <a:stretch>
                  <a:fillRect b="-114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648200" y="3821668"/>
                <a:ext cx="1600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𝑓</m:t>
                          </m:r>
                        </m:e>
                        <m:sub>
                          <m:r>
                            <a:rPr lang="en-US" i="1">
                              <a:latin typeface="Cambria Math"/>
                            </a:rPr>
                            <m:t>6</m:t>
                          </m:r>
                        </m:sub>
                      </m:sSub>
                      <m:r>
                        <a:rPr lang="en-US" i="1">
                          <a:latin typeface="Cambria Math"/>
                        </a:rPr>
                        <m:t>⋅</m:t>
                      </m:r>
                      <m:bar>
                        <m:barPr>
                          <m:pos m:val="top"/>
                          <m:ctrlPr>
                            <a:rPr lang="en-US" i="1">
                              <a:latin typeface="Cambria Math" panose="02040503050406030204" pitchFamily="18" charset="0"/>
                            </a:rPr>
                          </m:ctrlPr>
                        </m:barPr>
                        <m:e>
                          <m:r>
                            <a:rPr lang="en-US" i="1">
                              <a:latin typeface="Cambria Math"/>
                            </a:rPr>
                            <m:t>𝑧</m:t>
                          </m:r>
                        </m:e>
                      </m:bar>
                      <m:r>
                        <a:rPr lang="en-US" i="1">
                          <a:latin typeface="Cambria Math"/>
                        </a:rPr>
                        <m:t>+</m:t>
                      </m:r>
                      <m:sSub>
                        <m:sSubPr>
                          <m:ctrlPr>
                            <a:rPr lang="en-US" i="1">
                              <a:latin typeface="Cambria Math" panose="02040503050406030204" pitchFamily="18" charset="0"/>
                            </a:rPr>
                          </m:ctrlPr>
                        </m:sSubPr>
                        <m:e>
                          <m:r>
                            <a:rPr lang="en-US" i="1">
                              <a:latin typeface="Cambria Math"/>
                            </a:rPr>
                            <m:t>𝑓</m:t>
                          </m:r>
                        </m:e>
                        <m:sub>
                          <m:r>
                            <a:rPr lang="en-US" i="1">
                              <a:latin typeface="Cambria Math"/>
                            </a:rPr>
                            <m:t>7</m:t>
                          </m:r>
                        </m:sub>
                      </m:sSub>
                      <m:r>
                        <a:rPr lang="en-US" i="1">
                          <a:latin typeface="Cambria Math"/>
                        </a:rPr>
                        <m:t>⋅</m:t>
                      </m:r>
                      <m:r>
                        <a:rPr lang="en-US" i="1">
                          <a:latin typeface="Cambria Math"/>
                        </a:rPr>
                        <m:t>𝑧</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4648200" y="3821668"/>
                <a:ext cx="1600200" cy="369332"/>
              </a:xfrm>
              <a:prstGeom prst="rect">
                <a:avLst/>
              </a:prstGeom>
              <a:blipFill>
                <a:blip r:embed="rId7"/>
                <a:stretch>
                  <a:fillRect b="-1147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715000" y="44958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5715000" y="4495800"/>
                <a:ext cx="533400" cy="369332"/>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7086600" y="56388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𝑥</m:t>
                      </m:r>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7086600" y="5638800"/>
                <a:ext cx="533400" cy="36933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7620000" y="5650468"/>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𝑦</m:t>
                      </m:r>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7620000" y="5650468"/>
                <a:ext cx="533400" cy="369332"/>
              </a:xfrm>
              <a:prstGeom prst="rect">
                <a:avLst/>
              </a:prstGeom>
              <a:blipFill>
                <a:blip r:embed="rId10"/>
                <a:stretch>
                  <a:fillRect b="-4918"/>
                </a:stretch>
              </a:blipFill>
            </p:spPr>
            <p:txBody>
              <a:bodyPr/>
              <a:lstStyle/>
              <a:p>
                <a:r>
                  <a:rPr lang="en-IN">
                    <a:noFill/>
                  </a:rPr>
                  <a:t> </a:t>
                </a:r>
              </a:p>
            </p:txBody>
          </p:sp>
        </mc:Fallback>
      </mc:AlternateContent>
    </p:spTree>
    <p:extLst>
      <p:ext uri="{BB962C8B-B14F-4D97-AF65-F5344CB8AC3E}">
        <p14:creationId xmlns:p14="http://schemas.microsoft.com/office/powerpoint/2010/main" val="10031712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2438401" y="1844040"/>
              <a:ext cx="1455419" cy="3337560"/>
            </p:xfrm>
            <a:graphic>
              <a:graphicData uri="http://schemas.openxmlformats.org/drawingml/2006/table">
                <a:tbl>
                  <a:tblPr firstRow="1" bandRow="1">
                    <a:tableStyleId>{5C22544A-7EE6-4342-B048-85BDC9FD1C3A}</a:tableStyleId>
                  </a:tblPr>
                  <a:tblGrid>
                    <a:gridCol w="367030">
                      <a:extLst>
                        <a:ext uri="{9D8B030D-6E8A-4147-A177-3AD203B41FA5}">
                          <a16:colId xmlns:a16="http://schemas.microsoft.com/office/drawing/2014/main" val="20000"/>
                        </a:ext>
                      </a:extLst>
                    </a:gridCol>
                    <a:gridCol w="371792">
                      <a:extLst>
                        <a:ext uri="{9D8B030D-6E8A-4147-A177-3AD203B41FA5}">
                          <a16:colId xmlns:a16="http://schemas.microsoft.com/office/drawing/2014/main" val="20001"/>
                        </a:ext>
                      </a:extLst>
                    </a:gridCol>
                    <a:gridCol w="352742">
                      <a:extLst>
                        <a:ext uri="{9D8B030D-6E8A-4147-A177-3AD203B41FA5}">
                          <a16:colId xmlns:a16="http://schemas.microsoft.com/office/drawing/2014/main" val="20002"/>
                        </a:ext>
                      </a:extLst>
                    </a:gridCol>
                    <a:gridCol w="363855">
                      <a:extLst>
                        <a:ext uri="{9D8B030D-6E8A-4147-A177-3AD203B41FA5}">
                          <a16:colId xmlns:a16="http://schemas.microsoft.com/office/drawing/2014/main" val="20003"/>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𝒚</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𝒛</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𝒇</m:t>
                                </m:r>
                              </m:oMath>
                            </m:oMathPara>
                          </a14:m>
                          <a:endParaRPr lang="en-US" dirty="0"/>
                        </a:p>
                      </a:txBody>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1"/>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3"/>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4"/>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5"/>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7"/>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8"/>
                      </a:ext>
                    </a:extLst>
                  </a:tr>
                </a:tbl>
              </a:graphicData>
            </a:graphic>
          </p:graphicFrame>
        </mc:Choice>
        <mc:Fallback xmlns="">
          <p:graphicFrame>
            <p:nvGraphicFramePr>
              <p:cNvPr id="4" name="Table 3"/>
              <p:cNvGraphicFramePr>
                <a:graphicFrameLocks noGrp="1"/>
              </p:cNvGraphicFramePr>
              <p:nvPr/>
            </p:nvGraphicFramePr>
            <p:xfrm>
              <a:off x="2438401" y="1844040"/>
              <a:ext cx="1455419" cy="3337560"/>
            </p:xfrm>
            <a:graphic>
              <a:graphicData uri="http://schemas.openxmlformats.org/drawingml/2006/table">
                <a:tbl>
                  <a:tblPr firstRow="1" bandRow="1">
                    <a:tableStyleId>{5C22544A-7EE6-4342-B048-85BDC9FD1C3A}</a:tableStyleId>
                  </a:tblPr>
                  <a:tblGrid>
                    <a:gridCol w="367030">
                      <a:extLst>
                        <a:ext uri="{9D8B030D-6E8A-4147-A177-3AD203B41FA5}">
                          <a16:colId xmlns:a16="http://schemas.microsoft.com/office/drawing/2014/main" val="20000"/>
                        </a:ext>
                      </a:extLst>
                    </a:gridCol>
                    <a:gridCol w="371792">
                      <a:extLst>
                        <a:ext uri="{9D8B030D-6E8A-4147-A177-3AD203B41FA5}">
                          <a16:colId xmlns:a16="http://schemas.microsoft.com/office/drawing/2014/main" val="20001"/>
                        </a:ext>
                      </a:extLst>
                    </a:gridCol>
                    <a:gridCol w="352742">
                      <a:extLst>
                        <a:ext uri="{9D8B030D-6E8A-4147-A177-3AD203B41FA5}">
                          <a16:colId xmlns:a16="http://schemas.microsoft.com/office/drawing/2014/main" val="20002"/>
                        </a:ext>
                      </a:extLst>
                    </a:gridCol>
                    <a:gridCol w="363855">
                      <a:extLst>
                        <a:ext uri="{9D8B030D-6E8A-4147-A177-3AD203B41FA5}">
                          <a16:colId xmlns:a16="http://schemas.microsoft.com/office/drawing/2014/main" val="20003"/>
                        </a:ext>
                      </a:extLst>
                    </a:gridCol>
                  </a:tblGrid>
                  <a:tr h="370840">
                    <a:tc>
                      <a:txBody>
                        <a:bodyPr/>
                        <a:lstStyle/>
                        <a:p>
                          <a:endParaRPr lang="en-US"/>
                        </a:p>
                      </a:txBody>
                      <a:tcPr>
                        <a:blipFill>
                          <a:blip r:embed="rId2"/>
                          <a:stretch>
                            <a:fillRect l="-3333" t="-1639" r="-305000" b="-822951"/>
                          </a:stretch>
                        </a:blipFill>
                      </a:tcPr>
                    </a:tc>
                    <a:tc>
                      <a:txBody>
                        <a:bodyPr/>
                        <a:lstStyle/>
                        <a:p>
                          <a:endParaRPr lang="en-US"/>
                        </a:p>
                      </a:txBody>
                      <a:tcPr>
                        <a:blipFill>
                          <a:blip r:embed="rId2"/>
                          <a:stretch>
                            <a:fillRect l="-101639" t="-1639" r="-200000" b="-822951"/>
                          </a:stretch>
                        </a:blipFill>
                      </a:tcPr>
                    </a:tc>
                    <a:tc>
                      <a:txBody>
                        <a:bodyPr/>
                        <a:lstStyle/>
                        <a:p>
                          <a:endParaRPr lang="en-US"/>
                        </a:p>
                      </a:txBody>
                      <a:tcPr>
                        <a:blipFill>
                          <a:blip r:embed="rId2"/>
                          <a:stretch>
                            <a:fillRect l="-212069" t="-1639" r="-110345" b="-822951"/>
                          </a:stretch>
                        </a:blipFill>
                      </a:tcPr>
                    </a:tc>
                    <a:tc>
                      <a:txBody>
                        <a:bodyPr/>
                        <a:lstStyle/>
                        <a:p>
                          <a:endParaRPr lang="en-US"/>
                        </a:p>
                      </a:txBody>
                      <a:tcPr>
                        <a:blipFill>
                          <a:blip r:embed="rId2"/>
                          <a:stretch>
                            <a:fillRect l="-301667" t="-1639" r="-6667" b="-822951"/>
                          </a:stretch>
                        </a:blipFill>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301667" t="-101639" r="-6667" b="-722951"/>
                          </a:stretch>
                        </a:blipFill>
                      </a:tcPr>
                    </a:tc>
                    <a:extLst>
                      <a:ext uri="{0D108BD9-81ED-4DB2-BD59-A6C34878D82A}">
                        <a16:rowId xmlns:a16="http://schemas.microsoft.com/office/drawing/2014/main" val="10001"/>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1667" t="-201639" r="-6667" b="-622951"/>
                          </a:stretch>
                        </a:blipFill>
                      </a:tcPr>
                    </a:tc>
                    <a:extLst>
                      <a:ext uri="{0D108BD9-81ED-4DB2-BD59-A6C34878D82A}">
                        <a16:rowId xmlns:a16="http://schemas.microsoft.com/office/drawing/2014/main" val="1000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a:blip r:embed="rId2"/>
                          <a:stretch>
                            <a:fillRect l="-301667" t="-301639" r="-6667" b="-522951"/>
                          </a:stretch>
                        </a:blipFill>
                      </a:tcPr>
                    </a:tc>
                    <a:extLst>
                      <a:ext uri="{0D108BD9-81ED-4DB2-BD59-A6C34878D82A}">
                        <a16:rowId xmlns:a16="http://schemas.microsoft.com/office/drawing/2014/main" val="10003"/>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2"/>
                          <a:stretch>
                            <a:fillRect l="-301667" t="-408333" r="-6667" b="-431667"/>
                          </a:stretch>
                        </a:blipFill>
                      </a:tcPr>
                    </a:tc>
                    <a:extLst>
                      <a:ext uri="{0D108BD9-81ED-4DB2-BD59-A6C34878D82A}">
                        <a16:rowId xmlns:a16="http://schemas.microsoft.com/office/drawing/2014/main" val="10004"/>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301667" t="-500000" r="-6667" b="-324590"/>
                          </a:stretch>
                        </a:blipFill>
                      </a:tcPr>
                    </a:tc>
                    <a:extLst>
                      <a:ext uri="{0D108BD9-81ED-4DB2-BD59-A6C34878D82A}">
                        <a16:rowId xmlns:a16="http://schemas.microsoft.com/office/drawing/2014/main" val="10005"/>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1667" t="-600000" r="-6667" b="-224590"/>
                          </a:stretch>
                        </a:blipFill>
                      </a:tcPr>
                    </a:tc>
                    <a:extLst>
                      <a:ext uri="{0D108BD9-81ED-4DB2-BD59-A6C34878D82A}">
                        <a16:rowId xmlns:a16="http://schemas.microsoft.com/office/drawing/2014/main" val="1000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a:blip r:embed="rId2"/>
                          <a:stretch>
                            <a:fillRect l="-301667" t="-700000" r="-6667" b="-124590"/>
                          </a:stretch>
                        </a:blipFill>
                      </a:tcPr>
                    </a:tc>
                    <a:extLst>
                      <a:ext uri="{0D108BD9-81ED-4DB2-BD59-A6C34878D82A}">
                        <a16:rowId xmlns:a16="http://schemas.microsoft.com/office/drawing/2014/main" val="10007"/>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2"/>
                          <a:stretch>
                            <a:fillRect l="-301667" t="-800000" r="-6667" b="-24590"/>
                          </a:stretch>
                        </a:blipFill>
                      </a:tcPr>
                    </a:tc>
                    <a:extLst>
                      <a:ext uri="{0D108BD9-81ED-4DB2-BD59-A6C34878D82A}">
                        <a16:rowId xmlns:a16="http://schemas.microsoft.com/office/drawing/2014/main" val="10008"/>
                      </a:ext>
                    </a:extLst>
                  </a:tr>
                </a:tbl>
              </a:graphicData>
            </a:graphic>
          </p:graphicFrame>
        </mc:Fallback>
      </mc:AlternateContent>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564636" y="1598166"/>
            <a:ext cx="3882128" cy="3581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6" name="TextBox 5"/>
              <p:cNvSpPr txBox="1"/>
              <p:nvPr/>
            </p:nvSpPr>
            <p:spPr>
              <a:xfrm>
                <a:off x="5524500" y="2209800"/>
                <a:ext cx="800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ar>
                        <m:barPr>
                          <m:pos m:val="top"/>
                          <m:ctrlPr>
                            <a:rPr lang="en-US" i="1">
                              <a:latin typeface="Cambria Math" panose="02040503050406030204" pitchFamily="18" charset="0"/>
                            </a:rPr>
                          </m:ctrlPr>
                        </m:barPr>
                        <m:e>
                          <m:r>
                            <a:rPr lang="en-US" i="1">
                              <a:latin typeface="Cambria Math"/>
                            </a:rPr>
                            <m:t>𝑧</m:t>
                          </m:r>
                        </m:e>
                      </m:ba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5524500" y="2209800"/>
                <a:ext cx="800100"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86400" y="2602468"/>
                <a:ext cx="876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5486400" y="2602468"/>
                <a:ext cx="876300"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524500" y="2971800"/>
                <a:ext cx="800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𝑧</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5524500" y="2971800"/>
                <a:ext cx="800100" cy="36933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486400" y="3440668"/>
                <a:ext cx="838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5486400" y="3440668"/>
                <a:ext cx="838200" cy="36933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715000" y="41148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5715000" y="4114800"/>
                <a:ext cx="533400" cy="369332"/>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7086600" y="52578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𝑥</m:t>
                      </m:r>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7086600" y="5257800"/>
                <a:ext cx="533400" cy="36933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7620000" y="5269468"/>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𝑦</m:t>
                      </m:r>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7620000" y="5269468"/>
                <a:ext cx="533400" cy="369332"/>
              </a:xfrm>
              <a:prstGeom prst="rect">
                <a:avLst/>
              </a:prstGeom>
              <a:blipFill>
                <a:blip r:embed="rId10"/>
                <a:stretch>
                  <a:fillRect b="-6557"/>
                </a:stretch>
              </a:blipFill>
            </p:spPr>
            <p:txBody>
              <a:bodyPr/>
              <a:lstStyle/>
              <a:p>
                <a:r>
                  <a:rPr lang="en-IN">
                    <a:noFill/>
                  </a:rPr>
                  <a:t> </a:t>
                </a:r>
              </a:p>
            </p:txBody>
          </p:sp>
        </mc:Fallback>
      </mc:AlternateContent>
    </p:spTree>
    <p:extLst>
      <p:ext uri="{BB962C8B-B14F-4D97-AF65-F5344CB8AC3E}">
        <p14:creationId xmlns:p14="http://schemas.microsoft.com/office/powerpoint/2010/main" val="27111560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Logic Design with Multiplexers and K-maps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0" y="1600200"/>
                <a:ext cx="9220200" cy="5029200"/>
              </a:xfrm>
            </p:spPr>
            <p:txBody>
              <a:bodyPr>
                <a:noAutofit/>
              </a:bodyPr>
              <a:lstStyle/>
              <a:p>
                <a:r>
                  <a:rPr lang="en-US" sz="3000" dirty="0"/>
                  <a:t>Consider 3-variable </a:t>
                </a:r>
                <a:r>
                  <a:rPr lang="en-US" sz="3000" dirty="0" err="1"/>
                  <a:t>Karnaugh</a:t>
                </a:r>
                <a:r>
                  <a:rPr lang="en-US" sz="3000" dirty="0"/>
                  <a:t> map.  Assume x is placed on the </a:t>
                </a:r>
                <a14:m>
                  <m:oMath xmlns:m="http://schemas.openxmlformats.org/officeDocument/2006/math">
                    <m:sSub>
                      <m:sSubPr>
                        <m:ctrlPr>
                          <a:rPr lang="en-US" sz="3000" i="1">
                            <a:latin typeface="Cambria Math" panose="02040503050406030204" pitchFamily="18" charset="0"/>
                          </a:rPr>
                        </m:ctrlPr>
                      </m:sSubPr>
                      <m:e>
                        <m:r>
                          <a:rPr lang="en-US" sz="3000" i="1">
                            <a:latin typeface="Cambria Math"/>
                          </a:rPr>
                          <m:t>𝑆</m:t>
                        </m:r>
                      </m:e>
                      <m:sub>
                        <m:r>
                          <a:rPr lang="en-US" sz="3000" i="1">
                            <a:latin typeface="Cambria Math"/>
                          </a:rPr>
                          <m:t>1</m:t>
                        </m:r>
                      </m:sub>
                    </m:sSub>
                  </m:oMath>
                </a14:m>
                <a:r>
                  <a:rPr lang="en-US" sz="3000" dirty="0"/>
                  <a:t> line and y is placed on the </a:t>
                </a:r>
                <a14:m>
                  <m:oMath xmlns:m="http://schemas.openxmlformats.org/officeDocument/2006/math">
                    <m:sSub>
                      <m:sSubPr>
                        <m:ctrlPr>
                          <a:rPr lang="en-US" sz="3000" i="1">
                            <a:latin typeface="Cambria Math" panose="02040503050406030204" pitchFamily="18" charset="0"/>
                          </a:rPr>
                        </m:ctrlPr>
                      </m:sSubPr>
                      <m:e>
                        <m:r>
                          <a:rPr lang="en-US" sz="3000" i="1">
                            <a:latin typeface="Cambria Math"/>
                          </a:rPr>
                          <m:t>𝑆</m:t>
                        </m:r>
                      </m:e>
                      <m:sub>
                        <m:r>
                          <a:rPr lang="en-US" sz="3000" i="1">
                            <a:latin typeface="Cambria Math"/>
                          </a:rPr>
                          <m:t>0</m:t>
                        </m:r>
                      </m:sub>
                    </m:sSub>
                  </m:oMath>
                </a14:m>
                <a:r>
                  <a:rPr lang="en-US" sz="3000" dirty="0"/>
                  <a:t> line.</a:t>
                </a:r>
              </a:p>
              <a:p>
                <a:r>
                  <a:rPr lang="en-US" sz="3000" dirty="0"/>
                  <a:t>We get that the output is:  </a:t>
                </a:r>
                <a14:m>
                  <m:oMath xmlns:m="http://schemas.openxmlformats.org/officeDocument/2006/math">
                    <m:sSub>
                      <m:sSubPr>
                        <m:ctrlPr>
                          <a:rPr lang="en-US" sz="3000" i="1">
                            <a:latin typeface="Cambria Math" panose="02040503050406030204" pitchFamily="18" charset="0"/>
                          </a:rPr>
                        </m:ctrlPr>
                      </m:sSubPr>
                      <m:e>
                        <m:r>
                          <a:rPr lang="en-US" sz="3000" i="1">
                            <a:latin typeface="Cambria Math"/>
                          </a:rPr>
                          <m:t>𝐼</m:t>
                        </m:r>
                      </m:e>
                      <m:sub>
                        <m:r>
                          <a:rPr lang="en-US" sz="3000" i="1">
                            <a:latin typeface="Cambria Math"/>
                          </a:rPr>
                          <m:t>0</m:t>
                        </m:r>
                      </m:sub>
                    </m:sSub>
                    <m:bar>
                      <m:barPr>
                        <m:pos m:val="top"/>
                        <m:ctrlPr>
                          <a:rPr lang="en-US" sz="3000" i="1">
                            <a:latin typeface="Cambria Math" panose="02040503050406030204" pitchFamily="18" charset="0"/>
                          </a:rPr>
                        </m:ctrlPr>
                      </m:barPr>
                      <m:e>
                        <m:r>
                          <a:rPr lang="en-US" sz="3000" i="1">
                            <a:latin typeface="Cambria Math"/>
                          </a:rPr>
                          <m:t>𝑥</m:t>
                        </m:r>
                      </m:e>
                    </m:bar>
                    <m:r>
                      <a:rPr lang="en-US" sz="3000" i="1">
                        <a:latin typeface="Cambria Math"/>
                      </a:rPr>
                      <m:t> </m:t>
                    </m:r>
                    <m:bar>
                      <m:barPr>
                        <m:pos m:val="top"/>
                        <m:ctrlPr>
                          <a:rPr lang="en-US" sz="3000" i="1">
                            <a:latin typeface="Cambria Math" panose="02040503050406030204" pitchFamily="18" charset="0"/>
                          </a:rPr>
                        </m:ctrlPr>
                      </m:barPr>
                      <m:e>
                        <m:r>
                          <a:rPr lang="en-US" sz="3000" i="1">
                            <a:latin typeface="Cambria Math"/>
                          </a:rPr>
                          <m:t>𝑦</m:t>
                        </m:r>
                      </m:e>
                    </m:bar>
                    <m:r>
                      <a:rPr lang="en-US" sz="3000" i="1">
                        <a:latin typeface="Cambria Math"/>
                      </a:rPr>
                      <m:t>+</m:t>
                    </m:r>
                    <m:sSub>
                      <m:sSubPr>
                        <m:ctrlPr>
                          <a:rPr lang="en-US" sz="3000" i="1">
                            <a:latin typeface="Cambria Math" panose="02040503050406030204" pitchFamily="18" charset="0"/>
                          </a:rPr>
                        </m:ctrlPr>
                      </m:sSubPr>
                      <m:e>
                        <m:r>
                          <a:rPr lang="en-US" sz="3000" i="1">
                            <a:latin typeface="Cambria Math"/>
                          </a:rPr>
                          <m:t>𝐼</m:t>
                        </m:r>
                      </m:e>
                      <m:sub>
                        <m:r>
                          <a:rPr lang="en-US" sz="3000" i="1">
                            <a:latin typeface="Cambria Math"/>
                          </a:rPr>
                          <m:t>1</m:t>
                        </m:r>
                      </m:sub>
                    </m:sSub>
                    <m:bar>
                      <m:barPr>
                        <m:pos m:val="top"/>
                        <m:ctrlPr>
                          <a:rPr lang="en-US" sz="3000" i="1">
                            <a:latin typeface="Cambria Math" panose="02040503050406030204" pitchFamily="18" charset="0"/>
                          </a:rPr>
                        </m:ctrlPr>
                      </m:barPr>
                      <m:e>
                        <m:r>
                          <a:rPr lang="en-US" sz="3000" i="1">
                            <a:latin typeface="Cambria Math"/>
                          </a:rPr>
                          <m:t>𝑥</m:t>
                        </m:r>
                      </m:e>
                    </m:bar>
                    <m:r>
                      <a:rPr lang="en-US" sz="3000" i="1">
                        <a:latin typeface="Cambria Math"/>
                      </a:rPr>
                      <m:t>𝑦</m:t>
                    </m:r>
                    <m:r>
                      <a:rPr lang="en-US" sz="3000" i="1">
                        <a:latin typeface="Cambria Math"/>
                      </a:rPr>
                      <m:t>+</m:t>
                    </m:r>
                    <m:sSub>
                      <m:sSubPr>
                        <m:ctrlPr>
                          <a:rPr lang="en-US" sz="3000" i="1">
                            <a:latin typeface="Cambria Math" panose="02040503050406030204" pitchFamily="18" charset="0"/>
                          </a:rPr>
                        </m:ctrlPr>
                      </m:sSubPr>
                      <m:e>
                        <m:r>
                          <a:rPr lang="en-US" sz="3000" i="1">
                            <a:latin typeface="Cambria Math"/>
                          </a:rPr>
                          <m:t>𝐼</m:t>
                        </m:r>
                      </m:e>
                      <m:sub>
                        <m:r>
                          <a:rPr lang="en-US" sz="3000" i="1">
                            <a:latin typeface="Cambria Math"/>
                          </a:rPr>
                          <m:t>2</m:t>
                        </m:r>
                      </m:sub>
                    </m:sSub>
                    <m:r>
                      <a:rPr lang="en-US" sz="3000" i="1">
                        <a:latin typeface="Cambria Math"/>
                      </a:rPr>
                      <m:t>𝑥</m:t>
                    </m:r>
                    <m:bar>
                      <m:barPr>
                        <m:pos m:val="top"/>
                        <m:ctrlPr>
                          <a:rPr lang="en-US" sz="3000" i="1">
                            <a:latin typeface="Cambria Math" panose="02040503050406030204" pitchFamily="18" charset="0"/>
                          </a:rPr>
                        </m:ctrlPr>
                      </m:barPr>
                      <m:e>
                        <m:r>
                          <a:rPr lang="en-US" sz="3000" i="1">
                            <a:latin typeface="Cambria Math"/>
                          </a:rPr>
                          <m:t>𝑦</m:t>
                        </m:r>
                      </m:e>
                    </m:bar>
                    <m:r>
                      <a:rPr lang="en-US" sz="3000" i="1">
                        <a:latin typeface="Cambria Math"/>
                      </a:rPr>
                      <m:t>+</m:t>
                    </m:r>
                    <m:sSub>
                      <m:sSubPr>
                        <m:ctrlPr>
                          <a:rPr lang="en-US" sz="3000" i="1">
                            <a:latin typeface="Cambria Math" panose="02040503050406030204" pitchFamily="18" charset="0"/>
                          </a:rPr>
                        </m:ctrlPr>
                      </m:sSubPr>
                      <m:e>
                        <m:r>
                          <a:rPr lang="en-US" sz="3000" i="1">
                            <a:latin typeface="Cambria Math"/>
                          </a:rPr>
                          <m:t>𝐼</m:t>
                        </m:r>
                      </m:e>
                      <m:sub>
                        <m:r>
                          <a:rPr lang="en-US" sz="3000" i="1">
                            <a:latin typeface="Cambria Math"/>
                          </a:rPr>
                          <m:t>3</m:t>
                        </m:r>
                      </m:sub>
                    </m:sSub>
                    <m:r>
                      <a:rPr lang="en-US" sz="3000" i="1">
                        <a:latin typeface="Cambria Math"/>
                      </a:rPr>
                      <m:t>𝑥𝑦</m:t>
                    </m:r>
                  </m:oMath>
                </a14:m>
                <a:endParaRPr lang="en-US" sz="3000" dirty="0"/>
              </a:p>
              <a:p>
                <a14:m>
                  <m:oMath xmlns:m="http://schemas.openxmlformats.org/officeDocument/2006/math">
                    <m:sSub>
                      <m:sSubPr>
                        <m:ctrlPr>
                          <a:rPr lang="en-US" sz="3000" i="1">
                            <a:latin typeface="Cambria Math" panose="02040503050406030204" pitchFamily="18" charset="0"/>
                          </a:rPr>
                        </m:ctrlPr>
                      </m:sSubPr>
                      <m:e>
                        <m:r>
                          <a:rPr lang="en-US" sz="3000" i="1">
                            <a:latin typeface="Cambria Math"/>
                          </a:rPr>
                          <m:t>𝐼</m:t>
                        </m:r>
                      </m:e>
                      <m:sub>
                        <m:r>
                          <a:rPr lang="en-US" sz="3000" i="1">
                            <a:latin typeface="Cambria Math"/>
                          </a:rPr>
                          <m:t>0</m:t>
                        </m:r>
                      </m:sub>
                    </m:sSub>
                    <m:bar>
                      <m:barPr>
                        <m:pos m:val="top"/>
                        <m:ctrlPr>
                          <a:rPr lang="en-US" sz="3000" i="1">
                            <a:latin typeface="Cambria Math" panose="02040503050406030204" pitchFamily="18" charset="0"/>
                          </a:rPr>
                        </m:ctrlPr>
                      </m:barPr>
                      <m:e>
                        <m:r>
                          <a:rPr lang="en-US" sz="3000" i="1">
                            <a:latin typeface="Cambria Math"/>
                          </a:rPr>
                          <m:t>𝑥</m:t>
                        </m:r>
                      </m:e>
                    </m:bar>
                    <m:r>
                      <a:rPr lang="en-US" sz="3000" i="1">
                        <a:latin typeface="Cambria Math"/>
                      </a:rPr>
                      <m:t> </m:t>
                    </m:r>
                    <m:bar>
                      <m:barPr>
                        <m:pos m:val="top"/>
                        <m:ctrlPr>
                          <a:rPr lang="en-US" sz="3000" i="1">
                            <a:latin typeface="Cambria Math" panose="02040503050406030204" pitchFamily="18" charset="0"/>
                          </a:rPr>
                        </m:ctrlPr>
                      </m:barPr>
                      <m:e>
                        <m:r>
                          <a:rPr lang="en-US" sz="3000" i="1">
                            <a:latin typeface="Cambria Math"/>
                          </a:rPr>
                          <m:t>𝑦</m:t>
                        </m:r>
                      </m:e>
                    </m:bar>
                  </m:oMath>
                </a14:m>
                <a:r>
                  <a:rPr lang="en-US" sz="3000" dirty="0"/>
                  <a:t> corresponds to those cells in which </a:t>
                </a:r>
                <a14:m>
                  <m:oMath xmlns:m="http://schemas.openxmlformats.org/officeDocument/2006/math">
                    <m:r>
                      <a:rPr lang="en-US" sz="3000" i="1">
                        <a:latin typeface="Cambria Math"/>
                      </a:rPr>
                      <m:t>𝑥</m:t>
                    </m:r>
                    <m:r>
                      <a:rPr lang="en-US" sz="3000" i="1">
                        <a:latin typeface="Cambria Math"/>
                      </a:rPr>
                      <m:t>=0,</m:t>
                    </m:r>
                    <m:r>
                      <a:rPr lang="en-US" sz="3000" i="1">
                        <a:latin typeface="Cambria Math"/>
                      </a:rPr>
                      <m:t>𝑦</m:t>
                    </m:r>
                    <m:r>
                      <a:rPr lang="en-US" sz="3000" i="1">
                        <a:latin typeface="Cambria Math"/>
                      </a:rPr>
                      <m:t>=0</m:t>
                    </m:r>
                  </m:oMath>
                </a14:m>
                <a:endParaRPr lang="en-US" sz="3000" dirty="0"/>
              </a:p>
              <a:p>
                <a14:m>
                  <m:oMath xmlns:m="http://schemas.openxmlformats.org/officeDocument/2006/math">
                    <m:sSub>
                      <m:sSubPr>
                        <m:ctrlPr>
                          <a:rPr lang="en-US" sz="3000" i="1">
                            <a:latin typeface="Cambria Math" panose="02040503050406030204" pitchFamily="18" charset="0"/>
                          </a:rPr>
                        </m:ctrlPr>
                      </m:sSubPr>
                      <m:e>
                        <m:r>
                          <a:rPr lang="en-US" sz="3000" i="1">
                            <a:latin typeface="Cambria Math"/>
                          </a:rPr>
                          <m:t>𝐼</m:t>
                        </m:r>
                      </m:e>
                      <m:sub>
                        <m:r>
                          <a:rPr lang="en-US" sz="3000" i="1">
                            <a:latin typeface="Cambria Math"/>
                          </a:rPr>
                          <m:t>1</m:t>
                        </m:r>
                      </m:sub>
                    </m:sSub>
                    <m:bar>
                      <m:barPr>
                        <m:pos m:val="top"/>
                        <m:ctrlPr>
                          <a:rPr lang="en-US" sz="3000" i="1">
                            <a:latin typeface="Cambria Math" panose="02040503050406030204" pitchFamily="18" charset="0"/>
                          </a:rPr>
                        </m:ctrlPr>
                      </m:barPr>
                      <m:e>
                        <m:r>
                          <a:rPr lang="en-US" sz="3000" i="1">
                            <a:latin typeface="Cambria Math"/>
                          </a:rPr>
                          <m:t>𝑥</m:t>
                        </m:r>
                      </m:e>
                    </m:bar>
                    <m:r>
                      <a:rPr lang="en-US" sz="3000" i="1">
                        <a:latin typeface="Cambria Math"/>
                      </a:rPr>
                      <m:t>𝑦</m:t>
                    </m:r>
                  </m:oMath>
                </a14:m>
                <a:r>
                  <a:rPr lang="en-US" sz="3000" dirty="0"/>
                  <a:t> corresponds to those cells in which </a:t>
                </a:r>
                <a14:m>
                  <m:oMath xmlns:m="http://schemas.openxmlformats.org/officeDocument/2006/math">
                    <m:r>
                      <a:rPr lang="en-US" sz="3000" i="1">
                        <a:latin typeface="Cambria Math"/>
                      </a:rPr>
                      <m:t>𝑥</m:t>
                    </m:r>
                    <m:r>
                      <a:rPr lang="en-US" sz="3000" i="1">
                        <a:latin typeface="Cambria Math"/>
                      </a:rPr>
                      <m:t>=0,</m:t>
                    </m:r>
                    <m:r>
                      <a:rPr lang="en-US" sz="3000" i="1">
                        <a:latin typeface="Cambria Math"/>
                      </a:rPr>
                      <m:t>𝑦</m:t>
                    </m:r>
                    <m:r>
                      <a:rPr lang="en-US" sz="3000" i="1">
                        <a:latin typeface="Cambria Math"/>
                      </a:rPr>
                      <m:t>=1</m:t>
                    </m:r>
                  </m:oMath>
                </a14:m>
                <a:endParaRPr lang="en-US" sz="3000" dirty="0"/>
              </a:p>
              <a:p>
                <a14:m>
                  <m:oMath xmlns:m="http://schemas.openxmlformats.org/officeDocument/2006/math">
                    <m:sSub>
                      <m:sSubPr>
                        <m:ctrlPr>
                          <a:rPr lang="en-US" sz="3000" i="1">
                            <a:latin typeface="Cambria Math" panose="02040503050406030204" pitchFamily="18" charset="0"/>
                          </a:rPr>
                        </m:ctrlPr>
                      </m:sSubPr>
                      <m:e>
                        <m:r>
                          <a:rPr lang="en-US" sz="3000" i="1">
                            <a:latin typeface="Cambria Math"/>
                          </a:rPr>
                          <m:t>𝐼</m:t>
                        </m:r>
                      </m:e>
                      <m:sub>
                        <m:r>
                          <a:rPr lang="en-US" sz="3000" i="1">
                            <a:latin typeface="Cambria Math"/>
                          </a:rPr>
                          <m:t>2</m:t>
                        </m:r>
                      </m:sub>
                    </m:sSub>
                    <m:r>
                      <a:rPr lang="en-US" sz="3000" i="1">
                        <a:latin typeface="Cambria Math"/>
                      </a:rPr>
                      <m:t>𝑥</m:t>
                    </m:r>
                    <m:bar>
                      <m:barPr>
                        <m:pos m:val="top"/>
                        <m:ctrlPr>
                          <a:rPr lang="en-US" sz="3000" i="1">
                            <a:latin typeface="Cambria Math" panose="02040503050406030204" pitchFamily="18" charset="0"/>
                          </a:rPr>
                        </m:ctrlPr>
                      </m:barPr>
                      <m:e>
                        <m:r>
                          <a:rPr lang="en-US" sz="3000" i="1">
                            <a:latin typeface="Cambria Math"/>
                          </a:rPr>
                          <m:t>𝑦</m:t>
                        </m:r>
                      </m:e>
                    </m:bar>
                  </m:oMath>
                </a14:m>
                <a:r>
                  <a:rPr lang="en-US" sz="3000" dirty="0"/>
                  <a:t> corresponds to those cells in which </a:t>
                </a:r>
                <a14:m>
                  <m:oMath xmlns:m="http://schemas.openxmlformats.org/officeDocument/2006/math">
                    <m:r>
                      <a:rPr lang="en-US" sz="3000" i="1">
                        <a:latin typeface="Cambria Math"/>
                      </a:rPr>
                      <m:t>𝑥</m:t>
                    </m:r>
                    <m:r>
                      <a:rPr lang="en-US" sz="3000" i="1">
                        <a:latin typeface="Cambria Math"/>
                      </a:rPr>
                      <m:t>=1,</m:t>
                    </m:r>
                    <m:r>
                      <a:rPr lang="en-US" sz="3000" i="1">
                        <a:latin typeface="Cambria Math"/>
                      </a:rPr>
                      <m:t>𝑦</m:t>
                    </m:r>
                    <m:r>
                      <a:rPr lang="en-US" sz="3000" i="1">
                        <a:latin typeface="Cambria Math"/>
                      </a:rPr>
                      <m:t>=0</m:t>
                    </m:r>
                  </m:oMath>
                </a14:m>
                <a:endParaRPr lang="en-US" sz="3000" dirty="0"/>
              </a:p>
              <a:p>
                <a14:m>
                  <m:oMath xmlns:m="http://schemas.openxmlformats.org/officeDocument/2006/math">
                    <m:sSub>
                      <m:sSubPr>
                        <m:ctrlPr>
                          <a:rPr lang="en-US" sz="3000" i="1">
                            <a:latin typeface="Cambria Math" panose="02040503050406030204" pitchFamily="18" charset="0"/>
                          </a:rPr>
                        </m:ctrlPr>
                      </m:sSubPr>
                      <m:e>
                        <m:r>
                          <a:rPr lang="en-US" sz="3000" i="1">
                            <a:latin typeface="Cambria Math"/>
                          </a:rPr>
                          <m:t>𝐼</m:t>
                        </m:r>
                      </m:e>
                      <m:sub>
                        <m:r>
                          <a:rPr lang="en-US" sz="3000" i="1">
                            <a:latin typeface="Cambria Math"/>
                          </a:rPr>
                          <m:t>3</m:t>
                        </m:r>
                      </m:sub>
                    </m:sSub>
                    <m:r>
                      <a:rPr lang="en-US" sz="3000" i="1">
                        <a:latin typeface="Cambria Math"/>
                      </a:rPr>
                      <m:t>𝑥𝑦</m:t>
                    </m:r>
                  </m:oMath>
                </a14:m>
                <a:r>
                  <a:rPr lang="en-US" sz="3000" dirty="0"/>
                  <a:t> corresponds to those cells in which </a:t>
                </a:r>
                <a14:m>
                  <m:oMath xmlns:m="http://schemas.openxmlformats.org/officeDocument/2006/math">
                    <m:r>
                      <a:rPr lang="en-US" sz="3000" i="1">
                        <a:latin typeface="Cambria Math"/>
                      </a:rPr>
                      <m:t>𝑥</m:t>
                    </m:r>
                    <m:r>
                      <a:rPr lang="en-US" sz="3000" i="1">
                        <a:latin typeface="Cambria Math"/>
                      </a:rPr>
                      <m:t>=1,</m:t>
                    </m:r>
                    <m:r>
                      <a:rPr lang="en-US" sz="3000" i="1">
                        <a:latin typeface="Cambria Math"/>
                      </a:rPr>
                      <m:t>𝑦</m:t>
                    </m:r>
                    <m:r>
                      <a:rPr lang="en-US" sz="3000" i="1">
                        <a:latin typeface="Cambria Math"/>
                      </a:rPr>
                      <m:t>=1</m:t>
                    </m:r>
                  </m:oMath>
                </a14:m>
                <a:endParaRPr lang="en-US" sz="3000" dirty="0"/>
              </a:p>
              <a:p>
                <a:endParaRPr lang="en-US" sz="3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0" y="1600200"/>
                <a:ext cx="9220200" cy="5029200"/>
              </a:xfrm>
              <a:blipFill>
                <a:blip r:embed="rId2"/>
                <a:stretch>
                  <a:fillRect l="-1322" t="-2424"/>
                </a:stretch>
              </a:blipFill>
            </p:spPr>
            <p:txBody>
              <a:bodyPr/>
              <a:lstStyle/>
              <a:p>
                <a:r>
                  <a:rPr lang="en-IN">
                    <a:noFill/>
                  </a:rPr>
                  <a:t> </a:t>
                </a:r>
              </a:p>
            </p:txBody>
          </p:sp>
        </mc:Fallback>
      </mc:AlternateContent>
    </p:spTree>
    <p:extLst>
      <p:ext uri="{BB962C8B-B14F-4D97-AF65-F5344CB8AC3E}">
        <p14:creationId xmlns:p14="http://schemas.microsoft.com/office/powerpoint/2010/main" val="3714690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K-map representation</a:t>
            </a:r>
          </a:p>
        </p:txBody>
      </p:sp>
      <p:graphicFrame>
        <p:nvGraphicFramePr>
          <p:cNvPr id="4" name="Table 3"/>
          <p:cNvGraphicFramePr>
            <a:graphicFrameLocks noGrp="1"/>
          </p:cNvGraphicFramePr>
          <p:nvPr/>
        </p:nvGraphicFramePr>
        <p:xfrm>
          <a:off x="4648200" y="2387600"/>
          <a:ext cx="3048000" cy="1270000"/>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tblGrid>
              <a:tr h="635000">
                <a:tc>
                  <a:txBody>
                    <a:bodyPr/>
                    <a:lstStyle/>
                    <a:p>
                      <a:pPr algn="ctr"/>
                      <a:endParaRPr lang="en-US" sz="2400" dirty="0"/>
                    </a:p>
                  </a:txBody>
                  <a:tcPr/>
                </a:tc>
                <a:tc>
                  <a:txBody>
                    <a:bodyPr/>
                    <a:lstStyle/>
                    <a:p>
                      <a:pPr algn="ctr"/>
                      <a:endParaRPr lang="en-US" sz="2400"/>
                    </a:p>
                  </a:txBody>
                  <a:tcPr/>
                </a:tc>
                <a:tc>
                  <a:txBody>
                    <a:bodyPr/>
                    <a:lstStyle/>
                    <a:p>
                      <a:pPr algn="ctr"/>
                      <a:endParaRPr lang="en-US" sz="2400"/>
                    </a:p>
                  </a:txBody>
                  <a:tcPr/>
                </a:tc>
                <a:tc>
                  <a:txBody>
                    <a:bodyPr/>
                    <a:lstStyle/>
                    <a:p>
                      <a:pPr algn="ctr"/>
                      <a:endParaRPr lang="en-US" sz="2400"/>
                    </a:p>
                  </a:txBody>
                  <a:tcPr/>
                </a:tc>
                <a:extLst>
                  <a:ext uri="{0D108BD9-81ED-4DB2-BD59-A6C34878D82A}">
                    <a16:rowId xmlns:a16="http://schemas.microsoft.com/office/drawing/2014/main" val="10000"/>
                  </a:ext>
                </a:extLst>
              </a:tr>
              <a:tr h="635000">
                <a:tc>
                  <a:txBody>
                    <a:bodyPr/>
                    <a:lstStyle/>
                    <a:p>
                      <a:pPr algn="ctr"/>
                      <a:endParaRPr lang="en-US" sz="2400"/>
                    </a:p>
                  </a:txBody>
                  <a:tcPr/>
                </a:tc>
                <a:tc>
                  <a:txBody>
                    <a:bodyPr/>
                    <a:lstStyle/>
                    <a:p>
                      <a:pPr algn="ctr"/>
                      <a:endParaRPr lang="en-US" sz="240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5" name="TextBox 4"/>
              <p:cNvSpPr txBox="1"/>
              <p:nvPr/>
            </p:nvSpPr>
            <p:spPr>
              <a:xfrm>
                <a:off x="3276600" y="2616200"/>
                <a:ext cx="11430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𝑆</m:t>
                          </m:r>
                        </m:e>
                        <m:sub>
                          <m:r>
                            <a:rPr lang="en-US" i="1">
                              <a:latin typeface="Cambria Math"/>
                            </a:rPr>
                            <m:t>1</m:t>
                          </m:r>
                        </m:sub>
                      </m:sSub>
                      <m:r>
                        <a:rPr lang="en-US" i="1">
                          <a:latin typeface="Cambria Math"/>
                        </a:rPr>
                        <m:t>=</m:t>
                      </m:r>
                      <m:r>
                        <a:rPr lang="en-US" i="1">
                          <a:latin typeface="Cambria Math"/>
                        </a:rPr>
                        <m:t>𝑥</m:t>
                      </m:r>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3276600" y="2616200"/>
                <a:ext cx="1143000" cy="369332"/>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5486400" y="1447801"/>
                <a:ext cx="1143000"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𝑆</m:t>
                          </m:r>
                        </m:e>
                        <m:sub>
                          <m:r>
                            <a:rPr lang="en-US" i="1">
                              <a:latin typeface="Cambria Math"/>
                            </a:rPr>
                            <m:t>0</m:t>
                          </m:r>
                        </m:sub>
                      </m:sSub>
                      <m:r>
                        <a:rPr lang="en-US" i="1">
                          <a:latin typeface="Cambria Math"/>
                        </a:rPr>
                        <m:t>=</m:t>
                      </m:r>
                      <m:r>
                        <a:rPr lang="en-US" i="1">
                          <a:latin typeface="Cambria Math"/>
                        </a:rPr>
                        <m:t>𝑦</m:t>
                      </m:r>
                    </m:oMath>
                  </m:oMathPara>
                </a14:m>
                <a:endParaRPr lang="en-US" dirty="0"/>
              </a:p>
              <a:p>
                <a:pPr/>
                <a14:m>
                  <m:oMathPara xmlns:m="http://schemas.openxmlformats.org/officeDocument/2006/math">
                    <m:oMathParaPr>
                      <m:jc m:val="centerGroup"/>
                    </m:oMathParaPr>
                    <m:oMath xmlns:m="http://schemas.openxmlformats.org/officeDocument/2006/math">
                      <m:r>
                        <a:rPr lang="en-US" i="1">
                          <a:latin typeface="Cambria Math"/>
                        </a:rPr>
                        <m:t>𝑦𝑧</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5486400" y="1447801"/>
                <a:ext cx="1143000" cy="646331"/>
              </a:xfrm>
              <a:prstGeom prst="rect">
                <a:avLst/>
              </a:prstGeom>
              <a:blipFill>
                <a:blip r:embed="rId3"/>
                <a:stretch>
                  <a:fillRect b="-283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4800600" y="20066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00</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4800600" y="2006600"/>
                <a:ext cx="457200"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562600" y="20066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01</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5562600" y="2006600"/>
                <a:ext cx="457200"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6324600" y="20066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11</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6324600" y="2006600"/>
                <a:ext cx="457200" cy="36933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086600" y="20066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10</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7086600" y="2006600"/>
                <a:ext cx="457200" cy="36933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800600" y="2526268"/>
                <a:ext cx="1219200" cy="369332"/>
              </a:xfrm>
              <a:prstGeom prst="rect">
                <a:avLst/>
              </a:prstGeom>
              <a:solidFill>
                <a:schemeClr val="bg1"/>
              </a:solid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0</m:t>
                          </m:r>
                        </m:sub>
                      </m:sSub>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4800600" y="2526268"/>
                <a:ext cx="1219200" cy="369332"/>
              </a:xfrm>
              <a:prstGeom prst="rect">
                <a:avLst/>
              </a:prstGeom>
              <a:blipFill>
                <a:blip r:embed="rId8"/>
                <a:stretch>
                  <a:fillRect/>
                </a:stretch>
              </a:blipFill>
              <a:ln>
                <a:solidFill>
                  <a:schemeClr val="accent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6324600" y="2514600"/>
                <a:ext cx="1219200" cy="369332"/>
              </a:xfrm>
              <a:prstGeom prst="rect">
                <a:avLst/>
              </a:prstGeom>
              <a:solidFill>
                <a:schemeClr val="bg1"/>
              </a:solid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1</m:t>
                          </m:r>
                        </m:sub>
                      </m:sSub>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6324600" y="2514600"/>
                <a:ext cx="1219200" cy="369332"/>
              </a:xfrm>
              <a:prstGeom prst="rect">
                <a:avLst/>
              </a:prstGeom>
              <a:blipFill>
                <a:blip r:embed="rId9"/>
                <a:stretch>
                  <a:fillRect/>
                </a:stretch>
              </a:blipFill>
              <a:ln>
                <a:solidFill>
                  <a:schemeClr val="accent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800600" y="3124200"/>
                <a:ext cx="1219200" cy="369332"/>
              </a:xfrm>
              <a:prstGeom prst="rect">
                <a:avLst/>
              </a:prstGeom>
              <a:solidFill>
                <a:schemeClr val="bg1"/>
              </a:solid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2</m:t>
                          </m:r>
                        </m:sub>
                      </m:sSub>
                    </m:oMath>
                  </m:oMathPara>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4800600" y="3124200"/>
                <a:ext cx="1219200" cy="369332"/>
              </a:xfrm>
              <a:prstGeom prst="rect">
                <a:avLst/>
              </a:prstGeom>
              <a:blipFill>
                <a:blip r:embed="rId10"/>
                <a:stretch>
                  <a:fillRect/>
                </a:stretch>
              </a:blipFill>
              <a:ln>
                <a:solidFill>
                  <a:schemeClr val="accent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6324600" y="3135868"/>
                <a:ext cx="1219200" cy="369332"/>
              </a:xfrm>
              <a:prstGeom prst="rect">
                <a:avLst/>
              </a:prstGeom>
              <a:solidFill>
                <a:schemeClr val="bg1"/>
              </a:solid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3</m:t>
                          </m:r>
                        </m:sub>
                      </m:sSub>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6324600" y="3135868"/>
                <a:ext cx="1219200" cy="369332"/>
              </a:xfrm>
              <a:prstGeom prst="rect">
                <a:avLst/>
              </a:prstGeom>
              <a:blipFill>
                <a:blip r:embed="rId11"/>
                <a:stretch>
                  <a:fillRect/>
                </a:stretch>
              </a:blipFill>
              <a:ln>
                <a:solidFill>
                  <a:schemeClr val="accent1"/>
                </a:solidFill>
              </a:ln>
            </p:spPr>
            <p:txBody>
              <a:bodyPr/>
              <a:lstStyle/>
              <a:p>
                <a:r>
                  <a:rPr lang="en-IN">
                    <a:noFill/>
                  </a:rPr>
                  <a:t> </a:t>
                </a:r>
              </a:p>
            </p:txBody>
          </p:sp>
        </mc:Fallback>
      </mc:AlternateContent>
      <p:graphicFrame>
        <p:nvGraphicFramePr>
          <p:cNvPr id="15" name="Table 14"/>
          <p:cNvGraphicFramePr>
            <a:graphicFrameLocks noGrp="1"/>
          </p:cNvGraphicFramePr>
          <p:nvPr/>
        </p:nvGraphicFramePr>
        <p:xfrm>
          <a:off x="2133600" y="4419600"/>
          <a:ext cx="1371600" cy="37084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16" name="TextBox 15"/>
              <p:cNvSpPr txBox="1"/>
              <p:nvPr/>
            </p:nvSpPr>
            <p:spPr>
              <a:xfrm>
                <a:off x="1981200" y="4876800"/>
                <a:ext cx="1600200" cy="369332"/>
              </a:xfrm>
              <a:prstGeom prst="rect">
                <a:avLst/>
              </a:prstGeom>
              <a:noFill/>
            </p:spPr>
            <p:txBody>
              <a:bodyPr wrap="square" rtlCol="0">
                <a:spAutoFit/>
              </a:bodyPr>
              <a:lstStyle/>
              <a:p>
                <a:pPr algn="ctr"/>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0</m:t>
                        </m:r>
                      </m:sub>
                    </m:sSub>
                  </m:oMath>
                </a14:m>
                <a:r>
                  <a:rPr lang="en-US" dirty="0"/>
                  <a:t> map</a:t>
                </a:r>
              </a:p>
            </p:txBody>
          </p:sp>
        </mc:Choice>
        <mc:Fallback xmlns="">
          <p:sp>
            <p:nvSpPr>
              <p:cNvPr id="16" name="TextBox 15"/>
              <p:cNvSpPr txBox="1">
                <a:spLocks noRot="1" noChangeAspect="1" noMove="1" noResize="1" noEditPoints="1" noAdjustHandles="1" noChangeArrowheads="1" noChangeShapeType="1" noTextEdit="1"/>
              </p:cNvSpPr>
              <p:nvPr/>
            </p:nvSpPr>
            <p:spPr>
              <a:xfrm>
                <a:off x="1981200" y="4876800"/>
                <a:ext cx="1600200" cy="369332"/>
              </a:xfrm>
              <a:prstGeom prst="rect">
                <a:avLst/>
              </a:prstGeom>
              <a:blipFill>
                <a:blip r:embed="rId12"/>
                <a:stretch>
                  <a:fillRect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2209800" y="3974068"/>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2209800" y="3974068"/>
                <a:ext cx="457200" cy="369332"/>
              </a:xfrm>
              <a:prstGeom prst="rect">
                <a:avLst/>
              </a:prstGeom>
              <a:blipFill>
                <a:blip r:embed="rId1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2971800" y="3974068"/>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2971800" y="3974068"/>
                <a:ext cx="457200" cy="369332"/>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2209800" y="3669268"/>
                <a:ext cx="11430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𝑧</m:t>
                      </m:r>
                    </m:oMath>
                  </m:oMathPara>
                </a14:m>
                <a:endParaRPr lang="en-US" dirty="0"/>
              </a:p>
            </p:txBody>
          </p:sp>
        </mc:Choice>
        <mc:Fallback xmlns="">
          <p:sp>
            <p:nvSpPr>
              <p:cNvPr id="19" name="TextBox 18"/>
              <p:cNvSpPr txBox="1">
                <a:spLocks noRot="1" noChangeAspect="1" noMove="1" noResize="1" noEditPoints="1" noAdjustHandles="1" noChangeArrowheads="1" noChangeShapeType="1" noTextEdit="1"/>
              </p:cNvSpPr>
              <p:nvPr/>
            </p:nvSpPr>
            <p:spPr>
              <a:xfrm>
                <a:off x="2209800" y="3669268"/>
                <a:ext cx="1143000" cy="369332"/>
              </a:xfrm>
              <a:prstGeom prst="rect">
                <a:avLst/>
              </a:prstGeom>
              <a:blipFill>
                <a:blip r:embed="rId15"/>
                <a:stretch>
                  <a:fillRect/>
                </a:stretch>
              </a:blipFill>
            </p:spPr>
            <p:txBody>
              <a:bodyPr/>
              <a:lstStyle/>
              <a:p>
                <a:r>
                  <a:rPr lang="en-IN">
                    <a:noFill/>
                  </a:rPr>
                  <a:t> </a:t>
                </a:r>
              </a:p>
            </p:txBody>
          </p:sp>
        </mc:Fallback>
      </mc:AlternateContent>
      <p:graphicFrame>
        <p:nvGraphicFramePr>
          <p:cNvPr id="20" name="Table 19"/>
          <p:cNvGraphicFramePr>
            <a:graphicFrameLocks noGrp="1"/>
          </p:cNvGraphicFramePr>
          <p:nvPr/>
        </p:nvGraphicFramePr>
        <p:xfrm>
          <a:off x="4191000" y="4431268"/>
          <a:ext cx="1371600" cy="37084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21" name="TextBox 20"/>
              <p:cNvSpPr txBox="1"/>
              <p:nvPr/>
            </p:nvSpPr>
            <p:spPr>
              <a:xfrm>
                <a:off x="4038600" y="4888468"/>
                <a:ext cx="1600200" cy="369332"/>
              </a:xfrm>
              <a:prstGeom prst="rect">
                <a:avLst/>
              </a:prstGeom>
              <a:noFill/>
            </p:spPr>
            <p:txBody>
              <a:bodyPr wrap="square" rtlCol="0">
                <a:spAutoFit/>
              </a:bodyPr>
              <a:lstStyle/>
              <a:p>
                <a:pPr algn="ctr"/>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1</m:t>
                        </m:r>
                      </m:sub>
                    </m:sSub>
                  </m:oMath>
                </a14:m>
                <a:r>
                  <a:rPr lang="en-US" dirty="0"/>
                  <a:t> map</a:t>
                </a:r>
              </a:p>
            </p:txBody>
          </p:sp>
        </mc:Choice>
        <mc:Fallback xmlns="">
          <p:sp>
            <p:nvSpPr>
              <p:cNvPr id="21" name="TextBox 20"/>
              <p:cNvSpPr txBox="1">
                <a:spLocks noRot="1" noChangeAspect="1" noMove="1" noResize="1" noEditPoints="1" noAdjustHandles="1" noChangeArrowheads="1" noChangeShapeType="1" noTextEdit="1"/>
              </p:cNvSpPr>
              <p:nvPr/>
            </p:nvSpPr>
            <p:spPr>
              <a:xfrm>
                <a:off x="4038600" y="4888468"/>
                <a:ext cx="1600200" cy="369332"/>
              </a:xfrm>
              <a:prstGeom prst="rect">
                <a:avLst/>
              </a:prstGeom>
              <a:blipFill>
                <a:blip r:embed="rId16"/>
                <a:stretch>
                  <a:fillRect t="-9836"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4267200" y="3985736"/>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oMath>
                  </m:oMathPara>
                </a14:m>
                <a:endParaRPr lang="en-US" dirty="0"/>
              </a:p>
            </p:txBody>
          </p:sp>
        </mc:Choice>
        <mc:Fallback xmlns="">
          <p:sp>
            <p:nvSpPr>
              <p:cNvPr id="22" name="TextBox 21"/>
              <p:cNvSpPr txBox="1">
                <a:spLocks noRot="1" noChangeAspect="1" noMove="1" noResize="1" noEditPoints="1" noAdjustHandles="1" noChangeArrowheads="1" noChangeShapeType="1" noTextEdit="1"/>
              </p:cNvSpPr>
              <p:nvPr/>
            </p:nvSpPr>
            <p:spPr>
              <a:xfrm>
                <a:off x="4267200" y="3985736"/>
                <a:ext cx="457200" cy="369332"/>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5029200" y="3985736"/>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23" name="TextBox 22"/>
              <p:cNvSpPr txBox="1">
                <a:spLocks noRot="1" noChangeAspect="1" noMove="1" noResize="1" noEditPoints="1" noAdjustHandles="1" noChangeArrowheads="1" noChangeShapeType="1" noTextEdit="1"/>
              </p:cNvSpPr>
              <p:nvPr/>
            </p:nvSpPr>
            <p:spPr>
              <a:xfrm>
                <a:off x="5029200" y="3985736"/>
                <a:ext cx="457200" cy="369332"/>
              </a:xfrm>
              <a:prstGeom prst="rect">
                <a:avLst/>
              </a:prstGeom>
              <a:blipFill>
                <a:blip r:embed="rId18"/>
                <a:stretch>
                  <a:fillRect/>
                </a:stretch>
              </a:blipFill>
            </p:spPr>
            <p:txBody>
              <a:bodyPr/>
              <a:lstStyle/>
              <a:p>
                <a:r>
                  <a:rPr lang="en-IN">
                    <a:noFill/>
                  </a:rPr>
                  <a:t> </a:t>
                </a:r>
              </a:p>
            </p:txBody>
          </p:sp>
        </mc:Fallback>
      </mc:AlternateContent>
      <p:graphicFrame>
        <p:nvGraphicFramePr>
          <p:cNvPr id="24" name="Table 23"/>
          <p:cNvGraphicFramePr>
            <a:graphicFrameLocks noGrp="1"/>
          </p:cNvGraphicFramePr>
          <p:nvPr/>
        </p:nvGraphicFramePr>
        <p:xfrm>
          <a:off x="6172200" y="4407932"/>
          <a:ext cx="1371600" cy="37084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25" name="TextBox 24"/>
              <p:cNvSpPr txBox="1"/>
              <p:nvPr/>
            </p:nvSpPr>
            <p:spPr>
              <a:xfrm>
                <a:off x="6019800" y="4865132"/>
                <a:ext cx="1600200" cy="369332"/>
              </a:xfrm>
              <a:prstGeom prst="rect">
                <a:avLst/>
              </a:prstGeom>
              <a:noFill/>
            </p:spPr>
            <p:txBody>
              <a:bodyPr wrap="square" rtlCol="0">
                <a:spAutoFit/>
              </a:bodyPr>
              <a:lstStyle/>
              <a:p>
                <a:pPr algn="ctr"/>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2</m:t>
                        </m:r>
                      </m:sub>
                    </m:sSub>
                  </m:oMath>
                </a14:m>
                <a:r>
                  <a:rPr lang="en-US" dirty="0"/>
                  <a:t> map</a:t>
                </a:r>
              </a:p>
            </p:txBody>
          </p:sp>
        </mc:Choice>
        <mc:Fallback xmlns="">
          <p:sp>
            <p:nvSpPr>
              <p:cNvPr id="25" name="TextBox 24"/>
              <p:cNvSpPr txBox="1">
                <a:spLocks noRot="1" noChangeAspect="1" noMove="1" noResize="1" noEditPoints="1" noAdjustHandles="1" noChangeArrowheads="1" noChangeShapeType="1" noTextEdit="1"/>
              </p:cNvSpPr>
              <p:nvPr/>
            </p:nvSpPr>
            <p:spPr>
              <a:xfrm>
                <a:off x="6019800" y="4865132"/>
                <a:ext cx="1600200" cy="369332"/>
              </a:xfrm>
              <a:prstGeom prst="rect">
                <a:avLst/>
              </a:prstGeom>
              <a:blipFill>
                <a:blip r:embed="rId19"/>
                <a:stretch>
                  <a:fillRect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6248400" y="39624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oMath>
                  </m:oMathPara>
                </a14:m>
                <a:endParaRPr lang="en-US" dirty="0"/>
              </a:p>
            </p:txBody>
          </p:sp>
        </mc:Choice>
        <mc:Fallback xmlns="">
          <p:sp>
            <p:nvSpPr>
              <p:cNvPr id="26" name="TextBox 25"/>
              <p:cNvSpPr txBox="1">
                <a:spLocks noRot="1" noChangeAspect="1" noMove="1" noResize="1" noEditPoints="1" noAdjustHandles="1" noChangeArrowheads="1" noChangeShapeType="1" noTextEdit="1"/>
              </p:cNvSpPr>
              <p:nvPr/>
            </p:nvSpPr>
            <p:spPr>
              <a:xfrm>
                <a:off x="6248400" y="3962400"/>
                <a:ext cx="457200" cy="369332"/>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7010400" y="39624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27" name="TextBox 26"/>
              <p:cNvSpPr txBox="1">
                <a:spLocks noRot="1" noChangeAspect="1" noMove="1" noResize="1" noEditPoints="1" noAdjustHandles="1" noChangeArrowheads="1" noChangeShapeType="1" noTextEdit="1"/>
              </p:cNvSpPr>
              <p:nvPr/>
            </p:nvSpPr>
            <p:spPr>
              <a:xfrm>
                <a:off x="7010400" y="3962400"/>
                <a:ext cx="457200" cy="369332"/>
              </a:xfrm>
              <a:prstGeom prst="rect">
                <a:avLst/>
              </a:prstGeom>
              <a:blipFill>
                <a:blip r:embed="rId21"/>
                <a:stretch>
                  <a:fillRect/>
                </a:stretch>
              </a:blipFill>
            </p:spPr>
            <p:txBody>
              <a:bodyPr/>
              <a:lstStyle/>
              <a:p>
                <a:r>
                  <a:rPr lang="en-IN">
                    <a:noFill/>
                  </a:rPr>
                  <a:t> </a:t>
                </a:r>
              </a:p>
            </p:txBody>
          </p:sp>
        </mc:Fallback>
      </mc:AlternateContent>
      <p:graphicFrame>
        <p:nvGraphicFramePr>
          <p:cNvPr id="28" name="Table 27"/>
          <p:cNvGraphicFramePr>
            <a:graphicFrameLocks noGrp="1"/>
          </p:cNvGraphicFramePr>
          <p:nvPr/>
        </p:nvGraphicFramePr>
        <p:xfrm>
          <a:off x="8153400" y="4407932"/>
          <a:ext cx="1371600" cy="37084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370840">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29" name="TextBox 28"/>
              <p:cNvSpPr txBox="1"/>
              <p:nvPr/>
            </p:nvSpPr>
            <p:spPr>
              <a:xfrm>
                <a:off x="8001000" y="4865132"/>
                <a:ext cx="1600200" cy="369332"/>
              </a:xfrm>
              <a:prstGeom prst="rect">
                <a:avLst/>
              </a:prstGeom>
              <a:noFill/>
            </p:spPr>
            <p:txBody>
              <a:bodyPr wrap="square" rtlCol="0">
                <a:spAutoFit/>
              </a:bodyPr>
              <a:lstStyle/>
              <a:p>
                <a:pPr algn="ctr"/>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3</m:t>
                        </m:r>
                      </m:sub>
                    </m:sSub>
                  </m:oMath>
                </a14:m>
                <a:r>
                  <a:rPr lang="en-US" dirty="0"/>
                  <a:t> map</a:t>
                </a:r>
              </a:p>
            </p:txBody>
          </p:sp>
        </mc:Choice>
        <mc:Fallback xmlns="">
          <p:sp>
            <p:nvSpPr>
              <p:cNvPr id="29" name="TextBox 28"/>
              <p:cNvSpPr txBox="1">
                <a:spLocks noRot="1" noChangeAspect="1" noMove="1" noResize="1" noEditPoints="1" noAdjustHandles="1" noChangeArrowheads="1" noChangeShapeType="1" noTextEdit="1"/>
              </p:cNvSpPr>
              <p:nvPr/>
            </p:nvSpPr>
            <p:spPr>
              <a:xfrm>
                <a:off x="8001000" y="4865132"/>
                <a:ext cx="1600200" cy="369332"/>
              </a:xfrm>
              <a:prstGeom prst="rect">
                <a:avLst/>
              </a:prstGeom>
              <a:blipFill>
                <a:blip r:embed="rId22"/>
                <a:stretch>
                  <a:fillRect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0" name="TextBox 29"/>
              <p:cNvSpPr txBox="1"/>
              <p:nvPr/>
            </p:nvSpPr>
            <p:spPr>
              <a:xfrm>
                <a:off x="8229600" y="39624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oMath>
                  </m:oMathPara>
                </a14:m>
                <a:endParaRPr lang="en-US" dirty="0"/>
              </a:p>
            </p:txBody>
          </p:sp>
        </mc:Choice>
        <mc:Fallback xmlns="">
          <p:sp>
            <p:nvSpPr>
              <p:cNvPr id="30" name="TextBox 29"/>
              <p:cNvSpPr txBox="1">
                <a:spLocks noRot="1" noChangeAspect="1" noMove="1" noResize="1" noEditPoints="1" noAdjustHandles="1" noChangeArrowheads="1" noChangeShapeType="1" noTextEdit="1"/>
              </p:cNvSpPr>
              <p:nvPr/>
            </p:nvSpPr>
            <p:spPr>
              <a:xfrm>
                <a:off x="8229600" y="3962400"/>
                <a:ext cx="457200" cy="369332"/>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8991600" y="39624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31" name="TextBox 30"/>
              <p:cNvSpPr txBox="1">
                <a:spLocks noRot="1" noChangeAspect="1" noMove="1" noResize="1" noEditPoints="1" noAdjustHandles="1" noChangeArrowheads="1" noChangeShapeType="1" noTextEdit="1"/>
              </p:cNvSpPr>
              <p:nvPr/>
            </p:nvSpPr>
            <p:spPr>
              <a:xfrm>
                <a:off x="8991600" y="3962400"/>
                <a:ext cx="457200" cy="369332"/>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4267200" y="3657600"/>
                <a:ext cx="11430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𝑧</m:t>
                      </m:r>
                    </m:oMath>
                  </m:oMathPara>
                </a14:m>
                <a:endParaRPr lang="en-US" dirty="0"/>
              </a:p>
            </p:txBody>
          </p:sp>
        </mc:Choice>
        <mc:Fallback xmlns="">
          <p:sp>
            <p:nvSpPr>
              <p:cNvPr id="32" name="TextBox 31"/>
              <p:cNvSpPr txBox="1">
                <a:spLocks noRot="1" noChangeAspect="1" noMove="1" noResize="1" noEditPoints="1" noAdjustHandles="1" noChangeArrowheads="1" noChangeShapeType="1" noTextEdit="1"/>
              </p:cNvSpPr>
              <p:nvPr/>
            </p:nvSpPr>
            <p:spPr>
              <a:xfrm>
                <a:off x="4267200" y="3657600"/>
                <a:ext cx="1143000" cy="369332"/>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6324600" y="3657600"/>
                <a:ext cx="11430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𝑧</m:t>
                      </m:r>
                    </m:oMath>
                  </m:oMathPara>
                </a14:m>
                <a:endParaRPr lang="en-US" dirty="0"/>
              </a:p>
            </p:txBody>
          </p:sp>
        </mc:Choice>
        <mc:Fallback xmlns="">
          <p:sp>
            <p:nvSpPr>
              <p:cNvPr id="33" name="TextBox 32"/>
              <p:cNvSpPr txBox="1">
                <a:spLocks noRot="1" noChangeAspect="1" noMove="1" noResize="1" noEditPoints="1" noAdjustHandles="1" noChangeArrowheads="1" noChangeShapeType="1" noTextEdit="1"/>
              </p:cNvSpPr>
              <p:nvPr/>
            </p:nvSpPr>
            <p:spPr>
              <a:xfrm>
                <a:off x="6324600" y="3657600"/>
                <a:ext cx="1143000" cy="369332"/>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8229600" y="3657600"/>
                <a:ext cx="11430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𝑧</m:t>
                      </m:r>
                    </m:oMath>
                  </m:oMathPara>
                </a14:m>
                <a:endParaRPr lang="en-US" dirty="0"/>
              </a:p>
            </p:txBody>
          </p:sp>
        </mc:Choice>
        <mc:Fallback xmlns="">
          <p:sp>
            <p:nvSpPr>
              <p:cNvPr id="34" name="TextBox 33"/>
              <p:cNvSpPr txBox="1">
                <a:spLocks noRot="1" noChangeAspect="1" noMove="1" noResize="1" noEditPoints="1" noAdjustHandles="1" noChangeArrowheads="1" noChangeShapeType="1" noTextEdit="1"/>
              </p:cNvSpPr>
              <p:nvPr/>
            </p:nvSpPr>
            <p:spPr>
              <a:xfrm>
                <a:off x="8229600" y="3657600"/>
                <a:ext cx="1143000" cy="369332"/>
              </a:xfrm>
              <a:prstGeom prst="rect">
                <a:avLst/>
              </a:prstGeom>
              <a:blipFill>
                <a:blip r:embed="rId2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1400401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2133601" y="1615440"/>
              <a:ext cx="1455419" cy="3337560"/>
            </p:xfrm>
            <a:graphic>
              <a:graphicData uri="http://schemas.openxmlformats.org/drawingml/2006/table">
                <a:tbl>
                  <a:tblPr firstRow="1" bandRow="1">
                    <a:tableStyleId>{5C22544A-7EE6-4342-B048-85BDC9FD1C3A}</a:tableStyleId>
                  </a:tblPr>
                  <a:tblGrid>
                    <a:gridCol w="367030">
                      <a:extLst>
                        <a:ext uri="{9D8B030D-6E8A-4147-A177-3AD203B41FA5}">
                          <a16:colId xmlns:a16="http://schemas.microsoft.com/office/drawing/2014/main" val="20000"/>
                        </a:ext>
                      </a:extLst>
                    </a:gridCol>
                    <a:gridCol w="371792">
                      <a:extLst>
                        <a:ext uri="{9D8B030D-6E8A-4147-A177-3AD203B41FA5}">
                          <a16:colId xmlns:a16="http://schemas.microsoft.com/office/drawing/2014/main" val="20001"/>
                        </a:ext>
                      </a:extLst>
                    </a:gridCol>
                    <a:gridCol w="352742">
                      <a:extLst>
                        <a:ext uri="{9D8B030D-6E8A-4147-A177-3AD203B41FA5}">
                          <a16:colId xmlns:a16="http://schemas.microsoft.com/office/drawing/2014/main" val="20002"/>
                        </a:ext>
                      </a:extLst>
                    </a:gridCol>
                    <a:gridCol w="363855">
                      <a:extLst>
                        <a:ext uri="{9D8B030D-6E8A-4147-A177-3AD203B41FA5}">
                          <a16:colId xmlns:a16="http://schemas.microsoft.com/office/drawing/2014/main" val="20003"/>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𝒚</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𝒛</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𝒇</m:t>
                                </m:r>
                              </m:oMath>
                            </m:oMathPara>
                          </a14:m>
                          <a:endParaRPr lang="en-US" dirty="0"/>
                        </a:p>
                      </a:txBody>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1"/>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3"/>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4"/>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5"/>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7"/>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8"/>
                      </a:ext>
                    </a:extLst>
                  </a:tr>
                </a:tbl>
              </a:graphicData>
            </a:graphic>
          </p:graphicFrame>
        </mc:Choice>
        <mc:Fallback xmlns="">
          <p:graphicFrame>
            <p:nvGraphicFramePr>
              <p:cNvPr id="4" name="Table 3"/>
              <p:cNvGraphicFramePr>
                <a:graphicFrameLocks noGrp="1"/>
              </p:cNvGraphicFramePr>
              <p:nvPr/>
            </p:nvGraphicFramePr>
            <p:xfrm>
              <a:off x="2133601" y="1615440"/>
              <a:ext cx="1455419" cy="3337560"/>
            </p:xfrm>
            <a:graphic>
              <a:graphicData uri="http://schemas.openxmlformats.org/drawingml/2006/table">
                <a:tbl>
                  <a:tblPr firstRow="1" bandRow="1">
                    <a:tableStyleId>{5C22544A-7EE6-4342-B048-85BDC9FD1C3A}</a:tableStyleId>
                  </a:tblPr>
                  <a:tblGrid>
                    <a:gridCol w="367030">
                      <a:extLst>
                        <a:ext uri="{9D8B030D-6E8A-4147-A177-3AD203B41FA5}">
                          <a16:colId xmlns:a16="http://schemas.microsoft.com/office/drawing/2014/main" val="20000"/>
                        </a:ext>
                      </a:extLst>
                    </a:gridCol>
                    <a:gridCol w="371792">
                      <a:extLst>
                        <a:ext uri="{9D8B030D-6E8A-4147-A177-3AD203B41FA5}">
                          <a16:colId xmlns:a16="http://schemas.microsoft.com/office/drawing/2014/main" val="20001"/>
                        </a:ext>
                      </a:extLst>
                    </a:gridCol>
                    <a:gridCol w="352742">
                      <a:extLst>
                        <a:ext uri="{9D8B030D-6E8A-4147-A177-3AD203B41FA5}">
                          <a16:colId xmlns:a16="http://schemas.microsoft.com/office/drawing/2014/main" val="20002"/>
                        </a:ext>
                      </a:extLst>
                    </a:gridCol>
                    <a:gridCol w="363855">
                      <a:extLst>
                        <a:ext uri="{9D8B030D-6E8A-4147-A177-3AD203B41FA5}">
                          <a16:colId xmlns:a16="http://schemas.microsoft.com/office/drawing/2014/main" val="20003"/>
                        </a:ext>
                      </a:extLst>
                    </a:gridCol>
                  </a:tblGrid>
                  <a:tr h="370840">
                    <a:tc>
                      <a:txBody>
                        <a:bodyPr/>
                        <a:lstStyle/>
                        <a:p>
                          <a:endParaRPr lang="en-US"/>
                        </a:p>
                      </a:txBody>
                      <a:tcPr>
                        <a:blipFill>
                          <a:blip r:embed="rId2"/>
                          <a:stretch>
                            <a:fillRect l="-3333" t="-3279" r="-305000" b="-822951"/>
                          </a:stretch>
                        </a:blipFill>
                      </a:tcPr>
                    </a:tc>
                    <a:tc>
                      <a:txBody>
                        <a:bodyPr/>
                        <a:lstStyle/>
                        <a:p>
                          <a:endParaRPr lang="en-US"/>
                        </a:p>
                      </a:txBody>
                      <a:tcPr>
                        <a:blipFill>
                          <a:blip r:embed="rId2"/>
                          <a:stretch>
                            <a:fillRect l="-101639" t="-3279" r="-200000" b="-822951"/>
                          </a:stretch>
                        </a:blipFill>
                      </a:tcPr>
                    </a:tc>
                    <a:tc>
                      <a:txBody>
                        <a:bodyPr/>
                        <a:lstStyle/>
                        <a:p>
                          <a:endParaRPr lang="en-US"/>
                        </a:p>
                      </a:txBody>
                      <a:tcPr>
                        <a:blipFill>
                          <a:blip r:embed="rId2"/>
                          <a:stretch>
                            <a:fillRect l="-212069" t="-3279" r="-110345" b="-822951"/>
                          </a:stretch>
                        </a:blipFill>
                      </a:tcPr>
                    </a:tc>
                    <a:tc>
                      <a:txBody>
                        <a:bodyPr/>
                        <a:lstStyle/>
                        <a:p>
                          <a:endParaRPr lang="en-US"/>
                        </a:p>
                      </a:txBody>
                      <a:tcPr>
                        <a:blipFill>
                          <a:blip r:embed="rId2"/>
                          <a:stretch>
                            <a:fillRect l="-301667" t="-3279" r="-6667" b="-822951"/>
                          </a:stretch>
                        </a:blipFill>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301667" t="-103279" r="-6667" b="-722951"/>
                          </a:stretch>
                        </a:blipFill>
                      </a:tcPr>
                    </a:tc>
                    <a:extLst>
                      <a:ext uri="{0D108BD9-81ED-4DB2-BD59-A6C34878D82A}">
                        <a16:rowId xmlns:a16="http://schemas.microsoft.com/office/drawing/2014/main" val="10001"/>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1667" t="-203279" r="-6667" b="-622951"/>
                          </a:stretch>
                        </a:blipFill>
                      </a:tcPr>
                    </a:tc>
                    <a:extLst>
                      <a:ext uri="{0D108BD9-81ED-4DB2-BD59-A6C34878D82A}">
                        <a16:rowId xmlns:a16="http://schemas.microsoft.com/office/drawing/2014/main" val="1000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a:blip r:embed="rId2"/>
                          <a:stretch>
                            <a:fillRect l="-301667" t="-303279" r="-6667" b="-522951"/>
                          </a:stretch>
                        </a:blipFill>
                      </a:tcPr>
                    </a:tc>
                    <a:extLst>
                      <a:ext uri="{0D108BD9-81ED-4DB2-BD59-A6C34878D82A}">
                        <a16:rowId xmlns:a16="http://schemas.microsoft.com/office/drawing/2014/main" val="10003"/>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2"/>
                          <a:stretch>
                            <a:fillRect l="-301667" t="-410000" r="-6667" b="-431667"/>
                          </a:stretch>
                        </a:blipFill>
                      </a:tcPr>
                    </a:tc>
                    <a:extLst>
                      <a:ext uri="{0D108BD9-81ED-4DB2-BD59-A6C34878D82A}">
                        <a16:rowId xmlns:a16="http://schemas.microsoft.com/office/drawing/2014/main" val="10004"/>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301667" t="-501639" r="-6667" b="-324590"/>
                          </a:stretch>
                        </a:blipFill>
                      </a:tcPr>
                    </a:tc>
                    <a:extLst>
                      <a:ext uri="{0D108BD9-81ED-4DB2-BD59-A6C34878D82A}">
                        <a16:rowId xmlns:a16="http://schemas.microsoft.com/office/drawing/2014/main" val="10005"/>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1667" t="-601639" r="-6667" b="-224590"/>
                          </a:stretch>
                        </a:blipFill>
                      </a:tcPr>
                    </a:tc>
                    <a:extLst>
                      <a:ext uri="{0D108BD9-81ED-4DB2-BD59-A6C34878D82A}">
                        <a16:rowId xmlns:a16="http://schemas.microsoft.com/office/drawing/2014/main" val="1000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a:blip r:embed="rId2"/>
                          <a:stretch>
                            <a:fillRect l="-301667" t="-701639" r="-6667" b="-124590"/>
                          </a:stretch>
                        </a:blipFill>
                      </a:tcPr>
                    </a:tc>
                    <a:extLst>
                      <a:ext uri="{0D108BD9-81ED-4DB2-BD59-A6C34878D82A}">
                        <a16:rowId xmlns:a16="http://schemas.microsoft.com/office/drawing/2014/main" val="10007"/>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2"/>
                          <a:stretch>
                            <a:fillRect l="-301667" t="-801639" r="-6667" b="-24590"/>
                          </a:stretch>
                        </a:blipFill>
                      </a:tcPr>
                    </a:tc>
                    <a:extLst>
                      <a:ext uri="{0D108BD9-81ED-4DB2-BD59-A6C34878D82A}">
                        <a16:rowId xmlns:a16="http://schemas.microsoft.com/office/drawing/2014/main" val="10008"/>
                      </a:ext>
                    </a:extLst>
                  </a:tr>
                </a:tbl>
              </a:graphicData>
            </a:graphic>
          </p:graphicFrame>
        </mc:Fallback>
      </mc:AlternateContent>
      <p:graphicFrame>
        <p:nvGraphicFramePr>
          <p:cNvPr id="5" name="Table 4"/>
          <p:cNvGraphicFramePr>
            <a:graphicFrameLocks noGrp="1"/>
          </p:cNvGraphicFramePr>
          <p:nvPr/>
        </p:nvGraphicFramePr>
        <p:xfrm>
          <a:off x="5334000" y="2387600"/>
          <a:ext cx="3048000" cy="1270000"/>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tblGrid>
              <a:tr h="635000">
                <a:tc>
                  <a:txBody>
                    <a:bodyPr/>
                    <a:lstStyle/>
                    <a:p>
                      <a:pPr algn="ctr"/>
                      <a:r>
                        <a:rPr lang="en-US" sz="2400" dirty="0"/>
                        <a:t>1</a:t>
                      </a:r>
                    </a:p>
                  </a:txBody>
                  <a:tcPr>
                    <a:solidFill>
                      <a:srgbClr val="7030A0">
                        <a:alpha val="50000"/>
                      </a:srgbClr>
                    </a:solidFill>
                  </a:tcPr>
                </a:tc>
                <a:tc>
                  <a:txBody>
                    <a:bodyPr/>
                    <a:lstStyle/>
                    <a:p>
                      <a:pPr algn="ctr"/>
                      <a:r>
                        <a:rPr lang="en-US" sz="2400" dirty="0"/>
                        <a:t>0</a:t>
                      </a:r>
                    </a:p>
                  </a:txBody>
                  <a:tcPr>
                    <a:solidFill>
                      <a:srgbClr val="7030A0">
                        <a:alpha val="50000"/>
                      </a:srgbClr>
                    </a:solidFill>
                  </a:tcPr>
                </a:tc>
                <a:tc>
                  <a:txBody>
                    <a:bodyPr/>
                    <a:lstStyle/>
                    <a:p>
                      <a:pPr algn="ctr"/>
                      <a:r>
                        <a:rPr lang="en-US" sz="2400" dirty="0"/>
                        <a:t>1</a:t>
                      </a:r>
                    </a:p>
                  </a:txBody>
                  <a:tcPr>
                    <a:solidFill>
                      <a:srgbClr val="0070C0">
                        <a:alpha val="50000"/>
                      </a:srgbClr>
                    </a:solidFill>
                  </a:tcPr>
                </a:tc>
                <a:tc>
                  <a:txBody>
                    <a:bodyPr/>
                    <a:lstStyle/>
                    <a:p>
                      <a:pPr algn="ctr"/>
                      <a:r>
                        <a:rPr lang="en-US" sz="2400" dirty="0"/>
                        <a:t>1</a:t>
                      </a:r>
                    </a:p>
                  </a:txBody>
                  <a:tcPr>
                    <a:solidFill>
                      <a:srgbClr val="0070C0">
                        <a:alpha val="50000"/>
                      </a:srgbClr>
                    </a:solidFill>
                  </a:tcPr>
                </a:tc>
                <a:extLst>
                  <a:ext uri="{0D108BD9-81ED-4DB2-BD59-A6C34878D82A}">
                    <a16:rowId xmlns:a16="http://schemas.microsoft.com/office/drawing/2014/main" val="10000"/>
                  </a:ext>
                </a:extLst>
              </a:tr>
              <a:tr h="635000">
                <a:tc>
                  <a:txBody>
                    <a:bodyPr/>
                    <a:lstStyle/>
                    <a:p>
                      <a:pPr algn="ctr"/>
                      <a:r>
                        <a:rPr lang="en-US" sz="2400" dirty="0"/>
                        <a:t>0</a:t>
                      </a:r>
                    </a:p>
                  </a:txBody>
                  <a:tcPr>
                    <a:solidFill>
                      <a:schemeClr val="accent6">
                        <a:alpha val="50000"/>
                      </a:schemeClr>
                    </a:solidFill>
                  </a:tcPr>
                </a:tc>
                <a:tc>
                  <a:txBody>
                    <a:bodyPr/>
                    <a:lstStyle/>
                    <a:p>
                      <a:pPr algn="ctr"/>
                      <a:r>
                        <a:rPr lang="en-US" sz="2400" dirty="0"/>
                        <a:t>1</a:t>
                      </a:r>
                    </a:p>
                  </a:txBody>
                  <a:tcPr>
                    <a:solidFill>
                      <a:schemeClr val="accent6">
                        <a:alpha val="50000"/>
                      </a:schemeClr>
                    </a:solidFill>
                  </a:tcPr>
                </a:tc>
                <a:tc>
                  <a:txBody>
                    <a:bodyPr/>
                    <a:lstStyle/>
                    <a:p>
                      <a:pPr algn="ctr"/>
                      <a:r>
                        <a:rPr lang="en-US" sz="2400" dirty="0"/>
                        <a:t>0</a:t>
                      </a:r>
                    </a:p>
                  </a:txBody>
                  <a:tcPr>
                    <a:solidFill>
                      <a:srgbClr val="00B050">
                        <a:alpha val="50000"/>
                      </a:srgbClr>
                    </a:solidFill>
                  </a:tcPr>
                </a:tc>
                <a:tc>
                  <a:txBody>
                    <a:bodyPr/>
                    <a:lstStyle/>
                    <a:p>
                      <a:pPr algn="ctr"/>
                      <a:r>
                        <a:rPr lang="en-US" sz="2400" dirty="0"/>
                        <a:t>0</a:t>
                      </a:r>
                    </a:p>
                  </a:txBody>
                  <a:tcPr>
                    <a:solidFill>
                      <a:srgbClr val="00B050">
                        <a:alpha val="50000"/>
                      </a:srgbClr>
                    </a:solidFill>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6" name="TextBox 5"/>
              <p:cNvSpPr txBox="1"/>
              <p:nvPr/>
            </p:nvSpPr>
            <p:spPr>
              <a:xfrm>
                <a:off x="3962400" y="2616200"/>
                <a:ext cx="11430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𝑆</m:t>
                          </m:r>
                        </m:e>
                        <m:sub>
                          <m:r>
                            <a:rPr lang="en-US" i="1">
                              <a:latin typeface="Cambria Math"/>
                            </a:rPr>
                            <m:t>1</m:t>
                          </m:r>
                        </m:sub>
                      </m:sSub>
                      <m:r>
                        <a:rPr lang="en-US" i="1">
                          <a:latin typeface="Cambria Math"/>
                        </a:rPr>
                        <m:t>=</m:t>
                      </m:r>
                      <m:r>
                        <a:rPr lang="en-US" i="1">
                          <a:latin typeface="Cambria Math"/>
                        </a:rPr>
                        <m:t>𝑥</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3962400" y="2616200"/>
                <a:ext cx="1143000"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172200" y="1447801"/>
                <a:ext cx="1143000"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𝑆</m:t>
                          </m:r>
                        </m:e>
                        <m:sub>
                          <m:r>
                            <a:rPr lang="en-US" i="1">
                              <a:latin typeface="Cambria Math"/>
                            </a:rPr>
                            <m:t>0</m:t>
                          </m:r>
                        </m:sub>
                      </m:sSub>
                      <m:r>
                        <a:rPr lang="en-US" i="1">
                          <a:latin typeface="Cambria Math"/>
                        </a:rPr>
                        <m:t>=</m:t>
                      </m:r>
                      <m:r>
                        <a:rPr lang="en-US" i="1">
                          <a:latin typeface="Cambria Math"/>
                        </a:rPr>
                        <m:t>𝑦</m:t>
                      </m:r>
                    </m:oMath>
                  </m:oMathPara>
                </a14:m>
                <a:endParaRPr lang="en-US" dirty="0"/>
              </a:p>
              <a:p>
                <a:pPr/>
                <a14:m>
                  <m:oMathPara xmlns:m="http://schemas.openxmlformats.org/officeDocument/2006/math">
                    <m:oMathParaPr>
                      <m:jc m:val="centerGroup"/>
                    </m:oMathParaPr>
                    <m:oMath xmlns:m="http://schemas.openxmlformats.org/officeDocument/2006/math">
                      <m:r>
                        <a:rPr lang="en-US" i="1">
                          <a:latin typeface="Cambria Math"/>
                        </a:rPr>
                        <m:t>𝑦𝑧</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6172200" y="1447801"/>
                <a:ext cx="1143000" cy="646331"/>
              </a:xfrm>
              <a:prstGeom prst="rect">
                <a:avLst/>
              </a:prstGeom>
              <a:blipFill>
                <a:blip r:embed="rId4"/>
                <a:stretch>
                  <a:fillRect b="-283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486400" y="20066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00</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5486400" y="2006600"/>
                <a:ext cx="457200"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6248400" y="20066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01</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6248400" y="2006600"/>
                <a:ext cx="457200" cy="36933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010400" y="20066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11</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7010400" y="2006600"/>
                <a:ext cx="457200" cy="36933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7772400" y="20066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10</m:t>
                      </m:r>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7772400" y="2006600"/>
                <a:ext cx="457200" cy="369332"/>
              </a:xfrm>
              <a:prstGeom prst="rect">
                <a:avLst/>
              </a:prstGeom>
              <a:blipFill>
                <a:blip r:embed="rId8"/>
                <a:stretch>
                  <a:fillRect/>
                </a:stretch>
              </a:blipFill>
            </p:spPr>
            <p:txBody>
              <a:bodyPr/>
              <a:lstStyle/>
              <a:p>
                <a:r>
                  <a:rPr lang="en-IN">
                    <a:noFill/>
                  </a:rPr>
                  <a:t> </a:t>
                </a:r>
              </a:p>
            </p:txBody>
          </p:sp>
        </mc:Fallback>
      </mc:AlternateContent>
      <p:graphicFrame>
        <p:nvGraphicFramePr>
          <p:cNvPr id="16" name="Table 15"/>
          <p:cNvGraphicFramePr>
            <a:graphicFrameLocks noGrp="1"/>
          </p:cNvGraphicFramePr>
          <p:nvPr/>
        </p:nvGraphicFramePr>
        <p:xfrm>
          <a:off x="4343400" y="4419600"/>
          <a:ext cx="1371600" cy="45720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370840">
                <a:tc>
                  <a:txBody>
                    <a:bodyPr/>
                    <a:lstStyle/>
                    <a:p>
                      <a:pPr algn="ctr"/>
                      <a:r>
                        <a:rPr lang="en-US" sz="2400" dirty="0"/>
                        <a:t>1</a:t>
                      </a:r>
                    </a:p>
                  </a:txBody>
                  <a:tcPr>
                    <a:solidFill>
                      <a:srgbClr val="7030A0">
                        <a:alpha val="50000"/>
                      </a:srgbClr>
                    </a:solidFill>
                  </a:tcPr>
                </a:tc>
                <a:tc>
                  <a:txBody>
                    <a:bodyPr/>
                    <a:lstStyle/>
                    <a:p>
                      <a:pPr algn="ctr"/>
                      <a:r>
                        <a:rPr lang="en-US" sz="2400" dirty="0"/>
                        <a:t>0</a:t>
                      </a:r>
                    </a:p>
                  </a:txBody>
                  <a:tcPr>
                    <a:solidFill>
                      <a:srgbClr val="7030A0">
                        <a:alpha val="50000"/>
                      </a:srgbClr>
                    </a:solidFill>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17" name="TextBox 16"/>
              <p:cNvSpPr txBox="1"/>
              <p:nvPr/>
            </p:nvSpPr>
            <p:spPr>
              <a:xfrm>
                <a:off x="4191000" y="4876800"/>
                <a:ext cx="1600200" cy="369332"/>
              </a:xfrm>
              <a:prstGeom prst="rect">
                <a:avLst/>
              </a:prstGeom>
              <a:noFill/>
            </p:spPr>
            <p:txBody>
              <a:bodyPr wrap="square" rtlCol="0">
                <a:spAutoFit/>
              </a:bodyPr>
              <a:lstStyle/>
              <a:p>
                <a:pPr algn="ctr"/>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0</m:t>
                        </m:r>
                      </m:sub>
                    </m:sSub>
                  </m:oMath>
                </a14:m>
                <a:r>
                  <a:rPr lang="en-US" dirty="0"/>
                  <a:t> map</a:t>
                </a:r>
              </a:p>
            </p:txBody>
          </p:sp>
        </mc:Choice>
        <mc:Fallback xmlns="">
          <p:sp>
            <p:nvSpPr>
              <p:cNvPr id="17" name="TextBox 16"/>
              <p:cNvSpPr txBox="1">
                <a:spLocks noRot="1" noChangeAspect="1" noMove="1" noResize="1" noEditPoints="1" noAdjustHandles="1" noChangeArrowheads="1" noChangeShapeType="1" noTextEdit="1"/>
              </p:cNvSpPr>
              <p:nvPr/>
            </p:nvSpPr>
            <p:spPr>
              <a:xfrm>
                <a:off x="4191000" y="4876800"/>
                <a:ext cx="1600200" cy="369332"/>
              </a:xfrm>
              <a:prstGeom prst="rect">
                <a:avLst/>
              </a:prstGeom>
              <a:blipFill>
                <a:blip r:embed="rId9"/>
                <a:stretch>
                  <a:fillRect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419600" y="3974068"/>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oMath>
                  </m:oMathPara>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4419600" y="3974068"/>
                <a:ext cx="457200" cy="369332"/>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5181600" y="3974068"/>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19" name="TextBox 18"/>
              <p:cNvSpPr txBox="1">
                <a:spLocks noRot="1" noChangeAspect="1" noMove="1" noResize="1" noEditPoints="1" noAdjustHandles="1" noChangeArrowheads="1" noChangeShapeType="1" noTextEdit="1"/>
              </p:cNvSpPr>
              <p:nvPr/>
            </p:nvSpPr>
            <p:spPr>
              <a:xfrm>
                <a:off x="5181600" y="3974068"/>
                <a:ext cx="457200" cy="369332"/>
              </a:xfrm>
              <a:prstGeom prst="rect">
                <a:avLst/>
              </a:prstGeom>
              <a:blipFill>
                <a:blip r:embed="rId1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4419600" y="3669268"/>
                <a:ext cx="11430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𝑧</m:t>
                      </m:r>
                    </m:oMath>
                  </m:oMathPara>
                </a14:m>
                <a:endParaRPr lang="en-US" dirty="0"/>
              </a:p>
            </p:txBody>
          </p:sp>
        </mc:Choice>
        <mc:Fallback xmlns="">
          <p:sp>
            <p:nvSpPr>
              <p:cNvPr id="20" name="TextBox 19"/>
              <p:cNvSpPr txBox="1">
                <a:spLocks noRot="1" noChangeAspect="1" noMove="1" noResize="1" noEditPoints="1" noAdjustHandles="1" noChangeArrowheads="1" noChangeShapeType="1" noTextEdit="1"/>
              </p:cNvSpPr>
              <p:nvPr/>
            </p:nvSpPr>
            <p:spPr>
              <a:xfrm>
                <a:off x="4419600" y="3669268"/>
                <a:ext cx="1143000" cy="369332"/>
              </a:xfrm>
              <a:prstGeom prst="rect">
                <a:avLst/>
              </a:prstGeom>
              <a:blipFill>
                <a:blip r:embed="rId12"/>
                <a:stretch>
                  <a:fillRect/>
                </a:stretch>
              </a:blipFill>
            </p:spPr>
            <p:txBody>
              <a:bodyPr/>
              <a:lstStyle/>
              <a:p>
                <a:r>
                  <a:rPr lang="en-IN">
                    <a:noFill/>
                  </a:rPr>
                  <a:t> </a:t>
                </a:r>
              </a:p>
            </p:txBody>
          </p:sp>
        </mc:Fallback>
      </mc:AlternateContent>
      <p:graphicFrame>
        <p:nvGraphicFramePr>
          <p:cNvPr id="21" name="Table 20"/>
          <p:cNvGraphicFramePr>
            <a:graphicFrameLocks noGrp="1"/>
          </p:cNvGraphicFramePr>
          <p:nvPr/>
        </p:nvGraphicFramePr>
        <p:xfrm>
          <a:off x="5867400" y="4431268"/>
          <a:ext cx="1371600" cy="45720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370840">
                <a:tc>
                  <a:txBody>
                    <a:bodyPr/>
                    <a:lstStyle/>
                    <a:p>
                      <a:pPr algn="ctr"/>
                      <a:r>
                        <a:rPr lang="en-US" sz="2400" dirty="0"/>
                        <a:t>1</a:t>
                      </a:r>
                    </a:p>
                  </a:txBody>
                  <a:tcPr>
                    <a:solidFill>
                      <a:srgbClr val="0070C0">
                        <a:alpha val="50000"/>
                      </a:srgbClr>
                    </a:solidFill>
                  </a:tcPr>
                </a:tc>
                <a:tc>
                  <a:txBody>
                    <a:bodyPr/>
                    <a:lstStyle/>
                    <a:p>
                      <a:pPr algn="ctr"/>
                      <a:r>
                        <a:rPr lang="en-US" sz="2400" dirty="0"/>
                        <a:t>1</a:t>
                      </a:r>
                    </a:p>
                  </a:txBody>
                  <a:tcPr>
                    <a:solidFill>
                      <a:srgbClr val="0070C0">
                        <a:alpha val="50000"/>
                      </a:srgbClr>
                    </a:solidFill>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22" name="TextBox 21"/>
              <p:cNvSpPr txBox="1"/>
              <p:nvPr/>
            </p:nvSpPr>
            <p:spPr>
              <a:xfrm>
                <a:off x="5715000" y="4888468"/>
                <a:ext cx="1600200" cy="369332"/>
              </a:xfrm>
              <a:prstGeom prst="rect">
                <a:avLst/>
              </a:prstGeom>
              <a:noFill/>
            </p:spPr>
            <p:txBody>
              <a:bodyPr wrap="square" rtlCol="0">
                <a:spAutoFit/>
              </a:bodyPr>
              <a:lstStyle/>
              <a:p>
                <a:pPr algn="ctr"/>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1</m:t>
                        </m:r>
                      </m:sub>
                    </m:sSub>
                  </m:oMath>
                </a14:m>
                <a:r>
                  <a:rPr lang="en-US" dirty="0"/>
                  <a:t> map</a:t>
                </a:r>
              </a:p>
            </p:txBody>
          </p:sp>
        </mc:Choice>
        <mc:Fallback xmlns="">
          <p:sp>
            <p:nvSpPr>
              <p:cNvPr id="22" name="TextBox 21"/>
              <p:cNvSpPr txBox="1">
                <a:spLocks noRot="1" noChangeAspect="1" noMove="1" noResize="1" noEditPoints="1" noAdjustHandles="1" noChangeArrowheads="1" noChangeShapeType="1" noTextEdit="1"/>
              </p:cNvSpPr>
              <p:nvPr/>
            </p:nvSpPr>
            <p:spPr>
              <a:xfrm>
                <a:off x="5715000" y="4888468"/>
                <a:ext cx="1600200" cy="369332"/>
              </a:xfrm>
              <a:prstGeom prst="rect">
                <a:avLst/>
              </a:prstGeom>
              <a:blipFill>
                <a:blip r:embed="rId13"/>
                <a:stretch>
                  <a:fillRect t="-9836"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5943600" y="3985736"/>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oMath>
                  </m:oMathPara>
                </a14:m>
                <a:endParaRPr lang="en-US" dirty="0"/>
              </a:p>
            </p:txBody>
          </p:sp>
        </mc:Choice>
        <mc:Fallback xmlns="">
          <p:sp>
            <p:nvSpPr>
              <p:cNvPr id="23" name="TextBox 22"/>
              <p:cNvSpPr txBox="1">
                <a:spLocks noRot="1" noChangeAspect="1" noMove="1" noResize="1" noEditPoints="1" noAdjustHandles="1" noChangeArrowheads="1" noChangeShapeType="1" noTextEdit="1"/>
              </p:cNvSpPr>
              <p:nvPr/>
            </p:nvSpPr>
            <p:spPr>
              <a:xfrm>
                <a:off x="5943600" y="3985736"/>
                <a:ext cx="457200" cy="369332"/>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6705600" y="3985736"/>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24" name="TextBox 23"/>
              <p:cNvSpPr txBox="1">
                <a:spLocks noRot="1" noChangeAspect="1" noMove="1" noResize="1" noEditPoints="1" noAdjustHandles="1" noChangeArrowheads="1" noChangeShapeType="1" noTextEdit="1"/>
              </p:cNvSpPr>
              <p:nvPr/>
            </p:nvSpPr>
            <p:spPr>
              <a:xfrm>
                <a:off x="6705600" y="3985736"/>
                <a:ext cx="457200" cy="369332"/>
              </a:xfrm>
              <a:prstGeom prst="rect">
                <a:avLst/>
              </a:prstGeom>
              <a:blipFill>
                <a:blip r:embed="rId15"/>
                <a:stretch>
                  <a:fillRect/>
                </a:stretch>
              </a:blipFill>
            </p:spPr>
            <p:txBody>
              <a:bodyPr/>
              <a:lstStyle/>
              <a:p>
                <a:r>
                  <a:rPr lang="en-IN">
                    <a:noFill/>
                  </a:rPr>
                  <a:t> </a:t>
                </a:r>
              </a:p>
            </p:txBody>
          </p:sp>
        </mc:Fallback>
      </mc:AlternateContent>
      <p:graphicFrame>
        <p:nvGraphicFramePr>
          <p:cNvPr id="25" name="Table 24"/>
          <p:cNvGraphicFramePr>
            <a:graphicFrameLocks noGrp="1"/>
          </p:cNvGraphicFramePr>
          <p:nvPr/>
        </p:nvGraphicFramePr>
        <p:xfrm>
          <a:off x="7391400" y="4407932"/>
          <a:ext cx="1371600" cy="45720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370840">
                <a:tc>
                  <a:txBody>
                    <a:bodyPr/>
                    <a:lstStyle/>
                    <a:p>
                      <a:pPr algn="ctr"/>
                      <a:r>
                        <a:rPr lang="en-US" sz="2400" dirty="0"/>
                        <a:t>0</a:t>
                      </a:r>
                    </a:p>
                  </a:txBody>
                  <a:tcPr>
                    <a:solidFill>
                      <a:schemeClr val="accent6">
                        <a:alpha val="50000"/>
                      </a:schemeClr>
                    </a:solidFill>
                  </a:tcPr>
                </a:tc>
                <a:tc>
                  <a:txBody>
                    <a:bodyPr/>
                    <a:lstStyle/>
                    <a:p>
                      <a:pPr algn="ctr"/>
                      <a:r>
                        <a:rPr lang="en-US" sz="2400" dirty="0"/>
                        <a:t>1</a:t>
                      </a:r>
                    </a:p>
                  </a:txBody>
                  <a:tcPr>
                    <a:solidFill>
                      <a:schemeClr val="accent6">
                        <a:alpha val="50000"/>
                      </a:schemeClr>
                    </a:solidFill>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26" name="TextBox 25"/>
              <p:cNvSpPr txBox="1"/>
              <p:nvPr/>
            </p:nvSpPr>
            <p:spPr>
              <a:xfrm>
                <a:off x="7239000" y="4865132"/>
                <a:ext cx="1600200" cy="369332"/>
              </a:xfrm>
              <a:prstGeom prst="rect">
                <a:avLst/>
              </a:prstGeom>
              <a:noFill/>
            </p:spPr>
            <p:txBody>
              <a:bodyPr wrap="square" rtlCol="0">
                <a:spAutoFit/>
              </a:bodyPr>
              <a:lstStyle/>
              <a:p>
                <a:pPr algn="ctr"/>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2</m:t>
                        </m:r>
                      </m:sub>
                    </m:sSub>
                  </m:oMath>
                </a14:m>
                <a:r>
                  <a:rPr lang="en-US" dirty="0"/>
                  <a:t> map</a:t>
                </a:r>
              </a:p>
            </p:txBody>
          </p:sp>
        </mc:Choice>
        <mc:Fallback xmlns="">
          <p:sp>
            <p:nvSpPr>
              <p:cNvPr id="26" name="TextBox 25"/>
              <p:cNvSpPr txBox="1">
                <a:spLocks noRot="1" noChangeAspect="1" noMove="1" noResize="1" noEditPoints="1" noAdjustHandles="1" noChangeArrowheads="1" noChangeShapeType="1" noTextEdit="1"/>
              </p:cNvSpPr>
              <p:nvPr/>
            </p:nvSpPr>
            <p:spPr>
              <a:xfrm>
                <a:off x="7239000" y="4865132"/>
                <a:ext cx="1600200" cy="369332"/>
              </a:xfrm>
              <a:prstGeom prst="rect">
                <a:avLst/>
              </a:prstGeom>
              <a:blipFill>
                <a:blip r:embed="rId16"/>
                <a:stretch>
                  <a:fillRect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7467600" y="39624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oMath>
                  </m:oMathPara>
                </a14:m>
                <a:endParaRPr lang="en-US" dirty="0"/>
              </a:p>
            </p:txBody>
          </p:sp>
        </mc:Choice>
        <mc:Fallback xmlns="">
          <p:sp>
            <p:nvSpPr>
              <p:cNvPr id="27" name="TextBox 26"/>
              <p:cNvSpPr txBox="1">
                <a:spLocks noRot="1" noChangeAspect="1" noMove="1" noResize="1" noEditPoints="1" noAdjustHandles="1" noChangeArrowheads="1" noChangeShapeType="1" noTextEdit="1"/>
              </p:cNvSpPr>
              <p:nvPr/>
            </p:nvSpPr>
            <p:spPr>
              <a:xfrm>
                <a:off x="7467600" y="3962400"/>
                <a:ext cx="457200" cy="369332"/>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8229600" y="39624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28" name="TextBox 27"/>
              <p:cNvSpPr txBox="1">
                <a:spLocks noRot="1" noChangeAspect="1" noMove="1" noResize="1" noEditPoints="1" noAdjustHandles="1" noChangeArrowheads="1" noChangeShapeType="1" noTextEdit="1"/>
              </p:cNvSpPr>
              <p:nvPr/>
            </p:nvSpPr>
            <p:spPr>
              <a:xfrm>
                <a:off x="8229600" y="3962400"/>
                <a:ext cx="457200" cy="369332"/>
              </a:xfrm>
              <a:prstGeom prst="rect">
                <a:avLst/>
              </a:prstGeom>
              <a:blipFill>
                <a:blip r:embed="rId18"/>
                <a:stretch>
                  <a:fillRect/>
                </a:stretch>
              </a:blipFill>
            </p:spPr>
            <p:txBody>
              <a:bodyPr/>
              <a:lstStyle/>
              <a:p>
                <a:r>
                  <a:rPr lang="en-IN">
                    <a:noFill/>
                  </a:rPr>
                  <a:t> </a:t>
                </a:r>
              </a:p>
            </p:txBody>
          </p:sp>
        </mc:Fallback>
      </mc:AlternateContent>
      <p:graphicFrame>
        <p:nvGraphicFramePr>
          <p:cNvPr id="29" name="Table 28"/>
          <p:cNvGraphicFramePr>
            <a:graphicFrameLocks noGrp="1"/>
          </p:cNvGraphicFramePr>
          <p:nvPr/>
        </p:nvGraphicFramePr>
        <p:xfrm>
          <a:off x="8839200" y="4407932"/>
          <a:ext cx="1371600" cy="457200"/>
        </p:xfrm>
        <a:graphic>
          <a:graphicData uri="http://schemas.openxmlformats.org/drawingml/2006/table">
            <a:tbl>
              <a:tblPr firstRow="1" bandRow="1">
                <a:tableStyleId>{5940675A-B579-460E-94D1-54222C63F5DA}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370840">
                <a:tc>
                  <a:txBody>
                    <a:bodyPr/>
                    <a:lstStyle/>
                    <a:p>
                      <a:pPr algn="ctr"/>
                      <a:r>
                        <a:rPr lang="en-US" sz="2400" dirty="0"/>
                        <a:t>0</a:t>
                      </a:r>
                    </a:p>
                  </a:txBody>
                  <a:tcPr>
                    <a:solidFill>
                      <a:srgbClr val="00B050">
                        <a:alpha val="50000"/>
                      </a:srgbClr>
                    </a:solidFill>
                  </a:tcPr>
                </a:tc>
                <a:tc>
                  <a:txBody>
                    <a:bodyPr/>
                    <a:lstStyle/>
                    <a:p>
                      <a:pPr algn="ctr"/>
                      <a:r>
                        <a:rPr lang="en-US" sz="2400" dirty="0"/>
                        <a:t>0</a:t>
                      </a:r>
                    </a:p>
                  </a:txBody>
                  <a:tcPr>
                    <a:solidFill>
                      <a:srgbClr val="00B050">
                        <a:alpha val="50000"/>
                      </a:srgbClr>
                    </a:solidFill>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30" name="TextBox 29"/>
              <p:cNvSpPr txBox="1"/>
              <p:nvPr/>
            </p:nvSpPr>
            <p:spPr>
              <a:xfrm>
                <a:off x="8686800" y="4865132"/>
                <a:ext cx="1600200" cy="369332"/>
              </a:xfrm>
              <a:prstGeom prst="rect">
                <a:avLst/>
              </a:prstGeom>
              <a:noFill/>
            </p:spPr>
            <p:txBody>
              <a:bodyPr wrap="square" rtlCol="0">
                <a:spAutoFit/>
              </a:bodyPr>
              <a:lstStyle/>
              <a:p>
                <a:pPr algn="ctr"/>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3</m:t>
                        </m:r>
                      </m:sub>
                    </m:sSub>
                  </m:oMath>
                </a14:m>
                <a:r>
                  <a:rPr lang="en-US" dirty="0"/>
                  <a:t> map</a:t>
                </a:r>
              </a:p>
            </p:txBody>
          </p:sp>
        </mc:Choice>
        <mc:Fallback xmlns="">
          <p:sp>
            <p:nvSpPr>
              <p:cNvPr id="30" name="TextBox 29"/>
              <p:cNvSpPr txBox="1">
                <a:spLocks noRot="1" noChangeAspect="1" noMove="1" noResize="1" noEditPoints="1" noAdjustHandles="1" noChangeArrowheads="1" noChangeShapeType="1" noTextEdit="1"/>
              </p:cNvSpPr>
              <p:nvPr/>
            </p:nvSpPr>
            <p:spPr>
              <a:xfrm>
                <a:off x="8686800" y="4865132"/>
                <a:ext cx="1600200" cy="369332"/>
              </a:xfrm>
              <a:prstGeom prst="rect">
                <a:avLst/>
              </a:prstGeom>
              <a:blipFill>
                <a:blip r:embed="rId19"/>
                <a:stretch>
                  <a:fillRect t="-8197"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1" name="TextBox 30"/>
              <p:cNvSpPr txBox="1"/>
              <p:nvPr/>
            </p:nvSpPr>
            <p:spPr>
              <a:xfrm>
                <a:off x="8915400" y="39624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oMath>
                  </m:oMathPara>
                </a14:m>
                <a:endParaRPr lang="en-US" dirty="0"/>
              </a:p>
            </p:txBody>
          </p:sp>
        </mc:Choice>
        <mc:Fallback xmlns="">
          <p:sp>
            <p:nvSpPr>
              <p:cNvPr id="31" name="TextBox 30"/>
              <p:cNvSpPr txBox="1">
                <a:spLocks noRot="1" noChangeAspect="1" noMove="1" noResize="1" noEditPoints="1" noAdjustHandles="1" noChangeArrowheads="1" noChangeShapeType="1" noTextEdit="1"/>
              </p:cNvSpPr>
              <p:nvPr/>
            </p:nvSpPr>
            <p:spPr>
              <a:xfrm>
                <a:off x="8915400" y="3962400"/>
                <a:ext cx="457200" cy="369332"/>
              </a:xfrm>
              <a:prstGeom prst="rect">
                <a:avLst/>
              </a:prstGeom>
              <a:blipFill>
                <a:blip r:embed="rId2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TextBox 31"/>
              <p:cNvSpPr txBox="1"/>
              <p:nvPr/>
            </p:nvSpPr>
            <p:spPr>
              <a:xfrm>
                <a:off x="9677400" y="39624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32" name="TextBox 31"/>
              <p:cNvSpPr txBox="1">
                <a:spLocks noRot="1" noChangeAspect="1" noMove="1" noResize="1" noEditPoints="1" noAdjustHandles="1" noChangeArrowheads="1" noChangeShapeType="1" noTextEdit="1"/>
              </p:cNvSpPr>
              <p:nvPr/>
            </p:nvSpPr>
            <p:spPr>
              <a:xfrm>
                <a:off x="9677400" y="3962400"/>
                <a:ext cx="457200" cy="369332"/>
              </a:xfrm>
              <a:prstGeom prst="rect">
                <a:avLst/>
              </a:prstGeom>
              <a:blipFill>
                <a:blip r:embed="rId21"/>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p:cNvSpPr txBox="1"/>
              <p:nvPr/>
            </p:nvSpPr>
            <p:spPr>
              <a:xfrm>
                <a:off x="5943600" y="3657600"/>
                <a:ext cx="11430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𝑧</m:t>
                      </m:r>
                    </m:oMath>
                  </m:oMathPara>
                </a14:m>
                <a:endParaRPr lang="en-US" dirty="0"/>
              </a:p>
            </p:txBody>
          </p:sp>
        </mc:Choice>
        <mc:Fallback xmlns="">
          <p:sp>
            <p:nvSpPr>
              <p:cNvPr id="33" name="TextBox 32"/>
              <p:cNvSpPr txBox="1">
                <a:spLocks noRot="1" noChangeAspect="1" noMove="1" noResize="1" noEditPoints="1" noAdjustHandles="1" noChangeArrowheads="1" noChangeShapeType="1" noTextEdit="1"/>
              </p:cNvSpPr>
              <p:nvPr/>
            </p:nvSpPr>
            <p:spPr>
              <a:xfrm>
                <a:off x="5943600" y="3657600"/>
                <a:ext cx="1143000" cy="369332"/>
              </a:xfrm>
              <a:prstGeom prst="rect">
                <a:avLst/>
              </a:prstGeom>
              <a:blipFill>
                <a:blip r:embed="rId2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TextBox 33"/>
              <p:cNvSpPr txBox="1"/>
              <p:nvPr/>
            </p:nvSpPr>
            <p:spPr>
              <a:xfrm>
                <a:off x="7543800" y="3657600"/>
                <a:ext cx="11430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𝑧</m:t>
                      </m:r>
                    </m:oMath>
                  </m:oMathPara>
                </a14:m>
                <a:endParaRPr lang="en-US" dirty="0"/>
              </a:p>
            </p:txBody>
          </p:sp>
        </mc:Choice>
        <mc:Fallback xmlns="">
          <p:sp>
            <p:nvSpPr>
              <p:cNvPr id="34" name="TextBox 33"/>
              <p:cNvSpPr txBox="1">
                <a:spLocks noRot="1" noChangeAspect="1" noMove="1" noResize="1" noEditPoints="1" noAdjustHandles="1" noChangeArrowheads="1" noChangeShapeType="1" noTextEdit="1"/>
              </p:cNvSpPr>
              <p:nvPr/>
            </p:nvSpPr>
            <p:spPr>
              <a:xfrm>
                <a:off x="7543800" y="3657600"/>
                <a:ext cx="1143000" cy="369332"/>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8915400" y="3657600"/>
                <a:ext cx="11430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𝑧</m:t>
                      </m:r>
                    </m:oMath>
                  </m:oMathPara>
                </a14:m>
                <a:endParaRPr lang="en-US" dirty="0"/>
              </a:p>
            </p:txBody>
          </p:sp>
        </mc:Choice>
        <mc:Fallback xmlns="">
          <p:sp>
            <p:nvSpPr>
              <p:cNvPr id="35" name="TextBox 34"/>
              <p:cNvSpPr txBox="1">
                <a:spLocks noRot="1" noChangeAspect="1" noMove="1" noResize="1" noEditPoints="1" noAdjustHandles="1" noChangeArrowheads="1" noChangeShapeType="1" noTextEdit="1"/>
              </p:cNvSpPr>
              <p:nvPr/>
            </p:nvSpPr>
            <p:spPr>
              <a:xfrm>
                <a:off x="8915400" y="3657600"/>
                <a:ext cx="1143000" cy="369332"/>
              </a:xfrm>
              <a:prstGeom prst="rect">
                <a:avLst/>
              </a:prstGeom>
              <a:blipFill>
                <a:blip r:embed="rId2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4191000" y="5410200"/>
                <a:ext cx="17526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0</m:t>
                          </m:r>
                        </m:sub>
                      </m:sSub>
                      <m:r>
                        <a:rPr lang="en-US" i="1">
                          <a:latin typeface="Cambria Math"/>
                        </a:rPr>
                        <m:t>=</m:t>
                      </m:r>
                      <m:bar>
                        <m:barPr>
                          <m:pos m:val="top"/>
                          <m:ctrlPr>
                            <a:rPr lang="en-US" i="1">
                              <a:latin typeface="Cambria Math" panose="02040503050406030204" pitchFamily="18" charset="0"/>
                            </a:rPr>
                          </m:ctrlPr>
                        </m:barPr>
                        <m:e>
                          <m:r>
                            <a:rPr lang="en-US" i="1">
                              <a:latin typeface="Cambria Math"/>
                            </a:rPr>
                            <m:t>𝑧</m:t>
                          </m:r>
                        </m:e>
                      </m:bar>
                    </m:oMath>
                  </m:oMathPara>
                </a14:m>
                <a:endParaRPr lang="en-US" dirty="0"/>
              </a:p>
            </p:txBody>
          </p:sp>
        </mc:Choice>
        <mc:Fallback xmlns="">
          <p:sp>
            <p:nvSpPr>
              <p:cNvPr id="37" name="TextBox 36"/>
              <p:cNvSpPr txBox="1">
                <a:spLocks noRot="1" noChangeAspect="1" noMove="1" noResize="1" noEditPoints="1" noAdjustHandles="1" noChangeArrowheads="1" noChangeShapeType="1" noTextEdit="1"/>
              </p:cNvSpPr>
              <p:nvPr/>
            </p:nvSpPr>
            <p:spPr>
              <a:xfrm>
                <a:off x="4191000" y="5410200"/>
                <a:ext cx="1752600" cy="369332"/>
              </a:xfrm>
              <a:prstGeom prst="rect">
                <a:avLst/>
              </a:prstGeom>
              <a:blipFill>
                <a:blip r:embed="rId2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5638800" y="5410200"/>
                <a:ext cx="17526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1</m:t>
                          </m:r>
                        </m:sub>
                      </m:sSub>
                      <m:r>
                        <a:rPr lang="en-US" i="1">
                          <a:latin typeface="Cambria Math"/>
                        </a:rPr>
                        <m:t>=1</m:t>
                      </m:r>
                    </m:oMath>
                  </m:oMathPara>
                </a14:m>
                <a:endParaRPr lang="en-US" dirty="0"/>
              </a:p>
            </p:txBody>
          </p:sp>
        </mc:Choice>
        <mc:Fallback xmlns="">
          <p:sp>
            <p:nvSpPr>
              <p:cNvPr id="38" name="TextBox 37"/>
              <p:cNvSpPr txBox="1">
                <a:spLocks noRot="1" noChangeAspect="1" noMove="1" noResize="1" noEditPoints="1" noAdjustHandles="1" noChangeArrowheads="1" noChangeShapeType="1" noTextEdit="1"/>
              </p:cNvSpPr>
              <p:nvPr/>
            </p:nvSpPr>
            <p:spPr>
              <a:xfrm>
                <a:off x="5638800" y="5410200"/>
                <a:ext cx="1752600" cy="369332"/>
              </a:xfrm>
              <a:prstGeom prst="rect">
                <a:avLst/>
              </a:prstGeom>
              <a:blipFill>
                <a:blip r:embed="rId2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9" name="TextBox 38"/>
              <p:cNvSpPr txBox="1"/>
              <p:nvPr/>
            </p:nvSpPr>
            <p:spPr>
              <a:xfrm>
                <a:off x="7239000" y="5410200"/>
                <a:ext cx="17526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2</m:t>
                          </m:r>
                        </m:sub>
                      </m:sSub>
                      <m:r>
                        <a:rPr lang="en-US" i="1">
                          <a:latin typeface="Cambria Math"/>
                        </a:rPr>
                        <m:t>=</m:t>
                      </m:r>
                      <m:r>
                        <a:rPr lang="en-US" i="1">
                          <a:latin typeface="Cambria Math"/>
                        </a:rPr>
                        <m:t>𝑧</m:t>
                      </m:r>
                    </m:oMath>
                  </m:oMathPara>
                </a14:m>
                <a:endParaRPr lang="en-US" dirty="0"/>
              </a:p>
            </p:txBody>
          </p:sp>
        </mc:Choice>
        <mc:Fallback xmlns="">
          <p:sp>
            <p:nvSpPr>
              <p:cNvPr id="39" name="TextBox 38"/>
              <p:cNvSpPr txBox="1">
                <a:spLocks noRot="1" noChangeAspect="1" noMove="1" noResize="1" noEditPoints="1" noAdjustHandles="1" noChangeArrowheads="1" noChangeShapeType="1" noTextEdit="1"/>
              </p:cNvSpPr>
              <p:nvPr/>
            </p:nvSpPr>
            <p:spPr>
              <a:xfrm>
                <a:off x="7239000" y="5410200"/>
                <a:ext cx="1752600" cy="369332"/>
              </a:xfrm>
              <a:prstGeom prst="rect">
                <a:avLst/>
              </a:prstGeom>
              <a:blipFill>
                <a:blip r:embed="rId2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8610600" y="5410200"/>
                <a:ext cx="17526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3</m:t>
                          </m:r>
                        </m:sub>
                      </m:sSub>
                      <m:r>
                        <a:rPr lang="en-US" i="1">
                          <a:latin typeface="Cambria Math"/>
                        </a:rPr>
                        <m:t>=0</m:t>
                      </m:r>
                    </m:oMath>
                  </m:oMathPara>
                </a14:m>
                <a:endParaRPr lang="en-US" dirty="0"/>
              </a:p>
            </p:txBody>
          </p:sp>
        </mc:Choice>
        <mc:Fallback xmlns="">
          <p:sp>
            <p:nvSpPr>
              <p:cNvPr id="40" name="TextBox 39"/>
              <p:cNvSpPr txBox="1">
                <a:spLocks noRot="1" noChangeAspect="1" noMove="1" noResize="1" noEditPoints="1" noAdjustHandles="1" noChangeArrowheads="1" noChangeShapeType="1" noTextEdit="1"/>
              </p:cNvSpPr>
              <p:nvPr/>
            </p:nvSpPr>
            <p:spPr>
              <a:xfrm>
                <a:off x="8610600" y="5410200"/>
                <a:ext cx="1752600" cy="369332"/>
              </a:xfrm>
              <a:prstGeom prst="rect">
                <a:avLst/>
              </a:prstGeom>
              <a:blipFill>
                <a:blip r:embed="rId27"/>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05068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p:bldP spid="39" grpId="0"/>
      <p:bldP spid="40"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Realization</a:t>
            </a: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nvGraphicFramePr>
            <p:xfrm>
              <a:off x="2438401" y="1844040"/>
              <a:ext cx="1455419" cy="3337560"/>
            </p:xfrm>
            <a:graphic>
              <a:graphicData uri="http://schemas.openxmlformats.org/drawingml/2006/table">
                <a:tbl>
                  <a:tblPr firstRow="1" bandRow="1">
                    <a:tableStyleId>{5C22544A-7EE6-4342-B048-85BDC9FD1C3A}</a:tableStyleId>
                  </a:tblPr>
                  <a:tblGrid>
                    <a:gridCol w="367030">
                      <a:extLst>
                        <a:ext uri="{9D8B030D-6E8A-4147-A177-3AD203B41FA5}">
                          <a16:colId xmlns:a16="http://schemas.microsoft.com/office/drawing/2014/main" val="20000"/>
                        </a:ext>
                      </a:extLst>
                    </a:gridCol>
                    <a:gridCol w="371792">
                      <a:extLst>
                        <a:ext uri="{9D8B030D-6E8A-4147-A177-3AD203B41FA5}">
                          <a16:colId xmlns:a16="http://schemas.microsoft.com/office/drawing/2014/main" val="20001"/>
                        </a:ext>
                      </a:extLst>
                    </a:gridCol>
                    <a:gridCol w="352742">
                      <a:extLst>
                        <a:ext uri="{9D8B030D-6E8A-4147-A177-3AD203B41FA5}">
                          <a16:colId xmlns:a16="http://schemas.microsoft.com/office/drawing/2014/main" val="20002"/>
                        </a:ext>
                      </a:extLst>
                    </a:gridCol>
                    <a:gridCol w="363855">
                      <a:extLst>
                        <a:ext uri="{9D8B030D-6E8A-4147-A177-3AD203B41FA5}">
                          <a16:colId xmlns:a16="http://schemas.microsoft.com/office/drawing/2014/main" val="20003"/>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𝒚</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𝒛</m:t>
                                </m:r>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𝒇</m:t>
                                </m:r>
                              </m:oMath>
                            </m:oMathPara>
                          </a14:m>
                          <a:endParaRPr lang="en-US" dirty="0"/>
                        </a:p>
                      </a:txBody>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1"/>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3"/>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4"/>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5"/>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1</m:t>
                                </m:r>
                              </m:oMath>
                            </m:oMathPara>
                          </a14:m>
                          <a:endParaRPr lang="en-US" dirty="0"/>
                        </a:p>
                      </a:txBody>
                      <a:tcPr/>
                    </a:tc>
                    <a:extLst>
                      <a:ext uri="{0D108BD9-81ED-4DB2-BD59-A6C34878D82A}">
                        <a16:rowId xmlns:a16="http://schemas.microsoft.com/office/drawing/2014/main" val="1000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7"/>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r>
                                  <a:rPr lang="en-US" b="0" i="1" smtClean="0">
                                    <a:latin typeface="Cambria Math"/>
                                  </a:rPr>
                                  <m:t>0</m:t>
                                </m:r>
                              </m:oMath>
                            </m:oMathPara>
                          </a14:m>
                          <a:endParaRPr lang="en-US" dirty="0"/>
                        </a:p>
                      </a:txBody>
                      <a:tcPr/>
                    </a:tc>
                    <a:extLst>
                      <a:ext uri="{0D108BD9-81ED-4DB2-BD59-A6C34878D82A}">
                        <a16:rowId xmlns:a16="http://schemas.microsoft.com/office/drawing/2014/main" val="10008"/>
                      </a:ext>
                    </a:extLst>
                  </a:tr>
                </a:tbl>
              </a:graphicData>
            </a:graphic>
          </p:graphicFrame>
        </mc:Choice>
        <mc:Fallback xmlns="">
          <p:graphicFrame>
            <p:nvGraphicFramePr>
              <p:cNvPr id="4" name="Table 3"/>
              <p:cNvGraphicFramePr>
                <a:graphicFrameLocks noGrp="1"/>
              </p:cNvGraphicFramePr>
              <p:nvPr/>
            </p:nvGraphicFramePr>
            <p:xfrm>
              <a:off x="2438401" y="1844040"/>
              <a:ext cx="1455419" cy="3337560"/>
            </p:xfrm>
            <a:graphic>
              <a:graphicData uri="http://schemas.openxmlformats.org/drawingml/2006/table">
                <a:tbl>
                  <a:tblPr firstRow="1" bandRow="1">
                    <a:tableStyleId>{5C22544A-7EE6-4342-B048-85BDC9FD1C3A}</a:tableStyleId>
                  </a:tblPr>
                  <a:tblGrid>
                    <a:gridCol w="367030">
                      <a:extLst>
                        <a:ext uri="{9D8B030D-6E8A-4147-A177-3AD203B41FA5}">
                          <a16:colId xmlns:a16="http://schemas.microsoft.com/office/drawing/2014/main" val="20000"/>
                        </a:ext>
                      </a:extLst>
                    </a:gridCol>
                    <a:gridCol w="371792">
                      <a:extLst>
                        <a:ext uri="{9D8B030D-6E8A-4147-A177-3AD203B41FA5}">
                          <a16:colId xmlns:a16="http://schemas.microsoft.com/office/drawing/2014/main" val="20001"/>
                        </a:ext>
                      </a:extLst>
                    </a:gridCol>
                    <a:gridCol w="352742">
                      <a:extLst>
                        <a:ext uri="{9D8B030D-6E8A-4147-A177-3AD203B41FA5}">
                          <a16:colId xmlns:a16="http://schemas.microsoft.com/office/drawing/2014/main" val="20002"/>
                        </a:ext>
                      </a:extLst>
                    </a:gridCol>
                    <a:gridCol w="363855">
                      <a:extLst>
                        <a:ext uri="{9D8B030D-6E8A-4147-A177-3AD203B41FA5}">
                          <a16:colId xmlns:a16="http://schemas.microsoft.com/office/drawing/2014/main" val="20003"/>
                        </a:ext>
                      </a:extLst>
                    </a:gridCol>
                  </a:tblGrid>
                  <a:tr h="370840">
                    <a:tc>
                      <a:txBody>
                        <a:bodyPr/>
                        <a:lstStyle/>
                        <a:p>
                          <a:endParaRPr lang="en-US"/>
                        </a:p>
                      </a:txBody>
                      <a:tcPr>
                        <a:blipFill>
                          <a:blip r:embed="rId2"/>
                          <a:stretch>
                            <a:fillRect l="-3333" t="-1639" r="-305000" b="-822951"/>
                          </a:stretch>
                        </a:blipFill>
                      </a:tcPr>
                    </a:tc>
                    <a:tc>
                      <a:txBody>
                        <a:bodyPr/>
                        <a:lstStyle/>
                        <a:p>
                          <a:endParaRPr lang="en-US"/>
                        </a:p>
                      </a:txBody>
                      <a:tcPr>
                        <a:blipFill>
                          <a:blip r:embed="rId2"/>
                          <a:stretch>
                            <a:fillRect l="-101639" t="-1639" r="-200000" b="-822951"/>
                          </a:stretch>
                        </a:blipFill>
                      </a:tcPr>
                    </a:tc>
                    <a:tc>
                      <a:txBody>
                        <a:bodyPr/>
                        <a:lstStyle/>
                        <a:p>
                          <a:endParaRPr lang="en-US"/>
                        </a:p>
                      </a:txBody>
                      <a:tcPr>
                        <a:blipFill>
                          <a:blip r:embed="rId2"/>
                          <a:stretch>
                            <a:fillRect l="-212069" t="-1639" r="-110345" b="-822951"/>
                          </a:stretch>
                        </a:blipFill>
                      </a:tcPr>
                    </a:tc>
                    <a:tc>
                      <a:txBody>
                        <a:bodyPr/>
                        <a:lstStyle/>
                        <a:p>
                          <a:endParaRPr lang="en-US"/>
                        </a:p>
                      </a:txBody>
                      <a:tcPr>
                        <a:blipFill>
                          <a:blip r:embed="rId2"/>
                          <a:stretch>
                            <a:fillRect l="-301667" t="-1639" r="-6667" b="-822951"/>
                          </a:stretch>
                        </a:blipFill>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301667" t="-101639" r="-6667" b="-722951"/>
                          </a:stretch>
                        </a:blipFill>
                      </a:tcPr>
                    </a:tc>
                    <a:extLst>
                      <a:ext uri="{0D108BD9-81ED-4DB2-BD59-A6C34878D82A}">
                        <a16:rowId xmlns:a16="http://schemas.microsoft.com/office/drawing/2014/main" val="10001"/>
                      </a:ext>
                    </a:extLst>
                  </a:tr>
                  <a:tr h="370840">
                    <a:tc>
                      <a:txBody>
                        <a:bodyPr/>
                        <a:lstStyle/>
                        <a:p>
                          <a:pPr algn="ctr"/>
                          <a:r>
                            <a:rPr lang="en-US" dirty="0"/>
                            <a:t>0</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1667" t="-201639" r="-6667" b="-622951"/>
                          </a:stretch>
                        </a:blipFill>
                      </a:tcPr>
                    </a:tc>
                    <a:extLst>
                      <a:ext uri="{0D108BD9-81ED-4DB2-BD59-A6C34878D82A}">
                        <a16:rowId xmlns:a16="http://schemas.microsoft.com/office/drawing/2014/main" val="10002"/>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a:blip r:embed="rId2"/>
                          <a:stretch>
                            <a:fillRect l="-301667" t="-301639" r="-6667" b="-522951"/>
                          </a:stretch>
                        </a:blipFill>
                      </a:tcPr>
                    </a:tc>
                    <a:extLst>
                      <a:ext uri="{0D108BD9-81ED-4DB2-BD59-A6C34878D82A}">
                        <a16:rowId xmlns:a16="http://schemas.microsoft.com/office/drawing/2014/main" val="10003"/>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2"/>
                          <a:stretch>
                            <a:fillRect l="-301667" t="-408333" r="-6667" b="-431667"/>
                          </a:stretch>
                        </a:blipFill>
                      </a:tcPr>
                    </a:tc>
                    <a:extLst>
                      <a:ext uri="{0D108BD9-81ED-4DB2-BD59-A6C34878D82A}">
                        <a16:rowId xmlns:a16="http://schemas.microsoft.com/office/drawing/2014/main" val="10004"/>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0</a:t>
                          </a:r>
                        </a:p>
                      </a:txBody>
                      <a:tcPr/>
                    </a:tc>
                    <a:tc>
                      <a:txBody>
                        <a:bodyPr/>
                        <a:lstStyle/>
                        <a:p>
                          <a:endParaRPr lang="en-US"/>
                        </a:p>
                      </a:txBody>
                      <a:tcPr>
                        <a:blipFill>
                          <a:blip r:embed="rId2"/>
                          <a:stretch>
                            <a:fillRect l="-301667" t="-500000" r="-6667" b="-324590"/>
                          </a:stretch>
                        </a:blipFill>
                      </a:tcPr>
                    </a:tc>
                    <a:extLst>
                      <a:ext uri="{0D108BD9-81ED-4DB2-BD59-A6C34878D82A}">
                        <a16:rowId xmlns:a16="http://schemas.microsoft.com/office/drawing/2014/main" val="10005"/>
                      </a:ext>
                    </a:extLst>
                  </a:tr>
                  <a:tr h="370840">
                    <a:tc>
                      <a:txBody>
                        <a:bodyPr/>
                        <a:lstStyle/>
                        <a:p>
                          <a:pPr algn="ctr"/>
                          <a:r>
                            <a:rPr lang="en-US" dirty="0"/>
                            <a:t>1</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1667" t="-600000" r="-6667" b="-224590"/>
                          </a:stretch>
                        </a:blipFill>
                      </a:tcPr>
                    </a:tc>
                    <a:extLst>
                      <a:ext uri="{0D108BD9-81ED-4DB2-BD59-A6C34878D82A}">
                        <a16:rowId xmlns:a16="http://schemas.microsoft.com/office/drawing/2014/main" val="10006"/>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tc>
                      <a:txBody>
                        <a:bodyPr/>
                        <a:lstStyle/>
                        <a:p>
                          <a:endParaRPr lang="en-US"/>
                        </a:p>
                      </a:txBody>
                      <a:tcPr>
                        <a:blipFill>
                          <a:blip r:embed="rId2"/>
                          <a:stretch>
                            <a:fillRect l="-301667" t="-700000" r="-6667" b="-124590"/>
                          </a:stretch>
                        </a:blipFill>
                      </a:tcPr>
                    </a:tc>
                    <a:extLst>
                      <a:ext uri="{0D108BD9-81ED-4DB2-BD59-A6C34878D82A}">
                        <a16:rowId xmlns:a16="http://schemas.microsoft.com/office/drawing/2014/main" val="10007"/>
                      </a:ext>
                    </a:extLst>
                  </a:tr>
                  <a:tr h="370840">
                    <a:tc>
                      <a:txBody>
                        <a:bodyPr/>
                        <a:lstStyle/>
                        <a:p>
                          <a:pPr algn="ctr"/>
                          <a:r>
                            <a:rPr lang="en-US" dirty="0"/>
                            <a:t>1</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2"/>
                          <a:stretch>
                            <a:fillRect l="-301667" t="-800000" r="-6667" b="-24590"/>
                          </a:stretch>
                        </a:blipFill>
                      </a:tcPr>
                    </a:tc>
                    <a:extLst>
                      <a:ext uri="{0D108BD9-81ED-4DB2-BD59-A6C34878D82A}">
                        <a16:rowId xmlns:a16="http://schemas.microsoft.com/office/drawing/2014/main" val="10008"/>
                      </a:ext>
                    </a:extLst>
                  </a:tr>
                </a:tbl>
              </a:graphicData>
            </a:graphic>
          </p:graphicFrame>
        </mc:Fallback>
      </mc:AlternateContent>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564636" y="1598166"/>
            <a:ext cx="3882128" cy="35813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6" name="TextBox 5"/>
              <p:cNvSpPr txBox="1"/>
              <p:nvPr/>
            </p:nvSpPr>
            <p:spPr>
              <a:xfrm>
                <a:off x="5524500" y="2209800"/>
                <a:ext cx="800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ar>
                        <m:barPr>
                          <m:pos m:val="top"/>
                          <m:ctrlPr>
                            <a:rPr lang="en-US" i="1">
                              <a:latin typeface="Cambria Math" panose="02040503050406030204" pitchFamily="18" charset="0"/>
                            </a:rPr>
                          </m:ctrlPr>
                        </m:barPr>
                        <m:e>
                          <m:r>
                            <a:rPr lang="en-US" i="1">
                              <a:latin typeface="Cambria Math"/>
                            </a:rPr>
                            <m:t>𝑧</m:t>
                          </m:r>
                        </m:e>
                      </m:ba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5524500" y="2209800"/>
                <a:ext cx="800100"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5486400" y="2602468"/>
                <a:ext cx="876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5486400" y="2602468"/>
                <a:ext cx="876300"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5524500" y="2971800"/>
                <a:ext cx="8001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𝑧</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5524500" y="2971800"/>
                <a:ext cx="800100" cy="36933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486400" y="3440668"/>
                <a:ext cx="838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5486400" y="3440668"/>
                <a:ext cx="838200" cy="36933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715000" y="41148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5715000" y="4114800"/>
                <a:ext cx="533400" cy="369332"/>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7086600" y="5257800"/>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𝑥</m:t>
                      </m:r>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7086600" y="5257800"/>
                <a:ext cx="533400" cy="369332"/>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7620000" y="5269468"/>
                <a:ext cx="533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𝑦</m:t>
                      </m:r>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7620000" y="5269468"/>
                <a:ext cx="533400" cy="369332"/>
              </a:xfrm>
              <a:prstGeom prst="rect">
                <a:avLst/>
              </a:prstGeom>
              <a:blipFill>
                <a:blip r:embed="rId10"/>
                <a:stretch>
                  <a:fillRect b="-6557"/>
                </a:stretch>
              </a:blipFill>
            </p:spPr>
            <p:txBody>
              <a:bodyPr/>
              <a:lstStyle/>
              <a:p>
                <a:r>
                  <a:rPr lang="en-IN">
                    <a:noFill/>
                  </a:rPr>
                  <a:t> </a:t>
                </a:r>
              </a:p>
            </p:txBody>
          </p:sp>
        </mc:Fallback>
      </mc:AlternateContent>
    </p:spTree>
    <p:extLst>
      <p:ext uri="{BB962C8B-B14F-4D97-AF65-F5344CB8AC3E}">
        <p14:creationId xmlns:p14="http://schemas.microsoft.com/office/powerpoint/2010/main" val="22419020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Alternative Structures</a:t>
            </a:r>
          </a:p>
        </p:txBody>
      </p:sp>
      <p:graphicFrame>
        <p:nvGraphicFramePr>
          <p:cNvPr id="4" name="Table 3"/>
          <p:cNvGraphicFramePr>
            <a:graphicFrameLocks noGrp="1"/>
          </p:cNvGraphicFramePr>
          <p:nvPr/>
        </p:nvGraphicFramePr>
        <p:xfrm>
          <a:off x="3276600" y="2387600"/>
          <a:ext cx="3048000" cy="1270000"/>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tblGrid>
              <a:tr h="635000">
                <a:tc>
                  <a:txBody>
                    <a:bodyPr/>
                    <a:lstStyle/>
                    <a:p>
                      <a:pPr algn="ctr"/>
                      <a:endParaRPr lang="en-US" sz="2400" dirty="0"/>
                    </a:p>
                  </a:txBody>
                  <a:tcPr/>
                </a:tc>
                <a:tc>
                  <a:txBody>
                    <a:bodyPr/>
                    <a:lstStyle/>
                    <a:p>
                      <a:pPr algn="ctr"/>
                      <a:endParaRPr lang="en-US" sz="2400"/>
                    </a:p>
                  </a:txBody>
                  <a:tcPr/>
                </a:tc>
                <a:tc>
                  <a:txBody>
                    <a:bodyPr/>
                    <a:lstStyle/>
                    <a:p>
                      <a:pPr algn="ctr"/>
                      <a:endParaRPr lang="en-US" sz="2400"/>
                    </a:p>
                  </a:txBody>
                  <a:tcPr/>
                </a:tc>
                <a:tc>
                  <a:txBody>
                    <a:bodyPr/>
                    <a:lstStyle/>
                    <a:p>
                      <a:pPr algn="ctr"/>
                      <a:endParaRPr lang="en-US" sz="2400"/>
                    </a:p>
                  </a:txBody>
                  <a:tcPr/>
                </a:tc>
                <a:extLst>
                  <a:ext uri="{0D108BD9-81ED-4DB2-BD59-A6C34878D82A}">
                    <a16:rowId xmlns:a16="http://schemas.microsoft.com/office/drawing/2014/main" val="10000"/>
                  </a:ext>
                </a:extLst>
              </a:tr>
              <a:tr h="635000">
                <a:tc>
                  <a:txBody>
                    <a:bodyPr/>
                    <a:lstStyle/>
                    <a:p>
                      <a:pPr algn="ctr"/>
                      <a:endParaRPr lang="en-US" sz="2400"/>
                    </a:p>
                  </a:txBody>
                  <a:tcPr/>
                </a:tc>
                <a:tc>
                  <a:txBody>
                    <a:bodyPr/>
                    <a:lstStyle/>
                    <a:p>
                      <a:pPr algn="ctr"/>
                      <a:endParaRPr lang="en-US" sz="240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5" name="TextBox 4"/>
              <p:cNvSpPr txBox="1"/>
              <p:nvPr/>
            </p:nvSpPr>
            <p:spPr>
              <a:xfrm>
                <a:off x="1905000" y="2616200"/>
                <a:ext cx="11430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𝑥</m:t>
                      </m:r>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1905000" y="2616200"/>
                <a:ext cx="1143000" cy="369332"/>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3886200" y="1371601"/>
                <a:ext cx="1828800"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a:rPr>
                                <m:t>𝑆</m:t>
                              </m:r>
                            </m:e>
                            <m:sub>
                              <m:r>
                                <a:rPr lang="en-US" i="1">
                                  <a:latin typeface="Cambria Math"/>
                                </a:rPr>
                                <m:t>1</m:t>
                              </m:r>
                            </m:sub>
                          </m:sSub>
                          <m:r>
                            <a:rPr lang="en-US" i="1">
                              <a:latin typeface="Cambria Math"/>
                            </a:rPr>
                            <m:t>=</m:t>
                          </m:r>
                          <m:r>
                            <a:rPr lang="en-US" i="1">
                              <a:latin typeface="Cambria Math"/>
                            </a:rPr>
                            <m:t>𝑦</m:t>
                          </m:r>
                          <m:r>
                            <a:rPr lang="en-US" i="1">
                              <a:latin typeface="Cambria Math"/>
                            </a:rPr>
                            <m:t>, </m:t>
                          </m:r>
                          <m:r>
                            <a:rPr lang="en-US" i="1">
                              <a:latin typeface="Cambria Math"/>
                            </a:rPr>
                            <m:t>𝑆</m:t>
                          </m:r>
                        </m:e>
                        <m:sub>
                          <m:r>
                            <a:rPr lang="en-US" i="1">
                              <a:latin typeface="Cambria Math"/>
                            </a:rPr>
                            <m:t>0</m:t>
                          </m:r>
                        </m:sub>
                      </m:sSub>
                      <m:r>
                        <a:rPr lang="en-US" i="1">
                          <a:latin typeface="Cambria Math"/>
                        </a:rPr>
                        <m:t>=</m:t>
                      </m:r>
                      <m:r>
                        <a:rPr lang="en-US" i="1">
                          <a:latin typeface="Cambria Math"/>
                        </a:rPr>
                        <m:t>𝑧</m:t>
                      </m:r>
                    </m:oMath>
                  </m:oMathPara>
                </a14:m>
                <a:endParaRPr lang="en-US" dirty="0"/>
              </a:p>
              <a:p>
                <a:pPr/>
                <a14:m>
                  <m:oMathPara xmlns:m="http://schemas.openxmlformats.org/officeDocument/2006/math">
                    <m:oMathParaPr>
                      <m:jc m:val="centerGroup"/>
                    </m:oMathParaPr>
                    <m:oMath xmlns:m="http://schemas.openxmlformats.org/officeDocument/2006/math">
                      <m:r>
                        <a:rPr lang="en-US" i="1">
                          <a:latin typeface="Cambria Math"/>
                        </a:rPr>
                        <m:t>𝑦𝑧</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3886200" y="1371601"/>
                <a:ext cx="1828800" cy="646331"/>
              </a:xfrm>
              <a:prstGeom prst="rect">
                <a:avLst/>
              </a:prstGeom>
              <a:blipFill>
                <a:blip r:embed="rId3"/>
                <a:stretch>
                  <a:fillRect b="-283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3429000" y="20066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00</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3429000" y="2006600"/>
                <a:ext cx="457200" cy="369332"/>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191000" y="20066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01</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4191000" y="2006600"/>
                <a:ext cx="457200" cy="369332"/>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953000" y="20066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11</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4953000" y="2006600"/>
                <a:ext cx="457200" cy="369332"/>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715000" y="20066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10</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5715000" y="2006600"/>
                <a:ext cx="457200" cy="36933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429000" y="2526268"/>
                <a:ext cx="457200" cy="923330"/>
              </a:xfrm>
              <a:prstGeom prst="rect">
                <a:avLst/>
              </a:prstGeom>
              <a:solidFill>
                <a:schemeClr val="bg1"/>
              </a:solidFill>
              <a:ln>
                <a:solidFill>
                  <a:schemeClr val="accent1"/>
                </a:solidFill>
              </a:ln>
            </p:spPr>
            <p:txBody>
              <a:bodyPr wrap="square" rtlCol="0">
                <a:spAutoFit/>
              </a:bodyPr>
              <a:lstStyle/>
              <a:p>
                <a:endParaRPr lang="en-US" i="1" dirty="0">
                  <a:latin typeface="Cambria Math"/>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0</m:t>
                          </m:r>
                        </m:sub>
                      </m:sSub>
                    </m:oMath>
                  </m:oMathPara>
                </a14:m>
                <a:endParaRPr lang="en-US" dirty="0"/>
              </a:p>
              <a:p>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3429000" y="2526268"/>
                <a:ext cx="457200" cy="923330"/>
              </a:xfrm>
              <a:prstGeom prst="rect">
                <a:avLst/>
              </a:prstGeom>
              <a:blipFill>
                <a:blip r:embed="rId8"/>
                <a:stretch>
                  <a:fillRect/>
                </a:stretch>
              </a:blipFill>
              <a:ln>
                <a:solidFill>
                  <a:schemeClr val="accent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4953000" y="2514600"/>
                <a:ext cx="457200" cy="923330"/>
              </a:xfrm>
              <a:prstGeom prst="rect">
                <a:avLst/>
              </a:prstGeom>
              <a:solidFill>
                <a:schemeClr val="bg1"/>
              </a:solidFill>
              <a:ln>
                <a:solidFill>
                  <a:schemeClr val="accent1"/>
                </a:solidFill>
              </a:ln>
            </p:spPr>
            <p:txBody>
              <a:bodyPr wrap="square" rtlCol="0">
                <a:spAutoFit/>
              </a:bodyPr>
              <a:lstStyle/>
              <a:p>
                <a:endParaRPr lang="en-US" i="1" dirty="0">
                  <a:latin typeface="Cambria Math"/>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3</m:t>
                          </m:r>
                        </m:sub>
                      </m:sSub>
                    </m:oMath>
                  </m:oMathPara>
                </a14:m>
                <a:endParaRPr lang="en-US" dirty="0"/>
              </a:p>
              <a:p>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4953000" y="2514600"/>
                <a:ext cx="457200" cy="923330"/>
              </a:xfrm>
              <a:prstGeom prst="rect">
                <a:avLst/>
              </a:prstGeom>
              <a:blipFill>
                <a:blip r:embed="rId9"/>
                <a:stretch>
                  <a:fillRect/>
                </a:stretch>
              </a:blipFill>
              <a:ln>
                <a:solidFill>
                  <a:schemeClr val="accent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191000" y="2514600"/>
                <a:ext cx="457200" cy="923330"/>
              </a:xfrm>
              <a:prstGeom prst="rect">
                <a:avLst/>
              </a:prstGeom>
              <a:solidFill>
                <a:schemeClr val="bg1"/>
              </a:solidFill>
              <a:ln>
                <a:solidFill>
                  <a:schemeClr val="accent1"/>
                </a:solidFill>
              </a:ln>
            </p:spPr>
            <p:txBody>
              <a:bodyPr wrap="square" rtlCol="0">
                <a:spAutoFit/>
              </a:bodyPr>
              <a:lstStyle/>
              <a:p>
                <a:endParaRPr lang="en-US" i="1" dirty="0">
                  <a:latin typeface="Cambria Math"/>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1</m:t>
                          </m:r>
                        </m:sub>
                      </m:sSub>
                    </m:oMath>
                  </m:oMathPara>
                </a14:m>
                <a:endParaRPr lang="en-US" dirty="0"/>
              </a:p>
              <a:p>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4191000" y="2514600"/>
                <a:ext cx="457200" cy="923330"/>
              </a:xfrm>
              <a:prstGeom prst="rect">
                <a:avLst/>
              </a:prstGeom>
              <a:blipFill>
                <a:blip r:embed="rId10"/>
                <a:stretch>
                  <a:fillRect/>
                </a:stretch>
              </a:blipFill>
              <a:ln>
                <a:solidFill>
                  <a:schemeClr val="accent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5715000" y="2514600"/>
                <a:ext cx="457200" cy="923330"/>
              </a:xfrm>
              <a:prstGeom prst="rect">
                <a:avLst/>
              </a:prstGeom>
              <a:solidFill>
                <a:schemeClr val="bg1"/>
              </a:solidFill>
              <a:ln>
                <a:solidFill>
                  <a:schemeClr val="accent1"/>
                </a:solidFill>
              </a:ln>
            </p:spPr>
            <p:txBody>
              <a:bodyPr wrap="square" rtlCol="0">
                <a:spAutoFit/>
              </a:bodyPr>
              <a:lstStyle/>
              <a:p>
                <a:endParaRPr lang="en-US" i="1" dirty="0">
                  <a:latin typeface="Cambria Math"/>
                </a:endParaRP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2</m:t>
                          </m:r>
                        </m:sub>
                      </m:sSub>
                    </m:oMath>
                  </m:oMathPara>
                </a14:m>
                <a:endParaRPr lang="en-US" dirty="0"/>
              </a:p>
              <a:p>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5715000" y="2514600"/>
                <a:ext cx="457200" cy="923330"/>
              </a:xfrm>
              <a:prstGeom prst="rect">
                <a:avLst/>
              </a:prstGeom>
              <a:blipFill>
                <a:blip r:embed="rId11"/>
                <a:stretch>
                  <a:fillRect/>
                </a:stretch>
              </a:blipFill>
              <a:ln>
                <a:solidFill>
                  <a:schemeClr val="accent1"/>
                </a:solidFill>
              </a:ln>
            </p:spPr>
            <p:txBody>
              <a:bodyPr/>
              <a:lstStyle/>
              <a:p>
                <a:r>
                  <a:rPr lang="en-IN">
                    <a:noFill/>
                  </a:rPr>
                  <a:t> </a:t>
                </a:r>
              </a:p>
            </p:txBody>
          </p:sp>
        </mc:Fallback>
      </mc:AlternateContent>
      <p:graphicFrame>
        <p:nvGraphicFramePr>
          <p:cNvPr id="15" name="Table 14"/>
          <p:cNvGraphicFramePr>
            <a:graphicFrameLocks noGrp="1"/>
          </p:cNvGraphicFramePr>
          <p:nvPr/>
        </p:nvGraphicFramePr>
        <p:xfrm>
          <a:off x="3429000" y="4902200"/>
          <a:ext cx="3048000" cy="1270000"/>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tblGrid>
              <a:tr h="635000">
                <a:tc>
                  <a:txBody>
                    <a:bodyPr/>
                    <a:lstStyle/>
                    <a:p>
                      <a:pPr algn="ctr"/>
                      <a:endParaRPr lang="en-US" sz="2400" dirty="0"/>
                    </a:p>
                  </a:txBody>
                  <a:tcPr/>
                </a:tc>
                <a:tc>
                  <a:txBody>
                    <a:bodyPr/>
                    <a:lstStyle/>
                    <a:p>
                      <a:pPr algn="ctr"/>
                      <a:endParaRPr lang="en-US" sz="2400"/>
                    </a:p>
                  </a:txBody>
                  <a:tcPr/>
                </a:tc>
                <a:tc>
                  <a:txBody>
                    <a:bodyPr/>
                    <a:lstStyle/>
                    <a:p>
                      <a:pPr algn="ctr"/>
                      <a:endParaRPr lang="en-US" sz="2400"/>
                    </a:p>
                  </a:txBody>
                  <a:tcPr/>
                </a:tc>
                <a:tc>
                  <a:txBody>
                    <a:bodyPr/>
                    <a:lstStyle/>
                    <a:p>
                      <a:pPr algn="ctr"/>
                      <a:endParaRPr lang="en-US" sz="2400"/>
                    </a:p>
                  </a:txBody>
                  <a:tcPr/>
                </a:tc>
                <a:extLst>
                  <a:ext uri="{0D108BD9-81ED-4DB2-BD59-A6C34878D82A}">
                    <a16:rowId xmlns:a16="http://schemas.microsoft.com/office/drawing/2014/main" val="10000"/>
                  </a:ext>
                </a:extLst>
              </a:tr>
              <a:tr h="635000">
                <a:tc>
                  <a:txBody>
                    <a:bodyPr/>
                    <a:lstStyle/>
                    <a:p>
                      <a:pPr algn="ctr"/>
                      <a:endParaRPr lang="en-US" sz="2400"/>
                    </a:p>
                  </a:txBody>
                  <a:tcPr/>
                </a:tc>
                <a:tc>
                  <a:txBody>
                    <a:bodyPr/>
                    <a:lstStyle/>
                    <a:p>
                      <a:pPr algn="ctr"/>
                      <a:endParaRPr lang="en-US" sz="2400"/>
                    </a:p>
                  </a:txBody>
                  <a:tcPr/>
                </a:tc>
                <a:tc>
                  <a:txBody>
                    <a:bodyPr/>
                    <a:lstStyle/>
                    <a:p>
                      <a:pPr algn="ctr"/>
                      <a:endParaRPr lang="en-US" sz="2400"/>
                    </a:p>
                  </a:txBody>
                  <a:tcPr/>
                </a:tc>
                <a:tc>
                  <a:txBody>
                    <a:bodyPr/>
                    <a:lstStyle/>
                    <a:p>
                      <a:pPr algn="ctr"/>
                      <a:endParaRPr lang="en-US" sz="2400" dirty="0"/>
                    </a:p>
                  </a:txBody>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16" name="TextBox 15"/>
              <p:cNvSpPr txBox="1"/>
              <p:nvPr/>
            </p:nvSpPr>
            <p:spPr>
              <a:xfrm>
                <a:off x="2057400" y="5130800"/>
                <a:ext cx="11430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𝑆</m:t>
                          </m:r>
                        </m:e>
                        <m:sub>
                          <m:r>
                            <a:rPr lang="en-US" i="1">
                              <a:latin typeface="Cambria Math"/>
                            </a:rPr>
                            <m:t>0</m:t>
                          </m:r>
                        </m:sub>
                      </m:sSub>
                      <m:r>
                        <a:rPr lang="en-US" i="1">
                          <a:latin typeface="Cambria Math"/>
                        </a:rPr>
                        <m:t>=</m:t>
                      </m:r>
                      <m:r>
                        <a:rPr lang="en-US" i="1">
                          <a:latin typeface="Cambria Math"/>
                        </a:rPr>
                        <m:t>𝑥</m:t>
                      </m:r>
                    </m:oMath>
                  </m:oMathPara>
                </a14:m>
                <a:endParaRPr lang="en-US" dirty="0"/>
              </a:p>
            </p:txBody>
          </p:sp>
        </mc:Choice>
        <mc:Fallback xmlns="">
          <p:sp>
            <p:nvSpPr>
              <p:cNvPr id="16" name="TextBox 15"/>
              <p:cNvSpPr txBox="1">
                <a:spLocks noRot="1" noChangeAspect="1" noMove="1" noResize="1" noEditPoints="1" noAdjustHandles="1" noChangeArrowheads="1" noChangeShapeType="1" noTextEdit="1"/>
              </p:cNvSpPr>
              <p:nvPr/>
            </p:nvSpPr>
            <p:spPr>
              <a:xfrm>
                <a:off x="2057400" y="5130800"/>
                <a:ext cx="1143000" cy="369332"/>
              </a:xfrm>
              <a:prstGeom prst="rect">
                <a:avLst/>
              </a:prstGeom>
              <a:blipFill>
                <a:blip r:embed="rId1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4267200" y="3962401"/>
                <a:ext cx="1143000"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𝑆</m:t>
                          </m:r>
                        </m:e>
                        <m:sub>
                          <m:r>
                            <a:rPr lang="en-US" i="1">
                              <a:latin typeface="Cambria Math"/>
                            </a:rPr>
                            <m:t>1</m:t>
                          </m:r>
                        </m:sub>
                      </m:sSub>
                      <m:r>
                        <a:rPr lang="en-US" i="1">
                          <a:latin typeface="Cambria Math"/>
                        </a:rPr>
                        <m:t>=</m:t>
                      </m:r>
                      <m:r>
                        <a:rPr lang="en-US" i="1">
                          <a:latin typeface="Cambria Math"/>
                        </a:rPr>
                        <m:t>𝑦</m:t>
                      </m:r>
                    </m:oMath>
                  </m:oMathPara>
                </a14:m>
                <a:endParaRPr lang="en-US" dirty="0"/>
              </a:p>
              <a:p>
                <a:pPr/>
                <a14:m>
                  <m:oMathPara xmlns:m="http://schemas.openxmlformats.org/officeDocument/2006/math">
                    <m:oMathParaPr>
                      <m:jc m:val="centerGroup"/>
                    </m:oMathParaPr>
                    <m:oMath xmlns:m="http://schemas.openxmlformats.org/officeDocument/2006/math">
                      <m:r>
                        <a:rPr lang="en-US" i="1">
                          <a:latin typeface="Cambria Math"/>
                        </a:rPr>
                        <m:t>𝑦𝑧</m:t>
                      </m:r>
                    </m:oMath>
                  </m:oMathPara>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4267200" y="3962401"/>
                <a:ext cx="1143000" cy="646331"/>
              </a:xfrm>
              <a:prstGeom prst="rect">
                <a:avLst/>
              </a:prstGeom>
              <a:blipFill>
                <a:blip r:embed="rId13"/>
                <a:stretch>
                  <a:fillRect b="-283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3581400" y="45212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00</m:t>
                      </m:r>
                    </m:oMath>
                  </m:oMathPara>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3581400" y="4521200"/>
                <a:ext cx="457200" cy="369332"/>
              </a:xfrm>
              <a:prstGeom prst="rect">
                <a:avLst/>
              </a:prstGeom>
              <a:blipFill>
                <a:blip r:embed="rId1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4343400" y="45212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01</m:t>
                      </m:r>
                    </m:oMath>
                  </m:oMathPara>
                </a14:m>
                <a:endParaRPr lang="en-US" dirty="0"/>
              </a:p>
            </p:txBody>
          </p:sp>
        </mc:Choice>
        <mc:Fallback xmlns="">
          <p:sp>
            <p:nvSpPr>
              <p:cNvPr id="19" name="TextBox 18"/>
              <p:cNvSpPr txBox="1">
                <a:spLocks noRot="1" noChangeAspect="1" noMove="1" noResize="1" noEditPoints="1" noAdjustHandles="1" noChangeArrowheads="1" noChangeShapeType="1" noTextEdit="1"/>
              </p:cNvSpPr>
              <p:nvPr/>
            </p:nvSpPr>
            <p:spPr>
              <a:xfrm>
                <a:off x="4343400" y="4521200"/>
                <a:ext cx="457200" cy="369332"/>
              </a:xfrm>
              <a:prstGeom prst="rect">
                <a:avLst/>
              </a:prstGeom>
              <a:blipFill>
                <a:blip r:embed="rId1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5105400" y="45212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11</m:t>
                      </m:r>
                    </m:oMath>
                  </m:oMathPara>
                </a14:m>
                <a:endParaRPr lang="en-US" dirty="0"/>
              </a:p>
            </p:txBody>
          </p:sp>
        </mc:Choice>
        <mc:Fallback xmlns="">
          <p:sp>
            <p:nvSpPr>
              <p:cNvPr id="20" name="TextBox 19"/>
              <p:cNvSpPr txBox="1">
                <a:spLocks noRot="1" noChangeAspect="1" noMove="1" noResize="1" noEditPoints="1" noAdjustHandles="1" noChangeArrowheads="1" noChangeShapeType="1" noTextEdit="1"/>
              </p:cNvSpPr>
              <p:nvPr/>
            </p:nvSpPr>
            <p:spPr>
              <a:xfrm>
                <a:off x="5105400" y="4521200"/>
                <a:ext cx="457200" cy="369332"/>
              </a:xfrm>
              <a:prstGeom prst="rect">
                <a:avLst/>
              </a:prstGeom>
              <a:blipFill>
                <a:blip r:embed="rId1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5867400" y="4521200"/>
                <a:ext cx="4572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10</m:t>
                      </m:r>
                    </m:oMath>
                  </m:oMathPara>
                </a14:m>
                <a:endParaRPr lang="en-US" dirty="0"/>
              </a:p>
            </p:txBody>
          </p:sp>
        </mc:Choice>
        <mc:Fallback xmlns="">
          <p:sp>
            <p:nvSpPr>
              <p:cNvPr id="21" name="TextBox 20"/>
              <p:cNvSpPr txBox="1">
                <a:spLocks noRot="1" noChangeAspect="1" noMove="1" noResize="1" noEditPoints="1" noAdjustHandles="1" noChangeArrowheads="1" noChangeShapeType="1" noTextEdit="1"/>
              </p:cNvSpPr>
              <p:nvPr/>
            </p:nvSpPr>
            <p:spPr>
              <a:xfrm>
                <a:off x="5867400" y="4521200"/>
                <a:ext cx="457200" cy="369332"/>
              </a:xfrm>
              <a:prstGeom prst="rect">
                <a:avLst/>
              </a:prstGeom>
              <a:blipFill>
                <a:blip r:embed="rId1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3581400" y="5040868"/>
                <a:ext cx="1219200" cy="369332"/>
              </a:xfrm>
              <a:prstGeom prst="rect">
                <a:avLst/>
              </a:prstGeom>
              <a:solidFill>
                <a:schemeClr val="bg1"/>
              </a:solid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0</m:t>
                          </m:r>
                        </m:sub>
                      </m:sSub>
                    </m:oMath>
                  </m:oMathPara>
                </a14:m>
                <a:endParaRPr lang="en-US" dirty="0"/>
              </a:p>
            </p:txBody>
          </p:sp>
        </mc:Choice>
        <mc:Fallback xmlns="">
          <p:sp>
            <p:nvSpPr>
              <p:cNvPr id="22" name="TextBox 21"/>
              <p:cNvSpPr txBox="1">
                <a:spLocks noRot="1" noChangeAspect="1" noMove="1" noResize="1" noEditPoints="1" noAdjustHandles="1" noChangeArrowheads="1" noChangeShapeType="1" noTextEdit="1"/>
              </p:cNvSpPr>
              <p:nvPr/>
            </p:nvSpPr>
            <p:spPr>
              <a:xfrm>
                <a:off x="3581400" y="5040868"/>
                <a:ext cx="1219200" cy="369332"/>
              </a:xfrm>
              <a:prstGeom prst="rect">
                <a:avLst/>
              </a:prstGeom>
              <a:blipFill>
                <a:blip r:embed="rId18"/>
                <a:stretch>
                  <a:fillRect/>
                </a:stretch>
              </a:blipFill>
              <a:ln>
                <a:solidFill>
                  <a:schemeClr val="accent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5105400" y="5029200"/>
                <a:ext cx="1219200" cy="369332"/>
              </a:xfrm>
              <a:prstGeom prst="rect">
                <a:avLst/>
              </a:prstGeom>
              <a:solidFill>
                <a:schemeClr val="bg1"/>
              </a:solid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2</m:t>
                          </m:r>
                        </m:sub>
                      </m:sSub>
                    </m:oMath>
                  </m:oMathPara>
                </a14:m>
                <a:endParaRPr lang="en-US" dirty="0"/>
              </a:p>
            </p:txBody>
          </p:sp>
        </mc:Choice>
        <mc:Fallback xmlns="">
          <p:sp>
            <p:nvSpPr>
              <p:cNvPr id="23" name="TextBox 22"/>
              <p:cNvSpPr txBox="1">
                <a:spLocks noRot="1" noChangeAspect="1" noMove="1" noResize="1" noEditPoints="1" noAdjustHandles="1" noChangeArrowheads="1" noChangeShapeType="1" noTextEdit="1"/>
              </p:cNvSpPr>
              <p:nvPr/>
            </p:nvSpPr>
            <p:spPr>
              <a:xfrm>
                <a:off x="5105400" y="5029200"/>
                <a:ext cx="1219200" cy="369332"/>
              </a:xfrm>
              <a:prstGeom prst="rect">
                <a:avLst/>
              </a:prstGeom>
              <a:blipFill>
                <a:blip r:embed="rId19"/>
                <a:stretch>
                  <a:fillRect/>
                </a:stretch>
              </a:blipFill>
              <a:ln>
                <a:solidFill>
                  <a:schemeClr val="accent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3581400" y="5638800"/>
                <a:ext cx="1219200" cy="369332"/>
              </a:xfrm>
              <a:prstGeom prst="rect">
                <a:avLst/>
              </a:prstGeom>
              <a:solidFill>
                <a:schemeClr val="bg1"/>
              </a:solid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1</m:t>
                          </m:r>
                        </m:sub>
                      </m:sSub>
                    </m:oMath>
                  </m:oMathPara>
                </a14:m>
                <a:endParaRPr lang="en-US" dirty="0"/>
              </a:p>
            </p:txBody>
          </p:sp>
        </mc:Choice>
        <mc:Fallback xmlns="">
          <p:sp>
            <p:nvSpPr>
              <p:cNvPr id="24" name="TextBox 23"/>
              <p:cNvSpPr txBox="1">
                <a:spLocks noRot="1" noChangeAspect="1" noMove="1" noResize="1" noEditPoints="1" noAdjustHandles="1" noChangeArrowheads="1" noChangeShapeType="1" noTextEdit="1"/>
              </p:cNvSpPr>
              <p:nvPr/>
            </p:nvSpPr>
            <p:spPr>
              <a:xfrm>
                <a:off x="3581400" y="5638800"/>
                <a:ext cx="1219200" cy="369332"/>
              </a:xfrm>
              <a:prstGeom prst="rect">
                <a:avLst/>
              </a:prstGeom>
              <a:blipFill>
                <a:blip r:embed="rId20"/>
                <a:stretch>
                  <a:fillRect/>
                </a:stretch>
              </a:blipFill>
              <a:ln>
                <a:solidFill>
                  <a:schemeClr val="accent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5105400" y="5650468"/>
                <a:ext cx="1219200" cy="369332"/>
              </a:xfrm>
              <a:prstGeom prst="rect">
                <a:avLst/>
              </a:prstGeom>
              <a:solidFill>
                <a:schemeClr val="bg1"/>
              </a:solidFill>
              <a:ln>
                <a:solidFill>
                  <a:schemeClr val="accent1"/>
                </a:solid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3</m:t>
                          </m:r>
                        </m:sub>
                      </m:sSub>
                    </m:oMath>
                  </m:oMathPara>
                </a14:m>
                <a:endParaRPr lang="en-US" dirty="0"/>
              </a:p>
            </p:txBody>
          </p:sp>
        </mc:Choice>
        <mc:Fallback xmlns="">
          <p:sp>
            <p:nvSpPr>
              <p:cNvPr id="25" name="TextBox 24"/>
              <p:cNvSpPr txBox="1">
                <a:spLocks noRot="1" noChangeAspect="1" noMove="1" noResize="1" noEditPoints="1" noAdjustHandles="1" noChangeArrowheads="1" noChangeShapeType="1" noTextEdit="1"/>
              </p:cNvSpPr>
              <p:nvPr/>
            </p:nvSpPr>
            <p:spPr>
              <a:xfrm>
                <a:off x="5105400" y="5650468"/>
                <a:ext cx="1219200" cy="369332"/>
              </a:xfrm>
              <a:prstGeom prst="rect">
                <a:avLst/>
              </a:prstGeom>
              <a:blipFill>
                <a:blip r:embed="rId21"/>
                <a:stretch>
                  <a:fillRect/>
                </a:stretch>
              </a:blipFill>
              <a:ln>
                <a:solidFill>
                  <a:schemeClr val="accent1"/>
                </a:solidFill>
              </a:ln>
            </p:spPr>
            <p:txBody>
              <a:bodyPr/>
              <a:lstStyle/>
              <a:p>
                <a:r>
                  <a:rPr lang="en-IN">
                    <a:noFill/>
                  </a:rPr>
                  <a:t> </a:t>
                </a:r>
              </a:p>
            </p:txBody>
          </p:sp>
        </mc:Fallback>
      </mc:AlternateContent>
      <p:sp>
        <p:nvSpPr>
          <p:cNvPr id="26" name="Rounded Rectangle 25"/>
          <p:cNvSpPr/>
          <p:nvPr/>
        </p:nvSpPr>
        <p:spPr>
          <a:xfrm>
            <a:off x="6858000" y="3048000"/>
            <a:ext cx="3276600" cy="1752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Note that order of variables on input lines matters!</a:t>
            </a:r>
          </a:p>
        </p:txBody>
      </p:sp>
    </p:spTree>
    <p:extLst>
      <p:ext uri="{BB962C8B-B14F-4D97-AF65-F5344CB8AC3E}">
        <p14:creationId xmlns:p14="http://schemas.microsoft.com/office/powerpoint/2010/main" val="4271491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8-to-1-line multiplexers and 4-variable Boolean functions</a:t>
            </a:r>
          </a:p>
        </p:txBody>
      </p:sp>
      <p:sp>
        <p:nvSpPr>
          <p:cNvPr id="3" name="Content Placeholder 2"/>
          <p:cNvSpPr>
            <a:spLocks noGrp="1"/>
          </p:cNvSpPr>
          <p:nvPr>
            <p:ph idx="1"/>
          </p:nvPr>
        </p:nvSpPr>
        <p:spPr/>
        <p:txBody>
          <a:bodyPr>
            <a:normAutofit/>
          </a:bodyPr>
          <a:lstStyle/>
          <a:p>
            <a:r>
              <a:rPr lang="en-US" sz="2400" dirty="0"/>
              <a:t>Can do the same thing, three variables are placed on select lines, inputs to the data lines are single-variable functions.</a:t>
            </a:r>
          </a:p>
          <a:p>
            <a:r>
              <a:rPr lang="en-US" sz="2400" dirty="0"/>
              <a:t>Example:</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4176712" y="1966914"/>
            <a:ext cx="4267200" cy="5362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83585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Can we do better?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By allowing realizations of </a:t>
                </a:r>
                <a14:m>
                  <m:oMath xmlns:m="http://schemas.openxmlformats.org/officeDocument/2006/math">
                    <m:r>
                      <a:rPr lang="en-US" b="0" i="1" smtClean="0">
                        <a:latin typeface="Cambria Math"/>
                      </a:rPr>
                      <m:t>𝑚</m:t>
                    </m:r>
                  </m:oMath>
                </a14:m>
                <a:r>
                  <a:rPr lang="en-US" dirty="0"/>
                  <a:t>-variable functions as inputs to the data input lines,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a:rPr>
                          <m:t>2</m:t>
                        </m:r>
                      </m:e>
                      <m:sup>
                        <m:r>
                          <a:rPr lang="en-US" b="0" i="1" smtClean="0">
                            <a:latin typeface="Cambria Math"/>
                          </a:rPr>
                          <m:t>𝑛</m:t>
                        </m:r>
                      </m:sup>
                    </m:sSup>
                  </m:oMath>
                </a14:m>
                <a:r>
                  <a:rPr lang="en-US" dirty="0"/>
                  <a:t>-to-1-line multiplexers can be used in the realization of </a:t>
                </a:r>
                <a14:m>
                  <m:oMath xmlns:m="http://schemas.openxmlformats.org/officeDocument/2006/math">
                    <m:r>
                      <a:rPr lang="en-US" b="0" i="1" smtClean="0">
                        <a:latin typeface="Cambria Math"/>
                      </a:rPr>
                      <m:t>(</m:t>
                    </m:r>
                    <m:r>
                      <a:rPr lang="en-US" b="0" i="1" smtClean="0">
                        <a:latin typeface="Cambria Math"/>
                      </a:rPr>
                      <m:t>𝑛</m:t>
                    </m:r>
                    <m:r>
                      <a:rPr lang="en-US" b="0" i="1" smtClean="0">
                        <a:latin typeface="Cambria Math"/>
                      </a:rPr>
                      <m:t>+</m:t>
                    </m:r>
                    <m:r>
                      <a:rPr lang="en-US" b="0" i="1" smtClean="0">
                        <a:latin typeface="Cambria Math"/>
                      </a:rPr>
                      <m:t>𝑚</m:t>
                    </m:r>
                    <m:r>
                      <a:rPr lang="en-US" b="0" i="1" smtClean="0">
                        <a:latin typeface="Cambria Math"/>
                      </a:rPr>
                      <m:t>)</m:t>
                    </m:r>
                  </m:oMath>
                </a14:m>
                <a:r>
                  <a:rPr lang="en-US" dirty="0"/>
                  <a:t>-variable functions.</a:t>
                </a:r>
              </a:p>
              <a:p>
                <a:r>
                  <a:rPr lang="en-US" dirty="0"/>
                  <a:t>E.g.:  input variables w and x are applied to the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1</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𝑆</m:t>
                        </m:r>
                      </m:e>
                      <m:sub>
                        <m:r>
                          <a:rPr lang="en-US" b="0" i="1" smtClean="0">
                            <a:latin typeface="Cambria Math"/>
                          </a:rPr>
                          <m:t>0</m:t>
                        </m:r>
                      </m:sub>
                    </m:sSub>
                  </m:oMath>
                </a14:m>
                <a:r>
                  <a:rPr lang="en-US" dirty="0"/>
                  <a:t> select inputs.  Functions of the y and z variables appear at the data input lines.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630" t="-1617" r="-2889"/>
                </a:stretch>
              </a:blipFill>
            </p:spPr>
            <p:txBody>
              <a:bodyPr/>
              <a:lstStyle/>
              <a:p>
                <a:r>
                  <a:rPr lang="en-US">
                    <a:noFill/>
                  </a:rPr>
                  <a:t> </a:t>
                </a:r>
              </a:p>
            </p:txBody>
          </p:sp>
        </mc:Fallback>
      </mc:AlternateContent>
    </p:spTree>
    <p:extLst>
      <p:ext uri="{BB962C8B-B14F-4D97-AF65-F5344CB8AC3E}">
        <p14:creationId xmlns:p14="http://schemas.microsoft.com/office/powerpoint/2010/main" val="2756390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K-map Structure</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3210430" y="2104522"/>
            <a:ext cx="5023428" cy="3671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076260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2279631" y="1822432"/>
            <a:ext cx="3594138" cy="4190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2009275" y="1219200"/>
                <a:ext cx="545841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a:rPr>
                        <m:t>𝑓</m:t>
                      </m:r>
                      <m:d>
                        <m:dPr>
                          <m:ctrlPr>
                            <a:rPr lang="en-US" sz="2800" i="1">
                              <a:latin typeface="Cambria Math" panose="02040503050406030204" pitchFamily="18" charset="0"/>
                            </a:rPr>
                          </m:ctrlPr>
                        </m:dPr>
                        <m:e>
                          <m:r>
                            <a:rPr lang="en-US" sz="2800" i="1">
                              <a:latin typeface="Cambria Math"/>
                            </a:rPr>
                            <m:t>𝑥</m:t>
                          </m:r>
                          <m:r>
                            <a:rPr lang="en-US" sz="2800" i="1">
                              <a:latin typeface="Cambria Math"/>
                            </a:rPr>
                            <m:t>,</m:t>
                          </m:r>
                          <m:r>
                            <a:rPr lang="en-US" sz="2800" i="1">
                              <a:latin typeface="Cambria Math"/>
                            </a:rPr>
                            <m:t>𝑦</m:t>
                          </m:r>
                          <m:r>
                            <a:rPr lang="en-US" sz="2800" i="1">
                              <a:latin typeface="Cambria Math"/>
                            </a:rPr>
                            <m:t>,</m:t>
                          </m:r>
                          <m:r>
                            <a:rPr lang="en-US" sz="2800" i="1">
                              <a:latin typeface="Cambria Math"/>
                            </a:rPr>
                            <m:t>𝑧</m:t>
                          </m:r>
                        </m:e>
                      </m:d>
                      <m:r>
                        <a:rPr lang="en-US" sz="2800" i="1">
                          <a:latin typeface="Cambria Math"/>
                        </a:rPr>
                        <m:t>=∑</m:t>
                      </m:r>
                      <m:r>
                        <a:rPr lang="en-US" sz="2800" i="1">
                          <a:latin typeface="Cambria Math"/>
                        </a:rPr>
                        <m:t>𝑚</m:t>
                      </m:r>
                      <m:r>
                        <a:rPr lang="en-US" sz="2800" i="1">
                          <a:latin typeface="Cambria Math"/>
                        </a:rPr>
                        <m:t>(0,1,5,6,7,9,13,14)</m:t>
                      </m:r>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2009275" y="1219200"/>
                <a:ext cx="5458417" cy="523220"/>
              </a:xfrm>
              <a:prstGeom prst="rect">
                <a:avLst/>
              </a:prstGeom>
              <a:blipFill>
                <a:blip r:embed="rId3"/>
                <a:stretch>
                  <a:fillRect/>
                </a:stretch>
              </a:blipFill>
            </p:spPr>
            <p:txBody>
              <a:bodyPr/>
              <a:lstStyle/>
              <a:p>
                <a:r>
                  <a:rPr lang="en-IN">
                    <a:noFill/>
                  </a:rPr>
                  <a:t> </a:t>
                </a:r>
              </a:p>
            </p:txBody>
          </p:sp>
        </mc:Fallback>
      </mc:AlternateContent>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7648575" y="962025"/>
            <a:ext cx="1238250"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7691438" y="2252663"/>
            <a:ext cx="1190625" cy="2781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5400000">
            <a:off x="7729538" y="3433763"/>
            <a:ext cx="1114425" cy="2781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7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734301" y="4543426"/>
            <a:ext cx="1152525" cy="2733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33836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2695575" y="504826"/>
            <a:ext cx="1238250"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2738438" y="1795464"/>
            <a:ext cx="1190625" cy="2781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2776538" y="2976564"/>
            <a:ext cx="1114425" cy="2781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2781301" y="4086227"/>
            <a:ext cx="1152525" cy="2733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5400000">
            <a:off x="5660894" y="1654308"/>
            <a:ext cx="4205290" cy="4554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5486400" y="1752600"/>
            <a:ext cx="6096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702277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1875913" y="1705490"/>
            <a:ext cx="2971799" cy="32184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p:cNvSpPr/>
          <p:nvPr/>
        </p:nvSpPr>
        <p:spPr>
          <a:xfrm>
            <a:off x="1752600" y="1676400"/>
            <a:ext cx="6096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5255423" y="1993100"/>
            <a:ext cx="5362577" cy="39100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2971800" y="5715001"/>
            <a:ext cx="2895600" cy="461665"/>
          </a:xfrm>
          <a:prstGeom prst="rect">
            <a:avLst/>
          </a:prstGeom>
          <a:noFill/>
        </p:spPr>
        <p:txBody>
          <a:bodyPr wrap="square" rtlCol="0">
            <a:spAutoFit/>
          </a:bodyPr>
          <a:lstStyle/>
          <a:p>
            <a:pPr algn="ctr"/>
            <a:r>
              <a:rPr lang="en-US" sz="2400" dirty="0"/>
              <a:t>Multiplexer Tree</a:t>
            </a:r>
          </a:p>
        </p:txBody>
      </p:sp>
    </p:spTree>
    <p:extLst>
      <p:ext uri="{BB962C8B-B14F-4D97-AF65-F5344CB8AC3E}">
        <p14:creationId xmlns:p14="http://schemas.microsoft.com/office/powerpoint/2010/main" val="1431291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11401</TotalTime>
  <Words>4178</Words>
  <Application>Microsoft Office PowerPoint</Application>
  <PresentationFormat>Widescreen</PresentationFormat>
  <Paragraphs>870</Paragraphs>
  <Slides>86</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86</vt:i4>
      </vt:variant>
    </vt:vector>
  </HeadingPairs>
  <TitlesOfParts>
    <vt:vector size="94" baseType="lpstr">
      <vt:lpstr>Arial</vt:lpstr>
      <vt:lpstr>Calibri</vt:lpstr>
      <vt:lpstr>Calibri Light</vt:lpstr>
      <vt:lpstr>Cambria Math</vt:lpstr>
      <vt:lpstr>Geneva</vt:lpstr>
      <vt:lpstr>Myriad Pro</vt:lpstr>
      <vt:lpstr>Times New Roman</vt:lpstr>
      <vt:lpstr>Office Theme</vt:lpstr>
      <vt:lpstr>PowerPoint Presentation</vt:lpstr>
      <vt:lpstr>Circuits for Binary Addition</vt:lpstr>
      <vt:lpstr>Full Adder</vt:lpstr>
      <vt:lpstr>Full Adder Circuit</vt:lpstr>
      <vt:lpstr>PowerPoint Presentation</vt:lpstr>
      <vt:lpstr>PowerPoint Presentation</vt:lpstr>
      <vt:lpstr>PowerPoint Presentation</vt:lpstr>
      <vt:lpstr>PowerPoint Presentation</vt:lpstr>
      <vt:lpstr>PowerPoint Presentation</vt:lpstr>
      <vt:lpstr>Delay Analysis of Ripple Adder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Comparators</vt:lpstr>
      <vt:lpstr>Comparators</vt:lpstr>
      <vt:lpstr>Comparators</vt:lpstr>
      <vt:lpstr>Comparators</vt:lpstr>
      <vt:lpstr>Comparators</vt:lpstr>
      <vt:lpstr>Comparators</vt:lpstr>
      <vt:lpstr>Comparators</vt:lpstr>
      <vt:lpstr>Decoder</vt:lpstr>
      <vt:lpstr>Other types of Decoders</vt:lpstr>
      <vt:lpstr>Realization</vt:lpstr>
      <vt:lpstr>Decoders with an Enable Input</vt:lpstr>
      <vt:lpstr>Decoder</vt:lpstr>
      <vt:lpstr>Logic Design Using Decoders</vt:lpstr>
      <vt:lpstr>PowerPoint Presentation</vt:lpstr>
      <vt:lpstr>PowerPoint Presentation</vt:lpstr>
      <vt:lpstr>PowerPoint Presentation</vt:lpstr>
      <vt:lpstr>PowerPoint Presentation</vt:lpstr>
      <vt:lpstr>Decoders with Active Low Outputs:  (Implementing a Decoder using AND/NAND)</vt:lpstr>
      <vt:lpstr>PowerPoint Presentation</vt:lpstr>
      <vt:lpstr>PowerPoint Presentation</vt:lpstr>
      <vt:lpstr>PowerPoint Presentation</vt:lpstr>
      <vt:lpstr>PowerPoint Presentation</vt:lpstr>
      <vt:lpstr>Constructing Larger Decoders</vt:lpstr>
      <vt:lpstr>PowerPoint Presentation</vt:lpstr>
      <vt:lpstr>PowerPoint Presentation</vt:lpstr>
      <vt:lpstr>PowerPoint Presentation</vt:lpstr>
      <vt:lpstr>PowerPoint Presentation</vt:lpstr>
      <vt:lpstr>PowerPoint Presentation</vt:lpstr>
      <vt:lpstr>PowerPoint Presentation</vt:lpstr>
      <vt:lpstr>Decoders with enable inputs</vt:lpstr>
      <vt:lpstr>PowerPoint Presentation</vt:lpstr>
      <vt:lpstr>Encoders</vt:lpstr>
      <vt:lpstr>Encoders</vt:lpstr>
      <vt:lpstr>Priority Encoder</vt:lpstr>
      <vt:lpstr>Priority Encoder</vt:lpstr>
      <vt:lpstr>PowerPoint Presentation</vt:lpstr>
      <vt:lpstr>PowerPoint Presentation</vt:lpstr>
      <vt:lpstr>Multiplexer</vt:lpstr>
      <vt:lpstr>Realization of 4-to-1 line multiplexer</vt:lpstr>
      <vt:lpstr>Realization of 4-to-1 line multiplexer</vt:lpstr>
      <vt:lpstr>Building a Large Multiplexer</vt:lpstr>
      <vt:lpstr>Multiplexers</vt:lpstr>
      <vt:lpstr>Multiplexer/Demultiplexer for information transmission</vt:lpstr>
      <vt:lpstr>Logic Design with Multiplexers</vt:lpstr>
      <vt:lpstr>Logic Design with Multiplexers</vt:lpstr>
      <vt:lpstr>Logic Design with Multiplexers</vt:lpstr>
      <vt:lpstr>Example:</vt:lpstr>
      <vt:lpstr>Logic Design with Multiplexers</vt:lpstr>
      <vt:lpstr>Logic Design with Multiplexers</vt:lpstr>
      <vt:lpstr>Example</vt:lpstr>
      <vt:lpstr>Example</vt:lpstr>
      <vt:lpstr>Logic Design with Multiplexers and K-maps</vt:lpstr>
      <vt:lpstr>K-map representation</vt:lpstr>
      <vt:lpstr>Example</vt:lpstr>
      <vt:lpstr>Realization</vt:lpstr>
      <vt:lpstr>Alternative Structures</vt:lpstr>
      <vt:lpstr>8-to-1-line multiplexers and 4-variable Boolean functions</vt:lpstr>
      <vt:lpstr>Can we do better?</vt:lpstr>
      <vt:lpstr>K-map Structure</vt:lpstr>
      <vt:lpstr>Example:</vt:lpstr>
      <vt:lpstr>Example</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badarinath k</dc:creator>
  <cp:lastModifiedBy>Dr BadariNath K</cp:lastModifiedBy>
  <cp:revision>22</cp:revision>
  <dcterms:created xsi:type="dcterms:W3CDTF">2022-01-11T11:32:00Z</dcterms:created>
  <dcterms:modified xsi:type="dcterms:W3CDTF">2023-12-30T10:30:26Z</dcterms:modified>
</cp:coreProperties>
</file>